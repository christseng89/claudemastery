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565" r:id="rId2"/>
    <p:sldId id="4373" r:id="rId3"/>
    <p:sldId id="4299" r:id="rId4"/>
    <p:sldId id="4374" r:id="rId5"/>
    <p:sldId id="4372" r:id="rId6"/>
    <p:sldId id="4380" r:id="rId7"/>
    <p:sldId id="4298" r:id="rId8"/>
    <p:sldId id="4279" r:id="rId9"/>
    <p:sldId id="4286" r:id="rId10"/>
    <p:sldId id="4288" r:id="rId11"/>
    <p:sldId id="4231" r:id="rId12"/>
    <p:sldId id="4291" r:id="rId13"/>
    <p:sldId id="4381" r:id="rId14"/>
    <p:sldId id="4290" r:id="rId15"/>
    <p:sldId id="4376" r:id="rId16"/>
    <p:sldId id="4377" r:id="rId17"/>
    <p:sldId id="4382" r:id="rId18"/>
    <p:sldId id="4289" r:id="rId19"/>
    <p:sldId id="4292" r:id="rId20"/>
    <p:sldId id="4375" r:id="rId21"/>
    <p:sldId id="4301" r:id="rId22"/>
    <p:sldId id="4302" r:id="rId23"/>
    <p:sldId id="4356" r:id="rId24"/>
    <p:sldId id="4303" r:id="rId25"/>
    <p:sldId id="4304" r:id="rId26"/>
    <p:sldId id="4305" r:id="rId27"/>
    <p:sldId id="4383" r:id="rId28"/>
    <p:sldId id="4244" r:id="rId29"/>
    <p:sldId id="4243" r:id="rId30"/>
    <p:sldId id="4254" r:id="rId31"/>
    <p:sldId id="4320" r:id="rId32"/>
    <p:sldId id="4359" r:id="rId33"/>
    <p:sldId id="4384" r:id="rId34"/>
    <p:sldId id="4250" r:id="rId35"/>
    <p:sldId id="4251" r:id="rId36"/>
    <p:sldId id="4253" r:id="rId37"/>
    <p:sldId id="4228" r:id="rId38"/>
    <p:sldId id="4252" r:id="rId39"/>
    <p:sldId id="4371" r:id="rId40"/>
    <p:sldId id="4370" r:id="rId41"/>
    <p:sldId id="4364" r:id="rId42"/>
    <p:sldId id="4379" r:id="rId43"/>
    <p:sldId id="4385" r:id="rId44"/>
    <p:sldId id="277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1BBFD1"/>
    <a:srgbClr val="D56E48"/>
    <a:srgbClr val="11CCDD"/>
    <a:srgbClr val="F9F9F9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4" autoAdjust="0"/>
    <p:restoredTop sz="94721"/>
  </p:normalViewPr>
  <p:slideViewPr>
    <p:cSldViewPr snapToGrid="0" snapToObjects="1">
      <p:cViewPr>
        <p:scale>
          <a:sx n="100" d="100"/>
          <a:sy n="100" d="100"/>
        </p:scale>
        <p:origin x="93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9D4D14AE-9591-4D80-B450-9DE0210F5E4B}">
      <dgm:prSet custT="1"/>
      <dgm:spPr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0" kern="1200" dirty="0">
              <a:latin typeface="Montserrat" panose="00000500000000000000" pitchFamily="2" charset="0"/>
            </a:rPr>
            <a:t>Design and build a personal finance AI agent with memory that can recall user preferences, past tasks, and ongoing conversations to deliver more personalized, intelligent behavior.</a:t>
          </a:r>
          <a:endParaRPr lang="en-US" sz="15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88ADC051-8D22-4415-8E33-46240A04444E}" type="parTrans" cxnId="{69901095-68C2-4E9B-B541-B77181842C76}">
      <dgm:prSet/>
      <dgm:spPr/>
      <dgm:t>
        <a:bodyPr/>
        <a:lstStyle/>
        <a:p>
          <a:endParaRPr lang="en-CA" sz="1500"/>
        </a:p>
      </dgm:t>
    </dgm:pt>
    <dgm:pt modelId="{9FFAFD9E-B19A-4E00-AC80-697E81A5063E}" type="sibTrans" cxnId="{69901095-68C2-4E9B-B541-B77181842C76}">
      <dgm:prSet/>
      <dgm:spPr/>
      <dgm:t>
        <a:bodyPr/>
        <a:lstStyle/>
        <a:p>
          <a:endParaRPr lang="en-CA" sz="1500"/>
        </a:p>
      </dgm:t>
    </dgm:pt>
    <dgm:pt modelId="{6426EB2B-9B62-4FB0-84B5-F24953749707}">
      <dgm:prSet custT="1"/>
      <dgm:spPr>
        <a:solidFill>
          <a:srgbClr val="0C1752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>
            <a:buNone/>
          </a:pPr>
          <a:r>
            <a:rPr lang="en-US" sz="1500" b="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Integrate SQLite-based session storage to enable persistent memory for agents</a:t>
          </a:r>
          <a:endParaRPr lang="en-US" sz="1500" b="0" dirty="0">
            <a:latin typeface="Montserrat" panose="00000500000000000000" pitchFamily="2" charset="0"/>
          </a:endParaRPr>
        </a:p>
      </dgm:t>
    </dgm:pt>
    <dgm:pt modelId="{C48647F9-2FC5-44B0-A762-09024CBC6AAB}" type="parTrans" cxnId="{F33510FC-77FB-40B3-AE8A-A5C3E70AF063}">
      <dgm:prSet/>
      <dgm:spPr/>
      <dgm:t>
        <a:bodyPr/>
        <a:lstStyle/>
        <a:p>
          <a:endParaRPr lang="en-CA" sz="1500"/>
        </a:p>
      </dgm:t>
    </dgm:pt>
    <dgm:pt modelId="{D1718790-BF5E-4987-B3CC-15FC2BEC5A38}" type="sibTrans" cxnId="{F33510FC-77FB-40B3-AE8A-A5C3E70AF063}">
      <dgm:prSet/>
      <dgm:spPr/>
      <dgm:t>
        <a:bodyPr/>
        <a:lstStyle/>
        <a:p>
          <a:endParaRPr lang="en-CA" sz="1500"/>
        </a:p>
      </dgm:t>
    </dgm:pt>
    <dgm:pt modelId="{F812435F-4CAD-4424-AE72-9342C534BD55}">
      <dgm:prSet custT="1"/>
      <dgm:spPr>
        <a:solidFill>
          <a:schemeClr val="bg1">
            <a:lumMod val="50000"/>
          </a:schemeClr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Use the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OpenAI</a:t>
          </a:r>
          <a:r>
            <a:rPr lang="en-US" sz="1500" b="0" kern="1200" dirty="0">
              <a:latin typeface="Montserrat" panose="00000500000000000000" pitchFamily="2" charset="0"/>
            </a:rPr>
            <a:t> Agent SDK to define agent instructions, run the agent, and manage session state.</a:t>
          </a:r>
          <a:endParaRPr lang="en-US" sz="15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F07179C1-6FCE-47D2-ADE6-3B8B919ACA72}" type="parTrans" cxnId="{B371C9C2-0FBD-4D7E-9855-C45B39D1DB05}">
      <dgm:prSet/>
      <dgm:spPr/>
      <dgm:t>
        <a:bodyPr/>
        <a:lstStyle/>
        <a:p>
          <a:endParaRPr lang="en-CA" sz="1500"/>
        </a:p>
      </dgm:t>
    </dgm:pt>
    <dgm:pt modelId="{C255306C-F45A-4DFA-A441-F9DCE4F52A02}" type="sibTrans" cxnId="{B371C9C2-0FBD-4D7E-9855-C45B39D1DB05}">
      <dgm:prSet/>
      <dgm:spPr/>
      <dgm:t>
        <a:bodyPr/>
        <a:lstStyle/>
        <a:p>
          <a:endParaRPr lang="en-CA" sz="1500"/>
        </a:p>
      </dgm:t>
    </dgm:pt>
    <dgm:pt modelId="{1C0EE0DA-4B9B-4AC1-A126-9C00D717013A}">
      <dgm:prSet custT="1"/>
      <dgm:spPr>
        <a:solidFill>
          <a:srgbClr val="11CCDD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>
            <a:buNone/>
          </a:pPr>
          <a:r>
            <a:rPr lang="en-US" sz="1500" b="0" kern="1200" dirty="0">
              <a:latin typeface="Montserrat" panose="00000500000000000000" pitchFamily="2" charset="0"/>
            </a:rPr>
            <a:t>Test and compare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agent</a:t>
          </a:r>
          <a:r>
            <a:rPr lang="en-US" sz="1500" b="0" kern="1200" dirty="0">
              <a:latin typeface="Montserrat" panose="00000500000000000000" pitchFamily="2" charset="0"/>
            </a:rPr>
            <a:t> behavior before and after adding memory to evaluate improvements in context retention.</a:t>
          </a:r>
        </a:p>
      </dgm:t>
    </dgm:pt>
    <dgm:pt modelId="{65AADC3C-7627-434F-89B6-7708CEF4A73A}" type="parTrans" cxnId="{7E1D5C92-13D0-4848-97D4-C7155F13B688}">
      <dgm:prSet/>
      <dgm:spPr/>
      <dgm:t>
        <a:bodyPr/>
        <a:lstStyle/>
        <a:p>
          <a:endParaRPr lang="en-CA" sz="1500"/>
        </a:p>
      </dgm:t>
    </dgm:pt>
    <dgm:pt modelId="{850E569D-A097-4DFF-A38E-0DD1F851D248}" type="sibTrans" cxnId="{7E1D5C92-13D0-4848-97D4-C7155F13B688}">
      <dgm:prSet/>
      <dgm:spPr/>
      <dgm:t>
        <a:bodyPr/>
        <a:lstStyle/>
        <a:p>
          <a:endParaRPr lang="en-CA" sz="1500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30F61244-4EAF-4210-9C9D-1C3AD9207AB2}" type="pres">
      <dgm:prSet presAssocID="{9D4D14AE-9591-4D80-B450-9DE0210F5E4B}" presName="node" presStyleLbl="node1" presStyleIdx="0" presStyleCnt="4">
        <dgm:presLayoutVars>
          <dgm:bulletEnabled val="1"/>
        </dgm:presLayoutVars>
      </dgm:prSet>
      <dgm:spPr>
        <a:xfrm>
          <a:off x="0" y="419168"/>
          <a:ext cx="2959762" cy="1775857"/>
        </a:xfrm>
        <a:prstGeom prst="rect">
          <a:avLst/>
        </a:prstGeom>
      </dgm:spPr>
    </dgm:pt>
    <dgm:pt modelId="{2410F3EA-70EC-4551-9C5D-4197DD50C49F}" type="pres">
      <dgm:prSet presAssocID="{9FFAFD9E-B19A-4E00-AC80-697E81A5063E}" presName="sibTrans" presStyleCnt="0"/>
      <dgm:spPr/>
    </dgm:pt>
    <dgm:pt modelId="{4F52E6EA-6A49-4E98-A711-D73773AC45B0}" type="pres">
      <dgm:prSet presAssocID="{6426EB2B-9B62-4FB0-84B5-F24953749707}" presName="node" presStyleLbl="node1" presStyleIdx="1" presStyleCnt="4">
        <dgm:presLayoutVars>
          <dgm:bulletEnabled val="1"/>
        </dgm:presLayoutVars>
      </dgm:prSet>
      <dgm:spPr>
        <a:xfrm>
          <a:off x="4845685" y="1682616"/>
          <a:ext cx="2201323" cy="1320793"/>
        </a:xfrm>
        <a:prstGeom prst="rect">
          <a:avLst/>
        </a:prstGeom>
      </dgm:spPr>
    </dgm:pt>
    <dgm:pt modelId="{33CB5FE9-293F-40ED-812C-228B1CAA3EFD}" type="pres">
      <dgm:prSet presAssocID="{D1718790-BF5E-4987-B3CC-15FC2BEC5A38}" presName="sibTrans" presStyleCnt="0"/>
      <dgm:spPr/>
    </dgm:pt>
    <dgm:pt modelId="{11FF30D0-99AB-4BC0-BA0B-74692FABB53A}" type="pres">
      <dgm:prSet presAssocID="{F812435F-4CAD-4424-AE72-9342C534BD55}" presName="node" presStyleLbl="node1" presStyleIdx="2" presStyleCnt="4">
        <dgm:presLayoutVars>
          <dgm:bulletEnabled val="1"/>
        </dgm:presLayoutVars>
      </dgm:prSet>
      <dgm:spPr>
        <a:xfrm>
          <a:off x="7267141" y="1682616"/>
          <a:ext cx="2201323" cy="1320793"/>
        </a:xfrm>
        <a:prstGeom prst="rect">
          <a:avLst/>
        </a:prstGeom>
      </dgm:spPr>
    </dgm:pt>
    <dgm:pt modelId="{218D53F4-FD64-461B-9F14-E87EC636FD8B}" type="pres">
      <dgm:prSet presAssocID="{C255306C-F45A-4DFA-A441-F9DCE4F52A02}" presName="sibTrans" presStyleCnt="0"/>
      <dgm:spPr/>
    </dgm:pt>
    <dgm:pt modelId="{99CEF161-168D-4209-A9C4-A74F2C4B9D70}" type="pres">
      <dgm:prSet presAssocID="{1C0EE0DA-4B9B-4AC1-A126-9C00D717013A}" presName="node" presStyleLbl="node1" presStyleIdx="3" presStyleCnt="4">
        <dgm:presLayoutVars>
          <dgm:bulletEnabled val="1"/>
        </dgm:presLayoutVars>
      </dgm:prSet>
      <dgm:spPr>
        <a:xfrm>
          <a:off x="3634957" y="3223542"/>
          <a:ext cx="2201323" cy="1320793"/>
        </a:xfrm>
        <a:prstGeom prst="rect">
          <a:avLst/>
        </a:prstGeom>
      </dgm:spPr>
    </dgm:pt>
  </dgm:ptLst>
  <dgm:cxnLst>
    <dgm:cxn modelId="{CAEF801A-16DF-4EE0-84D8-2F710C87BBFB}" type="presOf" srcId="{1C0EE0DA-4B9B-4AC1-A126-9C00D717013A}" destId="{99CEF161-168D-4209-A9C4-A74F2C4B9D70}" srcOrd="0" destOrd="0" presId="urn:microsoft.com/office/officeart/2005/8/layout/default"/>
    <dgm:cxn modelId="{EAA78F7A-C1E1-4823-ADD9-A63009A4D89E}" type="presOf" srcId="{9D4D14AE-9591-4D80-B450-9DE0210F5E4B}" destId="{30F61244-4EAF-4210-9C9D-1C3AD9207AB2}" srcOrd="0" destOrd="0" presId="urn:microsoft.com/office/officeart/2005/8/layout/default"/>
    <dgm:cxn modelId="{7E1D5C92-13D0-4848-97D4-C7155F13B688}" srcId="{C5BB5DF1-6160-48DA-9244-780755A51C37}" destId="{1C0EE0DA-4B9B-4AC1-A126-9C00D717013A}" srcOrd="3" destOrd="0" parTransId="{65AADC3C-7627-434F-89B6-7708CEF4A73A}" sibTransId="{850E569D-A097-4DFF-A38E-0DD1F851D248}"/>
    <dgm:cxn modelId="{69901095-68C2-4E9B-B541-B77181842C76}" srcId="{C5BB5DF1-6160-48DA-9244-780755A51C37}" destId="{9D4D14AE-9591-4D80-B450-9DE0210F5E4B}" srcOrd="0" destOrd="0" parTransId="{88ADC051-8D22-4415-8E33-46240A04444E}" sibTransId="{9FFAFD9E-B19A-4E00-AC80-697E81A5063E}"/>
    <dgm:cxn modelId="{B371C9C2-0FBD-4D7E-9855-C45B39D1DB05}" srcId="{C5BB5DF1-6160-48DA-9244-780755A51C37}" destId="{F812435F-4CAD-4424-AE72-9342C534BD55}" srcOrd="2" destOrd="0" parTransId="{F07179C1-6FCE-47D2-ADE6-3B8B919ACA72}" sibTransId="{C255306C-F45A-4DFA-A441-F9DCE4F52A02}"/>
    <dgm:cxn modelId="{424597CE-2134-4149-9841-70CDFC334DEB}" type="presOf" srcId="{F812435F-4CAD-4424-AE72-9342C534BD55}" destId="{11FF30D0-99AB-4BC0-BA0B-74692FABB53A}" srcOrd="0" destOrd="0" presId="urn:microsoft.com/office/officeart/2005/8/layout/default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F33510FC-77FB-40B3-AE8A-A5C3E70AF063}" srcId="{C5BB5DF1-6160-48DA-9244-780755A51C37}" destId="{6426EB2B-9B62-4FB0-84B5-F24953749707}" srcOrd="1" destOrd="0" parTransId="{C48647F9-2FC5-44B0-A762-09024CBC6AAB}" sibTransId="{D1718790-BF5E-4987-B3CC-15FC2BEC5A38}"/>
    <dgm:cxn modelId="{AA1CECFE-C8EE-4532-B8B8-2D437A1993DD}" type="presOf" srcId="{6426EB2B-9B62-4FB0-84B5-F24953749707}" destId="{4F52E6EA-6A49-4E98-A711-D73773AC45B0}" srcOrd="0" destOrd="0" presId="urn:microsoft.com/office/officeart/2005/8/layout/default"/>
    <dgm:cxn modelId="{9D8B9C1F-FAC5-49DB-BA5C-AD5C6E332044}" type="presParOf" srcId="{91AECCB5-357E-4817-8D8B-617F328E7EE2}" destId="{30F61244-4EAF-4210-9C9D-1C3AD9207AB2}" srcOrd="0" destOrd="0" presId="urn:microsoft.com/office/officeart/2005/8/layout/default"/>
    <dgm:cxn modelId="{7D9EA042-0041-4DE0-8320-6BC676DBFE19}" type="presParOf" srcId="{91AECCB5-357E-4817-8D8B-617F328E7EE2}" destId="{2410F3EA-70EC-4551-9C5D-4197DD50C49F}" srcOrd="1" destOrd="0" presId="urn:microsoft.com/office/officeart/2005/8/layout/default"/>
    <dgm:cxn modelId="{055CBC4B-C32A-4789-9930-FCCF0568E60E}" type="presParOf" srcId="{91AECCB5-357E-4817-8D8B-617F328E7EE2}" destId="{4F52E6EA-6A49-4E98-A711-D73773AC45B0}" srcOrd="2" destOrd="0" presId="urn:microsoft.com/office/officeart/2005/8/layout/default"/>
    <dgm:cxn modelId="{1874E942-718E-46D7-A1B6-5283C1FCC494}" type="presParOf" srcId="{91AECCB5-357E-4817-8D8B-617F328E7EE2}" destId="{33CB5FE9-293F-40ED-812C-228B1CAA3EFD}" srcOrd="3" destOrd="0" presId="urn:microsoft.com/office/officeart/2005/8/layout/default"/>
    <dgm:cxn modelId="{2F9A962F-D96E-4222-9478-DA6DFEB28E93}" type="presParOf" srcId="{91AECCB5-357E-4817-8D8B-617F328E7EE2}" destId="{11FF30D0-99AB-4BC0-BA0B-74692FABB53A}" srcOrd="4" destOrd="0" presId="urn:microsoft.com/office/officeart/2005/8/layout/default"/>
    <dgm:cxn modelId="{067CE160-9643-41E2-BDB1-A89B21BA6576}" type="presParOf" srcId="{91AECCB5-357E-4817-8D8B-617F328E7EE2}" destId="{218D53F4-FD64-461B-9F14-E87EC636FD8B}" srcOrd="5" destOrd="0" presId="urn:microsoft.com/office/officeart/2005/8/layout/default"/>
    <dgm:cxn modelId="{F6A2920B-DBB7-41A2-9040-F3C1F7943289}" type="presParOf" srcId="{91AECCB5-357E-4817-8D8B-617F328E7EE2}" destId="{99CEF161-168D-4209-A9C4-A74F2C4B9D70}" srcOrd="6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78D9953-A063-4574-9A90-41E1253ED7B1}">
      <dgm:prSet custT="1"/>
      <dgm:spPr>
        <a:solidFill>
          <a:srgbClr val="0C1752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Create modular AI agents (Researcher, Analyst, Writer) with specialized roles for information gathering, analysis, and reporting.</a:t>
          </a:r>
          <a:endParaRPr lang="en-US" sz="17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31AB7637-D982-4517-AEA1-A3EB4FEDA234}" type="parTrans" cxnId="{1E36F128-8E31-496D-830D-35B46C74324C}">
      <dgm:prSet/>
      <dgm:spPr/>
      <dgm:t>
        <a:bodyPr/>
        <a:lstStyle/>
        <a:p>
          <a:endParaRPr lang="en-CA"/>
        </a:p>
      </dgm:t>
    </dgm:pt>
    <dgm:pt modelId="{5A608DD9-9B7E-414A-AF89-97DC3BD70EA5}" type="sibTrans" cxnId="{1E36F128-8E31-496D-830D-35B46C74324C}">
      <dgm:prSet/>
      <dgm:spPr/>
      <dgm:t>
        <a:bodyPr/>
        <a:lstStyle/>
        <a:p>
          <a:endParaRPr lang="en-CA"/>
        </a:p>
      </dgm:t>
    </dgm:pt>
    <dgm:pt modelId="{E93392DF-DA30-4337-94A8-C030E65FABB7}">
      <dgm:prSet custT="1"/>
      <dgm:spPr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Implement agent collaboration by passing outputs from one agent to another in a structured workflow.</a:t>
          </a:r>
        </a:p>
      </dgm:t>
    </dgm:pt>
    <dgm:pt modelId="{E6593373-BFAF-4784-8198-EA8FDCB49F87}" type="parTrans" cxnId="{503DD11A-1D46-423F-8D78-EEE33B8593FE}">
      <dgm:prSet/>
      <dgm:spPr/>
      <dgm:t>
        <a:bodyPr/>
        <a:lstStyle/>
        <a:p>
          <a:endParaRPr lang="en-CA"/>
        </a:p>
      </dgm:t>
    </dgm:pt>
    <dgm:pt modelId="{279C9D64-52AA-435C-978E-D4B9C142A12A}" type="sibTrans" cxnId="{503DD11A-1D46-423F-8D78-EEE33B8593FE}">
      <dgm:prSet/>
      <dgm:spPr/>
      <dgm:t>
        <a:bodyPr/>
        <a:lstStyle/>
        <a:p>
          <a:endParaRPr lang="en-CA"/>
        </a:p>
      </dgm:t>
    </dgm:pt>
    <dgm:pt modelId="{E996FD89-8733-461E-991A-FDF3771C8EF5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US" sz="1700" b="0" dirty="0">
              <a:latin typeface="Montserrat" panose="00000500000000000000" pitchFamily="2" charset="0"/>
            </a:rPr>
            <a:t>Customize AI agent behavior by rewriting instructions to adapt outputs to specific languages or formats (e.g., French report generation).</a:t>
          </a:r>
        </a:p>
      </dgm:t>
    </dgm:pt>
    <dgm:pt modelId="{BD2E977B-58B5-42D2-85A7-3654F8F34F0A}" type="parTrans" cxnId="{0EE07F50-88B1-4133-9F86-9BDDF29E44B3}">
      <dgm:prSet/>
      <dgm:spPr/>
      <dgm:t>
        <a:bodyPr/>
        <a:lstStyle/>
        <a:p>
          <a:endParaRPr lang="en-CA"/>
        </a:p>
      </dgm:t>
    </dgm:pt>
    <dgm:pt modelId="{E3FA948F-3187-4E37-BFA7-82E8D5F2EC75}" type="sibTrans" cxnId="{0EE07F50-88B1-4133-9F86-9BDDF29E44B3}">
      <dgm:prSet/>
      <dgm:spPr/>
      <dgm:t>
        <a:bodyPr/>
        <a:lstStyle/>
        <a:p>
          <a:endParaRPr lang="en-CA"/>
        </a:p>
      </dgm:t>
    </dgm:pt>
    <dgm:pt modelId="{C206AB7C-E03E-49CD-9774-BE451F31F82F}">
      <dgm:prSet custT="1"/>
      <dgm:spPr>
        <a:solidFill>
          <a:srgbClr val="11CCDD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Build a manager function to orchestrate multi-agent workflows from input to final deliverable.</a:t>
          </a:r>
        </a:p>
      </dgm:t>
    </dgm:pt>
    <dgm:pt modelId="{CCFB0148-F2B6-4693-89B3-88AECA357D29}" type="parTrans" cxnId="{C99837B7-D25F-4E25-BEF3-EF1A571C21D5}">
      <dgm:prSet/>
      <dgm:spPr/>
      <dgm:t>
        <a:bodyPr/>
        <a:lstStyle/>
        <a:p>
          <a:endParaRPr lang="en-CA"/>
        </a:p>
      </dgm:t>
    </dgm:pt>
    <dgm:pt modelId="{B21A38C5-DFB8-4ACD-BC5A-3EC52CC5B7DA}" type="sibTrans" cxnId="{C99837B7-D25F-4E25-BEF3-EF1A571C21D5}">
      <dgm:prSet/>
      <dgm:spPr/>
      <dgm:t>
        <a:bodyPr/>
        <a:lstStyle/>
        <a:p>
          <a:endParaRPr lang="en-CA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D75B144B-1F07-44F2-86CF-749277D88BC9}" type="pres">
      <dgm:prSet presAssocID="{578D9953-A063-4574-9A90-41E1253ED7B1}" presName="node" presStyleLbl="node1" presStyleIdx="0" presStyleCnt="4">
        <dgm:presLayoutVars>
          <dgm:bulletEnabled val="1"/>
        </dgm:presLayoutVars>
      </dgm:prSet>
      <dgm:spPr/>
    </dgm:pt>
    <dgm:pt modelId="{4DDDF92F-675A-4856-BDBD-515718ADF14D}" type="pres">
      <dgm:prSet presAssocID="{5A608DD9-9B7E-414A-AF89-97DC3BD70EA5}" presName="sibTrans" presStyleCnt="0"/>
      <dgm:spPr/>
    </dgm:pt>
    <dgm:pt modelId="{F99FCF71-E605-4C4F-BDC6-5A75B92BDD85}" type="pres">
      <dgm:prSet presAssocID="{E93392DF-DA30-4337-94A8-C030E65FABB7}" presName="node" presStyleLbl="node1" presStyleIdx="1" presStyleCnt="4">
        <dgm:presLayoutVars>
          <dgm:bulletEnabled val="1"/>
        </dgm:presLayoutVars>
      </dgm:prSet>
      <dgm:spPr>
        <a:xfrm>
          <a:off x="3255738" y="419168"/>
          <a:ext cx="2959762" cy="1775857"/>
        </a:xfrm>
        <a:prstGeom prst="rect">
          <a:avLst/>
        </a:prstGeom>
      </dgm:spPr>
    </dgm:pt>
    <dgm:pt modelId="{EEB8BC73-3CD7-4A43-9B9A-57A18414F085}" type="pres">
      <dgm:prSet presAssocID="{279C9D64-52AA-435C-978E-D4B9C142A12A}" presName="sibTrans" presStyleCnt="0"/>
      <dgm:spPr/>
    </dgm:pt>
    <dgm:pt modelId="{FD89B1CB-4958-4ECD-8D86-9F96736BB476}" type="pres">
      <dgm:prSet presAssocID="{E996FD89-8733-461E-991A-FDF3771C8EF5}" presName="node" presStyleLbl="node1" presStyleIdx="2" presStyleCnt="4">
        <dgm:presLayoutVars>
          <dgm:bulletEnabled val="1"/>
        </dgm:presLayoutVars>
      </dgm:prSet>
      <dgm:spPr/>
    </dgm:pt>
    <dgm:pt modelId="{FFF935D8-D5EA-4CD2-84F3-02FB7EAD2511}" type="pres">
      <dgm:prSet presAssocID="{E3FA948F-3187-4E37-BFA7-82E8D5F2EC75}" presName="sibTrans" presStyleCnt="0"/>
      <dgm:spPr/>
    </dgm:pt>
    <dgm:pt modelId="{E87F5B82-C07C-4498-B53E-66B06104FDC0}" type="pres">
      <dgm:prSet presAssocID="{C206AB7C-E03E-49CD-9774-BE451F31F82F}" presName="node" presStyleLbl="node1" presStyleIdx="3" presStyleCnt="4">
        <dgm:presLayoutVars>
          <dgm:bulletEnabled val="1"/>
        </dgm:presLayoutVars>
      </dgm:prSet>
      <dgm:spPr>
        <a:xfrm>
          <a:off x="1627869" y="2491001"/>
          <a:ext cx="2959762" cy="1775857"/>
        </a:xfrm>
        <a:prstGeom prst="rect">
          <a:avLst/>
        </a:prstGeom>
      </dgm:spPr>
    </dgm:pt>
  </dgm:ptLst>
  <dgm:cxnLst>
    <dgm:cxn modelId="{503DD11A-1D46-423F-8D78-EEE33B8593FE}" srcId="{C5BB5DF1-6160-48DA-9244-780755A51C37}" destId="{E93392DF-DA30-4337-94A8-C030E65FABB7}" srcOrd="1" destOrd="0" parTransId="{E6593373-BFAF-4784-8198-EA8FDCB49F87}" sibTransId="{279C9D64-52AA-435C-978E-D4B9C142A12A}"/>
    <dgm:cxn modelId="{1E36F128-8E31-496D-830D-35B46C74324C}" srcId="{C5BB5DF1-6160-48DA-9244-780755A51C37}" destId="{578D9953-A063-4574-9A90-41E1253ED7B1}" srcOrd="0" destOrd="0" parTransId="{31AB7637-D982-4517-AEA1-A3EB4FEDA234}" sibTransId="{5A608DD9-9B7E-414A-AF89-97DC3BD70EA5}"/>
    <dgm:cxn modelId="{BCE3AC35-E999-4C1D-84E7-399253922CB3}" type="presOf" srcId="{C206AB7C-E03E-49CD-9774-BE451F31F82F}" destId="{E87F5B82-C07C-4498-B53E-66B06104FDC0}" srcOrd="0" destOrd="0" presId="urn:microsoft.com/office/officeart/2005/8/layout/default"/>
    <dgm:cxn modelId="{0EE07F50-88B1-4133-9F86-9BDDF29E44B3}" srcId="{C5BB5DF1-6160-48DA-9244-780755A51C37}" destId="{E996FD89-8733-461E-991A-FDF3771C8EF5}" srcOrd="2" destOrd="0" parTransId="{BD2E977B-58B5-42D2-85A7-3654F8F34F0A}" sibTransId="{E3FA948F-3187-4E37-BFA7-82E8D5F2EC75}"/>
    <dgm:cxn modelId="{9FD1C97C-FBC5-4110-979D-ACA7D151AA6A}" type="presOf" srcId="{E996FD89-8733-461E-991A-FDF3771C8EF5}" destId="{FD89B1CB-4958-4ECD-8D86-9F96736BB476}" srcOrd="0" destOrd="0" presId="urn:microsoft.com/office/officeart/2005/8/layout/default"/>
    <dgm:cxn modelId="{5C9A1995-A687-4B48-9D4A-6DD080ECA0DF}" type="presOf" srcId="{578D9953-A063-4574-9A90-41E1253ED7B1}" destId="{D75B144B-1F07-44F2-86CF-749277D88BC9}" srcOrd="0" destOrd="0" presId="urn:microsoft.com/office/officeart/2005/8/layout/default"/>
    <dgm:cxn modelId="{C99837B7-D25F-4E25-BEF3-EF1A571C21D5}" srcId="{C5BB5DF1-6160-48DA-9244-780755A51C37}" destId="{C206AB7C-E03E-49CD-9774-BE451F31F82F}" srcOrd="3" destOrd="0" parTransId="{CCFB0148-F2B6-4693-89B3-88AECA357D29}" sibTransId="{B21A38C5-DFB8-4ACD-BC5A-3EC52CC5B7DA}"/>
    <dgm:cxn modelId="{93D1F7CA-D209-4F59-8E1B-BADAEF5DFACA}" type="presOf" srcId="{E93392DF-DA30-4337-94A8-C030E65FABB7}" destId="{F99FCF71-E605-4C4F-BDC6-5A75B92BDD85}" srcOrd="0" destOrd="0" presId="urn:microsoft.com/office/officeart/2005/8/layout/default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6C93593C-8E09-4569-9323-2FC0D9C9ECA5}" type="presParOf" srcId="{91AECCB5-357E-4817-8D8B-617F328E7EE2}" destId="{D75B144B-1F07-44F2-86CF-749277D88BC9}" srcOrd="0" destOrd="0" presId="urn:microsoft.com/office/officeart/2005/8/layout/default"/>
    <dgm:cxn modelId="{C14E69C1-DFDE-4F84-8DCE-13A9F1F9D6EA}" type="presParOf" srcId="{91AECCB5-357E-4817-8D8B-617F328E7EE2}" destId="{4DDDF92F-675A-4856-BDBD-515718ADF14D}" srcOrd="1" destOrd="0" presId="urn:microsoft.com/office/officeart/2005/8/layout/default"/>
    <dgm:cxn modelId="{DBE5F88B-D1C7-4061-AF2B-D3D0E1E20495}" type="presParOf" srcId="{91AECCB5-357E-4817-8D8B-617F328E7EE2}" destId="{F99FCF71-E605-4C4F-BDC6-5A75B92BDD85}" srcOrd="2" destOrd="0" presId="urn:microsoft.com/office/officeart/2005/8/layout/default"/>
    <dgm:cxn modelId="{4742FB0A-C400-4E04-A5AA-4D37076A2FBF}" type="presParOf" srcId="{91AECCB5-357E-4817-8D8B-617F328E7EE2}" destId="{EEB8BC73-3CD7-4A43-9B9A-57A18414F085}" srcOrd="3" destOrd="0" presId="urn:microsoft.com/office/officeart/2005/8/layout/default"/>
    <dgm:cxn modelId="{7CF5C2F0-070C-4FCA-A188-69467D1E0C5D}" type="presParOf" srcId="{91AECCB5-357E-4817-8D8B-617F328E7EE2}" destId="{FD89B1CB-4958-4ECD-8D86-9F96736BB476}" srcOrd="4" destOrd="0" presId="urn:microsoft.com/office/officeart/2005/8/layout/default"/>
    <dgm:cxn modelId="{869A49C0-9351-43CC-8A04-C2B3322C4BC9}" type="presParOf" srcId="{91AECCB5-357E-4817-8D8B-617F328E7EE2}" destId="{FFF935D8-D5EA-4CD2-84F3-02FB7EAD2511}" srcOrd="5" destOrd="0" presId="urn:microsoft.com/office/officeart/2005/8/layout/default"/>
    <dgm:cxn modelId="{DE133EFF-096F-4A97-90F0-E197A80F081E}" type="presParOf" srcId="{91AECCB5-357E-4817-8D8B-617F328E7EE2}" destId="{E87F5B82-C07C-4498-B53E-66B06104FDC0}" srcOrd="6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61244-4EAF-4210-9C9D-1C3AD9207AB2}">
      <dsp:nvSpPr>
        <dsp:cNvPr id="0" name=""/>
        <dsp:cNvSpPr/>
      </dsp:nvSpPr>
      <dsp:spPr>
        <a:xfrm>
          <a:off x="1129825" y="586"/>
          <a:ext cx="3603733" cy="2162240"/>
        </a:xfrm>
        <a:prstGeom prst="rect">
          <a:avLst/>
        </a:prstGeom>
        <a:solidFill>
          <a:srgbClr val="D56E48"/>
        </a:solidFill>
        <a:ln w="25400" cap="flat" cmpd="sng" algn="ctr">
          <a:solidFill>
            <a:srgbClr val="D56E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0" kern="1200" dirty="0">
              <a:latin typeface="Montserrat" panose="00000500000000000000" pitchFamily="2" charset="0"/>
            </a:rPr>
            <a:t>Design and build a personal finance AI agent with memory that can recall user preferences, past tasks, and ongoing conversations to deliver more personalized, intelligent behavior.</a:t>
          </a:r>
          <a:endParaRPr lang="en-US" sz="15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1129825" y="586"/>
        <a:ext cx="3603733" cy="2162240"/>
      </dsp:txXfrm>
    </dsp:sp>
    <dsp:sp modelId="{4F52E6EA-6A49-4E98-A711-D73773AC45B0}">
      <dsp:nvSpPr>
        <dsp:cNvPr id="0" name=""/>
        <dsp:cNvSpPr/>
      </dsp:nvSpPr>
      <dsp:spPr>
        <a:xfrm>
          <a:off x="5093932" y="586"/>
          <a:ext cx="3603733" cy="2162240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Integrate SQLite-based session storage to enable persistent memory for agents</a:t>
          </a:r>
          <a:endParaRPr lang="en-US" sz="1500" b="0" kern="1200" dirty="0">
            <a:latin typeface="Montserrat" panose="00000500000000000000" pitchFamily="2" charset="0"/>
          </a:endParaRPr>
        </a:p>
      </dsp:txBody>
      <dsp:txXfrm>
        <a:off x="5093932" y="586"/>
        <a:ext cx="3603733" cy="2162240"/>
      </dsp:txXfrm>
    </dsp:sp>
    <dsp:sp modelId="{11FF30D0-99AB-4BC0-BA0B-74692FABB53A}">
      <dsp:nvSpPr>
        <dsp:cNvPr id="0" name=""/>
        <dsp:cNvSpPr/>
      </dsp:nvSpPr>
      <dsp:spPr>
        <a:xfrm>
          <a:off x="1129825" y="2523200"/>
          <a:ext cx="3603733" cy="2162240"/>
        </a:xfrm>
        <a:prstGeom prst="rect">
          <a:avLst/>
        </a:prstGeom>
        <a:solidFill>
          <a:schemeClr val="bg1">
            <a:lumMod val="50000"/>
          </a:schemeClr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Use the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OpenAI</a:t>
          </a:r>
          <a:r>
            <a:rPr lang="en-US" sz="1500" b="0" kern="1200" dirty="0">
              <a:latin typeface="Montserrat" panose="00000500000000000000" pitchFamily="2" charset="0"/>
            </a:rPr>
            <a:t> Agent SDK to define agent instructions, run the agent, and manage session state.</a:t>
          </a:r>
          <a:endParaRPr lang="en-US" sz="15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1129825" y="2523200"/>
        <a:ext cx="3603733" cy="2162240"/>
      </dsp:txXfrm>
    </dsp:sp>
    <dsp:sp modelId="{99CEF161-168D-4209-A9C4-A74F2C4B9D70}">
      <dsp:nvSpPr>
        <dsp:cNvPr id="0" name=""/>
        <dsp:cNvSpPr/>
      </dsp:nvSpPr>
      <dsp:spPr>
        <a:xfrm>
          <a:off x="5093932" y="2523200"/>
          <a:ext cx="3603733" cy="2162240"/>
        </a:xfrm>
        <a:prstGeom prst="rect">
          <a:avLst/>
        </a:prstGeom>
        <a:solidFill>
          <a:srgbClr val="11CCDD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Test and compare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agent</a:t>
          </a:r>
          <a:r>
            <a:rPr lang="en-US" sz="1500" b="0" kern="1200" dirty="0">
              <a:latin typeface="Montserrat" panose="00000500000000000000" pitchFamily="2" charset="0"/>
            </a:rPr>
            <a:t> behavior before and after adding memory to evaluate improvements in context retention.</a:t>
          </a:r>
        </a:p>
      </dsp:txBody>
      <dsp:txXfrm>
        <a:off x="5093932" y="2523200"/>
        <a:ext cx="3603733" cy="2162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B144B-1F07-44F2-86CF-749277D88BC9}">
      <dsp:nvSpPr>
        <dsp:cNvPr id="0" name=""/>
        <dsp:cNvSpPr/>
      </dsp:nvSpPr>
      <dsp:spPr>
        <a:xfrm>
          <a:off x="1587030" y="1917"/>
          <a:ext cx="3365594" cy="2019356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Create modular AI agents (Researcher, Analyst, Writer) with specialized roles for information gathering, analysis, and reporting.</a:t>
          </a:r>
          <a:endParaRPr lang="en-US" sz="17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1587030" y="1917"/>
        <a:ext cx="3365594" cy="2019356"/>
      </dsp:txXfrm>
    </dsp:sp>
    <dsp:sp modelId="{F99FCF71-E605-4C4F-BDC6-5A75B92BDD85}">
      <dsp:nvSpPr>
        <dsp:cNvPr id="0" name=""/>
        <dsp:cNvSpPr/>
      </dsp:nvSpPr>
      <dsp:spPr>
        <a:xfrm>
          <a:off x="5289184" y="1917"/>
          <a:ext cx="3365594" cy="2019356"/>
        </a:xfrm>
        <a:prstGeom prst="rect">
          <a:avLst/>
        </a:prstGeom>
        <a:solidFill>
          <a:srgbClr val="D56E48"/>
        </a:solidFill>
        <a:ln w="25400" cap="flat" cmpd="sng" algn="ctr">
          <a:solidFill>
            <a:srgbClr val="D56E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Implement agent collaboration by passing outputs from one agent to another in a structured workflow.</a:t>
          </a:r>
        </a:p>
      </dsp:txBody>
      <dsp:txXfrm>
        <a:off x="5289184" y="1917"/>
        <a:ext cx="3365594" cy="2019356"/>
      </dsp:txXfrm>
    </dsp:sp>
    <dsp:sp modelId="{FD89B1CB-4958-4ECD-8D86-9F96736BB476}">
      <dsp:nvSpPr>
        <dsp:cNvPr id="0" name=""/>
        <dsp:cNvSpPr/>
      </dsp:nvSpPr>
      <dsp:spPr>
        <a:xfrm>
          <a:off x="1587030" y="2357833"/>
          <a:ext cx="3365594" cy="2019356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Customize AI agent behavior by rewriting instructions to adapt outputs to specific languages or formats (e.g., French report generation).</a:t>
          </a:r>
        </a:p>
      </dsp:txBody>
      <dsp:txXfrm>
        <a:off x="1587030" y="2357833"/>
        <a:ext cx="3365594" cy="2019356"/>
      </dsp:txXfrm>
    </dsp:sp>
    <dsp:sp modelId="{E87F5B82-C07C-4498-B53E-66B06104FDC0}">
      <dsp:nvSpPr>
        <dsp:cNvPr id="0" name=""/>
        <dsp:cNvSpPr/>
      </dsp:nvSpPr>
      <dsp:spPr>
        <a:xfrm>
          <a:off x="5289184" y="2357833"/>
          <a:ext cx="3365594" cy="2019356"/>
        </a:xfrm>
        <a:prstGeom prst="rect">
          <a:avLst/>
        </a:prstGeom>
        <a:solidFill>
          <a:srgbClr val="11CCDD"/>
        </a:solidFill>
        <a:ln w="254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Build a manager function to orchestrate multi-agent workflows from input to final deliverable.</a:t>
          </a:r>
        </a:p>
      </dsp:txBody>
      <dsp:txXfrm>
        <a:off x="5289184" y="2357833"/>
        <a:ext cx="3365594" cy="2019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A44D880-5EF8-224C-9065-4DEE0FB2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>
            <a:extLst>
              <a:ext uri="{FF2B5EF4-FFF2-40B4-BE49-F238E27FC236}">
                <a16:creationId xmlns:a16="http://schemas.microsoft.com/office/drawing/2014/main" id="{3AACF1FE-F712-682C-C05D-36B878965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2AB7B2FB-2806-6B41-CF82-25FC1FA7B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469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E572ADF-825C-C301-A2D6-EDAF4B1D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>
            <a:extLst>
              <a:ext uri="{FF2B5EF4-FFF2-40B4-BE49-F238E27FC236}">
                <a16:creationId xmlns:a16="http://schemas.microsoft.com/office/drawing/2014/main" id="{E87380D8-FED6-6DE7-D390-B0362329E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1FC64313-15BA-48F5-1801-A5C53B47D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444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6AEE1EF-10EF-1031-2962-1D5997B5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>
            <a:extLst>
              <a:ext uri="{FF2B5EF4-FFF2-40B4-BE49-F238E27FC236}">
                <a16:creationId xmlns:a16="http://schemas.microsoft.com/office/drawing/2014/main" id="{36820379-55A3-1AC6-7060-B86CEDABB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64D450F6-4A69-B2CF-A62F-DAB69098B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1411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4222A6E-B62C-BCAA-E993-2570E6FB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8897351-F86D-B8A9-5861-0FDBEF7B3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33A4802-5D84-D847-C5F3-9F943BCDB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502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5C3D65D5-A909-0C73-60A2-6F1024D0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D9DD501-E1E7-CBDB-6D83-7806B38A3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E1019B4-6343-DA5B-7475-207A04943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463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8F43-800E-45A6-E977-EF4DD1AC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26070-CED2-FC1A-BAED-338256AB8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D8196-C088-909F-A2B6-1C71B6FDD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2FB2-25D1-E244-0DDE-06496E4E80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6302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2A13-E25D-59AA-BF0A-A0DA6C72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C94F7-D12F-9B71-2760-759913AC7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90773-2A90-3CC9-908E-277855603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8F6DB-4866-BC7C-DAF9-EAC00EAABC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5220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ADF0-4458-F7EE-78E1-9B3DB675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027C0-A7C1-123C-2F75-7F2E8DBF8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B5142-A998-C59D-2537-2EBD3B241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D4F6A-EE21-CAF8-F2A2-F0C25BA12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585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D3A6-5427-DAD8-0805-A896087F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F4B47-5F29-D8B0-98B1-1E3DD7321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F3E7C-3FD7-E9AC-A351-7750184F4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214B3-C4DE-F7B9-60BB-89C5A97E1B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9047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B3332-D5CC-20A0-8A5A-BE5A396D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05C5C-F808-ECAA-587A-1391247C8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FFB61-BF5A-5B74-CE70-458D75359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EC588-2E74-453A-2FBC-26491A6531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3207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A33C8-9C65-E2CD-05DC-5685E66D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BD79E-28EC-D648-D119-91324B771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DB73C-508B-9929-3495-2C3A64A57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6722B-35DA-A48D-AEBE-D162D6666B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3536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B419FF4-DC3D-976F-0346-0781DF7C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26F5DBBD-067E-60DD-0F27-C2914F0F3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694E416D-98A7-95DD-43B6-94FE2B3AD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426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metr.org/blog/2025-03-19-measuring-ai-ability-to-complete-long-task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2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nthropic.com/news/model-context-protocol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microsoft.com/office/2007/relationships/hdphoto" Target="../media/hdphoto4.wdp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hyperlink" Target="https://drive.google.com/file/d/1N9OP52lXPketAz86vCLL7pybrJdTkI5j/view?usp=sharin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avily.com/" TargetMode="Externa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hyperlink" Target="https://drive.google.com/file/d/1IoUuiCqcYk4A69Emc4P1TfHLc3don8pj/view?usp=sharing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12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51.png"/><Relationship Id="rId5" Type="http://schemas.openxmlformats.org/officeDocument/2006/relationships/image" Target="../media/image42.png"/><Relationship Id="rId10" Type="http://schemas.openxmlformats.org/officeDocument/2006/relationships/image" Target="../media/image50.png"/><Relationship Id="rId4" Type="http://schemas.openxmlformats.org/officeDocument/2006/relationships/image" Target="../media/image41.png"/><Relationship Id="rId9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MASTERCLASS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B3D24-8949-7912-A9E1-B8AF40B4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0B0D8-9BBC-2DB4-0BA6-6515CAA07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1705A9-2BD0-FF10-5CD2-312D9238A27A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INTRODUCTION TO AGENTS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11411-A5F4-2AAC-4416-C94519235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9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732E-0D5C-D47C-9632-5DFEB5EF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85B8DE-46BC-EA55-26BB-C267BD59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DA6B4-2CA4-A79F-E298-F6ED6CE6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B121B9-7953-E46D-823C-5F374DE1499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A98F58-FD32-04C3-FC41-65697F3FC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Google Shape;94;p12">
            <a:extLst>
              <a:ext uri="{FF2B5EF4-FFF2-40B4-BE49-F238E27FC236}">
                <a16:creationId xmlns:a16="http://schemas.microsoft.com/office/drawing/2014/main" id="{E2629151-E312-F015-F76B-C91D29B76527}"/>
              </a:ext>
            </a:extLst>
          </p:cNvPr>
          <p:cNvSpPr txBox="1"/>
          <p:nvPr/>
        </p:nvSpPr>
        <p:spPr>
          <a:xfrm>
            <a:off x="638175" y="2327640"/>
            <a:ext cx="10563225" cy="22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Font typeface="DM Sans"/>
              <a:buNone/>
              <a:defRPr sz="24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sym typeface="DM Sans"/>
              </a:rPr>
              <a:t>"6 months ago, building an AI agent took 2 days.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C1752"/>
              </a:solidFill>
              <a:effectLst/>
              <a:uLnTx/>
              <a:uFillTx/>
              <a:latin typeface="Montserrat" panose="00000500000000000000" pitchFamily="2" charset="0"/>
              <a:sym typeface="DM San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sym typeface="DM Sans"/>
              </a:rPr>
              <a:t>Today, AI agents build AI agents in minutes."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C1752"/>
              </a:solidFill>
              <a:effectLst/>
              <a:uLnTx/>
              <a:uFillTx/>
              <a:latin typeface="Montserrat" panose="00000500000000000000" pitchFamily="2" charset="0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7628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C377-CF6D-5F9E-B612-4CEBE3E7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802803-6C02-EDF0-18B1-F944B061C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752BB-6D52-1DDE-B97F-C767AC4E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3D1C6C-8D5C-78F8-9B82-137E4BCF1F8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8835BC-1561-F14C-D8CD-C2014DCD8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77BC6-464E-8D4B-FD48-6B1AAAB6A31B}"/>
              </a:ext>
            </a:extLst>
          </p:cNvPr>
          <p:cNvSpPr txBox="1"/>
          <p:nvPr/>
        </p:nvSpPr>
        <p:spPr>
          <a:xfrm>
            <a:off x="2005923" y="6026082"/>
            <a:ext cx="7623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solidFill>
                  <a:srgbClr val="0C1752"/>
                </a:solidFill>
              </a:rPr>
              <a:t>Source: </a:t>
            </a:r>
            <a:r>
              <a:rPr lang="en-CA" sz="1600" dirty="0">
                <a:solidFill>
                  <a:srgbClr val="0C175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https://metr.org/blog/2025-03-19-measuring-ai-ability-to-complete-long-tasks/</a:t>
            </a:r>
            <a:endParaRPr lang="en-CA" sz="1600" dirty="0">
              <a:solidFill>
                <a:srgbClr val="0C1752"/>
              </a:solidFill>
            </a:endParaRPr>
          </a:p>
          <a:p>
            <a:endParaRPr lang="en-CA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110A89-B159-9B60-F20C-B73B7D666D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39"/>
          <a:stretch>
            <a:fillRect/>
          </a:stretch>
        </p:blipFill>
        <p:spPr>
          <a:xfrm>
            <a:off x="1289744" y="791442"/>
            <a:ext cx="9520683" cy="51905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8D298B-8CB2-88FE-5D47-1259B5C946FB}"/>
              </a:ext>
            </a:extLst>
          </p:cNvPr>
          <p:cNvSpPr txBox="1"/>
          <p:nvPr/>
        </p:nvSpPr>
        <p:spPr>
          <a:xfrm>
            <a:off x="330994" y="62477"/>
            <a:ext cx="612933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AI Can Now Work a Full Shift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97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5C39-92E0-86A8-59F9-F7850265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2A2378-6201-34BC-BFFA-FC736130B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65B4A1-1743-998A-8727-001FE27C2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02BD8FB-BBAE-AA7E-9B41-D2BD60D7451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Building Agents is Changing Quickly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9AD8C-1EED-27FC-CA98-DC49D7AC6D1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E19BA1-6236-DB00-6B43-1D7FD9360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3191A51-FB41-BC85-2B28-F1A90E6B932A}"/>
              </a:ext>
            </a:extLst>
          </p:cNvPr>
          <p:cNvSpPr/>
          <p:nvPr/>
        </p:nvSpPr>
        <p:spPr>
          <a:xfrm>
            <a:off x="341144" y="2075451"/>
            <a:ext cx="3169920" cy="426720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ACDCF78-66CB-5A67-077E-512F0BFEEB19}"/>
              </a:ext>
            </a:extLst>
          </p:cNvPr>
          <p:cNvSpPr/>
          <p:nvPr/>
        </p:nvSpPr>
        <p:spPr>
          <a:xfrm>
            <a:off x="341144" y="2075451"/>
            <a:ext cx="3169920" cy="7315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4B05252-73A5-C8E3-1AB1-B3161B21A0A2}"/>
              </a:ext>
            </a:extLst>
          </p:cNvPr>
          <p:cNvSpPr/>
          <p:nvPr/>
        </p:nvSpPr>
        <p:spPr>
          <a:xfrm>
            <a:off x="584984" y="231929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4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3A305121-DC72-5BB0-5871-D6C1EEA2A883}"/>
              </a:ext>
            </a:extLst>
          </p:cNvPr>
          <p:cNvSpPr/>
          <p:nvPr/>
        </p:nvSpPr>
        <p:spPr>
          <a:xfrm>
            <a:off x="584984" y="2989851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Era</a:t>
            </a:r>
            <a:endParaRPr lang="en-US" sz="1867" dirty="0">
              <a:solidFill>
                <a:srgbClr val="0C1752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E358F85-2068-83EC-F008-5673D61198A1}"/>
              </a:ext>
            </a:extLst>
          </p:cNvPr>
          <p:cNvSpPr/>
          <p:nvPr/>
        </p:nvSpPr>
        <p:spPr>
          <a:xfrm>
            <a:off x="584984" y="3538491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FFCD4AA-E529-D9BA-A7F5-A080EA21A708}"/>
              </a:ext>
            </a:extLst>
          </p:cNvPr>
          <p:cNvSpPr/>
          <p:nvPr/>
        </p:nvSpPr>
        <p:spPr>
          <a:xfrm>
            <a:off x="584984" y="378233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043CC43-2A09-F333-CABC-7A325C882BF8}"/>
              </a:ext>
            </a:extLst>
          </p:cNvPr>
          <p:cNvSpPr/>
          <p:nvPr/>
        </p:nvSpPr>
        <p:spPr>
          <a:xfrm>
            <a:off x="584984" y="457481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integrations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AABBF148-C07F-3BBE-9C25-705463F7C31C}"/>
              </a:ext>
            </a:extLst>
          </p:cNvPr>
          <p:cNvSpPr/>
          <p:nvPr/>
        </p:nvSpPr>
        <p:spPr>
          <a:xfrm>
            <a:off x="584984" y="536729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 err="1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733" b="1" dirty="0" err="1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custom scripts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6D952F6F-9BE0-EA9A-1E63-B69837581D0A}"/>
              </a:ext>
            </a:extLst>
          </p:cNvPr>
          <p:cNvSpPr/>
          <p:nvPr/>
        </p:nvSpPr>
        <p:spPr>
          <a:xfrm>
            <a:off x="4196864" y="2075451"/>
            <a:ext cx="3169920" cy="4267200"/>
          </a:xfrm>
          <a:prstGeom prst="roundRect">
            <a:avLst>
              <a:gd name="adj" fmla="val 3846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56E194CC-68E6-3DED-62A0-EBC1EEFC4448}"/>
              </a:ext>
            </a:extLst>
          </p:cNvPr>
          <p:cNvSpPr/>
          <p:nvPr/>
        </p:nvSpPr>
        <p:spPr>
          <a:xfrm>
            <a:off x="4196864" y="2075451"/>
            <a:ext cx="3169920" cy="73152"/>
          </a:xfrm>
          <a:prstGeom prst="rect">
            <a:avLst/>
          </a:prstGeom>
          <a:solidFill>
            <a:srgbClr val="4A9E4A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8F14B9D-E58B-1780-7058-D5AEA04E20BE}"/>
              </a:ext>
            </a:extLst>
          </p:cNvPr>
          <p:cNvSpPr/>
          <p:nvPr/>
        </p:nvSpPr>
        <p:spPr>
          <a:xfrm>
            <a:off x="4440704" y="231929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4A9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48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6FAB66DA-0121-7478-8B8D-19F303A415B4}"/>
              </a:ext>
            </a:extLst>
          </p:cNvPr>
          <p:cNvSpPr/>
          <p:nvPr/>
        </p:nvSpPr>
        <p:spPr>
          <a:xfrm>
            <a:off x="4440704" y="2989851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Era</a:t>
            </a:r>
            <a:endParaRPr lang="en-US" sz="1867" dirty="0">
              <a:solidFill>
                <a:srgbClr val="0C1752"/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BF10284F-172A-760A-6AF9-AB0C7F7847C5}"/>
              </a:ext>
            </a:extLst>
          </p:cNvPr>
          <p:cNvSpPr/>
          <p:nvPr/>
        </p:nvSpPr>
        <p:spPr>
          <a:xfrm>
            <a:off x="4440704" y="3538491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447B073-BC6C-66A6-8BA3-A17C7DE975E7}"/>
              </a:ext>
            </a:extLst>
          </p:cNvPr>
          <p:cNvSpPr/>
          <p:nvPr/>
        </p:nvSpPr>
        <p:spPr>
          <a:xfrm>
            <a:off x="4440704" y="378233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4517B45-B27E-5A03-AF4E-5575952B02BE}"/>
              </a:ext>
            </a:extLst>
          </p:cNvPr>
          <p:cNvSpPr/>
          <p:nvPr/>
        </p:nvSpPr>
        <p:spPr>
          <a:xfrm>
            <a:off x="4440704" y="457481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 err="1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1BCC81E-D372-291B-6BE4-BA63F114FD19}"/>
              </a:ext>
            </a:extLst>
          </p:cNvPr>
          <p:cNvSpPr/>
          <p:nvPr/>
        </p:nvSpPr>
        <p:spPr>
          <a:xfrm>
            <a:off x="4440704" y="536729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tools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handoffs built in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6B0854A4-1015-0702-1B1C-BA3726DFBB18}"/>
              </a:ext>
            </a:extLst>
          </p:cNvPr>
          <p:cNvSpPr/>
          <p:nvPr/>
        </p:nvSpPr>
        <p:spPr>
          <a:xfrm>
            <a:off x="8203038" y="2075451"/>
            <a:ext cx="3169920" cy="4267200"/>
          </a:xfrm>
          <a:prstGeom prst="roundRect">
            <a:avLst>
              <a:gd name="adj" fmla="val 3846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D946E5E4-AB43-902A-6BD4-B99219302A7C}"/>
              </a:ext>
            </a:extLst>
          </p:cNvPr>
          <p:cNvSpPr/>
          <p:nvPr/>
        </p:nvSpPr>
        <p:spPr>
          <a:xfrm>
            <a:off x="8203038" y="2075451"/>
            <a:ext cx="3169920" cy="73152"/>
          </a:xfrm>
          <a:prstGeom prst="rect">
            <a:avLst/>
          </a:prstGeom>
          <a:solidFill>
            <a:srgbClr val="7FFF00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71F8725-788C-51BC-F0E4-D84D59527FE2}"/>
              </a:ext>
            </a:extLst>
          </p:cNvPr>
          <p:cNvSpPr/>
          <p:nvPr/>
        </p:nvSpPr>
        <p:spPr>
          <a:xfrm>
            <a:off x="8446878" y="231929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7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48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BB1EC0B3-BE40-A8D2-E50E-1ED179883042}"/>
              </a:ext>
            </a:extLst>
          </p:cNvPr>
          <p:cNvSpPr/>
          <p:nvPr/>
        </p:nvSpPr>
        <p:spPr>
          <a:xfrm>
            <a:off x="8446878" y="2989851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Era</a:t>
            </a:r>
            <a:endParaRPr lang="en-US" sz="1867" dirty="0">
              <a:solidFill>
                <a:srgbClr val="0C1752"/>
              </a:solidFill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770130BC-D2BD-FD1C-3D42-5602F8C01484}"/>
              </a:ext>
            </a:extLst>
          </p:cNvPr>
          <p:cNvSpPr/>
          <p:nvPr/>
        </p:nvSpPr>
        <p:spPr>
          <a:xfrm>
            <a:off x="8446878" y="3538491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02BB2DC-1A76-7C1D-F450-00FB0CE66C40}"/>
              </a:ext>
            </a:extLst>
          </p:cNvPr>
          <p:cNvSpPr/>
          <p:nvPr/>
        </p:nvSpPr>
        <p:spPr>
          <a:xfrm>
            <a:off x="8446878" y="378233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628DE036-AC1B-C1A3-CA58-CD4064961686}"/>
              </a:ext>
            </a:extLst>
          </p:cNvPr>
          <p:cNvSpPr/>
          <p:nvPr/>
        </p:nvSpPr>
        <p:spPr>
          <a:xfrm>
            <a:off x="8446878" y="457481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teams building agents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599B4B35-7014-F4B2-7C7A-6FA1DC4C6BC5}"/>
              </a:ext>
            </a:extLst>
          </p:cNvPr>
          <p:cNvSpPr/>
          <p:nvPr/>
        </p:nvSpPr>
        <p:spPr>
          <a:xfrm>
            <a:off x="8446878" y="5367291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733" dirty="0">
              <a:solidFill>
                <a:srgbClr val="0C1752"/>
              </a:solidFill>
            </a:endParaRPr>
          </a:p>
          <a:p>
            <a:r>
              <a:rPr lang="en-US" sz="1467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code → test</a:t>
            </a:r>
            <a:endParaRPr lang="en-US" sz="1733" dirty="0">
              <a:solidFill>
                <a:srgbClr val="0C1752"/>
              </a:solidFill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64B02715-3B9F-17ED-8804-0A7BEA631843}"/>
              </a:ext>
            </a:extLst>
          </p:cNvPr>
          <p:cNvSpPr/>
          <p:nvPr/>
        </p:nvSpPr>
        <p:spPr>
          <a:xfrm>
            <a:off x="3610124" y="3960470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0C1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solidFill>
                <a:srgbClr val="0C1752"/>
              </a:solidFill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C1FD915-1A95-451A-3489-71364D70E330}"/>
              </a:ext>
            </a:extLst>
          </p:cNvPr>
          <p:cNvSpPr/>
          <p:nvPr/>
        </p:nvSpPr>
        <p:spPr>
          <a:xfrm>
            <a:off x="7541071" y="3960470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0C1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solidFill>
                <a:srgbClr val="0C1752"/>
              </a:solidFill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F56A28BD-7D0C-BAF7-527F-D944626CEE56}"/>
              </a:ext>
            </a:extLst>
          </p:cNvPr>
          <p:cNvSpPr/>
          <p:nvPr/>
        </p:nvSpPr>
        <p:spPr>
          <a:xfrm>
            <a:off x="212957" y="907668"/>
            <a:ext cx="11298228" cy="652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0990" indent="-380990">
              <a:lnSpc>
                <a:spcPct val="90000"/>
              </a:lnSpc>
              <a:spcBef>
                <a:spcPts val="1333"/>
              </a:spcBef>
              <a:buClr>
                <a:srgbClr val="02291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</a:rPr>
              <a:t>We will start by building AI agents using OpenAI Agents SDK to understand the fundamentals and then move to automating Agentic workflow creation with Claude Code. </a:t>
            </a:r>
          </a:p>
        </p:txBody>
      </p:sp>
    </p:spTree>
    <p:extLst>
      <p:ext uri="{BB962C8B-B14F-4D97-AF65-F5344CB8AC3E}">
        <p14:creationId xmlns:p14="http://schemas.microsoft.com/office/powerpoint/2010/main" val="247451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19287-C036-9536-3FC1-C70DBE6F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60BF0-4160-A728-F88C-75052C020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0E8D48-6C02-3763-11DB-FAB6C2424341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AN AI AGENT?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60415-8100-D776-D64D-51E2F65FD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1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1CC9-FB9D-6FC3-C61C-513CDA35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ECDA58-D4F5-0CE1-4835-3D28EB9D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39372-5869-D3B1-9AE0-18059771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6763A81-713F-9A4A-0303-7BCE0EC3EE5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95503-64C3-E266-8582-2143C9765B9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ADC8A6-45F3-91F8-965F-F35D2F730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E8815-26C2-C969-2D49-662B6A98CCCC}"/>
              </a:ext>
            </a:extLst>
          </p:cNvPr>
          <p:cNvSpPr txBox="1"/>
          <p:nvPr/>
        </p:nvSpPr>
        <p:spPr>
          <a:xfrm>
            <a:off x="191887" y="749823"/>
            <a:ext cx="12026564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792" indent="-304792" defTabSz="1219170">
              <a:spcBef>
                <a:spcPts val="1333"/>
              </a:spcBef>
            </a:pPr>
            <a:r>
              <a:rPr lang="en-US" kern="0" dirty="0">
                <a:solidFill>
                  <a:srgbClr val="000000"/>
                </a:solidFill>
                <a:cs typeface="Arial"/>
                <a:sym typeface="Arial"/>
              </a:rPr>
              <a:t>AI agents are intelligent systems that take a goal, plan the steps, and autonomously execute them using tools &amp; knowledge with minimal human input. </a:t>
            </a:r>
            <a:endParaRPr lang="en-CA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F27E01-89A0-9F81-68CB-5EEA750B8780}"/>
              </a:ext>
            </a:extLst>
          </p:cNvPr>
          <p:cNvCxnSpPr>
            <a:cxnSpLocks/>
          </p:cNvCxnSpPr>
          <p:nvPr/>
        </p:nvCxnSpPr>
        <p:spPr>
          <a:xfrm>
            <a:off x="1762175" y="4170632"/>
            <a:ext cx="621707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5FA943-F350-BDF9-095C-3657B578E202}"/>
              </a:ext>
            </a:extLst>
          </p:cNvPr>
          <p:cNvSpPr txBox="1"/>
          <p:nvPr/>
        </p:nvSpPr>
        <p:spPr>
          <a:xfrm>
            <a:off x="407188" y="3376736"/>
            <a:ext cx="2031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i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“Plan my 3-day trip to Paris”</a:t>
            </a:r>
            <a:endParaRPr lang="en-CA" sz="1400" i="1" kern="0" dirty="0">
              <a:solidFill>
                <a:srgbClr val="000000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C69E0-581B-5B96-D6FA-8994235D9D3E}"/>
              </a:ext>
            </a:extLst>
          </p:cNvPr>
          <p:cNvSpPr txBox="1"/>
          <p:nvPr/>
        </p:nvSpPr>
        <p:spPr>
          <a:xfrm>
            <a:off x="2456086" y="4743730"/>
            <a:ext cx="161775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2BB70-D739-13A1-BCDB-498B7EBA08C6}"/>
              </a:ext>
            </a:extLst>
          </p:cNvPr>
          <p:cNvSpPr txBox="1"/>
          <p:nvPr/>
        </p:nvSpPr>
        <p:spPr>
          <a:xfrm>
            <a:off x="4613045" y="5119768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4AB07AF-5EFD-9FE2-508C-BE23B84DF4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78154" y="3883000"/>
            <a:ext cx="1834309" cy="995507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8CEF1FB-6394-8444-2BB3-3D25C0BE60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09545" y="3057565"/>
            <a:ext cx="1226688" cy="2475960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0F8261-62B5-CC6C-94E3-FD50DE395D8B}"/>
              </a:ext>
            </a:extLst>
          </p:cNvPr>
          <p:cNvCxnSpPr>
            <a:cxnSpLocks/>
          </p:cNvCxnSpPr>
          <p:nvPr/>
        </p:nvCxnSpPr>
        <p:spPr>
          <a:xfrm>
            <a:off x="5288212" y="4462613"/>
            <a:ext cx="0" cy="720919"/>
          </a:xfrm>
          <a:prstGeom prst="line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6" descr="Generated image">
            <a:extLst>
              <a:ext uri="{FF2B5EF4-FFF2-40B4-BE49-F238E27FC236}">
                <a16:creationId xmlns:a16="http://schemas.microsoft.com/office/drawing/2014/main" id="{7932EF47-DF60-2B38-AF0D-80389754C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DFC"/>
              </a:clrFrom>
              <a:clrTo>
                <a:srgbClr val="FEFD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321" y="5104394"/>
            <a:ext cx="1464969" cy="146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Generated image">
            <a:extLst>
              <a:ext uri="{FF2B5EF4-FFF2-40B4-BE49-F238E27FC236}">
                <a16:creationId xmlns:a16="http://schemas.microsoft.com/office/drawing/2014/main" id="{D690A5C7-CBFF-EEAB-1E2E-25E372583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DFDFC"/>
              </a:clrFrom>
              <a:clrTo>
                <a:srgbClr val="FDFD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3"/>
          <a:stretch>
            <a:fillRect/>
          </a:stretch>
        </p:blipFill>
        <p:spPr bwMode="auto">
          <a:xfrm>
            <a:off x="4543816" y="5478425"/>
            <a:ext cx="1611419" cy="139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122A47-1A81-1519-5E88-2B98BF125B49}"/>
              </a:ext>
            </a:extLst>
          </p:cNvPr>
          <p:cNvSpPr/>
          <p:nvPr/>
        </p:nvSpPr>
        <p:spPr>
          <a:xfrm>
            <a:off x="4142333" y="3640887"/>
            <a:ext cx="2219851" cy="1057127"/>
          </a:xfrm>
          <a:prstGeom prst="roundRect">
            <a:avLst/>
          </a:prstGeom>
          <a:solidFill>
            <a:srgbClr val="0C1752"/>
          </a:solidFill>
          <a:ln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CA" sz="2133" i="1" kern="0" dirty="0">
                <a:solidFill>
                  <a:srgbClr val="EBEBE6"/>
                </a:solidFill>
                <a:latin typeface="Montserrat" panose="00000500000000000000" pitchFamily="2" charset="0"/>
                <a:sym typeface="Arial"/>
              </a:rPr>
              <a:t>Large Language Model</a:t>
            </a:r>
            <a:endParaRPr lang="en-CA" sz="1467" i="1" kern="0" dirty="0">
              <a:solidFill>
                <a:srgbClr val="EBEBE6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B07AB8-FB8D-5CAC-C0E3-23BEA7B3C039}"/>
              </a:ext>
            </a:extLst>
          </p:cNvPr>
          <p:cNvSpPr txBox="1"/>
          <p:nvPr/>
        </p:nvSpPr>
        <p:spPr>
          <a:xfrm>
            <a:off x="6826151" y="4888934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Tools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33" name="Picture 12">
            <a:extLst>
              <a:ext uri="{FF2B5EF4-FFF2-40B4-BE49-F238E27FC236}">
                <a16:creationId xmlns:a16="http://schemas.microsoft.com/office/drawing/2014/main" id="{0F0A8F29-19BC-C413-6BFC-2D7934448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52" y="5108164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7200CB9-F226-BA29-7C8B-9440ACFC29E2}"/>
              </a:ext>
            </a:extLst>
          </p:cNvPr>
          <p:cNvSpPr/>
          <p:nvPr/>
        </p:nvSpPr>
        <p:spPr>
          <a:xfrm>
            <a:off x="2462948" y="2635431"/>
            <a:ext cx="6855768" cy="4073656"/>
          </a:xfrm>
          <a:prstGeom prst="roundRect">
            <a:avLst/>
          </a:prstGeom>
          <a:noFill/>
          <a:ln w="38100"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CA" sz="1867" kern="0" dirty="0">
              <a:solidFill>
                <a:srgbClr val="022911"/>
              </a:solidFill>
              <a:latin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7F278D-07D6-4975-58AF-0670265B3DBE}"/>
              </a:ext>
            </a:extLst>
          </p:cNvPr>
          <p:cNvSpPr txBox="1"/>
          <p:nvPr/>
        </p:nvSpPr>
        <p:spPr>
          <a:xfrm>
            <a:off x="2790694" y="2161527"/>
            <a:ext cx="1684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AI </a:t>
            </a:r>
            <a:r>
              <a:rPr lang="en-CA" sz="2400" b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Agent</a:t>
            </a:r>
            <a:endParaRPr lang="en-CA" sz="1400" b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80E9F6-FB73-8BEE-E22A-47BF9782864C}"/>
              </a:ext>
            </a:extLst>
          </p:cNvPr>
          <p:cNvCxnSpPr>
            <a:cxnSpLocks/>
          </p:cNvCxnSpPr>
          <p:nvPr/>
        </p:nvCxnSpPr>
        <p:spPr>
          <a:xfrm>
            <a:off x="9420929" y="4131141"/>
            <a:ext cx="540151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E7B189C-45DF-20D0-F1D5-8B64643160F0}"/>
              </a:ext>
            </a:extLst>
          </p:cNvPr>
          <p:cNvSpPr txBox="1"/>
          <p:nvPr/>
        </p:nvSpPr>
        <p:spPr>
          <a:xfrm>
            <a:off x="7399313" y="2734082"/>
            <a:ext cx="181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i="1">
                <a:solidFill>
                  <a:srgbClr val="002060"/>
                </a:solidFill>
                <a:latin typeface="Montserrat" panose="00000500000000000000" pitchFamily="2" charset="0"/>
              </a:defRPr>
            </a:lvl1pPr>
          </a:lstStyle>
          <a:p>
            <a:pPr defTabSz="1219170">
              <a:buClr>
                <a:srgbClr val="000000"/>
              </a:buClr>
            </a:pPr>
            <a:r>
              <a:rPr lang="en-CA" kern="0" dirty="0">
                <a:solidFill>
                  <a:srgbClr val="022911"/>
                </a:solidFill>
                <a:cs typeface="Arial"/>
                <a:sym typeface="Arial"/>
              </a:rPr>
              <a:t>Guardrails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C18F07-659C-7B5B-5243-41F8C74536E3}"/>
              </a:ext>
            </a:extLst>
          </p:cNvPr>
          <p:cNvSpPr txBox="1"/>
          <p:nvPr/>
        </p:nvSpPr>
        <p:spPr>
          <a:xfrm>
            <a:off x="7508951" y="3993524"/>
            <a:ext cx="1611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400" i="1">
                <a:solidFill>
                  <a:srgbClr val="002060"/>
                </a:solidFill>
                <a:latin typeface="Montserrat" panose="00000500000000000000" pitchFamily="2" charset="0"/>
              </a:defRPr>
            </a:lvl1pPr>
          </a:lstStyle>
          <a:p>
            <a:pPr defTabSz="1219170">
              <a:buClr>
                <a:srgbClr val="000000"/>
              </a:buClr>
            </a:pPr>
            <a:r>
              <a:rPr lang="en-CA" kern="0" dirty="0">
                <a:solidFill>
                  <a:srgbClr val="022911"/>
                </a:solidFill>
                <a:cs typeface="Arial"/>
                <a:sym typeface="Arial"/>
              </a:rPr>
              <a:t>Handoffs</a:t>
            </a: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1D0517B8-4B96-19FD-1350-6FD872BDD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973" y="3099697"/>
            <a:ext cx="808364" cy="80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>
            <a:extLst>
              <a:ext uri="{FF2B5EF4-FFF2-40B4-BE49-F238E27FC236}">
                <a16:creationId xmlns:a16="http://schemas.microsoft.com/office/drawing/2014/main" id="{F0CECD1A-3E8B-2EA3-606D-AC93D6E7F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EFDFB"/>
              </a:clrFrom>
              <a:clrTo>
                <a:srgbClr val="FE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973" y="4342622"/>
            <a:ext cx="787279" cy="78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" descr="Claude Logo Free Download SVG, PNG a... · LobeHub">
            <a:extLst>
              <a:ext uri="{FF2B5EF4-FFF2-40B4-BE49-F238E27FC236}">
                <a16:creationId xmlns:a16="http://schemas.microsoft.com/office/drawing/2014/main" id="{8B5E42EB-A4DF-AA36-41A3-170833A27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805" y="2766073"/>
            <a:ext cx="808364" cy="80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How Much Power Will Deep Seek Suck? Can US Grid Handle Data Demand? – This  is Not Cool">
            <a:extLst>
              <a:ext uri="{FF2B5EF4-FFF2-40B4-BE49-F238E27FC236}">
                <a16:creationId xmlns:a16="http://schemas.microsoft.com/office/drawing/2014/main" id="{7E4ED608-E806-741B-2CEB-0CDBB474E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6" t="2270" r="23974" b="42788"/>
          <a:stretch>
            <a:fillRect/>
          </a:stretch>
        </p:blipFill>
        <p:spPr bwMode="auto">
          <a:xfrm>
            <a:off x="3632901" y="2849364"/>
            <a:ext cx="1210796" cy="68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049B843-340E-4ADA-8AF4-DF34761CF00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931" y="3957393"/>
            <a:ext cx="1242621" cy="186393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5F040BD-65CD-432B-1FC2-1C3C14386F8F}"/>
              </a:ext>
            </a:extLst>
          </p:cNvPr>
          <p:cNvSpPr txBox="1"/>
          <p:nvPr/>
        </p:nvSpPr>
        <p:spPr>
          <a:xfrm>
            <a:off x="5890832" y="1248886"/>
            <a:ext cx="61868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schedule sightseeing, check weather</a:t>
            </a:r>
          </a:p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recalls that user likes museums</a:t>
            </a:r>
          </a:p>
          <a:p>
            <a:pPr marL="285744" indent="-285744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Tools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maps, hotel, weather</a:t>
            </a:r>
          </a:p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Guardrails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safe suggestions</a:t>
            </a:r>
          </a:p>
          <a:p>
            <a:pPr marL="285744" indent="-285744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Handoff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pass task to restaurant booking agent 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BD2C2E3-3F69-1018-4E62-2BF0F7534C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4585" y="2734082"/>
            <a:ext cx="1728199" cy="2592297"/>
          </a:xfrm>
          <a:prstGeom prst="rect">
            <a:avLst/>
          </a:prstGeom>
        </p:spPr>
      </p:pic>
      <p:pic>
        <p:nvPicPr>
          <p:cNvPr id="46" name="Picture 2" descr="OpenAI (ChatGPT) Free SVG, PNG, and ... · LobeHub">
            <a:extLst>
              <a:ext uri="{FF2B5EF4-FFF2-40B4-BE49-F238E27FC236}">
                <a16:creationId xmlns:a16="http://schemas.microsoft.com/office/drawing/2014/main" id="{F0148534-CB10-8664-5C1B-D7436433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545" y="2724148"/>
            <a:ext cx="904171" cy="90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 animBg="1"/>
      <p:bldP spid="22" grpId="0"/>
      <p:bldP spid="31" grpId="0" animBg="1"/>
      <p:bldP spid="32" grpId="0"/>
      <p:bldP spid="34" grpId="0" animBg="1"/>
      <p:bldP spid="35" grpId="0"/>
      <p:bldP spid="37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A604-ABA3-E1E3-E7BF-6DBE906A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6A6CE-48BE-3D35-7BF7-EBC54036BF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D88FA4-E2A5-5C70-4D3B-5E6985B4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9719FD-A8BC-395E-F987-B06FE077C46B}"/>
              </a:ext>
            </a:extLst>
          </p:cNvPr>
          <p:cNvSpPr/>
          <p:nvPr/>
        </p:nvSpPr>
        <p:spPr>
          <a:xfrm>
            <a:off x="293914" y="793804"/>
            <a:ext cx="5802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FOUNDATIONS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8988E-C33C-E558-EB93-1CF830742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1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CAD8-EC07-756E-6CC0-C2A74C06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E314F-32BA-B5D3-7B31-936A1DBDC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7BA9DC-E14E-76C6-ECB6-E215EAB3D6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6A9758B-E655-DAAE-C6F5-ECA6E6828B5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an AI Agent?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F4A59-9D32-D729-269E-571A97284EE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541B8-BD55-6ADC-24D8-01FE3DE8FE64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3D691C4-5BD1-9F67-8BDA-A1A31C9FE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80D80-E3CE-11BD-8F3F-23E89A388555}"/>
              </a:ext>
            </a:extLst>
          </p:cNvPr>
          <p:cNvSpPr txBox="1"/>
          <p:nvPr/>
        </p:nvSpPr>
        <p:spPr>
          <a:xfrm>
            <a:off x="362796" y="791638"/>
            <a:ext cx="98274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B3098-141E-0078-689A-4DBFB6D1A57E}"/>
              </a:ext>
            </a:extLst>
          </p:cNvPr>
          <p:cNvSpPr txBox="1"/>
          <p:nvPr/>
        </p:nvSpPr>
        <p:spPr>
          <a:xfrm>
            <a:off x="103860" y="807761"/>
            <a:ext cx="11674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An AI agent is a system that uses an LLM as its reasoning engine to autonomously plan, take actions, and adapt based on feedback to accomplish goals.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A3F9C43C-AE59-72B5-6173-0F0DA6D9F7B2}"/>
              </a:ext>
            </a:extLst>
          </p:cNvPr>
          <p:cNvSpPr/>
          <p:nvPr/>
        </p:nvSpPr>
        <p:spPr>
          <a:xfrm>
            <a:off x="501015" y="1927406"/>
            <a:ext cx="4868000" cy="289565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19165C2-559C-C746-0BD5-BF1FFF4CF49E}"/>
              </a:ext>
            </a:extLst>
          </p:cNvPr>
          <p:cNvSpPr/>
          <p:nvPr/>
        </p:nvSpPr>
        <p:spPr>
          <a:xfrm>
            <a:off x="670875" y="2703565"/>
            <a:ext cx="46981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Responds to a single prompt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No access to external tools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No persistent memory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Stateless interaction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679CEF3-4D16-1880-ED48-185348277AD2}"/>
              </a:ext>
            </a:extLst>
          </p:cNvPr>
          <p:cNvSpPr/>
          <p:nvPr/>
        </p:nvSpPr>
        <p:spPr>
          <a:xfrm>
            <a:off x="6095999" y="1916408"/>
            <a:ext cx="5141911" cy="29437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737DC18-AE49-CB6C-937D-0B9157A4DE0D}"/>
              </a:ext>
            </a:extLst>
          </p:cNvPr>
          <p:cNvSpPr/>
          <p:nvPr/>
        </p:nvSpPr>
        <p:spPr>
          <a:xfrm>
            <a:off x="6281965" y="2677193"/>
            <a:ext cx="452846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Plans multi-step workflows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Uses tools (APIs, search, code)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Maintains context &amp; memory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Autonomous decision-making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A046068-05AF-2D1C-0782-E5360E2279B6}"/>
              </a:ext>
            </a:extLst>
          </p:cNvPr>
          <p:cNvSpPr/>
          <p:nvPr/>
        </p:nvSpPr>
        <p:spPr>
          <a:xfrm>
            <a:off x="1374368" y="5539784"/>
            <a:ext cx="945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1752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An agent = LLM + Tools + Memory + Planning Loop</a:t>
            </a:r>
            <a:endParaRPr lang="en-US" sz="2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A1C30C-1B32-834B-A8A8-51C01B2BEC8F}"/>
              </a:ext>
            </a:extLst>
          </p:cNvPr>
          <p:cNvSpPr/>
          <p:nvPr/>
        </p:nvSpPr>
        <p:spPr>
          <a:xfrm>
            <a:off x="487995" y="1916409"/>
            <a:ext cx="4881020" cy="515283"/>
          </a:xfrm>
          <a:prstGeom prst="rect">
            <a:avLst/>
          </a:prstGeom>
          <a:solidFill>
            <a:srgbClr val="0C1752"/>
          </a:solidFill>
          <a:ln>
            <a:solidFill>
              <a:srgbClr val="0C17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7ED0E7D6-CEE6-4CC8-05C5-7EBF1AA4E38F}"/>
              </a:ext>
            </a:extLst>
          </p:cNvPr>
          <p:cNvSpPr/>
          <p:nvPr/>
        </p:nvSpPr>
        <p:spPr>
          <a:xfrm>
            <a:off x="871538" y="1916409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LLM (Chatbot)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CE1E14-4E4F-C25E-7862-D04B00CF717F}"/>
              </a:ext>
            </a:extLst>
          </p:cNvPr>
          <p:cNvSpPr/>
          <p:nvPr/>
        </p:nvSpPr>
        <p:spPr>
          <a:xfrm>
            <a:off x="6096000" y="1916409"/>
            <a:ext cx="5141910" cy="515283"/>
          </a:xfrm>
          <a:prstGeom prst="rect">
            <a:avLst/>
          </a:prstGeom>
          <a:solidFill>
            <a:srgbClr val="D56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357A2173-04A8-E195-3F69-A2677288ABBD}"/>
              </a:ext>
            </a:extLst>
          </p:cNvPr>
          <p:cNvSpPr/>
          <p:nvPr/>
        </p:nvSpPr>
        <p:spPr>
          <a:xfrm>
            <a:off x="6894195" y="1916409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83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3" grpId="0" animBg="1"/>
      <p:bldP spid="18" grpId="0" animBg="1"/>
      <p:bldP spid="19" grpId="0" animBg="1"/>
      <p:bldP spid="21" grpId="0" animBg="1"/>
      <p:bldP spid="3" grpId="0" animBg="1"/>
      <p:bldP spid="22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ED1B-590E-A4E8-1555-7A76AE02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89E846-1911-AA21-CAF0-EE36D8468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572393-FF2A-6251-F795-BF4C27026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6C40AD6-EC30-DB2F-A5BF-28A8D8B8969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Anatomy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3B729-BA72-0AA4-DA35-53D3F752CB9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D3388A4-76B4-81E5-BFC9-FCFFBA9BF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1647D-5C49-2100-68F1-997D8F27E77B}"/>
              </a:ext>
            </a:extLst>
          </p:cNvPr>
          <p:cNvSpPr txBox="1"/>
          <p:nvPr/>
        </p:nvSpPr>
        <p:spPr>
          <a:xfrm>
            <a:off x="362796" y="791638"/>
            <a:ext cx="98274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C7D7D-A929-8098-56E6-86E5F772F7FA}"/>
              </a:ext>
            </a:extLst>
          </p:cNvPr>
          <p:cNvSpPr txBox="1"/>
          <p:nvPr/>
        </p:nvSpPr>
        <p:spPr>
          <a:xfrm>
            <a:off x="103860" y="807761"/>
            <a:ext cx="11674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An AI Agent is a system built around an LLM that can autonomously reason, plan, use tools, and learn from feedback to accomplish complex goals.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4451C6F-E3DE-3165-5C43-787D7FB9AEAE}"/>
              </a:ext>
            </a:extLst>
          </p:cNvPr>
          <p:cNvSpPr/>
          <p:nvPr/>
        </p:nvSpPr>
        <p:spPr>
          <a:xfrm>
            <a:off x="4658167" y="2062015"/>
            <a:ext cx="2651760" cy="1280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BA04D72-2FAA-035C-5E88-624569B2F681}"/>
              </a:ext>
            </a:extLst>
          </p:cNvPr>
          <p:cNvSpPr/>
          <p:nvPr/>
        </p:nvSpPr>
        <p:spPr>
          <a:xfrm>
            <a:off x="4658167" y="2062015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1752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200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3600" i="1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558F2B6-DCB0-5244-35EF-C01A2E43A627}"/>
              </a:ext>
            </a:extLst>
          </p:cNvPr>
          <p:cNvGrpSpPr/>
          <p:nvPr/>
        </p:nvGrpSpPr>
        <p:grpSpPr>
          <a:xfrm>
            <a:off x="945028" y="1628413"/>
            <a:ext cx="2377440" cy="594360"/>
            <a:chOff x="945028" y="1628413"/>
            <a:chExt cx="2377440" cy="594360"/>
          </a:xfrm>
        </p:grpSpPr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46E1A6B9-3185-EBDB-7F56-25FDBE3A40D1}"/>
                </a:ext>
              </a:extLst>
            </p:cNvPr>
            <p:cNvSpPr/>
            <p:nvPr/>
          </p:nvSpPr>
          <p:spPr>
            <a:xfrm>
              <a:off x="945028" y="1628413"/>
              <a:ext cx="2377440" cy="594360"/>
            </a:xfrm>
            <a:prstGeom prst="rect">
              <a:avLst/>
            </a:prstGeom>
            <a:solidFill>
              <a:srgbClr val="D56E48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>
                <a:latin typeface="Montserrat" panose="00000500000000000000" pitchFamily="2" charset="0"/>
              </a:endParaRPr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6A6522B9-A723-7BC7-420E-3F026EEC84FF}"/>
                </a:ext>
              </a:extLst>
            </p:cNvPr>
            <p:cNvSpPr/>
            <p:nvPr/>
          </p:nvSpPr>
          <p:spPr>
            <a:xfrm>
              <a:off x="945028" y="1628413"/>
              <a:ext cx="2377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anose="00000500000000000000" pitchFamily="2" charset="0"/>
                  <a:ea typeface="Calibri" pitchFamily="34" charset="-122"/>
                  <a:cs typeface="Calibri" pitchFamily="34" charset="-120"/>
                </a:rPr>
                <a:t>Planning</a:t>
              </a:r>
              <a:endParaRPr lang="en-U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BE0044A-ACC6-EA4A-ACBA-C243597DD628}"/>
              </a:ext>
            </a:extLst>
          </p:cNvPr>
          <p:cNvGrpSpPr/>
          <p:nvPr/>
        </p:nvGrpSpPr>
        <p:grpSpPr>
          <a:xfrm>
            <a:off x="8330879" y="1657272"/>
            <a:ext cx="2392552" cy="596925"/>
            <a:chOff x="8330879" y="1657272"/>
            <a:chExt cx="2392552" cy="596925"/>
          </a:xfrm>
        </p:grpSpPr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F0A2EFD9-AB24-ED95-7FD2-57BFAF960783}"/>
                </a:ext>
              </a:extLst>
            </p:cNvPr>
            <p:cNvSpPr/>
            <p:nvPr/>
          </p:nvSpPr>
          <p:spPr>
            <a:xfrm>
              <a:off x="8345991" y="1657272"/>
              <a:ext cx="2377440" cy="59436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>
                <a:latin typeface="Montserrat" panose="00000500000000000000" pitchFamily="2" charset="0"/>
              </a:endParaRPr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1E75DCA3-74CB-033E-1EF5-40F9B204032B}"/>
                </a:ext>
              </a:extLst>
            </p:cNvPr>
            <p:cNvSpPr/>
            <p:nvPr/>
          </p:nvSpPr>
          <p:spPr>
            <a:xfrm>
              <a:off x="8330879" y="1659837"/>
              <a:ext cx="2377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anose="00000500000000000000" pitchFamily="2" charset="0"/>
                  <a:ea typeface="Calibri" pitchFamily="34" charset="-122"/>
                  <a:cs typeface="Calibri" pitchFamily="34" charset="-120"/>
                </a:rPr>
                <a:t>Tools</a:t>
              </a:r>
              <a:endParaRPr lang="en-U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D8A5DE-E106-F323-6268-3ED57C5131F0}"/>
              </a:ext>
            </a:extLst>
          </p:cNvPr>
          <p:cNvGrpSpPr/>
          <p:nvPr/>
        </p:nvGrpSpPr>
        <p:grpSpPr>
          <a:xfrm>
            <a:off x="1003770" y="3373460"/>
            <a:ext cx="2395428" cy="615844"/>
            <a:chOff x="1003770" y="3373460"/>
            <a:chExt cx="2395428" cy="615844"/>
          </a:xfrm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DC96F23A-2600-D414-6CC1-7EA5EED599BD}"/>
                </a:ext>
              </a:extLst>
            </p:cNvPr>
            <p:cNvSpPr/>
            <p:nvPr/>
          </p:nvSpPr>
          <p:spPr>
            <a:xfrm>
              <a:off x="1021758" y="3394944"/>
              <a:ext cx="2377440" cy="594360"/>
            </a:xfrm>
            <a:prstGeom prst="rect">
              <a:avLst/>
            </a:prstGeom>
            <a:solidFill>
              <a:srgbClr val="1BBFD1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>
                <a:latin typeface="Montserrat" panose="00000500000000000000" pitchFamily="2" charset="0"/>
              </a:endParaRPr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D6B8DCA3-B009-7B89-A8D7-17759CD24B03}"/>
                </a:ext>
              </a:extLst>
            </p:cNvPr>
            <p:cNvSpPr/>
            <p:nvPr/>
          </p:nvSpPr>
          <p:spPr>
            <a:xfrm>
              <a:off x="1003770" y="3373460"/>
              <a:ext cx="2377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anose="00000500000000000000" pitchFamily="2" charset="0"/>
                  <a:ea typeface="Calibri" pitchFamily="34" charset="-122"/>
                  <a:cs typeface="Calibri" pitchFamily="34" charset="-120"/>
                </a:rPr>
                <a:t>Memory</a:t>
              </a:r>
              <a:endParaRPr lang="en-U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3B11AD9-8223-6911-F30D-E1B8E105F41E}"/>
              </a:ext>
            </a:extLst>
          </p:cNvPr>
          <p:cNvGrpSpPr/>
          <p:nvPr/>
        </p:nvGrpSpPr>
        <p:grpSpPr>
          <a:xfrm>
            <a:off x="8368045" y="3394944"/>
            <a:ext cx="2451112" cy="608681"/>
            <a:chOff x="8166462" y="3147312"/>
            <a:chExt cx="2451112" cy="608681"/>
          </a:xfrm>
        </p:grpSpPr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A404A053-5D17-29DB-1AB7-8CA7B6CD0440}"/>
                </a:ext>
              </a:extLst>
            </p:cNvPr>
            <p:cNvSpPr/>
            <p:nvPr/>
          </p:nvSpPr>
          <p:spPr>
            <a:xfrm>
              <a:off x="8166462" y="3161633"/>
              <a:ext cx="2377440" cy="594360"/>
            </a:xfrm>
            <a:prstGeom prst="rect">
              <a:avLst/>
            </a:prstGeom>
            <a:solidFill>
              <a:srgbClr val="0C1752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>
                <a:latin typeface="Montserrat" panose="00000500000000000000" pitchFamily="2" charset="0"/>
              </a:endParaRPr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CA8B4530-71BD-9DAE-AE07-F86077EBA27B}"/>
                </a:ext>
              </a:extLst>
            </p:cNvPr>
            <p:cNvSpPr/>
            <p:nvPr/>
          </p:nvSpPr>
          <p:spPr>
            <a:xfrm>
              <a:off x="8240134" y="3147312"/>
              <a:ext cx="23774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anose="00000500000000000000" pitchFamily="2" charset="0"/>
                  <a:ea typeface="Calibri" pitchFamily="34" charset="-122"/>
                  <a:cs typeface="Calibri" pitchFamily="34" charset="-120"/>
                </a:rPr>
                <a:t>Observation</a:t>
              </a:r>
              <a:endParaRPr lang="en-US" sz="14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3" name="Shape 18">
            <a:extLst>
              <a:ext uri="{FF2B5EF4-FFF2-40B4-BE49-F238E27FC236}">
                <a16:creationId xmlns:a16="http://schemas.microsoft.com/office/drawing/2014/main" id="{B9E321A5-29CB-D1D3-9235-E7E4464603DA}"/>
              </a:ext>
            </a:extLst>
          </p:cNvPr>
          <p:cNvSpPr/>
          <p:nvPr/>
        </p:nvSpPr>
        <p:spPr>
          <a:xfrm>
            <a:off x="896982" y="4657435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0D8BC64E-DFE9-4DC0-F060-EEA8A3209309}"/>
              </a:ext>
            </a:extLst>
          </p:cNvPr>
          <p:cNvSpPr/>
          <p:nvPr/>
        </p:nvSpPr>
        <p:spPr>
          <a:xfrm>
            <a:off x="1006710" y="4794595"/>
            <a:ext cx="320040" cy="32004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A0635985-0C25-D470-503C-1352C2B9FF91}"/>
              </a:ext>
            </a:extLst>
          </p:cNvPr>
          <p:cNvSpPr/>
          <p:nvPr/>
        </p:nvSpPr>
        <p:spPr>
          <a:xfrm>
            <a:off x="1006710" y="479459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AA882652-5CDB-999B-C66D-26680358D096}"/>
              </a:ext>
            </a:extLst>
          </p:cNvPr>
          <p:cNvSpPr/>
          <p:nvPr/>
        </p:nvSpPr>
        <p:spPr>
          <a:xfrm>
            <a:off x="1399902" y="47945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2C6D0753-D500-BEE4-120B-1F9C796EC034}"/>
              </a:ext>
            </a:extLst>
          </p:cNvPr>
          <p:cNvSpPr/>
          <p:nvPr/>
        </p:nvSpPr>
        <p:spPr>
          <a:xfrm>
            <a:off x="1006710" y="5206075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Breaks goals into sub-tasks, decides what to do next. Uses ReAct loops, chain-of-thought, and self-reflection.</a:t>
            </a:r>
            <a:endParaRPr lang="en-US" sz="1050" dirty="0">
              <a:latin typeface="Montserrat" panose="00000500000000000000" pitchFamily="2" charset="0"/>
            </a:endParaRPr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84962A1D-743D-F0D4-6163-0C4A054F9922}"/>
              </a:ext>
            </a:extLst>
          </p:cNvPr>
          <p:cNvSpPr/>
          <p:nvPr/>
        </p:nvSpPr>
        <p:spPr>
          <a:xfrm>
            <a:off x="3633216" y="4657435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F1558A52-EFB8-3ADD-529F-2BBCE0883581}"/>
              </a:ext>
            </a:extLst>
          </p:cNvPr>
          <p:cNvSpPr/>
          <p:nvPr/>
        </p:nvSpPr>
        <p:spPr>
          <a:xfrm>
            <a:off x="3742944" y="4794595"/>
            <a:ext cx="320040" cy="32004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F56DE287-A6FA-A0BF-F668-A49918B7E46E}"/>
              </a:ext>
            </a:extLst>
          </p:cNvPr>
          <p:cNvSpPr/>
          <p:nvPr/>
        </p:nvSpPr>
        <p:spPr>
          <a:xfrm>
            <a:off x="3742944" y="479459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60F056C2-A631-AE73-30A9-0B26CCB04BED}"/>
              </a:ext>
            </a:extLst>
          </p:cNvPr>
          <p:cNvSpPr/>
          <p:nvPr/>
        </p:nvSpPr>
        <p:spPr>
          <a:xfrm>
            <a:off x="4136136" y="47945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0D5585D9-C90E-59DC-538B-DE2B14203105}"/>
              </a:ext>
            </a:extLst>
          </p:cNvPr>
          <p:cNvSpPr/>
          <p:nvPr/>
        </p:nvSpPr>
        <p:spPr>
          <a:xfrm>
            <a:off x="3742944" y="5206075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Interacts with the world: APIs, code execution, web search, file I/O, databases, and MCP servers.</a:t>
            </a:r>
            <a:endParaRPr lang="en-US" sz="1050" dirty="0">
              <a:latin typeface="Montserrat" panose="00000500000000000000" pitchFamily="2" charset="0"/>
            </a:endParaRPr>
          </a:p>
        </p:txBody>
      </p:sp>
      <p:sp>
        <p:nvSpPr>
          <p:cNvPr id="45" name="Shape 30">
            <a:extLst>
              <a:ext uri="{FF2B5EF4-FFF2-40B4-BE49-F238E27FC236}">
                <a16:creationId xmlns:a16="http://schemas.microsoft.com/office/drawing/2014/main" id="{469B095A-65CC-84DA-769D-82FF5D5DA4D7}"/>
              </a:ext>
            </a:extLst>
          </p:cNvPr>
          <p:cNvSpPr/>
          <p:nvPr/>
        </p:nvSpPr>
        <p:spPr>
          <a:xfrm>
            <a:off x="6502079" y="4657435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44209DA9-F544-77CB-2F10-808AB4971D5A}"/>
              </a:ext>
            </a:extLst>
          </p:cNvPr>
          <p:cNvSpPr/>
          <p:nvPr/>
        </p:nvSpPr>
        <p:spPr>
          <a:xfrm>
            <a:off x="6611807" y="4794595"/>
            <a:ext cx="320040" cy="320040"/>
          </a:xfrm>
          <a:prstGeom prst="ellipse">
            <a:avLst/>
          </a:prstGeom>
          <a:solidFill>
            <a:srgbClr val="1BBFD1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06B44BFC-63F7-9047-D6FB-8F494F08D852}"/>
              </a:ext>
            </a:extLst>
          </p:cNvPr>
          <p:cNvSpPr/>
          <p:nvPr/>
        </p:nvSpPr>
        <p:spPr>
          <a:xfrm>
            <a:off x="6611807" y="479459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9" name="Text 34">
            <a:extLst>
              <a:ext uri="{FF2B5EF4-FFF2-40B4-BE49-F238E27FC236}">
                <a16:creationId xmlns:a16="http://schemas.microsoft.com/office/drawing/2014/main" id="{671432B2-4874-D581-8B17-BFDB48B94DA6}"/>
              </a:ext>
            </a:extLst>
          </p:cNvPr>
          <p:cNvSpPr/>
          <p:nvPr/>
        </p:nvSpPr>
        <p:spPr>
          <a:xfrm>
            <a:off x="7004999" y="47945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0" name="Text 35">
            <a:extLst>
              <a:ext uri="{FF2B5EF4-FFF2-40B4-BE49-F238E27FC236}">
                <a16:creationId xmlns:a16="http://schemas.microsoft.com/office/drawing/2014/main" id="{B1890FBA-EBAF-B68B-4914-FC166C68366F}"/>
              </a:ext>
            </a:extLst>
          </p:cNvPr>
          <p:cNvSpPr/>
          <p:nvPr/>
        </p:nvSpPr>
        <p:spPr>
          <a:xfrm>
            <a:off x="6611807" y="5206075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Short-term (conversation context) and long-term (vector DB, embeddings) to retain and recall information.</a:t>
            </a:r>
            <a:endParaRPr lang="en-US" sz="1050" dirty="0">
              <a:latin typeface="Montserrat" panose="00000500000000000000" pitchFamily="2" charset="0"/>
            </a:endParaRPr>
          </a:p>
        </p:txBody>
      </p:sp>
      <p:sp>
        <p:nvSpPr>
          <p:cNvPr id="51" name="Shape 36">
            <a:extLst>
              <a:ext uri="{FF2B5EF4-FFF2-40B4-BE49-F238E27FC236}">
                <a16:creationId xmlns:a16="http://schemas.microsoft.com/office/drawing/2014/main" id="{0AF922D9-665A-13E8-8AA4-0D9C921D9572}"/>
              </a:ext>
            </a:extLst>
          </p:cNvPr>
          <p:cNvSpPr/>
          <p:nvPr/>
        </p:nvSpPr>
        <p:spPr>
          <a:xfrm>
            <a:off x="9199559" y="4657435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53" name="Shape 38">
            <a:extLst>
              <a:ext uri="{FF2B5EF4-FFF2-40B4-BE49-F238E27FC236}">
                <a16:creationId xmlns:a16="http://schemas.microsoft.com/office/drawing/2014/main" id="{645952C3-EE21-8975-49C2-217DCE9BC324}"/>
              </a:ext>
            </a:extLst>
          </p:cNvPr>
          <p:cNvSpPr/>
          <p:nvPr/>
        </p:nvSpPr>
        <p:spPr>
          <a:xfrm>
            <a:off x="9309287" y="4794595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54" name="Text 39">
            <a:extLst>
              <a:ext uri="{FF2B5EF4-FFF2-40B4-BE49-F238E27FC236}">
                <a16:creationId xmlns:a16="http://schemas.microsoft.com/office/drawing/2014/main" id="{D32DD381-7602-70E8-0D56-8756318D8107}"/>
              </a:ext>
            </a:extLst>
          </p:cNvPr>
          <p:cNvSpPr/>
          <p:nvPr/>
        </p:nvSpPr>
        <p:spPr>
          <a:xfrm>
            <a:off x="9309287" y="4794595"/>
            <a:ext cx="320040" cy="320040"/>
          </a:xfrm>
          <a:prstGeom prst="rect">
            <a:avLst/>
          </a:prstGeom>
          <a:solidFill>
            <a:srgbClr val="0C175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55" name="Text 40">
            <a:extLst>
              <a:ext uri="{FF2B5EF4-FFF2-40B4-BE49-F238E27FC236}">
                <a16:creationId xmlns:a16="http://schemas.microsoft.com/office/drawing/2014/main" id="{25E14D3B-B785-DC73-1305-D9D8CCA9FD07}"/>
              </a:ext>
            </a:extLst>
          </p:cNvPr>
          <p:cNvSpPr/>
          <p:nvPr/>
        </p:nvSpPr>
        <p:spPr>
          <a:xfrm>
            <a:off x="9702479" y="479459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6" name="Text 41">
            <a:extLst>
              <a:ext uri="{FF2B5EF4-FFF2-40B4-BE49-F238E27FC236}">
                <a16:creationId xmlns:a16="http://schemas.microsoft.com/office/drawing/2014/main" id="{A26538F3-A09A-DEB3-4360-CE6F4F05A738}"/>
              </a:ext>
            </a:extLst>
          </p:cNvPr>
          <p:cNvSpPr/>
          <p:nvPr/>
        </p:nvSpPr>
        <p:spPr>
          <a:xfrm>
            <a:off x="9309287" y="5206075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Interprets tool results and environment feedback to evaluate progress and decide next actions.</a:t>
            </a:r>
            <a:endParaRPr lang="en-US" sz="1050" dirty="0">
              <a:latin typeface="Montserrat" panose="00000500000000000000" pitchFamily="2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DC4E157-BF60-1904-A52D-23422696D763}"/>
              </a:ext>
            </a:extLst>
          </p:cNvPr>
          <p:cNvCxnSpPr>
            <a:stCxn id="14" idx="3"/>
            <a:endCxn id="4" idx="1"/>
          </p:cNvCxnSpPr>
          <p:nvPr/>
        </p:nvCxnSpPr>
        <p:spPr>
          <a:xfrm>
            <a:off x="3322468" y="1925593"/>
            <a:ext cx="1724040" cy="323897"/>
          </a:xfrm>
          <a:prstGeom prst="line">
            <a:avLst/>
          </a:prstGeom>
          <a:ln w="28575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5A31DC2-0385-4EE3-03AA-C79898AF8001}"/>
              </a:ext>
            </a:extLst>
          </p:cNvPr>
          <p:cNvCxnSpPr>
            <a:cxnSpLocks/>
            <a:stCxn id="27" idx="3"/>
            <a:endCxn id="4" idx="3"/>
          </p:cNvCxnSpPr>
          <p:nvPr/>
        </p:nvCxnSpPr>
        <p:spPr>
          <a:xfrm flipV="1">
            <a:off x="3399198" y="3154700"/>
            <a:ext cx="1647310" cy="537424"/>
          </a:xfrm>
          <a:prstGeom prst="line">
            <a:avLst/>
          </a:prstGeom>
          <a:ln w="28575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3F13B53-D85E-CB99-A57A-48CB7DE02ADD}"/>
              </a:ext>
            </a:extLst>
          </p:cNvPr>
          <p:cNvCxnSpPr>
            <a:cxnSpLocks/>
            <a:stCxn id="4" idx="7"/>
            <a:endCxn id="24" idx="1"/>
          </p:cNvCxnSpPr>
          <p:nvPr/>
        </p:nvCxnSpPr>
        <p:spPr>
          <a:xfrm flipV="1">
            <a:off x="6921586" y="1954452"/>
            <a:ext cx="1424405" cy="295038"/>
          </a:xfrm>
          <a:prstGeom prst="line">
            <a:avLst/>
          </a:prstGeom>
          <a:ln w="28575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7839FD5-C644-18DC-9A98-EA92636591EE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6921586" y="3154700"/>
            <a:ext cx="1409293" cy="551745"/>
          </a:xfrm>
          <a:prstGeom prst="line">
            <a:avLst/>
          </a:prstGeom>
          <a:ln w="28575">
            <a:solidFill>
              <a:srgbClr val="0C17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15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77B02F6-B695-5B1A-DB6E-287B86DEC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>
            <a:extLst>
              <a:ext uri="{FF2B5EF4-FFF2-40B4-BE49-F238E27FC236}">
                <a16:creationId xmlns:a16="http://schemas.microsoft.com/office/drawing/2014/main" id="{EF804895-64CA-C710-6B1A-FB5AEF0ECE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703" y="-19050"/>
            <a:ext cx="1222477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>
            <a:extLst>
              <a:ext uri="{FF2B5EF4-FFF2-40B4-BE49-F238E27FC236}">
                <a16:creationId xmlns:a16="http://schemas.microsoft.com/office/drawing/2014/main" id="{876071BD-8479-9A9A-246B-80E1DAD63F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>
            <a:extLst>
              <a:ext uri="{FF2B5EF4-FFF2-40B4-BE49-F238E27FC236}">
                <a16:creationId xmlns:a16="http://schemas.microsoft.com/office/drawing/2014/main" id="{22748258-4060-A1E3-B8A4-38FB2FA1E5DB}"/>
              </a:ext>
            </a:extLst>
          </p:cNvPr>
          <p:cNvSpPr/>
          <p:nvPr/>
        </p:nvSpPr>
        <p:spPr>
          <a:xfrm>
            <a:off x="154722" y="90489"/>
            <a:ext cx="98274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sym typeface="Montserrat"/>
              </a:rPr>
              <a:t>Weather Agent Walkthrough – Part 1</a:t>
            </a:r>
            <a:endParaRPr dirty="0"/>
          </a:p>
        </p:txBody>
      </p:sp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EE957838-6555-D009-4503-EF094E67DE47}"/>
              </a:ext>
            </a:extLst>
          </p:cNvPr>
          <p:cNvSpPr txBox="1"/>
          <p:nvPr/>
        </p:nvSpPr>
        <p:spPr>
          <a:xfrm rot="5400000">
            <a:off x="9518305" y="3536959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8780E43-461C-AA78-9B25-C4C9C3766565}"/>
              </a:ext>
            </a:extLst>
          </p:cNvPr>
          <p:cNvSpPr/>
          <p:nvPr/>
        </p:nvSpPr>
        <p:spPr>
          <a:xfrm>
            <a:off x="5258882" y="3903275"/>
            <a:ext cx="2452050" cy="1126585"/>
          </a:xfrm>
          <a:prstGeom prst="roundRect">
            <a:avLst/>
          </a:prstGeom>
          <a:solidFill>
            <a:srgbClr val="0C1752"/>
          </a:solidFill>
          <a:ln>
            <a:solidFill>
              <a:srgbClr val="0C17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Agent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B231781-E671-B83F-295C-E2189EA63FBF}"/>
              </a:ext>
            </a:extLst>
          </p:cNvPr>
          <p:cNvSpPr/>
          <p:nvPr/>
        </p:nvSpPr>
        <p:spPr>
          <a:xfrm>
            <a:off x="9474632" y="3903274"/>
            <a:ext cx="2452050" cy="1126585"/>
          </a:xfrm>
          <a:prstGeom prst="roundRect">
            <a:avLst/>
          </a:prstGeom>
          <a:solidFill>
            <a:srgbClr val="D56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LLM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276771C-5C04-FD39-42B6-7F51AB079D5C}"/>
              </a:ext>
            </a:extLst>
          </p:cNvPr>
          <p:cNvSpPr/>
          <p:nvPr/>
        </p:nvSpPr>
        <p:spPr>
          <a:xfrm>
            <a:off x="5258882" y="1570375"/>
            <a:ext cx="2452050" cy="11265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System Prompt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54A5370-B35D-01E2-B81E-10E12147F8C2}"/>
              </a:ext>
            </a:extLst>
          </p:cNvPr>
          <p:cNvSpPr/>
          <p:nvPr/>
        </p:nvSpPr>
        <p:spPr>
          <a:xfrm>
            <a:off x="8458200" y="5541107"/>
            <a:ext cx="2452050" cy="1126585"/>
          </a:xfrm>
          <a:prstGeom prst="roundRect">
            <a:avLst/>
          </a:prstGeom>
          <a:solidFill>
            <a:srgbClr val="1BB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Memory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A6427F-71A2-840C-C17D-EEA30F796421}"/>
              </a:ext>
            </a:extLst>
          </p:cNvPr>
          <p:cNvCxnSpPr>
            <a:cxnSpLocks/>
          </p:cNvCxnSpPr>
          <p:nvPr/>
        </p:nvCxnSpPr>
        <p:spPr>
          <a:xfrm>
            <a:off x="7805690" y="4358124"/>
            <a:ext cx="1668942" cy="0"/>
          </a:xfrm>
          <a:prstGeom prst="straightConnector1">
            <a:avLst/>
          </a:prstGeom>
          <a:ln w="38100">
            <a:solidFill>
              <a:srgbClr val="0C1752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6BC6F31-7A51-9AA9-13AF-2F82E89D1A2C}"/>
              </a:ext>
            </a:extLst>
          </p:cNvPr>
          <p:cNvSpPr txBox="1"/>
          <p:nvPr/>
        </p:nvSpPr>
        <p:spPr>
          <a:xfrm>
            <a:off x="1663312" y="3515847"/>
            <a:ext cx="3379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User Prompt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What is the weather today?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3287B9E-90C9-1955-ECD2-419EF666E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760" y="3706236"/>
            <a:ext cx="1494520" cy="1494520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0BEAB51-3837-2AD1-0359-90072C63DDE0}"/>
              </a:ext>
            </a:extLst>
          </p:cNvPr>
          <p:cNvCxnSpPr>
            <a:cxnSpLocks/>
            <a:stCxn id="45" idx="2"/>
            <a:endCxn id="36" idx="0"/>
          </p:cNvCxnSpPr>
          <p:nvPr/>
        </p:nvCxnSpPr>
        <p:spPr>
          <a:xfrm>
            <a:off x="6484907" y="2696960"/>
            <a:ext cx="0" cy="1206315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D0C1447-E4D6-CBCD-57E4-4109EB3E4B4F}"/>
              </a:ext>
            </a:extLst>
          </p:cNvPr>
          <p:cNvSpPr txBox="1"/>
          <p:nvPr/>
        </p:nvSpPr>
        <p:spPr>
          <a:xfrm>
            <a:off x="4970149" y="2969118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Montserrat" panose="00000500000000000000" pitchFamily="2" charset="0"/>
              </a:rPr>
              <a:t>Instructions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14B77F8-13AF-82E1-80CD-2C2AA35200F9}"/>
              </a:ext>
            </a:extLst>
          </p:cNvPr>
          <p:cNvCxnSpPr>
            <a:cxnSpLocks/>
          </p:cNvCxnSpPr>
          <p:nvPr/>
        </p:nvCxnSpPr>
        <p:spPr>
          <a:xfrm flipH="1">
            <a:off x="1590698" y="4642621"/>
            <a:ext cx="3581444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A78F077-AEAD-28FF-E7AC-4C6DDB909BE9}"/>
              </a:ext>
            </a:extLst>
          </p:cNvPr>
          <p:cNvSpPr txBox="1"/>
          <p:nvPr/>
        </p:nvSpPr>
        <p:spPr>
          <a:xfrm>
            <a:off x="7805690" y="1394830"/>
            <a:ext cx="41209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Montserrat" panose="00000500000000000000" pitchFamily="2" charset="0"/>
              </a:rPr>
              <a:t>Context</a:t>
            </a:r>
          </a:p>
          <a:p>
            <a:pPr>
              <a:buNone/>
            </a:pPr>
            <a:r>
              <a:rPr lang="en-US" sz="1400" dirty="0">
                <a:latin typeface="Montserrat" panose="00000500000000000000" pitchFamily="2" charset="0"/>
              </a:rPr>
              <a:t>You are an assistant that helps users with questions about weather.</a:t>
            </a:r>
          </a:p>
          <a:p>
            <a:pPr>
              <a:buNone/>
            </a:pPr>
            <a:endParaRPr lang="en-US" sz="14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1400" b="1" dirty="0">
                <a:latin typeface="Montserrat" panose="00000500000000000000" pitchFamily="2" charset="0"/>
              </a:rPr>
              <a:t>Instruction</a:t>
            </a:r>
          </a:p>
          <a:p>
            <a:r>
              <a:rPr lang="en-US" sz="1400" dirty="0">
                <a:latin typeface="Montserrat" panose="00000500000000000000" pitchFamily="2" charset="0"/>
              </a:rPr>
              <a:t>If the user asks about weather, use the Weather tool. Ask the user for additional details if the request is unclear.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A63FE1D-24D8-F395-0800-7BB1DFFF969B}"/>
              </a:ext>
            </a:extLst>
          </p:cNvPr>
          <p:cNvCxnSpPr>
            <a:cxnSpLocks/>
          </p:cNvCxnSpPr>
          <p:nvPr/>
        </p:nvCxnSpPr>
        <p:spPr>
          <a:xfrm>
            <a:off x="1631795" y="4374451"/>
            <a:ext cx="3540347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5C843A2-D551-0B00-A614-C7C058AE9CEE}"/>
              </a:ext>
            </a:extLst>
          </p:cNvPr>
          <p:cNvSpPr txBox="1"/>
          <p:nvPr/>
        </p:nvSpPr>
        <p:spPr>
          <a:xfrm>
            <a:off x="7919295" y="3580109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Planning/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Reasoning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3ABA73-389F-B39C-37B8-F25A0A654790}"/>
              </a:ext>
            </a:extLst>
          </p:cNvPr>
          <p:cNvSpPr txBox="1"/>
          <p:nvPr/>
        </p:nvSpPr>
        <p:spPr>
          <a:xfrm>
            <a:off x="1896466" y="4706693"/>
            <a:ext cx="2297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Agent Response: 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What is the city?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51C3B11-54B6-595B-61AD-226EF9F2CDF3}"/>
              </a:ext>
            </a:extLst>
          </p:cNvPr>
          <p:cNvCxnSpPr>
            <a:cxnSpLocks/>
          </p:cNvCxnSpPr>
          <p:nvPr/>
        </p:nvCxnSpPr>
        <p:spPr>
          <a:xfrm>
            <a:off x="7493056" y="5113645"/>
            <a:ext cx="965144" cy="636015"/>
          </a:xfrm>
          <a:prstGeom prst="straightConnector1">
            <a:avLst/>
          </a:prstGeom>
          <a:ln w="38100">
            <a:solidFill>
              <a:srgbClr val="0C175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FFCED8B-6B47-E004-B454-43A19B9C7FEF}"/>
              </a:ext>
            </a:extLst>
          </p:cNvPr>
          <p:cNvSpPr txBox="1"/>
          <p:nvPr/>
        </p:nvSpPr>
        <p:spPr>
          <a:xfrm>
            <a:off x="7927051" y="4846006"/>
            <a:ext cx="120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Storage/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Retrieval</a:t>
            </a:r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5DF3DD1B-D70C-B493-59E2-52E520F3A5E7}"/>
              </a:ext>
            </a:extLst>
          </p:cNvPr>
          <p:cNvSpPr/>
          <p:nvPr/>
        </p:nvSpPr>
        <p:spPr>
          <a:xfrm>
            <a:off x="3611030" y="99207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96" name="Shape 33">
            <a:extLst>
              <a:ext uri="{FF2B5EF4-FFF2-40B4-BE49-F238E27FC236}">
                <a16:creationId xmlns:a16="http://schemas.microsoft.com/office/drawing/2014/main" id="{070008AE-F442-BE8F-2A95-6283F921D13F}"/>
              </a:ext>
            </a:extLst>
          </p:cNvPr>
          <p:cNvSpPr/>
          <p:nvPr/>
        </p:nvSpPr>
        <p:spPr>
          <a:xfrm>
            <a:off x="182030" y="626318"/>
            <a:ext cx="40118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97" name="Shape 34">
            <a:extLst>
              <a:ext uri="{FF2B5EF4-FFF2-40B4-BE49-F238E27FC236}">
                <a16:creationId xmlns:a16="http://schemas.microsoft.com/office/drawing/2014/main" id="{70DF9206-8B38-D07C-981C-0B22AC5BE4DD}"/>
              </a:ext>
            </a:extLst>
          </p:cNvPr>
          <p:cNvSpPr/>
          <p:nvPr/>
        </p:nvSpPr>
        <p:spPr>
          <a:xfrm>
            <a:off x="182029" y="626318"/>
            <a:ext cx="4011859" cy="36576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98" name="Text 35">
            <a:extLst>
              <a:ext uri="{FF2B5EF4-FFF2-40B4-BE49-F238E27FC236}">
                <a16:creationId xmlns:a16="http://schemas.microsoft.com/office/drawing/2014/main" id="{CC140854-A40E-31C0-3DA1-0BE5580EC54B}"/>
              </a:ext>
            </a:extLst>
          </p:cNvPr>
          <p:cNvSpPr/>
          <p:nvPr/>
        </p:nvSpPr>
        <p:spPr>
          <a:xfrm>
            <a:off x="319190" y="62631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Agent Reasoning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99" name="Shape 36">
            <a:extLst>
              <a:ext uri="{FF2B5EF4-FFF2-40B4-BE49-F238E27FC236}">
                <a16:creationId xmlns:a16="http://schemas.microsoft.com/office/drawing/2014/main" id="{F5A925C2-3808-9DD7-2DB6-5798E112F618}"/>
              </a:ext>
            </a:extLst>
          </p:cNvPr>
          <p:cNvSpPr/>
          <p:nvPr/>
        </p:nvSpPr>
        <p:spPr>
          <a:xfrm>
            <a:off x="319190" y="1174958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00" name="Text 37">
            <a:extLst>
              <a:ext uri="{FF2B5EF4-FFF2-40B4-BE49-F238E27FC236}">
                <a16:creationId xmlns:a16="http://schemas.microsoft.com/office/drawing/2014/main" id="{ECBDCD64-B15E-97A3-FF5F-7BFF87636F3C}"/>
              </a:ext>
            </a:extLst>
          </p:cNvPr>
          <p:cNvSpPr/>
          <p:nvPr/>
        </p:nvSpPr>
        <p:spPr>
          <a:xfrm>
            <a:off x="593510" y="112923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Parse Intent: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1" name="Text 38">
            <a:extLst>
              <a:ext uri="{FF2B5EF4-FFF2-40B4-BE49-F238E27FC236}">
                <a16:creationId xmlns:a16="http://schemas.microsoft.com/office/drawing/2014/main" id="{C7190D4C-2D07-8FAF-E686-B7CECC27C6C8}"/>
              </a:ext>
            </a:extLst>
          </p:cNvPr>
          <p:cNvSpPr/>
          <p:nvPr/>
        </p:nvSpPr>
        <p:spPr>
          <a:xfrm>
            <a:off x="593510" y="138527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User wants weather info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2" name="Shape 39">
            <a:extLst>
              <a:ext uri="{FF2B5EF4-FFF2-40B4-BE49-F238E27FC236}">
                <a16:creationId xmlns:a16="http://schemas.microsoft.com/office/drawing/2014/main" id="{3FD7C68C-6B64-6DBE-F032-06928B0EB56B}"/>
              </a:ext>
            </a:extLst>
          </p:cNvPr>
          <p:cNvSpPr/>
          <p:nvPr/>
        </p:nvSpPr>
        <p:spPr>
          <a:xfrm>
            <a:off x="319190" y="1741886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03" name="Text 40">
            <a:extLst>
              <a:ext uri="{FF2B5EF4-FFF2-40B4-BE49-F238E27FC236}">
                <a16:creationId xmlns:a16="http://schemas.microsoft.com/office/drawing/2014/main" id="{850C429D-48B5-38BF-F47E-A69B65FD3666}"/>
              </a:ext>
            </a:extLst>
          </p:cNvPr>
          <p:cNvSpPr/>
          <p:nvPr/>
        </p:nvSpPr>
        <p:spPr>
          <a:xfrm>
            <a:off x="593510" y="169616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Check Memory: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4" name="Text 41">
            <a:extLst>
              <a:ext uri="{FF2B5EF4-FFF2-40B4-BE49-F238E27FC236}">
                <a16:creationId xmlns:a16="http://schemas.microsoft.com/office/drawing/2014/main" id="{31A95235-7539-7FE3-8BF7-69949C9D0B97}"/>
              </a:ext>
            </a:extLst>
          </p:cNvPr>
          <p:cNvSpPr/>
          <p:nvPr/>
        </p:nvSpPr>
        <p:spPr>
          <a:xfrm>
            <a:off x="593510" y="195219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 city preference stored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5" name="Shape 42">
            <a:extLst>
              <a:ext uri="{FF2B5EF4-FFF2-40B4-BE49-F238E27FC236}">
                <a16:creationId xmlns:a16="http://schemas.microsoft.com/office/drawing/2014/main" id="{10079827-DB29-A473-E3EA-093B799BB0FF}"/>
              </a:ext>
            </a:extLst>
          </p:cNvPr>
          <p:cNvSpPr/>
          <p:nvPr/>
        </p:nvSpPr>
        <p:spPr>
          <a:xfrm>
            <a:off x="319190" y="2308814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1CE7A65F-1630-5AB1-A046-97B11130B0C7}"/>
              </a:ext>
            </a:extLst>
          </p:cNvPr>
          <p:cNvSpPr/>
          <p:nvPr/>
        </p:nvSpPr>
        <p:spPr>
          <a:xfrm>
            <a:off x="593510" y="22630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Identify Gap: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7" name="Text 44">
            <a:extLst>
              <a:ext uri="{FF2B5EF4-FFF2-40B4-BE49-F238E27FC236}">
                <a16:creationId xmlns:a16="http://schemas.microsoft.com/office/drawing/2014/main" id="{7A7DA22A-D031-22C3-C55D-7F7E2715AE96}"/>
              </a:ext>
            </a:extLst>
          </p:cNvPr>
          <p:cNvSpPr/>
          <p:nvPr/>
        </p:nvSpPr>
        <p:spPr>
          <a:xfrm>
            <a:off x="593510" y="251912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Need a city to call API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08" name="Shape 45">
            <a:extLst>
              <a:ext uri="{FF2B5EF4-FFF2-40B4-BE49-F238E27FC236}">
                <a16:creationId xmlns:a16="http://schemas.microsoft.com/office/drawing/2014/main" id="{571A92F1-8078-292C-E7F3-75572BA94BD2}"/>
              </a:ext>
            </a:extLst>
          </p:cNvPr>
          <p:cNvSpPr/>
          <p:nvPr/>
        </p:nvSpPr>
        <p:spPr>
          <a:xfrm>
            <a:off x="319190" y="287574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09" name="Text 46">
            <a:extLst>
              <a:ext uri="{FF2B5EF4-FFF2-40B4-BE49-F238E27FC236}">
                <a16:creationId xmlns:a16="http://schemas.microsoft.com/office/drawing/2014/main" id="{9C8C74F6-D86E-39D1-0E9E-A8F8A563312B}"/>
              </a:ext>
            </a:extLst>
          </p:cNvPr>
          <p:cNvSpPr/>
          <p:nvPr/>
        </p:nvSpPr>
        <p:spPr>
          <a:xfrm>
            <a:off x="593510" y="283002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Plan: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C71D3D97-474E-4FC9-2FE0-ADEDE400DE85}"/>
              </a:ext>
            </a:extLst>
          </p:cNvPr>
          <p:cNvSpPr/>
          <p:nvPr/>
        </p:nvSpPr>
        <p:spPr>
          <a:xfrm>
            <a:off x="593510" y="308605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Ask user for city first, then call weather API</a:t>
            </a:r>
            <a:endParaRPr lang="en-US" sz="11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82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45" grpId="0" animBg="1"/>
      <p:bldP spid="46" grpId="0" animBg="1"/>
      <p:bldP spid="56" grpId="0"/>
      <p:bldP spid="62" grpId="0"/>
      <p:bldP spid="76" grpId="0"/>
      <p:bldP spid="81" grpId="0"/>
      <p:bldP spid="83" grpId="0"/>
      <p:bldP spid="85" grpId="0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18ECA6A-8AF9-0C40-47C1-B0B881AE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>
            <a:extLst>
              <a:ext uri="{FF2B5EF4-FFF2-40B4-BE49-F238E27FC236}">
                <a16:creationId xmlns:a16="http://schemas.microsoft.com/office/drawing/2014/main" id="{1979101A-4777-B57A-1BC8-09940A5DAB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703" y="-19050"/>
            <a:ext cx="1222477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>
            <a:extLst>
              <a:ext uri="{FF2B5EF4-FFF2-40B4-BE49-F238E27FC236}">
                <a16:creationId xmlns:a16="http://schemas.microsoft.com/office/drawing/2014/main" id="{75B58039-E287-2894-4099-DD9D47173B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>
            <a:extLst>
              <a:ext uri="{FF2B5EF4-FFF2-40B4-BE49-F238E27FC236}">
                <a16:creationId xmlns:a16="http://schemas.microsoft.com/office/drawing/2014/main" id="{0CEE1D4A-1027-3249-25D6-5508CF8BB732}"/>
              </a:ext>
            </a:extLst>
          </p:cNvPr>
          <p:cNvSpPr/>
          <p:nvPr/>
        </p:nvSpPr>
        <p:spPr>
          <a:xfrm>
            <a:off x="154722" y="90489"/>
            <a:ext cx="98274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sym typeface="Montserrat"/>
              </a:rPr>
              <a:t>Weather Agent Walkthrough – Part 2</a:t>
            </a:r>
            <a:endParaRPr dirty="0"/>
          </a:p>
        </p:txBody>
      </p:sp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CF92F23E-98B6-EEE3-4C27-BDCE8D72B65E}"/>
              </a:ext>
            </a:extLst>
          </p:cNvPr>
          <p:cNvSpPr txBox="1"/>
          <p:nvPr/>
        </p:nvSpPr>
        <p:spPr>
          <a:xfrm rot="5400000">
            <a:off x="9539071" y="3704940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915F1D7-C2DC-D342-63AC-7E478C57BE30}"/>
              </a:ext>
            </a:extLst>
          </p:cNvPr>
          <p:cNvSpPr/>
          <p:nvPr/>
        </p:nvSpPr>
        <p:spPr>
          <a:xfrm>
            <a:off x="4905131" y="3583574"/>
            <a:ext cx="2452050" cy="1126585"/>
          </a:xfrm>
          <a:prstGeom prst="roundRect">
            <a:avLst/>
          </a:prstGeom>
          <a:solidFill>
            <a:srgbClr val="0C1752"/>
          </a:solidFill>
          <a:ln>
            <a:solidFill>
              <a:srgbClr val="0C17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Agent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D18AA16-19DD-D025-C376-075B62C7A108}"/>
              </a:ext>
            </a:extLst>
          </p:cNvPr>
          <p:cNvSpPr/>
          <p:nvPr/>
        </p:nvSpPr>
        <p:spPr>
          <a:xfrm>
            <a:off x="9120881" y="3583573"/>
            <a:ext cx="2452050" cy="1126585"/>
          </a:xfrm>
          <a:prstGeom prst="roundRect">
            <a:avLst/>
          </a:prstGeom>
          <a:solidFill>
            <a:srgbClr val="D56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LLM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99D48FF-1091-F75A-0D53-B38936E55552}"/>
              </a:ext>
            </a:extLst>
          </p:cNvPr>
          <p:cNvSpPr/>
          <p:nvPr/>
        </p:nvSpPr>
        <p:spPr>
          <a:xfrm>
            <a:off x="4905131" y="1250674"/>
            <a:ext cx="2452050" cy="11265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System Prompt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069D3FF-0807-084F-54F3-37136F238695}"/>
              </a:ext>
            </a:extLst>
          </p:cNvPr>
          <p:cNvSpPr/>
          <p:nvPr/>
        </p:nvSpPr>
        <p:spPr>
          <a:xfrm>
            <a:off x="7530164" y="5607326"/>
            <a:ext cx="2452050" cy="1126585"/>
          </a:xfrm>
          <a:prstGeom prst="roundRect">
            <a:avLst/>
          </a:prstGeom>
          <a:solidFill>
            <a:srgbClr val="1BB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Memory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C26CF0E-1C04-771D-C0D6-89BC0B734A88}"/>
              </a:ext>
            </a:extLst>
          </p:cNvPr>
          <p:cNvSpPr/>
          <p:nvPr/>
        </p:nvSpPr>
        <p:spPr>
          <a:xfrm>
            <a:off x="2743192" y="5612419"/>
            <a:ext cx="2452050" cy="11265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" panose="00000500000000000000" pitchFamily="2" charset="0"/>
              </a:rPr>
              <a:t>Tools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752C993-9317-C9A5-B96A-D06D29331877}"/>
              </a:ext>
            </a:extLst>
          </p:cNvPr>
          <p:cNvCxnSpPr>
            <a:cxnSpLocks/>
          </p:cNvCxnSpPr>
          <p:nvPr/>
        </p:nvCxnSpPr>
        <p:spPr>
          <a:xfrm>
            <a:off x="7451939" y="4038423"/>
            <a:ext cx="1668942" cy="0"/>
          </a:xfrm>
          <a:prstGeom prst="straightConnector1">
            <a:avLst/>
          </a:prstGeom>
          <a:ln w="38100">
            <a:solidFill>
              <a:srgbClr val="0C1752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EB75849-11E8-0E89-86B1-38D389410592}"/>
              </a:ext>
            </a:extLst>
          </p:cNvPr>
          <p:cNvSpPr txBox="1"/>
          <p:nvPr/>
        </p:nvSpPr>
        <p:spPr>
          <a:xfrm>
            <a:off x="1443765" y="3022739"/>
            <a:ext cx="17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User Prompt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Toronto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AC7E345-E45A-F198-E813-4EE478003F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991" y="3386535"/>
            <a:ext cx="1494520" cy="1494520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CBBD6FE-550D-90F4-B25A-7DA24BAF012A}"/>
              </a:ext>
            </a:extLst>
          </p:cNvPr>
          <p:cNvCxnSpPr>
            <a:cxnSpLocks/>
            <a:stCxn id="45" idx="2"/>
            <a:endCxn id="36" idx="0"/>
          </p:cNvCxnSpPr>
          <p:nvPr/>
        </p:nvCxnSpPr>
        <p:spPr>
          <a:xfrm>
            <a:off x="6131156" y="2377259"/>
            <a:ext cx="0" cy="1206315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6062305-9A26-A80F-8A6A-8EC65999BAEB}"/>
              </a:ext>
            </a:extLst>
          </p:cNvPr>
          <p:cNvSpPr txBox="1"/>
          <p:nvPr/>
        </p:nvSpPr>
        <p:spPr>
          <a:xfrm>
            <a:off x="4579652" y="2858268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Montserrat" panose="00000500000000000000" pitchFamily="2" charset="0"/>
              </a:rPr>
              <a:t>Instructions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9046AB9-2396-83C6-FD26-C11B41303E5A}"/>
              </a:ext>
            </a:extLst>
          </p:cNvPr>
          <p:cNvCxnSpPr>
            <a:cxnSpLocks/>
          </p:cNvCxnSpPr>
          <p:nvPr/>
        </p:nvCxnSpPr>
        <p:spPr>
          <a:xfrm flipH="1">
            <a:off x="1236947" y="4322920"/>
            <a:ext cx="3581444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EAE6C89-4FA3-BD0D-F228-2100ECE42308}"/>
              </a:ext>
            </a:extLst>
          </p:cNvPr>
          <p:cNvSpPr txBox="1"/>
          <p:nvPr/>
        </p:nvSpPr>
        <p:spPr>
          <a:xfrm>
            <a:off x="7451939" y="1075129"/>
            <a:ext cx="41209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Montserrat" panose="00000500000000000000" pitchFamily="2" charset="0"/>
              </a:rPr>
              <a:t>Context</a:t>
            </a:r>
          </a:p>
          <a:p>
            <a:pPr>
              <a:buNone/>
            </a:pPr>
            <a:r>
              <a:rPr lang="en-US" sz="1400" dirty="0">
                <a:latin typeface="Montserrat" panose="00000500000000000000" pitchFamily="2" charset="0"/>
              </a:rPr>
              <a:t>You are an assistant that helps users with questions about weather.</a:t>
            </a:r>
          </a:p>
          <a:p>
            <a:pPr>
              <a:buNone/>
            </a:pPr>
            <a:endParaRPr lang="en-US" sz="14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1400" b="1" dirty="0">
                <a:latin typeface="Montserrat" panose="00000500000000000000" pitchFamily="2" charset="0"/>
              </a:rPr>
              <a:t>Instruction</a:t>
            </a:r>
          </a:p>
          <a:p>
            <a:r>
              <a:rPr lang="en-US" sz="1400" dirty="0">
                <a:latin typeface="Montserrat" panose="00000500000000000000" pitchFamily="2" charset="0"/>
              </a:rPr>
              <a:t>If the user asks about weather, use the Weather tool. Ask the user for additional details if the request is unclear.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56DB7A-FA4A-6965-A28E-5A5E036CDDD8}"/>
              </a:ext>
            </a:extLst>
          </p:cNvPr>
          <p:cNvCxnSpPr>
            <a:cxnSpLocks/>
          </p:cNvCxnSpPr>
          <p:nvPr/>
        </p:nvCxnSpPr>
        <p:spPr>
          <a:xfrm>
            <a:off x="1250941" y="3770451"/>
            <a:ext cx="3540347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322D9A89-B85D-DE88-A74C-133EE58CB6D2}"/>
              </a:ext>
            </a:extLst>
          </p:cNvPr>
          <p:cNvSpPr txBox="1"/>
          <p:nvPr/>
        </p:nvSpPr>
        <p:spPr>
          <a:xfrm>
            <a:off x="7565544" y="3260408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Planning/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Reasoning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7E1EF5-E52A-BBF0-48F9-7A1FE34536CC}"/>
              </a:ext>
            </a:extLst>
          </p:cNvPr>
          <p:cNvSpPr txBox="1"/>
          <p:nvPr/>
        </p:nvSpPr>
        <p:spPr>
          <a:xfrm>
            <a:off x="1308089" y="4322920"/>
            <a:ext cx="30736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Agent Response: </a:t>
            </a:r>
          </a:p>
          <a:p>
            <a:r>
              <a:rPr lang="en-US" sz="2000" b="1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"Weather for Toronto :</a:t>
            </a:r>
            <a:endParaRPr lang="en-US" sz="2000" dirty="0">
              <a:solidFill>
                <a:srgbClr val="0C1752"/>
              </a:solidFill>
            </a:endParaRPr>
          </a:p>
          <a:p>
            <a:r>
              <a:rPr lang="en-US" dirty="0">
                <a:solidFill>
                  <a:srgbClr val="0C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-5°C, light snow, Bundle up!"</a:t>
            </a:r>
            <a:endParaRPr lang="en-US" sz="2000" dirty="0">
              <a:solidFill>
                <a:srgbClr val="0C1752"/>
              </a:solidFill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E1C5297-307A-8BCD-EF8C-0077626FF1BF}"/>
              </a:ext>
            </a:extLst>
          </p:cNvPr>
          <p:cNvCxnSpPr>
            <a:cxnSpLocks/>
          </p:cNvCxnSpPr>
          <p:nvPr/>
        </p:nvCxnSpPr>
        <p:spPr>
          <a:xfrm>
            <a:off x="7139305" y="4793944"/>
            <a:ext cx="1356573" cy="802498"/>
          </a:xfrm>
          <a:prstGeom prst="straightConnector1">
            <a:avLst/>
          </a:prstGeom>
          <a:ln w="38100">
            <a:solidFill>
              <a:srgbClr val="0C175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E833CD3-1688-6C24-A583-801C6EDFB6F1}"/>
              </a:ext>
            </a:extLst>
          </p:cNvPr>
          <p:cNvSpPr txBox="1"/>
          <p:nvPr/>
        </p:nvSpPr>
        <p:spPr>
          <a:xfrm>
            <a:off x="7894592" y="4690493"/>
            <a:ext cx="120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Storage/</a:t>
            </a:r>
          </a:p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Retrieval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6245869-76ED-D821-7896-FA715C44BCF9}"/>
              </a:ext>
            </a:extLst>
          </p:cNvPr>
          <p:cNvCxnSpPr>
            <a:cxnSpLocks/>
          </p:cNvCxnSpPr>
          <p:nvPr/>
        </p:nvCxnSpPr>
        <p:spPr>
          <a:xfrm flipH="1">
            <a:off x="4103593" y="4860716"/>
            <a:ext cx="948244" cy="746610"/>
          </a:xfrm>
          <a:prstGeom prst="straightConnector1">
            <a:avLst/>
          </a:prstGeom>
          <a:ln w="38100">
            <a:solidFill>
              <a:srgbClr val="0C175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9CC2018-B126-68BC-E23C-382D1C37D6D3}"/>
              </a:ext>
            </a:extLst>
          </p:cNvPr>
          <p:cNvSpPr txBox="1"/>
          <p:nvPr/>
        </p:nvSpPr>
        <p:spPr>
          <a:xfrm>
            <a:off x="4616398" y="5122564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C1752"/>
                </a:solidFill>
                <a:latin typeface="Montserrat" panose="00000500000000000000" pitchFamily="2" charset="0"/>
              </a:rPr>
              <a:t>Call Tool</a:t>
            </a:r>
          </a:p>
        </p:txBody>
      </p:sp>
      <p:sp>
        <p:nvSpPr>
          <p:cNvPr id="2" name="Shape 44">
            <a:extLst>
              <a:ext uri="{FF2B5EF4-FFF2-40B4-BE49-F238E27FC236}">
                <a16:creationId xmlns:a16="http://schemas.microsoft.com/office/drawing/2014/main" id="{2438F09C-FE73-0418-3673-D5F30094F3D3}"/>
              </a:ext>
            </a:extLst>
          </p:cNvPr>
          <p:cNvSpPr/>
          <p:nvPr/>
        </p:nvSpPr>
        <p:spPr>
          <a:xfrm>
            <a:off x="85396" y="653073"/>
            <a:ext cx="4572000" cy="478136"/>
          </a:xfrm>
          <a:prstGeom prst="rect">
            <a:avLst/>
          </a:prstGeom>
          <a:solidFill>
            <a:srgbClr val="F3E8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" name="Shape 45">
            <a:extLst>
              <a:ext uri="{FF2B5EF4-FFF2-40B4-BE49-F238E27FC236}">
                <a16:creationId xmlns:a16="http://schemas.microsoft.com/office/drawing/2014/main" id="{7695CE60-A2CD-97CD-9746-6DFC7DE52F9A}"/>
              </a:ext>
            </a:extLst>
          </p:cNvPr>
          <p:cNvSpPr/>
          <p:nvPr/>
        </p:nvSpPr>
        <p:spPr>
          <a:xfrm>
            <a:off x="85396" y="653073"/>
            <a:ext cx="79092" cy="52403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46">
            <a:extLst>
              <a:ext uri="{FF2B5EF4-FFF2-40B4-BE49-F238E27FC236}">
                <a16:creationId xmlns:a16="http://schemas.microsoft.com/office/drawing/2014/main" id="{9567E80A-023B-B3C9-5BE0-F0BFBDB1DF03}"/>
              </a:ext>
            </a:extLst>
          </p:cNvPr>
          <p:cNvSpPr/>
          <p:nvPr/>
        </p:nvSpPr>
        <p:spPr>
          <a:xfrm>
            <a:off x="268276" y="653073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Updated:</a:t>
            </a:r>
            <a:endParaRPr lang="en-US" sz="1000" dirty="0"/>
          </a:p>
        </p:txBody>
      </p:sp>
      <p:sp>
        <p:nvSpPr>
          <p:cNvPr id="5" name="Text 47">
            <a:extLst>
              <a:ext uri="{FF2B5EF4-FFF2-40B4-BE49-F238E27FC236}">
                <a16:creationId xmlns:a16="http://schemas.microsoft.com/office/drawing/2014/main" id="{E2037611-6949-448A-68E8-C25EA26BB31D}"/>
              </a:ext>
            </a:extLst>
          </p:cNvPr>
          <p:cNvSpPr/>
          <p:nvPr/>
        </p:nvSpPr>
        <p:spPr>
          <a:xfrm>
            <a:off x="209837" y="82935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user_city: "Toronto" }</a:t>
            </a:r>
            <a:endParaRPr lang="en-US" sz="11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46E6398-DECA-4B3F-04E9-C6B45EFE786A}"/>
              </a:ext>
            </a:extLst>
          </p:cNvPr>
          <p:cNvSpPr/>
          <p:nvPr/>
        </p:nvSpPr>
        <p:spPr>
          <a:xfrm>
            <a:off x="3591593" y="301009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8665E77E-142E-D32B-FAF9-4E9CADF26BEC}"/>
              </a:ext>
            </a:extLst>
          </p:cNvPr>
          <p:cNvSpPr/>
          <p:nvPr/>
        </p:nvSpPr>
        <p:spPr>
          <a:xfrm>
            <a:off x="83714" y="1355084"/>
            <a:ext cx="4572000" cy="319427"/>
          </a:xfrm>
          <a:prstGeom prst="rect">
            <a:avLst/>
          </a:prstGeom>
          <a:solidFill>
            <a:srgbClr val="FFF8E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9" name="Shape 30">
            <a:extLst>
              <a:ext uri="{FF2B5EF4-FFF2-40B4-BE49-F238E27FC236}">
                <a16:creationId xmlns:a16="http://schemas.microsoft.com/office/drawing/2014/main" id="{0F1C412E-2AE8-31A8-4283-858EE07440A5}"/>
              </a:ext>
            </a:extLst>
          </p:cNvPr>
          <p:cNvSpPr/>
          <p:nvPr/>
        </p:nvSpPr>
        <p:spPr>
          <a:xfrm>
            <a:off x="83714" y="1355084"/>
            <a:ext cx="79092" cy="31942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31">
            <a:extLst>
              <a:ext uri="{FF2B5EF4-FFF2-40B4-BE49-F238E27FC236}">
                <a16:creationId xmlns:a16="http://schemas.microsoft.com/office/drawing/2014/main" id="{0AF22048-F8E3-CC21-6C1D-65AB34377467}"/>
              </a:ext>
            </a:extLst>
          </p:cNvPr>
          <p:cNvSpPr/>
          <p:nvPr/>
        </p:nvSpPr>
        <p:spPr>
          <a:xfrm>
            <a:off x="230018" y="127722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Call:</a:t>
            </a:r>
            <a:endParaRPr lang="en-US" sz="1000" dirty="0"/>
          </a:p>
        </p:txBody>
      </p:sp>
      <p:sp>
        <p:nvSpPr>
          <p:cNvPr id="11" name="Text 32">
            <a:extLst>
              <a:ext uri="{FF2B5EF4-FFF2-40B4-BE49-F238E27FC236}">
                <a16:creationId xmlns:a16="http://schemas.microsoft.com/office/drawing/2014/main" id="{33B35689-51DE-430C-2557-0469994C5F6B}"/>
              </a:ext>
            </a:extLst>
          </p:cNvPr>
          <p:cNvSpPr/>
          <p:nvPr/>
        </p:nvSpPr>
        <p:spPr>
          <a:xfrm>
            <a:off x="833945" y="125948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get_weather("Toronto", "today")</a:t>
            </a:r>
            <a:endParaRPr lang="en-US" sz="1100" dirty="0"/>
          </a:p>
        </p:txBody>
      </p:sp>
      <p:sp>
        <p:nvSpPr>
          <p:cNvPr id="12" name="Shape 33">
            <a:extLst>
              <a:ext uri="{FF2B5EF4-FFF2-40B4-BE49-F238E27FC236}">
                <a16:creationId xmlns:a16="http://schemas.microsoft.com/office/drawing/2014/main" id="{F513ED8D-27A8-91B2-7F95-7B21D99F41B4}"/>
              </a:ext>
            </a:extLst>
          </p:cNvPr>
          <p:cNvSpPr/>
          <p:nvPr/>
        </p:nvSpPr>
        <p:spPr>
          <a:xfrm>
            <a:off x="103340" y="2114921"/>
            <a:ext cx="4572000" cy="87472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66CB9749-AC78-A43B-87F1-94046103C038}"/>
              </a:ext>
            </a:extLst>
          </p:cNvPr>
          <p:cNvSpPr/>
          <p:nvPr/>
        </p:nvSpPr>
        <p:spPr>
          <a:xfrm>
            <a:off x="83714" y="1674511"/>
            <a:ext cx="457200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35">
            <a:extLst>
              <a:ext uri="{FF2B5EF4-FFF2-40B4-BE49-F238E27FC236}">
                <a16:creationId xmlns:a16="http://schemas.microsoft.com/office/drawing/2014/main" id="{DE8B3938-9086-3BAF-DF4B-8A89E1AB98CC}"/>
              </a:ext>
            </a:extLst>
          </p:cNvPr>
          <p:cNvSpPr/>
          <p:nvPr/>
        </p:nvSpPr>
        <p:spPr>
          <a:xfrm>
            <a:off x="149804" y="1674511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100" dirty="0"/>
          </a:p>
        </p:txBody>
      </p:sp>
      <p:sp>
        <p:nvSpPr>
          <p:cNvPr id="15" name="Text 36">
            <a:extLst>
              <a:ext uri="{FF2B5EF4-FFF2-40B4-BE49-F238E27FC236}">
                <a16:creationId xmlns:a16="http://schemas.microsoft.com/office/drawing/2014/main" id="{BC56812E-041B-2DB0-7462-74AE1E3D813F}"/>
              </a:ext>
            </a:extLst>
          </p:cNvPr>
          <p:cNvSpPr/>
          <p:nvPr/>
        </p:nvSpPr>
        <p:spPr>
          <a:xfrm>
            <a:off x="194010" y="1509386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"city": "Toronto, ON",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"temp": "-5°C",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"condition": "Light Snow",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021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45" grpId="0" animBg="1"/>
      <p:bldP spid="46" grpId="0" animBg="1"/>
      <p:bldP spid="49" grpId="0" animBg="1"/>
      <p:bldP spid="56" grpId="0"/>
      <p:bldP spid="62" grpId="0"/>
      <p:bldP spid="76" grpId="0"/>
      <p:bldP spid="81" grpId="0"/>
      <p:bldP spid="83" grpId="0"/>
      <p:bldP spid="85" grpId="0"/>
      <p:bldP spid="89" grpId="0"/>
      <p:bldP spid="2" grpId="0" animBg="1"/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0CF0-12E1-FFF8-E50B-2379D7A0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8670DB-E068-9301-2A49-AD73BF475A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E92B7-66A7-5648-7DFE-47565325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F23FB4-65B6-3EAE-1EAC-E7D664BFC0F3}"/>
              </a:ext>
            </a:extLst>
          </p:cNvPr>
          <p:cNvSpPr/>
          <p:nvPr/>
        </p:nvSpPr>
        <p:spPr>
          <a:xfrm>
            <a:off x="293914" y="793804"/>
            <a:ext cx="5802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MCP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2C357-F493-D1D0-9828-0D06DFE23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60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A7BA8993-2A0C-AFCA-B009-C797112A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>
            <a:extLst>
              <a:ext uri="{FF2B5EF4-FFF2-40B4-BE49-F238E27FC236}">
                <a16:creationId xmlns:a16="http://schemas.microsoft.com/office/drawing/2014/main" id="{333194A4-4DBD-D0C3-E289-CF129E191A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1" y="0"/>
            <a:ext cx="1222477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>
            <a:extLst>
              <a:ext uri="{FF2B5EF4-FFF2-40B4-BE49-F238E27FC236}">
                <a16:creationId xmlns:a16="http://schemas.microsoft.com/office/drawing/2014/main" id="{DF7F6AA4-FE68-1F00-90FB-4823341853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>
            <a:extLst>
              <a:ext uri="{FF2B5EF4-FFF2-40B4-BE49-F238E27FC236}">
                <a16:creationId xmlns:a16="http://schemas.microsoft.com/office/drawing/2014/main" id="{4576D596-DF7C-1F7C-B128-45310258612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 Context Protocol (MCP)?</a:t>
            </a:r>
            <a:endParaRPr dirty="0"/>
          </a:p>
        </p:txBody>
      </p:sp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14797906-552F-78EA-60A2-221A7BEC669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/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BFC53742-D364-B80E-524A-549CA8058135}"/>
              </a:ext>
            </a:extLst>
          </p:cNvPr>
          <p:cNvSpPr txBox="1"/>
          <p:nvPr/>
        </p:nvSpPr>
        <p:spPr>
          <a:xfrm>
            <a:off x="166991" y="915981"/>
            <a:ext cx="11637228" cy="9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 is an open standard and open-source framework introduced by Anthropic to standardize how AI models interact with external tools, systems, and data sources. </a:t>
            </a:r>
            <a:endParaRPr sz="1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E6E7A3-3C7E-140C-F3B9-9209703FA37B}"/>
              </a:ext>
            </a:extLst>
          </p:cNvPr>
          <p:cNvSpPr/>
          <p:nvPr/>
        </p:nvSpPr>
        <p:spPr>
          <a:xfrm>
            <a:off x="6362236" y="4388148"/>
            <a:ext cx="1602296" cy="921901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dirty="0">
                <a:latin typeface="Montserrat" panose="00000500000000000000" pitchFamily="2" charset="0"/>
              </a:rPr>
              <a:t>AI Agent </a:t>
            </a:r>
          </a:p>
        </p:txBody>
      </p:sp>
      <p:pic>
        <p:nvPicPr>
          <p:cNvPr id="2050" name="Picture 2" descr="Gmail has a new logo that's a lot more Google | The Verge">
            <a:extLst>
              <a:ext uri="{FF2B5EF4-FFF2-40B4-BE49-F238E27FC236}">
                <a16:creationId xmlns:a16="http://schemas.microsoft.com/office/drawing/2014/main" id="{F67526D3-B748-C961-77D4-E2BA3E663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0060" r="5016" b="33818"/>
          <a:stretch/>
        </p:blipFill>
        <p:spPr bwMode="auto">
          <a:xfrm>
            <a:off x="10250487" y="2972287"/>
            <a:ext cx="1452177" cy="36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lack Logo, symbol, meaning, history, PNG, brand">
            <a:extLst>
              <a:ext uri="{FF2B5EF4-FFF2-40B4-BE49-F238E27FC236}">
                <a16:creationId xmlns:a16="http://schemas.microsoft.com/office/drawing/2014/main" id="{36A54658-8B5A-339E-06A8-B50082A5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812" y="4504293"/>
            <a:ext cx="1225972" cy="68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CA60FC-410E-F65D-C192-9E34E7EA4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2712" y="5585610"/>
            <a:ext cx="1225972" cy="81731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6BC43B-7BC8-FE9A-31C5-857C46FBDD62}"/>
              </a:ext>
            </a:extLst>
          </p:cNvPr>
          <p:cNvCxnSpPr>
            <a:cxnSpLocks/>
          </p:cNvCxnSpPr>
          <p:nvPr/>
        </p:nvCxnSpPr>
        <p:spPr>
          <a:xfrm flipV="1">
            <a:off x="8000851" y="3407973"/>
            <a:ext cx="2273917" cy="1156396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213223-D64E-3C18-4552-EABBDE68AA99}"/>
              </a:ext>
            </a:extLst>
          </p:cNvPr>
          <p:cNvSpPr/>
          <p:nvPr/>
        </p:nvSpPr>
        <p:spPr>
          <a:xfrm rot="19992498">
            <a:off x="8663175" y="3707975"/>
            <a:ext cx="1286252" cy="372615"/>
          </a:xfrm>
          <a:prstGeom prst="roundRect">
            <a:avLst/>
          </a:prstGeom>
          <a:solidFill>
            <a:srgbClr val="D56E48"/>
          </a:solidFill>
          <a:ln w="25400" cap="flat" cmpd="sng" algn="ctr">
            <a:solidFill>
              <a:srgbClr val="D56E48"/>
            </a:solidFill>
            <a:prstDash val="solid"/>
          </a:ln>
          <a:effectLst/>
        </p:spPr>
        <p:txBody>
          <a:bodyPr spcFirstLastPara="0" vert="horz" wrap="square" lIns="68580" tIns="68580" rIns="68580" bIns="6858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800" kern="1200" dirty="0">
                <a:solidFill>
                  <a:srgbClr val="FFFFFF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MCP</a:t>
            </a: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0B48F839-56C1-F97C-8EFB-E120279CC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8" t="4469"/>
          <a:stretch/>
        </p:blipFill>
        <p:spPr bwMode="auto">
          <a:xfrm>
            <a:off x="8709770" y="3101232"/>
            <a:ext cx="610392" cy="51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Gmail has a new logo that's a lot more Google | The Verge">
            <a:extLst>
              <a:ext uri="{FF2B5EF4-FFF2-40B4-BE49-F238E27FC236}">
                <a16:creationId xmlns:a16="http://schemas.microsoft.com/office/drawing/2014/main" id="{5DE79189-FDD6-CFC3-3E20-C17195561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0060" r="5016" b="33818"/>
          <a:stretch/>
        </p:blipFill>
        <p:spPr bwMode="auto">
          <a:xfrm>
            <a:off x="3537389" y="3093257"/>
            <a:ext cx="1509952" cy="38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lack Logo, symbol, meaning, history, PNG, brand">
            <a:extLst>
              <a:ext uri="{FF2B5EF4-FFF2-40B4-BE49-F238E27FC236}">
                <a16:creationId xmlns:a16="http://schemas.microsoft.com/office/drawing/2014/main" id="{4F94A50F-BB1E-4564-4789-91062A422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861" y="4379140"/>
            <a:ext cx="1274062" cy="71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027ACF-57D2-3677-9E09-E80B6A60A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201" y="5665366"/>
            <a:ext cx="1157258" cy="77150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0C03C9-3C31-A7A3-9A6F-A0535BB36ACF}"/>
              </a:ext>
            </a:extLst>
          </p:cNvPr>
          <p:cNvCxnSpPr>
            <a:cxnSpLocks/>
          </p:cNvCxnSpPr>
          <p:nvPr/>
        </p:nvCxnSpPr>
        <p:spPr>
          <a:xfrm flipV="1">
            <a:off x="2464155" y="3525357"/>
            <a:ext cx="1233113" cy="888214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DB8F840-DA8A-629A-8884-BED26C129437}"/>
              </a:ext>
            </a:extLst>
          </p:cNvPr>
          <p:cNvSpPr/>
          <p:nvPr/>
        </p:nvSpPr>
        <p:spPr>
          <a:xfrm>
            <a:off x="838702" y="4467862"/>
            <a:ext cx="1636421" cy="921901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dirty="0">
                <a:latin typeface="Montserrat" panose="00000500000000000000" pitchFamily="2" charset="0"/>
              </a:rPr>
              <a:t>AI Agent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94CF8C-979C-6C7D-7FE7-C15CC7BB31A6}"/>
              </a:ext>
            </a:extLst>
          </p:cNvPr>
          <p:cNvCxnSpPr>
            <a:cxnSpLocks/>
          </p:cNvCxnSpPr>
          <p:nvPr/>
        </p:nvCxnSpPr>
        <p:spPr>
          <a:xfrm>
            <a:off x="2475124" y="4770459"/>
            <a:ext cx="1062265" cy="0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61083A-539C-0051-F4F3-83B7C7538B78}"/>
              </a:ext>
            </a:extLst>
          </p:cNvPr>
          <p:cNvCxnSpPr>
            <a:cxnSpLocks/>
          </p:cNvCxnSpPr>
          <p:nvPr/>
        </p:nvCxnSpPr>
        <p:spPr>
          <a:xfrm>
            <a:off x="2475124" y="5297148"/>
            <a:ext cx="1404851" cy="683433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ere's OpenAI's new logo | The Verge">
            <a:extLst>
              <a:ext uri="{FF2B5EF4-FFF2-40B4-BE49-F238E27FC236}">
                <a16:creationId xmlns:a16="http://schemas.microsoft.com/office/drawing/2014/main" id="{C4AA1415-AAD4-97F0-7DC1-FCF30D679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44" y="3686755"/>
            <a:ext cx="895231" cy="59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lama 2 Model Details">
            <a:extLst>
              <a:ext uri="{FF2B5EF4-FFF2-40B4-BE49-F238E27FC236}">
                <a16:creationId xmlns:a16="http://schemas.microsoft.com/office/drawing/2014/main" id="{9C246D39-71E2-2EDA-76E4-8EBC959EF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17" t="22122" r="12924" b="26288"/>
          <a:stretch>
            <a:fillRect/>
          </a:stretch>
        </p:blipFill>
        <p:spPr bwMode="auto">
          <a:xfrm>
            <a:off x="1465181" y="3710970"/>
            <a:ext cx="488749" cy="49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0442BFE-B917-6714-3846-6488B8AD7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21"/>
          <a:stretch>
            <a:fillRect/>
          </a:stretch>
        </p:blipFill>
        <p:spPr bwMode="auto">
          <a:xfrm>
            <a:off x="2089029" y="3713994"/>
            <a:ext cx="588367" cy="53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Here's OpenAI's new logo | The Verge">
            <a:extLst>
              <a:ext uri="{FF2B5EF4-FFF2-40B4-BE49-F238E27FC236}">
                <a16:creationId xmlns:a16="http://schemas.microsoft.com/office/drawing/2014/main" id="{41A7CFC9-B886-FDF7-3E76-2EB636506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975" y="3702456"/>
            <a:ext cx="895231" cy="59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Llama 2 Model Details">
            <a:extLst>
              <a:ext uri="{FF2B5EF4-FFF2-40B4-BE49-F238E27FC236}">
                <a16:creationId xmlns:a16="http://schemas.microsoft.com/office/drawing/2014/main" id="{B69531C4-3E54-B56D-D488-593550DBA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17" t="22122" r="12924" b="26288"/>
          <a:stretch>
            <a:fillRect/>
          </a:stretch>
        </p:blipFill>
        <p:spPr bwMode="auto">
          <a:xfrm>
            <a:off x="6811412" y="3726671"/>
            <a:ext cx="488749" cy="49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>
            <a:extLst>
              <a:ext uri="{FF2B5EF4-FFF2-40B4-BE49-F238E27FC236}">
                <a16:creationId xmlns:a16="http://schemas.microsoft.com/office/drawing/2014/main" id="{EA1CC70D-3CC4-572B-3DF9-1BDFFF32D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21"/>
          <a:stretch>
            <a:fillRect/>
          </a:stretch>
        </p:blipFill>
        <p:spPr bwMode="auto">
          <a:xfrm>
            <a:off x="7435260" y="3729695"/>
            <a:ext cx="588367" cy="53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576F50E-B3B3-2CE3-1367-BE0483091A4A}"/>
              </a:ext>
            </a:extLst>
          </p:cNvPr>
          <p:cNvSpPr/>
          <p:nvPr/>
        </p:nvSpPr>
        <p:spPr>
          <a:xfrm>
            <a:off x="2843655" y="3525357"/>
            <a:ext cx="327415" cy="253001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5B436E-3EAC-CE20-31F3-C8622DC2016A}"/>
              </a:ext>
            </a:extLst>
          </p:cNvPr>
          <p:cNvSpPr txBox="1"/>
          <p:nvPr/>
        </p:nvSpPr>
        <p:spPr>
          <a:xfrm>
            <a:off x="2358440" y="6104483"/>
            <a:ext cx="14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Custom APIs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23DBA8-EB6A-D907-D84B-C25306D8EC73}"/>
              </a:ext>
            </a:extLst>
          </p:cNvPr>
          <p:cNvCxnSpPr>
            <a:cxnSpLocks/>
          </p:cNvCxnSpPr>
          <p:nvPr/>
        </p:nvCxnSpPr>
        <p:spPr>
          <a:xfrm flipV="1">
            <a:off x="8000851" y="4793028"/>
            <a:ext cx="2285883" cy="18197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3BA3DA8-287F-5FEC-D3F8-EFD2B2BA82E1}"/>
              </a:ext>
            </a:extLst>
          </p:cNvPr>
          <p:cNvSpPr/>
          <p:nvPr/>
        </p:nvSpPr>
        <p:spPr>
          <a:xfrm>
            <a:off x="8691390" y="4606720"/>
            <a:ext cx="1286252" cy="372615"/>
          </a:xfrm>
          <a:prstGeom prst="roundRect">
            <a:avLst/>
          </a:prstGeom>
          <a:solidFill>
            <a:srgbClr val="D56E48"/>
          </a:solidFill>
          <a:ln w="25400" cap="flat" cmpd="sng" algn="ctr">
            <a:solidFill>
              <a:srgbClr val="D56E48"/>
            </a:solidFill>
            <a:prstDash val="solid"/>
          </a:ln>
          <a:effectLst/>
        </p:spPr>
        <p:txBody>
          <a:bodyPr spcFirstLastPara="0" vert="horz" wrap="square" lIns="68580" tIns="68580" rIns="68580" bIns="6858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800" kern="1200" dirty="0">
                <a:solidFill>
                  <a:srgbClr val="FFFFFF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MCP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330793-E153-9DC9-CA0F-F22E803FA8D6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8000851" y="5090373"/>
            <a:ext cx="2191861" cy="903895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3DDCB56-5AEF-3BD3-4898-D12AEEA8016D}"/>
              </a:ext>
            </a:extLst>
          </p:cNvPr>
          <p:cNvSpPr/>
          <p:nvPr/>
        </p:nvSpPr>
        <p:spPr>
          <a:xfrm rot="1449052">
            <a:off x="8622823" y="5468270"/>
            <a:ext cx="1286252" cy="372615"/>
          </a:xfrm>
          <a:prstGeom prst="roundRect">
            <a:avLst/>
          </a:prstGeom>
          <a:solidFill>
            <a:srgbClr val="D56E48"/>
          </a:solidFill>
          <a:ln w="25400" cap="flat" cmpd="sng" algn="ctr">
            <a:solidFill>
              <a:srgbClr val="D56E48"/>
            </a:solidFill>
            <a:prstDash val="solid"/>
          </a:ln>
          <a:effectLst/>
        </p:spPr>
        <p:txBody>
          <a:bodyPr spcFirstLastPara="0" vert="horz" wrap="square" lIns="68580" tIns="68580" rIns="68580" bIns="6858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800" kern="1200" dirty="0">
                <a:solidFill>
                  <a:srgbClr val="FFFFFF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MCP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7247F75-2180-D734-2B7E-E392669A336F}"/>
              </a:ext>
            </a:extLst>
          </p:cNvPr>
          <p:cNvSpPr/>
          <p:nvPr/>
        </p:nvSpPr>
        <p:spPr>
          <a:xfrm>
            <a:off x="8228876" y="3668730"/>
            <a:ext cx="327415" cy="253001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238F95-1A6C-6F20-C87A-F0A41A149F5E}"/>
              </a:ext>
            </a:extLst>
          </p:cNvPr>
          <p:cNvSpPr txBox="1"/>
          <p:nvPr/>
        </p:nvSpPr>
        <p:spPr>
          <a:xfrm>
            <a:off x="7616287" y="6198745"/>
            <a:ext cx="1914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Standardized APIs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6A9905-B2A4-1EBF-6EA3-FC70AFE9CE5C}"/>
              </a:ext>
            </a:extLst>
          </p:cNvPr>
          <p:cNvSpPr txBox="1"/>
          <p:nvPr/>
        </p:nvSpPr>
        <p:spPr>
          <a:xfrm>
            <a:off x="1105123" y="272164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b="1" u="sng" dirty="0">
                <a:latin typeface="Montserrat" panose="00000500000000000000" pitchFamily="2" charset="0"/>
              </a:rPr>
              <a:t>Problem (Without MCP)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65C32B-297E-94E3-6973-1D7DBC269C69}"/>
              </a:ext>
            </a:extLst>
          </p:cNvPr>
          <p:cNvSpPr txBox="1"/>
          <p:nvPr/>
        </p:nvSpPr>
        <p:spPr>
          <a:xfrm>
            <a:off x="7208364" y="2663701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b="1" u="sng" dirty="0">
                <a:latin typeface="Montserrat" panose="00000500000000000000" pitchFamily="2" charset="0"/>
              </a:rPr>
              <a:t>Solution (With MCP)</a:t>
            </a:r>
          </a:p>
        </p:txBody>
      </p:sp>
      <p:pic>
        <p:nvPicPr>
          <p:cNvPr id="1035" name="Picture 11">
            <a:extLst>
              <a:ext uri="{FF2B5EF4-FFF2-40B4-BE49-F238E27FC236}">
                <a16:creationId xmlns:a16="http://schemas.microsoft.com/office/drawing/2014/main" id="{D40D4B7B-D208-E8FD-BE4B-B48AB4CF3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3" r="-1170" b="25352"/>
          <a:stretch>
            <a:fillRect/>
          </a:stretch>
        </p:blipFill>
        <p:spPr bwMode="auto">
          <a:xfrm>
            <a:off x="5459511" y="1609603"/>
            <a:ext cx="1710313" cy="89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Model Context Protocol · GitHub">
            <a:extLst>
              <a:ext uri="{FF2B5EF4-FFF2-40B4-BE49-F238E27FC236}">
                <a16:creationId xmlns:a16="http://schemas.microsoft.com/office/drawing/2014/main" id="{660406CC-E6F7-0A46-5986-C26F4DE28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230" y="1474033"/>
            <a:ext cx="1167689" cy="116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18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21" grpId="0" animBg="1"/>
      <p:bldP spid="41" grpId="0" animBg="1"/>
      <p:bldP spid="42" grpId="0"/>
      <p:bldP spid="44" grpId="0" animBg="1"/>
      <p:bldP spid="48" grpId="0" animBg="1"/>
      <p:bldP spid="52" grpId="0" animBg="1"/>
      <p:bldP spid="53" grpId="0"/>
      <p:bldP spid="58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387" y="0"/>
            <a:ext cx="1222477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/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 by Anthropic Documentation</a:t>
            </a:r>
            <a:endParaRPr dirty="0"/>
          </a:p>
        </p:txBody>
      </p:sp>
      <p:sp>
        <p:nvSpPr>
          <p:cNvPr id="115" name="Google Shape;115;p5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A0F64-4433-F242-8916-6513E3837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252" y="1377691"/>
            <a:ext cx="8924047" cy="4888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2B0EED-FC08-96D2-94C8-32B1387987D0}"/>
              </a:ext>
            </a:extLst>
          </p:cNvPr>
          <p:cNvSpPr txBox="1"/>
          <p:nvPr/>
        </p:nvSpPr>
        <p:spPr>
          <a:xfrm>
            <a:off x="3237346" y="907669"/>
            <a:ext cx="6123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6"/>
              </a:rPr>
              <a:t>https://www.anthropic.com/news/model-context-protocol</a:t>
            </a:r>
            <a:endParaRPr lang="en-CA" dirty="0"/>
          </a:p>
          <a:p>
            <a:endParaRPr lang="en-C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2;p5">
            <a:extLst>
              <a:ext uri="{FF2B5EF4-FFF2-40B4-BE49-F238E27FC236}">
                <a16:creationId xmlns:a16="http://schemas.microsoft.com/office/drawing/2014/main" id="{7FB99E83-5B1A-2A31-3096-0AEE80EC89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5225"/>
          <a:stretch/>
        </p:blipFill>
        <p:spPr>
          <a:xfrm>
            <a:off x="-3571" y="0"/>
            <a:ext cx="12224773" cy="101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154722" y="90489"/>
            <a:ext cx="98274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sym typeface="Montserrat"/>
              </a:rPr>
              <a:t>Real-world MCP Application</a:t>
            </a:r>
            <a:endParaRPr dirty="0"/>
          </a:p>
        </p:txBody>
      </p:sp>
      <p:sp>
        <p:nvSpPr>
          <p:cNvPr id="97" name="Google Shape;97;p2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06400" y="809050"/>
            <a:ext cx="11985600" cy="14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Assume we have a simple AI agent that utilizes</a:t>
            </a:r>
            <a:r>
              <a:rPr lang="en-CA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 currency conversion tool.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agent will use Model Context Protocol (MCP), which is a standardized protocol that connects LLMs and AI agents to various external tools and data sources.</a:t>
            </a: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D87BBE-30AB-0AEB-7E0F-0831C1EBB9FE}"/>
              </a:ext>
            </a:extLst>
          </p:cNvPr>
          <p:cNvCxnSpPr>
            <a:cxnSpLocks/>
          </p:cNvCxnSpPr>
          <p:nvPr/>
        </p:nvCxnSpPr>
        <p:spPr>
          <a:xfrm>
            <a:off x="1734129" y="3700254"/>
            <a:ext cx="1651617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E225FE-2AC8-7CD9-5D74-0D4BEED8ED9B}"/>
              </a:ext>
            </a:extLst>
          </p:cNvPr>
          <p:cNvCxnSpPr>
            <a:cxnSpLocks/>
          </p:cNvCxnSpPr>
          <p:nvPr/>
        </p:nvCxnSpPr>
        <p:spPr>
          <a:xfrm>
            <a:off x="7276456" y="3809054"/>
            <a:ext cx="1111927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E3D92F-00C6-36CC-C487-20620062D434}"/>
              </a:ext>
            </a:extLst>
          </p:cNvPr>
          <p:cNvGrpSpPr/>
          <p:nvPr/>
        </p:nvGrpSpPr>
        <p:grpSpPr>
          <a:xfrm>
            <a:off x="8480010" y="2382152"/>
            <a:ext cx="2428308" cy="2537259"/>
            <a:chOff x="7978100" y="1778923"/>
            <a:chExt cx="3449782" cy="2537259"/>
          </a:xfrm>
          <a:solidFill>
            <a:srgbClr val="002060"/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A831B43-C17C-15C1-E859-DF02DDF3D460}"/>
                </a:ext>
              </a:extLst>
            </p:cNvPr>
            <p:cNvSpPr/>
            <p:nvPr/>
          </p:nvSpPr>
          <p:spPr>
            <a:xfrm>
              <a:off x="7978100" y="1778923"/>
              <a:ext cx="3449782" cy="2537259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1B9C8B9-88F6-6DCA-BA21-65C95FCFFE6D}"/>
                </a:ext>
              </a:extLst>
            </p:cNvPr>
            <p:cNvSpPr/>
            <p:nvPr/>
          </p:nvSpPr>
          <p:spPr>
            <a:xfrm>
              <a:off x="8557124" y="2575590"/>
              <a:ext cx="2223653" cy="714894"/>
            </a:xfrm>
            <a:prstGeom prst="roundRect">
              <a:avLst/>
            </a:prstGeom>
            <a:grpFill/>
            <a:ln w="25400" cap="flat" cmpd="sng" algn="ctr">
              <a:solidFill>
                <a:srgbClr val="D56E48"/>
              </a:solidFill>
              <a:prstDash val="solid"/>
            </a:ln>
            <a:effectLst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kern="1200" dirty="0">
                  <a:solidFill>
                    <a:srgbClr val="FFFFFF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Currency Convertor Tool </a:t>
              </a:r>
            </a:p>
          </p:txBody>
        </p:sp>
      </p:grpSp>
      <p:pic>
        <p:nvPicPr>
          <p:cNvPr id="27" name="Graphic 26" descr="User outline">
            <a:extLst>
              <a:ext uri="{FF2B5EF4-FFF2-40B4-BE49-F238E27FC236}">
                <a16:creationId xmlns:a16="http://schemas.microsoft.com/office/drawing/2014/main" id="{50171560-E6AE-39C3-5F06-32D148030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316" y="3085876"/>
            <a:ext cx="1235813" cy="123581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54A7541-7655-A46D-07A6-2AF5BD505CE6}"/>
              </a:ext>
            </a:extLst>
          </p:cNvPr>
          <p:cNvSpPr txBox="1"/>
          <p:nvPr/>
        </p:nvSpPr>
        <p:spPr>
          <a:xfrm>
            <a:off x="1529016" y="2871311"/>
            <a:ext cx="216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 dirty="0">
                <a:latin typeface="Montserrat" panose="00000500000000000000" pitchFamily="2" charset="0"/>
              </a:rPr>
              <a:t>What is $1000 USD in CAD?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98D9C0-E379-54A3-96D8-A9746273D364}"/>
              </a:ext>
            </a:extLst>
          </p:cNvPr>
          <p:cNvSpPr txBox="1"/>
          <p:nvPr/>
        </p:nvSpPr>
        <p:spPr>
          <a:xfrm>
            <a:off x="1182976" y="5396779"/>
            <a:ext cx="9791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800" b="1" dirty="0">
                <a:latin typeface="Montserrat" panose="00000500000000000000" pitchFamily="2" charset="0"/>
              </a:rPr>
              <a:t>MCP is an open protocol designed to be a standard way for models to discover &amp; interact with tools. It’s like a universal plug adapter for AI tools!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C326CE9A-A744-0934-E9B3-969721933C64}"/>
              </a:ext>
            </a:extLst>
          </p:cNvPr>
          <p:cNvCxnSpPr>
            <a:cxnSpLocks/>
          </p:cNvCxnSpPr>
          <p:nvPr/>
        </p:nvCxnSpPr>
        <p:spPr>
          <a:xfrm rot="5400000">
            <a:off x="5209414" y="3750368"/>
            <a:ext cx="1200331" cy="1733870"/>
          </a:xfrm>
          <a:prstGeom prst="curvedConnector2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419CDA84-6E67-EB99-DC71-0B76B9B2A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8" t="4469"/>
          <a:stretch/>
        </p:blipFill>
        <p:spPr bwMode="auto">
          <a:xfrm>
            <a:off x="5657024" y="2359811"/>
            <a:ext cx="1245363" cy="104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9086399-E66D-CC8E-782A-DD0975E73E0E}"/>
              </a:ext>
            </a:extLst>
          </p:cNvPr>
          <p:cNvSpPr txBox="1"/>
          <p:nvPr/>
        </p:nvSpPr>
        <p:spPr>
          <a:xfrm>
            <a:off x="8107943" y="1992803"/>
            <a:ext cx="3035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Montserrat" panose="00000500000000000000" pitchFamily="2" charset="0"/>
              </a:rPr>
              <a:t>MCP 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F6D3-4E62-159F-C511-CEA2194AF9AD}"/>
              </a:ext>
            </a:extLst>
          </p:cNvPr>
          <p:cNvSpPr txBox="1"/>
          <p:nvPr/>
        </p:nvSpPr>
        <p:spPr>
          <a:xfrm>
            <a:off x="-406212" y="4209575"/>
            <a:ext cx="3035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Montserrat" panose="00000500000000000000" pitchFamily="2" charset="0"/>
              </a:rPr>
              <a:t>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59E0C4-12C4-BF92-4405-D5B3B38F00ED}"/>
              </a:ext>
            </a:extLst>
          </p:cNvPr>
          <p:cNvCxnSpPr>
            <a:cxnSpLocks/>
          </p:cNvCxnSpPr>
          <p:nvPr/>
        </p:nvCxnSpPr>
        <p:spPr>
          <a:xfrm>
            <a:off x="1734129" y="4049081"/>
            <a:ext cx="1577726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20A762-961C-BA06-5A2C-DA5A82D0BE43}"/>
              </a:ext>
            </a:extLst>
          </p:cNvPr>
          <p:cNvSpPr txBox="1"/>
          <p:nvPr/>
        </p:nvSpPr>
        <p:spPr>
          <a:xfrm>
            <a:off x="1563154" y="4137023"/>
            <a:ext cx="216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i="1" dirty="0">
                <a:latin typeface="Montserrat" panose="00000500000000000000" pitchFamily="2" charset="0"/>
              </a:rPr>
              <a:t>C$1,370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10319A-2C2A-32BF-1BD7-5AE8BECE8B12}"/>
              </a:ext>
            </a:extLst>
          </p:cNvPr>
          <p:cNvSpPr/>
          <p:nvPr/>
        </p:nvSpPr>
        <p:spPr>
          <a:xfrm>
            <a:off x="3489247" y="3451336"/>
            <a:ext cx="1349897" cy="769326"/>
          </a:xfrm>
          <a:prstGeom prst="rect">
            <a:avLst/>
          </a:prstGeom>
          <a:solidFill>
            <a:srgbClr val="0C1752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LLM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EAD111-6E78-8A7E-47BC-4129DC686755}"/>
              </a:ext>
            </a:extLst>
          </p:cNvPr>
          <p:cNvSpPr/>
          <p:nvPr/>
        </p:nvSpPr>
        <p:spPr>
          <a:xfrm>
            <a:off x="5946669" y="3620158"/>
            <a:ext cx="1329787" cy="37779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Montserrat" panose="00000500000000000000" pitchFamily="2" charset="0"/>
              </a:rPr>
              <a:t>MCP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029C66-F4DA-AB4A-E327-54633869D974}"/>
              </a:ext>
            </a:extLst>
          </p:cNvPr>
          <p:cNvCxnSpPr>
            <a:cxnSpLocks/>
          </p:cNvCxnSpPr>
          <p:nvPr/>
        </p:nvCxnSpPr>
        <p:spPr>
          <a:xfrm>
            <a:off x="4873019" y="3809054"/>
            <a:ext cx="1073650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46" grpId="0"/>
      <p:bldP spid="4" grpId="0"/>
      <p:bldP spid="8" grpId="0"/>
      <p:bldP spid="10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0BBC-D431-70F6-0238-ECD3FBE5F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1B87F1-A10D-5233-EE11-F55365F15E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DDFBD7-30A5-4B5F-2451-171496B6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A9EFE4-2E40-27B2-EE60-F118DC7A7AA4}"/>
              </a:ext>
            </a:extLst>
          </p:cNvPr>
          <p:cNvSpPr/>
          <p:nvPr/>
        </p:nvSpPr>
        <p:spPr>
          <a:xfrm>
            <a:off x="293914" y="793804"/>
            <a:ext cx="5802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AGENTIC FRAMEWORKS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90C77-CA19-1661-04C9-F4358C55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6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0426AC2-CE55-BC63-755B-63D54FB0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2;p5">
            <a:extLst>
              <a:ext uri="{FF2B5EF4-FFF2-40B4-BE49-F238E27FC236}">
                <a16:creationId xmlns:a16="http://schemas.microsoft.com/office/drawing/2014/main" id="{947939E8-2792-3FD7-BFF9-FD8F944E31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5225"/>
          <a:stretch/>
        </p:blipFill>
        <p:spPr>
          <a:xfrm>
            <a:off x="-3571" y="0"/>
            <a:ext cx="12224773" cy="101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>
            <a:extLst>
              <a:ext uri="{FF2B5EF4-FFF2-40B4-BE49-F238E27FC236}">
                <a16:creationId xmlns:a16="http://schemas.microsoft.com/office/drawing/2014/main" id="{C1CFB9F9-0D9B-3ED8-294F-CF2A2EA7A0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68EAB5E-02A6-49F8-4AAE-0A5D0C25BDAD}"/>
              </a:ext>
            </a:extLst>
          </p:cNvPr>
          <p:cNvSpPr/>
          <p:nvPr/>
        </p:nvSpPr>
        <p:spPr>
          <a:xfrm>
            <a:off x="154722" y="90489"/>
            <a:ext cx="98274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sym typeface="Montserrat"/>
              </a:rPr>
              <a:t>Agentic Frameworks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3F8A97C6-D1C1-C19A-32F7-27CE229B22B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73804B7-823A-FBEE-16E9-EF9F84B38709}"/>
              </a:ext>
            </a:extLst>
          </p:cNvPr>
          <p:cNvSpPr txBox="1"/>
          <p:nvPr/>
        </p:nvSpPr>
        <p:spPr>
          <a:xfrm>
            <a:off x="206400" y="809050"/>
            <a:ext cx="11985600" cy="14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Open-source and vendor frameworks for building agents programmatically.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91A190D-1544-316D-C72B-E66275E97E25}"/>
              </a:ext>
            </a:extLst>
          </p:cNvPr>
          <p:cNvSpPr/>
          <p:nvPr/>
        </p:nvSpPr>
        <p:spPr>
          <a:xfrm>
            <a:off x="409110" y="14580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929D10B9-243A-C772-8764-35305612C37C}"/>
              </a:ext>
            </a:extLst>
          </p:cNvPr>
          <p:cNvSpPr/>
          <p:nvPr/>
        </p:nvSpPr>
        <p:spPr>
          <a:xfrm>
            <a:off x="409110" y="14580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E701376-BCA8-0E6F-A41B-D963BC9AECAD}"/>
              </a:ext>
            </a:extLst>
          </p:cNvPr>
          <p:cNvSpPr/>
          <p:nvPr/>
        </p:nvSpPr>
        <p:spPr>
          <a:xfrm>
            <a:off x="591990" y="14946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42EA6AD-7432-18AD-A66C-15F2933ED4D5}"/>
              </a:ext>
            </a:extLst>
          </p:cNvPr>
          <p:cNvSpPr/>
          <p:nvPr/>
        </p:nvSpPr>
        <p:spPr>
          <a:xfrm>
            <a:off x="2969430" y="14946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 / JS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D7407D3-9978-4AC5-068F-DA9D82DFF982}"/>
              </a:ext>
            </a:extLst>
          </p:cNvPr>
          <p:cNvSpPr/>
          <p:nvPr/>
        </p:nvSpPr>
        <p:spPr>
          <a:xfrm>
            <a:off x="591990" y="18482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Graph-based workflows, cycles, persistence, human-in-the-loop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8442CB7B-2B6E-18D7-97ED-AE24526D9A60}"/>
              </a:ext>
            </a:extLst>
          </p:cNvPr>
          <p:cNvSpPr/>
          <p:nvPr/>
        </p:nvSpPr>
        <p:spPr>
          <a:xfrm>
            <a:off x="4249590" y="14580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B3399C9-BB1D-7EA5-40FA-492487B3A71E}"/>
              </a:ext>
            </a:extLst>
          </p:cNvPr>
          <p:cNvSpPr/>
          <p:nvPr/>
        </p:nvSpPr>
        <p:spPr>
          <a:xfrm>
            <a:off x="4249590" y="14580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9710B830-601E-069B-1B5E-CFC0B6A1CEB0}"/>
              </a:ext>
            </a:extLst>
          </p:cNvPr>
          <p:cNvSpPr/>
          <p:nvPr/>
        </p:nvSpPr>
        <p:spPr>
          <a:xfrm>
            <a:off x="4432470" y="14946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E6ACD60-9736-9FEA-B641-3964B9EF0710}"/>
              </a:ext>
            </a:extLst>
          </p:cNvPr>
          <p:cNvSpPr/>
          <p:nvPr/>
        </p:nvSpPr>
        <p:spPr>
          <a:xfrm>
            <a:off x="6809910" y="14946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DF12469-0976-79D6-C613-E86E17C2F571}"/>
              </a:ext>
            </a:extLst>
          </p:cNvPr>
          <p:cNvSpPr/>
          <p:nvPr/>
        </p:nvSpPr>
        <p:spPr>
          <a:xfrm>
            <a:off x="4432470" y="18482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Role-based multi-agent crews, task delegation, sequential &amp; parallel flows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7C2CEC6D-D953-7CE0-CF44-32C4BA34807C}"/>
              </a:ext>
            </a:extLst>
          </p:cNvPr>
          <p:cNvSpPr/>
          <p:nvPr/>
        </p:nvSpPr>
        <p:spPr>
          <a:xfrm>
            <a:off x="8090070" y="14580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FDCCC0DE-257F-21E4-9A3F-8D13DDD64799}"/>
              </a:ext>
            </a:extLst>
          </p:cNvPr>
          <p:cNvSpPr/>
          <p:nvPr/>
        </p:nvSpPr>
        <p:spPr>
          <a:xfrm>
            <a:off x="8090070" y="14580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86C11581-1A7A-8A79-EFBA-9101A9373240}"/>
              </a:ext>
            </a:extLst>
          </p:cNvPr>
          <p:cNvSpPr/>
          <p:nvPr/>
        </p:nvSpPr>
        <p:spPr>
          <a:xfrm>
            <a:off x="8272950" y="14946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AutoGen (AG2)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F03FBA63-0ACC-40C9-7030-A0A698076D3C}"/>
              </a:ext>
            </a:extLst>
          </p:cNvPr>
          <p:cNvSpPr/>
          <p:nvPr/>
        </p:nvSpPr>
        <p:spPr>
          <a:xfrm>
            <a:off x="10650390" y="14946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D0A23F89-8A64-4A20-36E6-BD26F2EC22F7}"/>
              </a:ext>
            </a:extLst>
          </p:cNvPr>
          <p:cNvSpPr/>
          <p:nvPr/>
        </p:nvSpPr>
        <p:spPr>
          <a:xfrm>
            <a:off x="8272950" y="18482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Microsoft — multi-agent conversations, group chat, code execution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C1B68090-3EC5-9031-9330-1CD81EDA117A}"/>
              </a:ext>
            </a:extLst>
          </p:cNvPr>
          <p:cNvSpPr/>
          <p:nvPr/>
        </p:nvSpPr>
        <p:spPr>
          <a:xfrm>
            <a:off x="409110" y="26772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F965FCC7-E45B-B81B-D23C-03A393A58947}"/>
              </a:ext>
            </a:extLst>
          </p:cNvPr>
          <p:cNvSpPr/>
          <p:nvPr/>
        </p:nvSpPr>
        <p:spPr>
          <a:xfrm>
            <a:off x="409110" y="26772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997921A5-568B-563E-D442-491BEC3AD9F9}"/>
              </a:ext>
            </a:extLst>
          </p:cNvPr>
          <p:cNvSpPr/>
          <p:nvPr/>
        </p:nvSpPr>
        <p:spPr>
          <a:xfrm>
            <a:off x="591990" y="27138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3D13CBF-7FFB-585E-5ABB-762674E3E582}"/>
              </a:ext>
            </a:extLst>
          </p:cNvPr>
          <p:cNvSpPr/>
          <p:nvPr/>
        </p:nvSpPr>
        <p:spPr>
          <a:xfrm>
            <a:off x="2969430" y="27138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F2F1EC3B-21BD-3D44-F11D-5950714F4BCA}"/>
              </a:ext>
            </a:extLst>
          </p:cNvPr>
          <p:cNvSpPr/>
          <p:nvPr/>
        </p:nvSpPr>
        <p:spPr>
          <a:xfrm>
            <a:off x="591990" y="30674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Native tool use, handoffs between agents, guardrails, tracing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9C9DDF5B-816F-723E-99A7-7C5431AFF0E5}"/>
              </a:ext>
            </a:extLst>
          </p:cNvPr>
          <p:cNvSpPr/>
          <p:nvPr/>
        </p:nvSpPr>
        <p:spPr>
          <a:xfrm>
            <a:off x="4249590" y="26772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38EE548D-B981-7BBE-48C4-BBD894F87736}"/>
              </a:ext>
            </a:extLst>
          </p:cNvPr>
          <p:cNvSpPr/>
          <p:nvPr/>
        </p:nvSpPr>
        <p:spPr>
          <a:xfrm>
            <a:off x="4249590" y="26772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476B5CE4-38E1-6838-1350-6F730A22BD0A}"/>
              </a:ext>
            </a:extLst>
          </p:cNvPr>
          <p:cNvSpPr/>
          <p:nvPr/>
        </p:nvSpPr>
        <p:spPr>
          <a:xfrm>
            <a:off x="4432470" y="27138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1548F343-F53C-DF50-696E-B242E0DF4BC4}"/>
              </a:ext>
            </a:extLst>
          </p:cNvPr>
          <p:cNvSpPr/>
          <p:nvPr/>
        </p:nvSpPr>
        <p:spPr>
          <a:xfrm>
            <a:off x="6809910" y="27138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 / TS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64AF1723-A410-8805-784F-5764DF7B0BBF}"/>
              </a:ext>
            </a:extLst>
          </p:cNvPr>
          <p:cNvSpPr/>
          <p:nvPr/>
        </p:nvSpPr>
        <p:spPr>
          <a:xfrm>
            <a:off x="4432470" y="30674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Anthropic — tool use, MCP support, extended thinking, multi-turn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AA171996-4E02-17E8-DCC5-7859E7A8C2BA}"/>
              </a:ext>
            </a:extLst>
          </p:cNvPr>
          <p:cNvSpPr/>
          <p:nvPr/>
        </p:nvSpPr>
        <p:spPr>
          <a:xfrm>
            <a:off x="8090070" y="26772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C52109F9-57F5-D89D-A764-D3D1DE3304B1}"/>
              </a:ext>
            </a:extLst>
          </p:cNvPr>
          <p:cNvSpPr/>
          <p:nvPr/>
        </p:nvSpPr>
        <p:spPr>
          <a:xfrm>
            <a:off x="8090070" y="26772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5992EB3-F3BF-A8EB-464E-EEBF4FDFCC91}"/>
              </a:ext>
            </a:extLst>
          </p:cNvPr>
          <p:cNvSpPr/>
          <p:nvPr/>
        </p:nvSpPr>
        <p:spPr>
          <a:xfrm>
            <a:off x="8272950" y="27138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4F41CFA9-86CD-AEFF-AC68-8DA30D5F4D65}"/>
              </a:ext>
            </a:extLst>
          </p:cNvPr>
          <p:cNvSpPr/>
          <p:nvPr/>
        </p:nvSpPr>
        <p:spPr>
          <a:xfrm>
            <a:off x="10650390" y="27138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D125777F-72C3-E54D-C2F4-7117B83E6DCA}"/>
              </a:ext>
            </a:extLst>
          </p:cNvPr>
          <p:cNvSpPr/>
          <p:nvPr/>
        </p:nvSpPr>
        <p:spPr>
          <a:xfrm>
            <a:off x="8272950" y="30674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Google — multi-agent, A2A protocol, Vertex AI integration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08A6B3E9-07D8-F319-970B-B54AD96A48B6}"/>
              </a:ext>
            </a:extLst>
          </p:cNvPr>
          <p:cNvSpPr/>
          <p:nvPr/>
        </p:nvSpPr>
        <p:spPr>
          <a:xfrm>
            <a:off x="409110" y="38964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0" name="Shape 35">
            <a:extLst>
              <a:ext uri="{FF2B5EF4-FFF2-40B4-BE49-F238E27FC236}">
                <a16:creationId xmlns:a16="http://schemas.microsoft.com/office/drawing/2014/main" id="{B1730AC6-5663-6BBD-AC2F-553669E387BE}"/>
              </a:ext>
            </a:extLst>
          </p:cNvPr>
          <p:cNvSpPr/>
          <p:nvPr/>
        </p:nvSpPr>
        <p:spPr>
          <a:xfrm>
            <a:off x="409110" y="38964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9CFE6E20-E8BD-820C-6D2C-D52D0013F6B9}"/>
              </a:ext>
            </a:extLst>
          </p:cNvPr>
          <p:cNvSpPr/>
          <p:nvPr/>
        </p:nvSpPr>
        <p:spPr>
          <a:xfrm>
            <a:off x="591990" y="39330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2" name="Text 37">
            <a:extLst>
              <a:ext uri="{FF2B5EF4-FFF2-40B4-BE49-F238E27FC236}">
                <a16:creationId xmlns:a16="http://schemas.microsoft.com/office/drawing/2014/main" id="{9E2B86DD-851B-6529-7E9D-965F930BA0DA}"/>
              </a:ext>
            </a:extLst>
          </p:cNvPr>
          <p:cNvSpPr/>
          <p:nvPr/>
        </p:nvSpPr>
        <p:spPr>
          <a:xfrm>
            <a:off x="2969430" y="39330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Multi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8D147614-1081-6AD2-BE74-AC47928E4A20}"/>
              </a:ext>
            </a:extLst>
          </p:cNvPr>
          <p:cNvSpPr/>
          <p:nvPr/>
        </p:nvSpPr>
        <p:spPr>
          <a:xfrm>
            <a:off x="591990" y="42866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Microsoft — enterprise AI orchestration, .NET/Java/Python, plugins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4" name="Shape 39">
            <a:extLst>
              <a:ext uri="{FF2B5EF4-FFF2-40B4-BE49-F238E27FC236}">
                <a16:creationId xmlns:a16="http://schemas.microsoft.com/office/drawing/2014/main" id="{64873813-ACB5-0B4B-9160-A6DC957E982A}"/>
              </a:ext>
            </a:extLst>
          </p:cNvPr>
          <p:cNvSpPr/>
          <p:nvPr/>
        </p:nvSpPr>
        <p:spPr>
          <a:xfrm>
            <a:off x="4249590" y="38964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5" name="Shape 40">
            <a:extLst>
              <a:ext uri="{FF2B5EF4-FFF2-40B4-BE49-F238E27FC236}">
                <a16:creationId xmlns:a16="http://schemas.microsoft.com/office/drawing/2014/main" id="{18DF14AA-1C27-B9AB-9782-7A7A8D5102F4}"/>
              </a:ext>
            </a:extLst>
          </p:cNvPr>
          <p:cNvSpPr/>
          <p:nvPr/>
        </p:nvSpPr>
        <p:spPr>
          <a:xfrm>
            <a:off x="4249590" y="38964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6" name="Text 41">
            <a:extLst>
              <a:ext uri="{FF2B5EF4-FFF2-40B4-BE49-F238E27FC236}">
                <a16:creationId xmlns:a16="http://schemas.microsoft.com/office/drawing/2014/main" id="{BDA6EC01-EDEA-B96F-7D3A-53B1CBDD5599}"/>
              </a:ext>
            </a:extLst>
          </p:cNvPr>
          <p:cNvSpPr/>
          <p:nvPr/>
        </p:nvSpPr>
        <p:spPr>
          <a:xfrm>
            <a:off x="4432470" y="39330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Haystack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7" name="Text 42">
            <a:extLst>
              <a:ext uri="{FF2B5EF4-FFF2-40B4-BE49-F238E27FC236}">
                <a16:creationId xmlns:a16="http://schemas.microsoft.com/office/drawing/2014/main" id="{C021B738-8624-6A8E-EDAE-9A2CB40AF469}"/>
              </a:ext>
            </a:extLst>
          </p:cNvPr>
          <p:cNvSpPr/>
          <p:nvPr/>
        </p:nvSpPr>
        <p:spPr>
          <a:xfrm>
            <a:off x="6809910" y="39330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AC490FFF-4855-9C7D-0045-0D8E1456EF8A}"/>
              </a:ext>
            </a:extLst>
          </p:cNvPr>
          <p:cNvSpPr/>
          <p:nvPr/>
        </p:nvSpPr>
        <p:spPr>
          <a:xfrm>
            <a:off x="4432470" y="42866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Deepset — RAG &amp; NLP pipelines, modular components, document processing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9" name="Shape 44">
            <a:extLst>
              <a:ext uri="{FF2B5EF4-FFF2-40B4-BE49-F238E27FC236}">
                <a16:creationId xmlns:a16="http://schemas.microsoft.com/office/drawing/2014/main" id="{EB56CA53-B5D7-BB81-6926-D1250B965A7D}"/>
              </a:ext>
            </a:extLst>
          </p:cNvPr>
          <p:cNvSpPr/>
          <p:nvPr/>
        </p:nvSpPr>
        <p:spPr>
          <a:xfrm>
            <a:off x="8090070" y="38964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0" name="Shape 45">
            <a:extLst>
              <a:ext uri="{FF2B5EF4-FFF2-40B4-BE49-F238E27FC236}">
                <a16:creationId xmlns:a16="http://schemas.microsoft.com/office/drawing/2014/main" id="{B179E08C-B4F1-DE59-B81E-72AE05C07413}"/>
              </a:ext>
            </a:extLst>
          </p:cNvPr>
          <p:cNvSpPr/>
          <p:nvPr/>
        </p:nvSpPr>
        <p:spPr>
          <a:xfrm>
            <a:off x="8090070" y="38964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1" name="Text 46">
            <a:extLst>
              <a:ext uri="{FF2B5EF4-FFF2-40B4-BE49-F238E27FC236}">
                <a16:creationId xmlns:a16="http://schemas.microsoft.com/office/drawing/2014/main" id="{78F64DAD-C88D-0445-3B00-7D5C5E1C1791}"/>
              </a:ext>
            </a:extLst>
          </p:cNvPr>
          <p:cNvSpPr/>
          <p:nvPr/>
        </p:nvSpPr>
        <p:spPr>
          <a:xfrm>
            <a:off x="8272950" y="39330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Smolagents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2" name="Text 47">
            <a:extLst>
              <a:ext uri="{FF2B5EF4-FFF2-40B4-BE49-F238E27FC236}">
                <a16:creationId xmlns:a16="http://schemas.microsoft.com/office/drawing/2014/main" id="{4FE72C9C-564A-09DF-5B69-BCD623EE7C2C}"/>
              </a:ext>
            </a:extLst>
          </p:cNvPr>
          <p:cNvSpPr/>
          <p:nvPr/>
        </p:nvSpPr>
        <p:spPr>
          <a:xfrm>
            <a:off x="10650390" y="39330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3" name="Text 48">
            <a:extLst>
              <a:ext uri="{FF2B5EF4-FFF2-40B4-BE49-F238E27FC236}">
                <a16:creationId xmlns:a16="http://schemas.microsoft.com/office/drawing/2014/main" id="{4A70DA2C-F8CB-C494-72F0-7107F47DD7AB}"/>
              </a:ext>
            </a:extLst>
          </p:cNvPr>
          <p:cNvSpPr/>
          <p:nvPr/>
        </p:nvSpPr>
        <p:spPr>
          <a:xfrm>
            <a:off x="8272950" y="42866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Hugging Face — lightweight, code-first agents, minimal abstractions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4" name="Shape 49">
            <a:extLst>
              <a:ext uri="{FF2B5EF4-FFF2-40B4-BE49-F238E27FC236}">
                <a16:creationId xmlns:a16="http://schemas.microsoft.com/office/drawing/2014/main" id="{A613B423-A0D1-5DFA-626A-A320B9084A76}"/>
              </a:ext>
            </a:extLst>
          </p:cNvPr>
          <p:cNvSpPr/>
          <p:nvPr/>
        </p:nvSpPr>
        <p:spPr>
          <a:xfrm>
            <a:off x="409110" y="51156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5" name="Shape 50">
            <a:extLst>
              <a:ext uri="{FF2B5EF4-FFF2-40B4-BE49-F238E27FC236}">
                <a16:creationId xmlns:a16="http://schemas.microsoft.com/office/drawing/2014/main" id="{692ED0AF-AB5F-8134-7698-4232AB471FFF}"/>
              </a:ext>
            </a:extLst>
          </p:cNvPr>
          <p:cNvSpPr/>
          <p:nvPr/>
        </p:nvSpPr>
        <p:spPr>
          <a:xfrm>
            <a:off x="409110" y="51156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6" name="Text 51">
            <a:extLst>
              <a:ext uri="{FF2B5EF4-FFF2-40B4-BE49-F238E27FC236}">
                <a16:creationId xmlns:a16="http://schemas.microsoft.com/office/drawing/2014/main" id="{0B19F8CA-F410-60DE-850C-1718B059CF1B}"/>
              </a:ext>
            </a:extLst>
          </p:cNvPr>
          <p:cNvSpPr/>
          <p:nvPr/>
        </p:nvSpPr>
        <p:spPr>
          <a:xfrm>
            <a:off x="591990" y="51522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7" name="Text 52">
            <a:extLst>
              <a:ext uri="{FF2B5EF4-FFF2-40B4-BE49-F238E27FC236}">
                <a16:creationId xmlns:a16="http://schemas.microsoft.com/office/drawing/2014/main" id="{A59C2C9A-8F5A-0366-4770-3410DDDB4756}"/>
              </a:ext>
            </a:extLst>
          </p:cNvPr>
          <p:cNvSpPr/>
          <p:nvPr/>
        </p:nvSpPr>
        <p:spPr>
          <a:xfrm>
            <a:off x="2969430" y="51522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 / TS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8" name="Text 53">
            <a:extLst>
              <a:ext uri="{FF2B5EF4-FFF2-40B4-BE49-F238E27FC236}">
                <a16:creationId xmlns:a16="http://schemas.microsoft.com/office/drawing/2014/main" id="{D92DD902-AFFE-FC74-4A4F-B4F122242E70}"/>
              </a:ext>
            </a:extLst>
          </p:cNvPr>
          <p:cNvSpPr/>
          <p:nvPr/>
        </p:nvSpPr>
        <p:spPr>
          <a:xfrm>
            <a:off x="591990" y="55058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Data framework — RAG agents, knowledge graphs, multi-step query engine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9" name="Shape 54">
            <a:extLst>
              <a:ext uri="{FF2B5EF4-FFF2-40B4-BE49-F238E27FC236}">
                <a16:creationId xmlns:a16="http://schemas.microsoft.com/office/drawing/2014/main" id="{D77B68AE-B683-26F4-C4EA-C57FB4018E06}"/>
              </a:ext>
            </a:extLst>
          </p:cNvPr>
          <p:cNvSpPr/>
          <p:nvPr/>
        </p:nvSpPr>
        <p:spPr>
          <a:xfrm>
            <a:off x="4249590" y="51156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0" name="Shape 55">
            <a:extLst>
              <a:ext uri="{FF2B5EF4-FFF2-40B4-BE49-F238E27FC236}">
                <a16:creationId xmlns:a16="http://schemas.microsoft.com/office/drawing/2014/main" id="{4C3D3778-995D-EFB5-44A4-12F4F9790DE3}"/>
              </a:ext>
            </a:extLst>
          </p:cNvPr>
          <p:cNvSpPr/>
          <p:nvPr/>
        </p:nvSpPr>
        <p:spPr>
          <a:xfrm>
            <a:off x="4249590" y="51156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1" name="Text 56">
            <a:extLst>
              <a:ext uri="{FF2B5EF4-FFF2-40B4-BE49-F238E27FC236}">
                <a16:creationId xmlns:a16="http://schemas.microsoft.com/office/drawing/2014/main" id="{FB6BFE3E-3F2B-36D2-B377-C1893081D92A}"/>
              </a:ext>
            </a:extLst>
          </p:cNvPr>
          <p:cNvSpPr/>
          <p:nvPr/>
        </p:nvSpPr>
        <p:spPr>
          <a:xfrm>
            <a:off x="4432470" y="51522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Agno (Phidata)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2" name="Text 57">
            <a:extLst>
              <a:ext uri="{FF2B5EF4-FFF2-40B4-BE49-F238E27FC236}">
                <a16:creationId xmlns:a16="http://schemas.microsoft.com/office/drawing/2014/main" id="{22AD50E0-5A00-1EE2-B7AF-A3144CA486B0}"/>
              </a:ext>
            </a:extLst>
          </p:cNvPr>
          <p:cNvSpPr/>
          <p:nvPr/>
        </p:nvSpPr>
        <p:spPr>
          <a:xfrm>
            <a:off x="6809910" y="51522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3" name="Text 58">
            <a:extLst>
              <a:ext uri="{FF2B5EF4-FFF2-40B4-BE49-F238E27FC236}">
                <a16:creationId xmlns:a16="http://schemas.microsoft.com/office/drawing/2014/main" id="{D984E3FB-8335-7529-3DEF-82B35860C4B4}"/>
              </a:ext>
            </a:extLst>
          </p:cNvPr>
          <p:cNvSpPr/>
          <p:nvPr/>
        </p:nvSpPr>
        <p:spPr>
          <a:xfrm>
            <a:off x="4432470" y="55058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Model-agnostic, multi-modal, built-in memory &amp; knowledge, fast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63E22BD3-1CFE-11A4-94D9-11218D5AC590}"/>
              </a:ext>
            </a:extLst>
          </p:cNvPr>
          <p:cNvSpPr/>
          <p:nvPr/>
        </p:nvSpPr>
        <p:spPr>
          <a:xfrm>
            <a:off x="8090070" y="5115670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5" name="Shape 60">
            <a:extLst>
              <a:ext uri="{FF2B5EF4-FFF2-40B4-BE49-F238E27FC236}">
                <a16:creationId xmlns:a16="http://schemas.microsoft.com/office/drawing/2014/main" id="{2CF01762-5B68-E395-57A4-E890890FF18A}"/>
              </a:ext>
            </a:extLst>
          </p:cNvPr>
          <p:cNvSpPr/>
          <p:nvPr/>
        </p:nvSpPr>
        <p:spPr>
          <a:xfrm>
            <a:off x="8090070" y="5115670"/>
            <a:ext cx="73152" cy="103632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6" name="Text 61">
            <a:extLst>
              <a:ext uri="{FF2B5EF4-FFF2-40B4-BE49-F238E27FC236}">
                <a16:creationId xmlns:a16="http://schemas.microsoft.com/office/drawing/2014/main" id="{9E143DFD-92DC-59EC-D644-E0D7227624B8}"/>
              </a:ext>
            </a:extLst>
          </p:cNvPr>
          <p:cNvSpPr/>
          <p:nvPr/>
        </p:nvSpPr>
        <p:spPr>
          <a:xfrm>
            <a:off x="8272950" y="515224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Pydantic AI</a:t>
            </a:r>
            <a:endParaRPr lang="en-US" sz="14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7" name="Text 62">
            <a:extLst>
              <a:ext uri="{FF2B5EF4-FFF2-40B4-BE49-F238E27FC236}">
                <a16:creationId xmlns:a16="http://schemas.microsoft.com/office/drawing/2014/main" id="{72E3DD01-7D5C-5FE3-BDA0-63E3CB3FB76A}"/>
              </a:ext>
            </a:extLst>
          </p:cNvPr>
          <p:cNvSpPr/>
          <p:nvPr/>
        </p:nvSpPr>
        <p:spPr>
          <a:xfrm>
            <a:off x="10650390" y="5152246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C175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78" name="Text 63">
            <a:extLst>
              <a:ext uri="{FF2B5EF4-FFF2-40B4-BE49-F238E27FC236}">
                <a16:creationId xmlns:a16="http://schemas.microsoft.com/office/drawing/2014/main" id="{9AE86E15-E0EC-D9E7-1CEF-4F954FBD723E}"/>
              </a:ext>
            </a:extLst>
          </p:cNvPr>
          <p:cNvSpPr/>
          <p:nvPr/>
        </p:nvSpPr>
        <p:spPr>
          <a:xfrm>
            <a:off x="8272950" y="5505814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Type-safe agent building, structured outputs, dependency injection</a:t>
            </a:r>
            <a:endParaRPr lang="en-US" sz="1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836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C9D5B126-AF0D-705A-F31A-4AEABA87B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2;p5">
            <a:extLst>
              <a:ext uri="{FF2B5EF4-FFF2-40B4-BE49-F238E27FC236}">
                <a16:creationId xmlns:a16="http://schemas.microsoft.com/office/drawing/2014/main" id="{E62DE1FE-C511-EDA5-A53B-E657EBCDE8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5225"/>
          <a:stretch/>
        </p:blipFill>
        <p:spPr>
          <a:xfrm>
            <a:off x="-3571" y="0"/>
            <a:ext cx="12224773" cy="101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>
            <a:extLst>
              <a:ext uri="{FF2B5EF4-FFF2-40B4-BE49-F238E27FC236}">
                <a16:creationId xmlns:a16="http://schemas.microsoft.com/office/drawing/2014/main" id="{0E914AFC-7F02-F01D-DE2C-3FE722A76B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74F565B2-F12A-1437-CEB9-C4229A34AC4F}"/>
              </a:ext>
            </a:extLst>
          </p:cNvPr>
          <p:cNvSpPr/>
          <p:nvPr/>
        </p:nvSpPr>
        <p:spPr>
          <a:xfrm>
            <a:off x="154722" y="90489"/>
            <a:ext cx="98274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lt1"/>
                </a:solidFill>
                <a:latin typeface="Montserrat"/>
                <a:sym typeface="Montserrat"/>
              </a:rPr>
              <a:t>No-code/Low-Code Agentic Platforms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63E83344-817D-8974-A0EB-E8A8602FC29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462FC59-298A-E2F3-CC1F-F9AD4DD786A3}"/>
              </a:ext>
            </a:extLst>
          </p:cNvPr>
          <p:cNvSpPr txBox="1"/>
          <p:nvPr/>
        </p:nvSpPr>
        <p:spPr>
          <a:xfrm>
            <a:off x="206400" y="809050"/>
            <a:ext cx="11985600" cy="14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90000"/>
              </a:lnSpc>
              <a:buClr>
                <a:srgbClr val="1BBFD1"/>
              </a:buClr>
              <a:buSzPts val="1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Montserrat"/>
              </a:rPr>
              <a:t>Visual builders and platforms that let you create agents without writing code.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37468D3-A911-B43D-06BA-ACDA69ED2E5D}"/>
              </a:ext>
            </a:extLst>
          </p:cNvPr>
          <p:cNvSpPr/>
          <p:nvPr/>
        </p:nvSpPr>
        <p:spPr>
          <a:xfrm>
            <a:off x="487680" y="12782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92811E1-EABB-AABB-864B-5FAAA38FF0F9}"/>
              </a:ext>
            </a:extLst>
          </p:cNvPr>
          <p:cNvSpPr/>
          <p:nvPr/>
        </p:nvSpPr>
        <p:spPr>
          <a:xfrm>
            <a:off x="487680" y="1278226"/>
            <a:ext cx="73152" cy="1036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BC647D5-2448-9F85-88C9-282503C26509}"/>
              </a:ext>
            </a:extLst>
          </p:cNvPr>
          <p:cNvSpPr/>
          <p:nvPr/>
        </p:nvSpPr>
        <p:spPr>
          <a:xfrm>
            <a:off x="670560" y="13148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FBD0449-8AB3-2AC4-BFEF-1F5C743C463F}"/>
              </a:ext>
            </a:extLst>
          </p:cNvPr>
          <p:cNvSpPr/>
          <p:nvPr/>
        </p:nvSpPr>
        <p:spPr>
          <a:xfrm>
            <a:off x="3048000" y="13148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0B98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3AE1C03-3FFE-6000-8B3B-38173E281339}"/>
              </a:ext>
            </a:extLst>
          </p:cNvPr>
          <p:cNvSpPr/>
          <p:nvPr/>
        </p:nvSpPr>
        <p:spPr>
          <a:xfrm>
            <a:off x="670560" y="16683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Open-source workflow automation, 400+ integrations, AI agent nodes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AD83386-50DF-8E42-8C23-20391620E94F}"/>
              </a:ext>
            </a:extLst>
          </p:cNvPr>
          <p:cNvSpPr/>
          <p:nvPr/>
        </p:nvSpPr>
        <p:spPr>
          <a:xfrm>
            <a:off x="4328160" y="12782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4EEA911-E3F9-868F-5D2D-DA9A6CCDD4D6}"/>
              </a:ext>
            </a:extLst>
          </p:cNvPr>
          <p:cNvSpPr/>
          <p:nvPr/>
        </p:nvSpPr>
        <p:spPr>
          <a:xfrm>
            <a:off x="4328160" y="1278226"/>
            <a:ext cx="73152" cy="1036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B492A82-8985-E075-DBD6-7E308C231B74}"/>
              </a:ext>
            </a:extLst>
          </p:cNvPr>
          <p:cNvSpPr/>
          <p:nvPr/>
        </p:nvSpPr>
        <p:spPr>
          <a:xfrm>
            <a:off x="4511040" y="13148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Flowise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6A023CC-3D66-B84E-C40B-A8AE973DAF4C}"/>
              </a:ext>
            </a:extLst>
          </p:cNvPr>
          <p:cNvSpPr/>
          <p:nvPr/>
        </p:nvSpPr>
        <p:spPr>
          <a:xfrm>
            <a:off x="6888480" y="13148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0B98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B7157B3-7065-1A26-712D-7CD79847BB52}"/>
              </a:ext>
            </a:extLst>
          </p:cNvPr>
          <p:cNvSpPr/>
          <p:nvPr/>
        </p:nvSpPr>
        <p:spPr>
          <a:xfrm>
            <a:off x="4511040" y="16683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Open-source, drag-and-drop LLM flow builder, LangChain-based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7C2D8631-1C91-26C2-DDAC-2DB2A058C15C}"/>
              </a:ext>
            </a:extLst>
          </p:cNvPr>
          <p:cNvSpPr/>
          <p:nvPr/>
        </p:nvSpPr>
        <p:spPr>
          <a:xfrm>
            <a:off x="8168640" y="12782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3609DB28-5FF6-5379-6EB8-D6AD361D9F8C}"/>
              </a:ext>
            </a:extLst>
          </p:cNvPr>
          <p:cNvSpPr/>
          <p:nvPr/>
        </p:nvSpPr>
        <p:spPr>
          <a:xfrm>
            <a:off x="8168640" y="1278226"/>
            <a:ext cx="73152" cy="1036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FBD07BBE-AD9E-D272-6D1A-849F8B29A07E}"/>
              </a:ext>
            </a:extLst>
          </p:cNvPr>
          <p:cNvSpPr/>
          <p:nvPr/>
        </p:nvSpPr>
        <p:spPr>
          <a:xfrm>
            <a:off x="8351520" y="13148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B56F063F-A948-AB7D-3806-3F42915E60E8}"/>
              </a:ext>
            </a:extLst>
          </p:cNvPr>
          <p:cNvSpPr/>
          <p:nvPr/>
        </p:nvSpPr>
        <p:spPr>
          <a:xfrm>
            <a:off x="10728960" y="13148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0B98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79EF94C6-A889-8362-686A-D1478CE0D197}"/>
              </a:ext>
            </a:extLst>
          </p:cNvPr>
          <p:cNvSpPr/>
          <p:nvPr/>
        </p:nvSpPr>
        <p:spPr>
          <a:xfrm>
            <a:off x="8351520" y="16683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Visual IDE for LangChain, supports custom Python components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E9BBBEF4-2FBF-21F9-E208-15FB04063677}"/>
              </a:ext>
            </a:extLst>
          </p:cNvPr>
          <p:cNvSpPr/>
          <p:nvPr/>
        </p:nvSpPr>
        <p:spPr>
          <a:xfrm>
            <a:off x="487680" y="24974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137DEAF6-4B98-8B9E-633B-5AB7FCEB5EAC}"/>
              </a:ext>
            </a:extLst>
          </p:cNvPr>
          <p:cNvSpPr/>
          <p:nvPr/>
        </p:nvSpPr>
        <p:spPr>
          <a:xfrm>
            <a:off x="487680" y="2497426"/>
            <a:ext cx="73152" cy="1036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5E0F53BA-C23E-0BB5-0AFA-8ACC28E941E9}"/>
              </a:ext>
            </a:extLst>
          </p:cNvPr>
          <p:cNvSpPr/>
          <p:nvPr/>
        </p:nvSpPr>
        <p:spPr>
          <a:xfrm>
            <a:off x="670560" y="25340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Dify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85759E38-4F5E-7F5D-A640-5E2EBC7D97DD}"/>
              </a:ext>
            </a:extLst>
          </p:cNvPr>
          <p:cNvSpPr/>
          <p:nvPr/>
        </p:nvSpPr>
        <p:spPr>
          <a:xfrm>
            <a:off x="3048000" y="25340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0B98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FE8AD0F7-1D7B-E001-079A-63F43D141E72}"/>
              </a:ext>
            </a:extLst>
          </p:cNvPr>
          <p:cNvSpPr/>
          <p:nvPr/>
        </p:nvSpPr>
        <p:spPr>
          <a:xfrm>
            <a:off x="670560" y="28875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Open-source LLMOps platform, RAG pipeline builder, prompt IDE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CB6D2AD4-2EDF-4FEF-4E97-DFC458FA1244}"/>
              </a:ext>
            </a:extLst>
          </p:cNvPr>
          <p:cNvSpPr/>
          <p:nvPr/>
        </p:nvSpPr>
        <p:spPr>
          <a:xfrm>
            <a:off x="4328160" y="24974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84" name="Shape 25">
            <a:extLst>
              <a:ext uri="{FF2B5EF4-FFF2-40B4-BE49-F238E27FC236}">
                <a16:creationId xmlns:a16="http://schemas.microsoft.com/office/drawing/2014/main" id="{E03EFBE5-CEBE-6A82-A982-1691EE23272C}"/>
              </a:ext>
            </a:extLst>
          </p:cNvPr>
          <p:cNvSpPr/>
          <p:nvPr/>
        </p:nvSpPr>
        <p:spPr>
          <a:xfrm>
            <a:off x="4328160" y="2497426"/>
            <a:ext cx="73152" cy="1036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675B9845-40AD-1289-6ADF-D8ED7B6A2590}"/>
              </a:ext>
            </a:extLst>
          </p:cNvPr>
          <p:cNvSpPr/>
          <p:nvPr/>
        </p:nvSpPr>
        <p:spPr>
          <a:xfrm>
            <a:off x="4511040" y="25340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Zapier AI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C0FE1408-AD6E-2E24-A50B-AEACEA38A8EB}"/>
              </a:ext>
            </a:extLst>
          </p:cNvPr>
          <p:cNvSpPr/>
          <p:nvPr/>
        </p:nvSpPr>
        <p:spPr>
          <a:xfrm>
            <a:off x="6888480" y="25340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8B5CF6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A9D554FB-BC96-790C-8D94-7D8AA79B13AE}"/>
              </a:ext>
            </a:extLst>
          </p:cNvPr>
          <p:cNvSpPr/>
          <p:nvPr/>
        </p:nvSpPr>
        <p:spPr>
          <a:xfrm>
            <a:off x="4511040" y="28875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AI-powered automation across 6,000+ apps, natural language setup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88" name="Shape 29">
            <a:extLst>
              <a:ext uri="{FF2B5EF4-FFF2-40B4-BE49-F238E27FC236}">
                <a16:creationId xmlns:a16="http://schemas.microsoft.com/office/drawing/2014/main" id="{032A1834-DA0A-FC63-74E9-F3FC804907A1}"/>
              </a:ext>
            </a:extLst>
          </p:cNvPr>
          <p:cNvSpPr/>
          <p:nvPr/>
        </p:nvSpPr>
        <p:spPr>
          <a:xfrm>
            <a:off x="8168640" y="24974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89" name="Shape 30">
            <a:extLst>
              <a:ext uri="{FF2B5EF4-FFF2-40B4-BE49-F238E27FC236}">
                <a16:creationId xmlns:a16="http://schemas.microsoft.com/office/drawing/2014/main" id="{E3CEE307-D54A-A381-7056-23C3B9AC29C9}"/>
              </a:ext>
            </a:extLst>
          </p:cNvPr>
          <p:cNvSpPr/>
          <p:nvPr/>
        </p:nvSpPr>
        <p:spPr>
          <a:xfrm>
            <a:off x="8168640" y="2497426"/>
            <a:ext cx="73152" cy="1036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2906EA01-42BF-3499-E259-E19597B4CFB5}"/>
              </a:ext>
            </a:extLst>
          </p:cNvPr>
          <p:cNvSpPr/>
          <p:nvPr/>
        </p:nvSpPr>
        <p:spPr>
          <a:xfrm>
            <a:off x="8351520" y="25340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Botpress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91" name="Text 32">
            <a:extLst>
              <a:ext uri="{FF2B5EF4-FFF2-40B4-BE49-F238E27FC236}">
                <a16:creationId xmlns:a16="http://schemas.microsoft.com/office/drawing/2014/main" id="{88E001AC-2AD3-D26D-9A49-B369B72C596F}"/>
              </a:ext>
            </a:extLst>
          </p:cNvPr>
          <p:cNvSpPr/>
          <p:nvPr/>
        </p:nvSpPr>
        <p:spPr>
          <a:xfrm>
            <a:off x="10728960" y="25340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8B5CF6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92" name="Text 33">
            <a:extLst>
              <a:ext uri="{FF2B5EF4-FFF2-40B4-BE49-F238E27FC236}">
                <a16:creationId xmlns:a16="http://schemas.microsoft.com/office/drawing/2014/main" id="{050F521E-C4A1-EB15-B044-F01F4580A86C}"/>
              </a:ext>
            </a:extLst>
          </p:cNvPr>
          <p:cNvSpPr/>
          <p:nvPr/>
        </p:nvSpPr>
        <p:spPr>
          <a:xfrm>
            <a:off x="8351520" y="28875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Conversational AI platform, visual flow builder, multi-channel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93" name="Shape 34">
            <a:extLst>
              <a:ext uri="{FF2B5EF4-FFF2-40B4-BE49-F238E27FC236}">
                <a16:creationId xmlns:a16="http://schemas.microsoft.com/office/drawing/2014/main" id="{9D3FF005-BBA0-D53D-0F66-782D8BD65874}"/>
              </a:ext>
            </a:extLst>
          </p:cNvPr>
          <p:cNvSpPr/>
          <p:nvPr/>
        </p:nvSpPr>
        <p:spPr>
          <a:xfrm>
            <a:off x="487680" y="37166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F88BDB7D-E7E1-5464-07E3-115D5C65358F}"/>
              </a:ext>
            </a:extLst>
          </p:cNvPr>
          <p:cNvSpPr/>
          <p:nvPr/>
        </p:nvSpPr>
        <p:spPr>
          <a:xfrm>
            <a:off x="487680" y="3716626"/>
            <a:ext cx="73152" cy="1036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99" name="Text 36">
            <a:extLst>
              <a:ext uri="{FF2B5EF4-FFF2-40B4-BE49-F238E27FC236}">
                <a16:creationId xmlns:a16="http://schemas.microsoft.com/office/drawing/2014/main" id="{32404ED9-9E62-EFE6-4929-31812E646603}"/>
              </a:ext>
            </a:extLst>
          </p:cNvPr>
          <p:cNvSpPr/>
          <p:nvPr/>
        </p:nvSpPr>
        <p:spPr>
          <a:xfrm>
            <a:off x="670560" y="37532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Relevance AI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00" name="Text 37">
            <a:extLst>
              <a:ext uri="{FF2B5EF4-FFF2-40B4-BE49-F238E27FC236}">
                <a16:creationId xmlns:a16="http://schemas.microsoft.com/office/drawing/2014/main" id="{913CC16C-C5B8-3C6E-5879-8EF3C8552DCF}"/>
              </a:ext>
            </a:extLst>
          </p:cNvPr>
          <p:cNvSpPr/>
          <p:nvPr/>
        </p:nvSpPr>
        <p:spPr>
          <a:xfrm>
            <a:off x="3048000" y="37532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8B5CF6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01" name="Text 38">
            <a:extLst>
              <a:ext uri="{FF2B5EF4-FFF2-40B4-BE49-F238E27FC236}">
                <a16:creationId xmlns:a16="http://schemas.microsoft.com/office/drawing/2014/main" id="{6CC09E44-B842-6BB3-DFB3-3AF2522C3EFF}"/>
              </a:ext>
            </a:extLst>
          </p:cNvPr>
          <p:cNvSpPr/>
          <p:nvPr/>
        </p:nvSpPr>
        <p:spPr>
          <a:xfrm>
            <a:off x="670560" y="41067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No-code AI workforce, multi-step agent builder, tool integration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102" name="Shape 39">
            <a:extLst>
              <a:ext uri="{FF2B5EF4-FFF2-40B4-BE49-F238E27FC236}">
                <a16:creationId xmlns:a16="http://schemas.microsoft.com/office/drawing/2014/main" id="{683DA98D-D451-9DD9-952C-D06F924774BD}"/>
              </a:ext>
            </a:extLst>
          </p:cNvPr>
          <p:cNvSpPr/>
          <p:nvPr/>
        </p:nvSpPr>
        <p:spPr>
          <a:xfrm>
            <a:off x="4328160" y="37166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3" name="Shape 40">
            <a:extLst>
              <a:ext uri="{FF2B5EF4-FFF2-40B4-BE49-F238E27FC236}">
                <a16:creationId xmlns:a16="http://schemas.microsoft.com/office/drawing/2014/main" id="{E2C73B76-383C-F599-F039-A2351975C569}"/>
              </a:ext>
            </a:extLst>
          </p:cNvPr>
          <p:cNvSpPr/>
          <p:nvPr/>
        </p:nvSpPr>
        <p:spPr>
          <a:xfrm>
            <a:off x="4328160" y="3716626"/>
            <a:ext cx="73152" cy="1036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4" name="Text 41">
            <a:extLst>
              <a:ext uri="{FF2B5EF4-FFF2-40B4-BE49-F238E27FC236}">
                <a16:creationId xmlns:a16="http://schemas.microsoft.com/office/drawing/2014/main" id="{1A387313-C811-3EDC-750E-270E0B7A161B}"/>
              </a:ext>
            </a:extLst>
          </p:cNvPr>
          <p:cNvSpPr/>
          <p:nvPr/>
        </p:nvSpPr>
        <p:spPr>
          <a:xfrm>
            <a:off x="4511040" y="37532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Lindy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4D19EB18-2307-B4E4-8EFD-300B0DAA9E31}"/>
              </a:ext>
            </a:extLst>
          </p:cNvPr>
          <p:cNvSpPr/>
          <p:nvPr/>
        </p:nvSpPr>
        <p:spPr>
          <a:xfrm>
            <a:off x="6888480" y="37532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8B5CF6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BEA65575-FF4F-6D75-3E5C-3D418FC229A4}"/>
              </a:ext>
            </a:extLst>
          </p:cNvPr>
          <p:cNvSpPr/>
          <p:nvPr/>
        </p:nvSpPr>
        <p:spPr>
          <a:xfrm>
            <a:off x="4511040" y="41067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Personal AI assistants, trigger-based workflows, 3,000+ integrations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107" name="Shape 44">
            <a:extLst>
              <a:ext uri="{FF2B5EF4-FFF2-40B4-BE49-F238E27FC236}">
                <a16:creationId xmlns:a16="http://schemas.microsoft.com/office/drawing/2014/main" id="{B9A4FE25-5E6D-DED9-D472-A7AC7E22A23D}"/>
              </a:ext>
            </a:extLst>
          </p:cNvPr>
          <p:cNvSpPr/>
          <p:nvPr/>
        </p:nvSpPr>
        <p:spPr>
          <a:xfrm>
            <a:off x="8168640" y="37166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8" name="Shape 45">
            <a:extLst>
              <a:ext uri="{FF2B5EF4-FFF2-40B4-BE49-F238E27FC236}">
                <a16:creationId xmlns:a16="http://schemas.microsoft.com/office/drawing/2014/main" id="{804A2A64-ECE0-8813-86CA-47113C586E3A}"/>
              </a:ext>
            </a:extLst>
          </p:cNvPr>
          <p:cNvSpPr/>
          <p:nvPr/>
        </p:nvSpPr>
        <p:spPr>
          <a:xfrm>
            <a:off x="8168640" y="3716626"/>
            <a:ext cx="73152" cy="10363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9" name="Text 46">
            <a:extLst>
              <a:ext uri="{FF2B5EF4-FFF2-40B4-BE49-F238E27FC236}">
                <a16:creationId xmlns:a16="http://schemas.microsoft.com/office/drawing/2014/main" id="{978E9988-4D9B-7103-7C7C-C8CC71799DAD}"/>
              </a:ext>
            </a:extLst>
          </p:cNvPr>
          <p:cNvSpPr/>
          <p:nvPr/>
        </p:nvSpPr>
        <p:spPr>
          <a:xfrm>
            <a:off x="8351520" y="37532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Vertex AI Agent Builder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D71F26E0-6E89-5145-2375-D616499C999D}"/>
              </a:ext>
            </a:extLst>
          </p:cNvPr>
          <p:cNvSpPr/>
          <p:nvPr/>
        </p:nvSpPr>
        <p:spPr>
          <a:xfrm>
            <a:off x="10728960" y="37532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Ent.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11" name="Text 48">
            <a:extLst>
              <a:ext uri="{FF2B5EF4-FFF2-40B4-BE49-F238E27FC236}">
                <a16:creationId xmlns:a16="http://schemas.microsoft.com/office/drawing/2014/main" id="{D333F904-1F9F-AB4F-808C-D98C0370FAF8}"/>
              </a:ext>
            </a:extLst>
          </p:cNvPr>
          <p:cNvSpPr/>
          <p:nvPr/>
        </p:nvSpPr>
        <p:spPr>
          <a:xfrm>
            <a:off x="8351520" y="41067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Google Cloud — enterprise agents, grounding, Gemini-powered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112" name="Shape 49">
            <a:extLst>
              <a:ext uri="{FF2B5EF4-FFF2-40B4-BE49-F238E27FC236}">
                <a16:creationId xmlns:a16="http://schemas.microsoft.com/office/drawing/2014/main" id="{1688393A-5E05-CA19-46F9-9C667B0DB1C9}"/>
              </a:ext>
            </a:extLst>
          </p:cNvPr>
          <p:cNvSpPr/>
          <p:nvPr/>
        </p:nvSpPr>
        <p:spPr>
          <a:xfrm>
            <a:off x="487680" y="49358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3" name="Shape 50">
            <a:extLst>
              <a:ext uri="{FF2B5EF4-FFF2-40B4-BE49-F238E27FC236}">
                <a16:creationId xmlns:a16="http://schemas.microsoft.com/office/drawing/2014/main" id="{DD8908CF-AC8F-1981-D64E-E9CD1DDF1D72}"/>
              </a:ext>
            </a:extLst>
          </p:cNvPr>
          <p:cNvSpPr/>
          <p:nvPr/>
        </p:nvSpPr>
        <p:spPr>
          <a:xfrm>
            <a:off x="487680" y="4935826"/>
            <a:ext cx="73152" cy="10363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4" name="Text 51">
            <a:extLst>
              <a:ext uri="{FF2B5EF4-FFF2-40B4-BE49-F238E27FC236}">
                <a16:creationId xmlns:a16="http://schemas.microsoft.com/office/drawing/2014/main" id="{F5BFCE84-F48D-DE88-CB02-525395715462}"/>
              </a:ext>
            </a:extLst>
          </p:cNvPr>
          <p:cNvSpPr/>
          <p:nvPr/>
        </p:nvSpPr>
        <p:spPr>
          <a:xfrm>
            <a:off x="670560" y="49724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Azure Copilot Studio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15" name="Text 52">
            <a:extLst>
              <a:ext uri="{FF2B5EF4-FFF2-40B4-BE49-F238E27FC236}">
                <a16:creationId xmlns:a16="http://schemas.microsoft.com/office/drawing/2014/main" id="{EA790905-6EDD-0CEA-267A-BD381A34F09B}"/>
              </a:ext>
            </a:extLst>
          </p:cNvPr>
          <p:cNvSpPr/>
          <p:nvPr/>
        </p:nvSpPr>
        <p:spPr>
          <a:xfrm>
            <a:off x="3048000" y="49724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Ent.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16" name="Text 53">
            <a:extLst>
              <a:ext uri="{FF2B5EF4-FFF2-40B4-BE49-F238E27FC236}">
                <a16:creationId xmlns:a16="http://schemas.microsoft.com/office/drawing/2014/main" id="{5C28CA84-125E-2C11-0BB3-FCE7D2E8F59C}"/>
              </a:ext>
            </a:extLst>
          </p:cNvPr>
          <p:cNvSpPr/>
          <p:nvPr/>
        </p:nvSpPr>
        <p:spPr>
          <a:xfrm>
            <a:off x="670560" y="53259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Microsoft — enterprise copilots, Power Platform integration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117" name="Shape 54">
            <a:extLst>
              <a:ext uri="{FF2B5EF4-FFF2-40B4-BE49-F238E27FC236}">
                <a16:creationId xmlns:a16="http://schemas.microsoft.com/office/drawing/2014/main" id="{E580A2A7-2F36-A355-1A31-F8AAE0B477F3}"/>
              </a:ext>
            </a:extLst>
          </p:cNvPr>
          <p:cNvSpPr/>
          <p:nvPr/>
        </p:nvSpPr>
        <p:spPr>
          <a:xfrm>
            <a:off x="4328160" y="49358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8" name="Shape 55">
            <a:extLst>
              <a:ext uri="{FF2B5EF4-FFF2-40B4-BE49-F238E27FC236}">
                <a16:creationId xmlns:a16="http://schemas.microsoft.com/office/drawing/2014/main" id="{FCD1C9A2-D010-470D-6923-9079CECFD315}"/>
              </a:ext>
            </a:extLst>
          </p:cNvPr>
          <p:cNvSpPr/>
          <p:nvPr/>
        </p:nvSpPr>
        <p:spPr>
          <a:xfrm>
            <a:off x="4328160" y="4935826"/>
            <a:ext cx="73152" cy="10363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9" name="Text 56">
            <a:extLst>
              <a:ext uri="{FF2B5EF4-FFF2-40B4-BE49-F238E27FC236}">
                <a16:creationId xmlns:a16="http://schemas.microsoft.com/office/drawing/2014/main" id="{429B9D7C-6C46-368C-1F67-78E95121DBCC}"/>
              </a:ext>
            </a:extLst>
          </p:cNvPr>
          <p:cNvSpPr/>
          <p:nvPr/>
        </p:nvSpPr>
        <p:spPr>
          <a:xfrm>
            <a:off x="4511040" y="49724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IBM Watsonx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20" name="Text 57">
            <a:extLst>
              <a:ext uri="{FF2B5EF4-FFF2-40B4-BE49-F238E27FC236}">
                <a16:creationId xmlns:a16="http://schemas.microsoft.com/office/drawing/2014/main" id="{DC61458C-62BA-BB69-0FDF-9F79B9577163}"/>
              </a:ext>
            </a:extLst>
          </p:cNvPr>
          <p:cNvSpPr/>
          <p:nvPr/>
        </p:nvSpPr>
        <p:spPr>
          <a:xfrm>
            <a:off x="6888480" y="49724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Ent.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21" name="Text 58">
            <a:extLst>
              <a:ext uri="{FF2B5EF4-FFF2-40B4-BE49-F238E27FC236}">
                <a16:creationId xmlns:a16="http://schemas.microsoft.com/office/drawing/2014/main" id="{2448E961-C9D6-2EC0-5940-6B52C838C992}"/>
              </a:ext>
            </a:extLst>
          </p:cNvPr>
          <p:cNvSpPr/>
          <p:nvPr/>
        </p:nvSpPr>
        <p:spPr>
          <a:xfrm>
            <a:off x="4511040" y="53259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Enterprise AI, governance, on-prem/cloud deployment, compliance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122" name="Shape 59">
            <a:extLst>
              <a:ext uri="{FF2B5EF4-FFF2-40B4-BE49-F238E27FC236}">
                <a16:creationId xmlns:a16="http://schemas.microsoft.com/office/drawing/2014/main" id="{E6193C39-46AC-7765-2429-49C80B65D283}"/>
              </a:ext>
            </a:extLst>
          </p:cNvPr>
          <p:cNvSpPr/>
          <p:nvPr/>
        </p:nvSpPr>
        <p:spPr>
          <a:xfrm>
            <a:off x="8168640" y="4935826"/>
            <a:ext cx="359664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23" name="Shape 60">
            <a:extLst>
              <a:ext uri="{FF2B5EF4-FFF2-40B4-BE49-F238E27FC236}">
                <a16:creationId xmlns:a16="http://schemas.microsoft.com/office/drawing/2014/main" id="{71464E76-203C-FDF7-4D47-CDFB91072E34}"/>
              </a:ext>
            </a:extLst>
          </p:cNvPr>
          <p:cNvSpPr/>
          <p:nvPr/>
        </p:nvSpPr>
        <p:spPr>
          <a:xfrm>
            <a:off x="8168640" y="4935826"/>
            <a:ext cx="73152" cy="10363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24" name="Text 61">
            <a:extLst>
              <a:ext uri="{FF2B5EF4-FFF2-40B4-BE49-F238E27FC236}">
                <a16:creationId xmlns:a16="http://schemas.microsoft.com/office/drawing/2014/main" id="{7DDB1265-8A8B-4EBD-0EF7-42084CAAEDE9}"/>
              </a:ext>
            </a:extLst>
          </p:cNvPr>
          <p:cNvSpPr/>
          <p:nvPr/>
        </p:nvSpPr>
        <p:spPr>
          <a:xfrm>
            <a:off x="8351520" y="4972402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Stack AI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25" name="Text 62">
            <a:extLst>
              <a:ext uri="{FF2B5EF4-FFF2-40B4-BE49-F238E27FC236}">
                <a16:creationId xmlns:a16="http://schemas.microsoft.com/office/drawing/2014/main" id="{6C9089A2-9FFC-26CD-123E-952F826272A7}"/>
              </a:ext>
            </a:extLst>
          </p:cNvPr>
          <p:cNvSpPr/>
          <p:nvPr/>
        </p:nvSpPr>
        <p:spPr>
          <a:xfrm>
            <a:off x="10728960" y="4972402"/>
            <a:ext cx="85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dirty="0">
                <a:solidFill>
                  <a:srgbClr val="1B2A4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Ent.</a:t>
            </a:r>
            <a:endParaRPr lang="en-US" sz="1067" dirty="0">
              <a:latin typeface="Montserrat" panose="00000500000000000000" pitchFamily="2" charset="0"/>
            </a:endParaRPr>
          </a:p>
        </p:txBody>
      </p:sp>
      <p:sp>
        <p:nvSpPr>
          <p:cNvPr id="126" name="Text 63">
            <a:extLst>
              <a:ext uri="{FF2B5EF4-FFF2-40B4-BE49-F238E27FC236}">
                <a16:creationId xmlns:a16="http://schemas.microsoft.com/office/drawing/2014/main" id="{6C9E78B8-775A-CE25-B3C9-65221C31853D}"/>
              </a:ext>
            </a:extLst>
          </p:cNvPr>
          <p:cNvSpPr/>
          <p:nvPr/>
        </p:nvSpPr>
        <p:spPr>
          <a:xfrm>
            <a:off x="8351520" y="5325970"/>
            <a:ext cx="323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Enterprise no-code, SOC 2, HIPAA, custom model deployment</a:t>
            </a:r>
            <a:endParaRPr lang="en-US" sz="1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93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C513-7F52-56B3-577F-4E810B01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38A3C7-A629-C85F-E3E1-09D58167D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5A241A-1B04-0F92-2963-8803AAE5CBD0}"/>
              </a:ext>
            </a:extLst>
          </p:cNvPr>
          <p:cNvSpPr/>
          <p:nvPr/>
        </p:nvSpPr>
        <p:spPr>
          <a:xfrm>
            <a:off x="293915" y="489004"/>
            <a:ext cx="47434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INTRODUCTION TO OPENAI AGENTS SDK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076DD-1878-27D6-7232-2CF22BF91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60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D281-A0FC-CD4D-8A96-7B418279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D276D8-3513-DE2B-3FA1-3D5479194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AC7C58-72DF-04B5-B7B7-542D3E9E5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403EC3-609F-3595-B308-A0C792F05D1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the OpenAI Agents SDK?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9A018-3013-8488-298F-82F52C62F1F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9D1A34A-DA16-3FB6-9676-21FAA0D2E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651A621A-5177-D8E7-0171-E6A56D728EEC}"/>
              </a:ext>
            </a:extLst>
          </p:cNvPr>
          <p:cNvSpPr/>
          <p:nvPr/>
        </p:nvSpPr>
        <p:spPr>
          <a:xfrm>
            <a:off x="548640" y="1005840"/>
            <a:ext cx="10739692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3AC11D43-E886-FC9C-629E-01ACB46A7796}"/>
              </a:ext>
            </a:extLst>
          </p:cNvPr>
          <p:cNvSpPr/>
          <p:nvPr/>
        </p:nvSpPr>
        <p:spPr>
          <a:xfrm>
            <a:off x="822959" y="1097280"/>
            <a:ext cx="103687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 lightweight, Python-first open-source framework released by OpenAI in March 2025 for building agentic AI applications with very few abstractions.</a:t>
            </a:r>
            <a:endParaRPr lang="en-US" sz="16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BAFF8C9D-96EF-0172-7B9A-6DBBF69A7BD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0235" y="4033020"/>
            <a:ext cx="274320" cy="274320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28EBA323-4DE1-25EF-8CB4-9214C3A222C2}"/>
              </a:ext>
            </a:extLst>
          </p:cNvPr>
          <p:cNvSpPr/>
          <p:nvPr/>
        </p:nvSpPr>
        <p:spPr>
          <a:xfrm>
            <a:off x="1697435" y="39873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Few primitives (building blocks) = quick to learn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0162F6EC-271E-9318-3F2F-E4184C2AF3D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0235" y="4627380"/>
            <a:ext cx="274320" cy="27432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7723B220-1FE0-6616-A07A-760DB3B67027}"/>
              </a:ext>
            </a:extLst>
          </p:cNvPr>
          <p:cNvSpPr/>
          <p:nvPr/>
        </p:nvSpPr>
        <p:spPr>
          <a:xfrm>
            <a:off x="1697435" y="45816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Works great out of the box with room to customize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C3EE1499-AD20-E38E-405B-F676FA92C26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0235" y="5221740"/>
            <a:ext cx="274320" cy="274320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38DE4723-33A7-5D29-8D71-8356B263FFDC}"/>
              </a:ext>
            </a:extLst>
          </p:cNvPr>
          <p:cNvSpPr/>
          <p:nvPr/>
        </p:nvSpPr>
        <p:spPr>
          <a:xfrm>
            <a:off x="1697435" y="51760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Provider-agnostic: supports OpenAI + 100+ LLMs via LiteLLM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C22A137C-287B-FA24-0272-1CF67153C16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0235" y="5816100"/>
            <a:ext cx="274320" cy="274320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22AB73A3-1D65-C9D2-E90D-896AF2C2A196}"/>
              </a:ext>
            </a:extLst>
          </p:cNvPr>
          <p:cNvSpPr/>
          <p:nvPr/>
        </p:nvSpPr>
        <p:spPr>
          <a:xfrm>
            <a:off x="1697435" y="57703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Python 3.10+ required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6795C-0210-CB63-D10B-7824D45ECBD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29348" y="2540683"/>
            <a:ext cx="5703283" cy="8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4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933B-B6C0-DD2C-235B-3F72615A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A19E0E-77FE-5D5F-C255-11C820D7E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98DB6-1C1A-1FFF-CA94-85C466A86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9B62EFA-5BDB-8751-9AD6-3844B7575D7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Core Primitives (Building Blocks)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A256F-4F91-175B-7707-D3C260AC3EA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FC6369-5460-80C7-8E63-7E27DC67E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FE01642E-2BA9-A97B-E204-C11807FF7788}"/>
              </a:ext>
            </a:extLst>
          </p:cNvPr>
          <p:cNvSpPr/>
          <p:nvPr/>
        </p:nvSpPr>
        <p:spPr>
          <a:xfrm>
            <a:off x="287629" y="1205463"/>
            <a:ext cx="20726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2180BA00-C7F7-ED6F-2C91-CE9027747354}"/>
              </a:ext>
            </a:extLst>
          </p:cNvPr>
          <p:cNvSpPr/>
          <p:nvPr/>
        </p:nvSpPr>
        <p:spPr>
          <a:xfrm>
            <a:off x="859022" y="1341375"/>
            <a:ext cx="853440" cy="85344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A" sz="1867"/>
          </a:p>
        </p:txBody>
      </p:sp>
      <p:pic>
        <p:nvPicPr>
          <p:cNvPr id="51" name="Image 1" descr="preencoded.png">
            <a:extLst>
              <a:ext uri="{FF2B5EF4-FFF2-40B4-BE49-F238E27FC236}">
                <a16:creationId xmlns:a16="http://schemas.microsoft.com/office/drawing/2014/main" id="{F6D13972-CEE8-6067-0DD4-3E3622BF7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42" y="1463295"/>
            <a:ext cx="609600" cy="609600"/>
          </a:xfrm>
          <a:prstGeom prst="rect">
            <a:avLst/>
          </a:prstGeom>
        </p:spPr>
      </p:pic>
      <p:sp>
        <p:nvSpPr>
          <p:cNvPr id="52" name="Text 4">
            <a:extLst>
              <a:ext uri="{FF2B5EF4-FFF2-40B4-BE49-F238E27FC236}">
                <a16:creationId xmlns:a16="http://schemas.microsoft.com/office/drawing/2014/main" id="{AB0CC47C-D465-50F8-6F5B-EFD14168A050}"/>
              </a:ext>
            </a:extLst>
          </p:cNvPr>
          <p:cNvSpPr/>
          <p:nvPr/>
        </p:nvSpPr>
        <p:spPr>
          <a:xfrm>
            <a:off x="287629" y="2220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930B20D4-FDE2-E99E-75D2-B2293C824C9B}"/>
              </a:ext>
            </a:extLst>
          </p:cNvPr>
          <p:cNvSpPr/>
          <p:nvPr/>
        </p:nvSpPr>
        <p:spPr>
          <a:xfrm>
            <a:off x="348589" y="2874241"/>
            <a:ext cx="195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Core Building block, it’s an LLMs with instructions, tools, handoffs and structured output</a:t>
            </a:r>
            <a:endParaRPr lang="en-US" sz="1467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FE021179-ED16-87B2-3D2D-A63B21E14B98}"/>
              </a:ext>
            </a:extLst>
          </p:cNvPr>
          <p:cNvSpPr/>
          <p:nvPr/>
        </p:nvSpPr>
        <p:spPr>
          <a:xfrm>
            <a:off x="2604109" y="1205463"/>
            <a:ext cx="20726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ED895B5E-B83F-6D24-9CCE-A1679E6B38A2}"/>
              </a:ext>
            </a:extLst>
          </p:cNvPr>
          <p:cNvSpPr/>
          <p:nvPr/>
        </p:nvSpPr>
        <p:spPr>
          <a:xfrm>
            <a:off x="3175502" y="1341375"/>
            <a:ext cx="853440" cy="85344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1867"/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34C5780C-8D97-AF91-1CEE-FB2EC51EFD9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7422" y="1463295"/>
            <a:ext cx="609600" cy="609600"/>
          </a:xfrm>
          <a:prstGeom prst="rect">
            <a:avLst/>
          </a:prstGeom>
        </p:spPr>
      </p:pic>
      <p:sp>
        <p:nvSpPr>
          <p:cNvPr id="58" name="Text 9">
            <a:extLst>
              <a:ext uri="{FF2B5EF4-FFF2-40B4-BE49-F238E27FC236}">
                <a16:creationId xmlns:a16="http://schemas.microsoft.com/office/drawing/2014/main" id="{698849A8-4BD7-A1C2-1D71-DAD53358BD9D}"/>
              </a:ext>
            </a:extLst>
          </p:cNvPr>
          <p:cNvSpPr/>
          <p:nvPr/>
        </p:nvSpPr>
        <p:spPr>
          <a:xfrm>
            <a:off x="2604109" y="2220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BF1EBDB2-5B6C-006E-8E4B-13E78D07303B}"/>
              </a:ext>
            </a:extLst>
          </p:cNvPr>
          <p:cNvSpPr/>
          <p:nvPr/>
        </p:nvSpPr>
        <p:spPr>
          <a:xfrm>
            <a:off x="2726029" y="2856385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Tools let agents take actions, such as fetching data, running code, calling external APIs.</a:t>
            </a:r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B9019979-C421-0317-EF97-F129359B6AB1}"/>
              </a:ext>
            </a:extLst>
          </p:cNvPr>
          <p:cNvSpPr/>
          <p:nvPr/>
        </p:nvSpPr>
        <p:spPr>
          <a:xfrm>
            <a:off x="4920589" y="1205463"/>
            <a:ext cx="20726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72C4ED6C-C066-FD1A-4336-B05A8ED279F9}"/>
              </a:ext>
            </a:extLst>
          </p:cNvPr>
          <p:cNvSpPr/>
          <p:nvPr/>
        </p:nvSpPr>
        <p:spPr>
          <a:xfrm>
            <a:off x="5491982" y="1341375"/>
            <a:ext cx="853440" cy="85344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CA" sz="1867"/>
          </a:p>
        </p:txBody>
      </p:sp>
      <p:pic>
        <p:nvPicPr>
          <p:cNvPr id="63" name="Image 3" descr="preencoded.png">
            <a:extLst>
              <a:ext uri="{FF2B5EF4-FFF2-40B4-BE49-F238E27FC236}">
                <a16:creationId xmlns:a16="http://schemas.microsoft.com/office/drawing/2014/main" id="{8E345513-2D04-F3F1-7651-71F89EA1B69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3902" y="1463295"/>
            <a:ext cx="609600" cy="609600"/>
          </a:xfrm>
          <a:prstGeom prst="rect">
            <a:avLst/>
          </a:prstGeom>
        </p:spPr>
      </p:pic>
      <p:sp>
        <p:nvSpPr>
          <p:cNvPr id="64" name="Text 14">
            <a:extLst>
              <a:ext uri="{FF2B5EF4-FFF2-40B4-BE49-F238E27FC236}">
                <a16:creationId xmlns:a16="http://schemas.microsoft.com/office/drawing/2014/main" id="{728CE93F-A586-EB8C-7153-77F493556ADD}"/>
              </a:ext>
            </a:extLst>
          </p:cNvPr>
          <p:cNvSpPr/>
          <p:nvPr/>
        </p:nvSpPr>
        <p:spPr>
          <a:xfrm>
            <a:off x="4920589" y="2220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Handoffs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0EF842F9-FB45-8E7A-D9BA-3FA9A62BE486}"/>
              </a:ext>
            </a:extLst>
          </p:cNvPr>
          <p:cNvSpPr/>
          <p:nvPr/>
        </p:nvSpPr>
        <p:spPr>
          <a:xfrm>
            <a:off x="5042509" y="2668503"/>
            <a:ext cx="193132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Handoffs allow an agent to delegate tasks to another agent. </a:t>
            </a:r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0EF0F34A-90D2-38B9-8252-79102FAC0681}"/>
              </a:ext>
            </a:extLst>
          </p:cNvPr>
          <p:cNvSpPr/>
          <p:nvPr/>
        </p:nvSpPr>
        <p:spPr>
          <a:xfrm>
            <a:off x="7237069" y="1205463"/>
            <a:ext cx="20726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68" name="Shape 18">
            <a:extLst>
              <a:ext uri="{FF2B5EF4-FFF2-40B4-BE49-F238E27FC236}">
                <a16:creationId xmlns:a16="http://schemas.microsoft.com/office/drawing/2014/main" id="{4AD6206F-CEEE-60C9-B4FD-2E91A61D16BA}"/>
              </a:ext>
            </a:extLst>
          </p:cNvPr>
          <p:cNvSpPr/>
          <p:nvPr/>
        </p:nvSpPr>
        <p:spPr>
          <a:xfrm>
            <a:off x="7808462" y="1341375"/>
            <a:ext cx="853440" cy="853440"/>
          </a:xfrm>
          <a:prstGeom prst="ellipse">
            <a:avLst/>
          </a:prstGeom>
          <a:solidFill>
            <a:srgbClr val="1BBFD1"/>
          </a:solidFill>
          <a:ln/>
        </p:spPr>
        <p:txBody>
          <a:bodyPr/>
          <a:lstStyle/>
          <a:p>
            <a:endParaRPr lang="en-CA" sz="1867"/>
          </a:p>
        </p:txBody>
      </p:sp>
      <p:pic>
        <p:nvPicPr>
          <p:cNvPr id="69" name="Image 4" descr="preencoded.png">
            <a:extLst>
              <a:ext uri="{FF2B5EF4-FFF2-40B4-BE49-F238E27FC236}">
                <a16:creationId xmlns:a16="http://schemas.microsoft.com/office/drawing/2014/main" id="{3958D4BD-F8FF-94E9-8AAF-6DBCBCEF9C5B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0382" y="1463295"/>
            <a:ext cx="609600" cy="609600"/>
          </a:xfrm>
          <a:prstGeom prst="rect">
            <a:avLst/>
          </a:prstGeom>
        </p:spPr>
      </p:pic>
      <p:sp>
        <p:nvSpPr>
          <p:cNvPr id="70" name="Text 19">
            <a:extLst>
              <a:ext uri="{FF2B5EF4-FFF2-40B4-BE49-F238E27FC236}">
                <a16:creationId xmlns:a16="http://schemas.microsoft.com/office/drawing/2014/main" id="{A1AF44AF-591E-3B09-3EB7-6500F67BDC2C}"/>
              </a:ext>
            </a:extLst>
          </p:cNvPr>
          <p:cNvSpPr/>
          <p:nvPr/>
        </p:nvSpPr>
        <p:spPr>
          <a:xfrm>
            <a:off x="7237069" y="2220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0026A28D-8D78-764D-CC62-815F26F3C818}"/>
              </a:ext>
            </a:extLst>
          </p:cNvPr>
          <p:cNvSpPr/>
          <p:nvPr/>
        </p:nvSpPr>
        <p:spPr>
          <a:xfrm>
            <a:off x="7320782" y="2861362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Guardrails enable you to do checks and validations of user input and agent output to ensure safety. </a:t>
            </a:r>
          </a:p>
        </p:txBody>
      </p:sp>
      <p:sp>
        <p:nvSpPr>
          <p:cNvPr id="72" name="Shape 21">
            <a:extLst>
              <a:ext uri="{FF2B5EF4-FFF2-40B4-BE49-F238E27FC236}">
                <a16:creationId xmlns:a16="http://schemas.microsoft.com/office/drawing/2014/main" id="{38BE6009-79DC-A6C7-087A-02BDFAC2B190}"/>
              </a:ext>
            </a:extLst>
          </p:cNvPr>
          <p:cNvSpPr/>
          <p:nvPr/>
        </p:nvSpPr>
        <p:spPr>
          <a:xfrm>
            <a:off x="9553549" y="1205463"/>
            <a:ext cx="20726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9D53E3F7-ADD5-B072-1562-3C210355B9AF}"/>
              </a:ext>
            </a:extLst>
          </p:cNvPr>
          <p:cNvSpPr/>
          <p:nvPr/>
        </p:nvSpPr>
        <p:spPr>
          <a:xfrm>
            <a:off x="10124942" y="1341375"/>
            <a:ext cx="853440" cy="85344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CA" sz="1867" dirty="0"/>
          </a:p>
        </p:txBody>
      </p:sp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9398072B-2DDB-66FF-43C7-DA614EBE3523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25000"/>
          </a:blip>
          <a:stretch>
            <a:fillRect/>
          </a:stretch>
        </p:blipFill>
        <p:spPr>
          <a:xfrm>
            <a:off x="10246862" y="1463295"/>
            <a:ext cx="609600" cy="609600"/>
          </a:xfrm>
          <a:prstGeom prst="rect">
            <a:avLst/>
          </a:prstGeom>
        </p:spPr>
      </p:pic>
      <p:sp>
        <p:nvSpPr>
          <p:cNvPr id="76" name="Text 24">
            <a:extLst>
              <a:ext uri="{FF2B5EF4-FFF2-40B4-BE49-F238E27FC236}">
                <a16:creationId xmlns:a16="http://schemas.microsoft.com/office/drawing/2014/main" id="{0F607407-8830-6B0C-67C1-C35CBFB958B9}"/>
              </a:ext>
            </a:extLst>
          </p:cNvPr>
          <p:cNvSpPr/>
          <p:nvPr/>
        </p:nvSpPr>
        <p:spPr>
          <a:xfrm>
            <a:off x="9553549" y="2220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Tracing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F84FAAA0-E7DD-2773-F6A5-A5549BD25F42}"/>
              </a:ext>
            </a:extLst>
          </p:cNvPr>
          <p:cNvSpPr/>
          <p:nvPr/>
        </p:nvSpPr>
        <p:spPr>
          <a:xfrm>
            <a:off x="9624205" y="2973557"/>
            <a:ext cx="195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chemeClr val="tx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Built-in tracing, collecting record of events during an agent run: LLM generations, tool calls, handoffs, guardrails.</a:t>
            </a:r>
          </a:p>
        </p:txBody>
      </p:sp>
    </p:spTree>
    <p:extLst>
      <p:ext uri="{BB962C8B-B14F-4D97-AF65-F5344CB8AC3E}">
        <p14:creationId xmlns:p14="http://schemas.microsoft.com/office/powerpoint/2010/main" val="203243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2" grpId="0" animBg="1"/>
      <p:bldP spid="64" grpId="0" animBg="1"/>
      <p:bldP spid="65" grpId="0" animBg="1"/>
      <p:bldP spid="66" grpId="0" animBg="1"/>
      <p:bldP spid="68" grpId="0" animBg="1"/>
      <p:bldP spid="70" grpId="0" animBg="1"/>
      <p:bldP spid="71" grpId="0" animBg="1"/>
      <p:bldP spid="72" grpId="0" animBg="1"/>
      <p:bldP spid="74" grpId="0" animBg="1"/>
      <p:bldP spid="76" grpId="0" animBg="1"/>
      <p:bldP spid="7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4114-9D59-DCF9-DEA4-2811FFDE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A4288-6C20-F367-4724-68483D6E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4B2424-D626-D29A-DFAF-93B16006CBB6}"/>
              </a:ext>
            </a:extLst>
          </p:cNvPr>
          <p:cNvSpPr/>
          <p:nvPr/>
        </p:nvSpPr>
        <p:spPr>
          <a:xfrm>
            <a:off x="293915" y="489004"/>
            <a:ext cx="47434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BUILDING AI AGENTS WITH MEMORY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41F28-1852-10C1-1370-B568AFA1B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96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00AC-5F00-A70C-C6EE-6BDAE930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66920-8D9B-E3A5-E4C5-17B137F01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6F9DA-37BD-F6A5-5949-9C6D6C6098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E5F53F1-AE4E-6E00-2A54-D77ACC92670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Defining an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65E20-7C3E-9334-AC01-4143E632CA3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22E681-9D74-D1D5-6F8C-6C1F1F831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E843725-21D9-02EB-A87A-24D27106463A}"/>
              </a:ext>
            </a:extLst>
          </p:cNvPr>
          <p:cNvSpPr/>
          <p:nvPr/>
        </p:nvSpPr>
        <p:spPr>
          <a:xfrm>
            <a:off x="362598" y="1158240"/>
            <a:ext cx="5974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461D884-CADD-C352-3D20-23D5EBA6DDC1}"/>
              </a:ext>
            </a:extLst>
          </p:cNvPr>
          <p:cNvSpPr/>
          <p:nvPr/>
        </p:nvSpPr>
        <p:spPr>
          <a:xfrm>
            <a:off x="484519" y="1158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733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3169717-A9E4-67B1-5312-51D463597A1B}"/>
              </a:ext>
            </a:extLst>
          </p:cNvPr>
          <p:cNvSpPr/>
          <p:nvPr/>
        </p:nvSpPr>
        <p:spPr>
          <a:xfrm>
            <a:off x="2313319" y="115824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 descriptive identifier</a:t>
            </a:r>
            <a:endParaRPr lang="en-US" sz="17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7BBEDAB-323D-3823-6858-8DB2E96FE297}"/>
              </a:ext>
            </a:extLst>
          </p:cNvPr>
          <p:cNvSpPr/>
          <p:nvPr/>
        </p:nvSpPr>
        <p:spPr>
          <a:xfrm>
            <a:off x="362599" y="1828800"/>
            <a:ext cx="5974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EF0A106-AE87-760A-D1B2-BDC09F11E003}"/>
              </a:ext>
            </a:extLst>
          </p:cNvPr>
          <p:cNvSpPr/>
          <p:nvPr/>
        </p:nvSpPr>
        <p:spPr>
          <a:xfrm>
            <a:off x="484519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instructions</a:t>
            </a:r>
            <a:endParaRPr lang="en-US" sz="1733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B596DBA-C96F-E66D-6F76-86F23E3A1656}"/>
              </a:ext>
            </a:extLst>
          </p:cNvPr>
          <p:cNvSpPr/>
          <p:nvPr/>
        </p:nvSpPr>
        <p:spPr>
          <a:xfrm>
            <a:off x="2313318" y="1828800"/>
            <a:ext cx="37433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System prompt guiding behavior</a:t>
            </a:r>
            <a:endParaRPr lang="en-US" sz="17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1FF369A9-11BA-FA9C-8245-14F85CA71003}"/>
              </a:ext>
            </a:extLst>
          </p:cNvPr>
          <p:cNvSpPr/>
          <p:nvPr/>
        </p:nvSpPr>
        <p:spPr>
          <a:xfrm>
            <a:off x="362599" y="2499360"/>
            <a:ext cx="5974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797781-EEB7-87C6-A714-A613FA357397}"/>
              </a:ext>
            </a:extLst>
          </p:cNvPr>
          <p:cNvSpPr/>
          <p:nvPr/>
        </p:nvSpPr>
        <p:spPr>
          <a:xfrm>
            <a:off x="484519" y="2499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733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031C613-7F6F-7B55-2DB1-3ECAB0B11BD3}"/>
              </a:ext>
            </a:extLst>
          </p:cNvPr>
          <p:cNvSpPr/>
          <p:nvPr/>
        </p:nvSpPr>
        <p:spPr>
          <a:xfrm>
            <a:off x="2313319" y="249936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Functions the agent can call</a:t>
            </a:r>
            <a:endParaRPr lang="en-US" sz="17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E77D0E8D-EA05-03C5-C0CE-43BF41295515}"/>
              </a:ext>
            </a:extLst>
          </p:cNvPr>
          <p:cNvSpPr/>
          <p:nvPr/>
        </p:nvSpPr>
        <p:spPr>
          <a:xfrm>
            <a:off x="362599" y="3169920"/>
            <a:ext cx="5974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07CD982D-13AA-66A0-13F9-76B24EC33E73}"/>
              </a:ext>
            </a:extLst>
          </p:cNvPr>
          <p:cNvSpPr/>
          <p:nvPr/>
        </p:nvSpPr>
        <p:spPr>
          <a:xfrm>
            <a:off x="484519" y="3169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handoffs</a:t>
            </a:r>
            <a:endParaRPr lang="en-US" sz="1733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9FEF0D0-09B4-FD38-0074-528E82B713B7}"/>
              </a:ext>
            </a:extLst>
          </p:cNvPr>
          <p:cNvSpPr/>
          <p:nvPr/>
        </p:nvSpPr>
        <p:spPr>
          <a:xfrm>
            <a:off x="2313319" y="316992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Other agents to delegate to</a:t>
            </a:r>
            <a:endParaRPr lang="en-US" sz="17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F126A5B5-0227-6EF5-A97E-19624977297E}"/>
              </a:ext>
            </a:extLst>
          </p:cNvPr>
          <p:cNvSpPr/>
          <p:nvPr/>
        </p:nvSpPr>
        <p:spPr>
          <a:xfrm>
            <a:off x="362599" y="3840480"/>
            <a:ext cx="5974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3E126B0-D1D5-CFA2-08E6-AF6386101089}"/>
              </a:ext>
            </a:extLst>
          </p:cNvPr>
          <p:cNvSpPr/>
          <p:nvPr/>
        </p:nvSpPr>
        <p:spPr>
          <a:xfrm>
            <a:off x="484519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733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7BF698C-D370-AB38-957B-F2E77C90E424}"/>
              </a:ext>
            </a:extLst>
          </p:cNvPr>
          <p:cNvSpPr/>
          <p:nvPr/>
        </p:nvSpPr>
        <p:spPr>
          <a:xfrm>
            <a:off x="2313319" y="384048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Validation checks on I/O</a:t>
            </a:r>
            <a:endParaRPr lang="en-US" sz="17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E2F50BB4-E330-FBA4-A7EB-32EBED5BE3EA}"/>
              </a:ext>
            </a:extLst>
          </p:cNvPr>
          <p:cNvSpPr/>
          <p:nvPr/>
        </p:nvSpPr>
        <p:spPr>
          <a:xfrm>
            <a:off x="362599" y="4511040"/>
            <a:ext cx="5974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31AEEAD-C373-35B2-D676-D9ECFE5A5C3E}"/>
              </a:ext>
            </a:extLst>
          </p:cNvPr>
          <p:cNvSpPr/>
          <p:nvPr/>
        </p:nvSpPr>
        <p:spPr>
          <a:xfrm>
            <a:off x="484519" y="4511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output_type</a:t>
            </a:r>
            <a:endParaRPr lang="en-US" sz="1733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99182782-D0E5-1844-D4FC-6E8A0CB55985}"/>
              </a:ext>
            </a:extLst>
          </p:cNvPr>
          <p:cNvSpPr/>
          <p:nvPr/>
        </p:nvSpPr>
        <p:spPr>
          <a:xfrm>
            <a:off x="2313319" y="4511040"/>
            <a:ext cx="3960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Optional structured output schema</a:t>
            </a:r>
            <a:endParaRPr lang="en-US" sz="17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672BF7B2-38F0-B142-5703-6A230F509017}"/>
              </a:ext>
            </a:extLst>
          </p:cNvPr>
          <p:cNvSpPr/>
          <p:nvPr/>
        </p:nvSpPr>
        <p:spPr>
          <a:xfrm>
            <a:off x="6705600" y="1219200"/>
            <a:ext cx="5120640" cy="4010025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16AB96AC-798E-6044-5901-350C48DD31A1}"/>
              </a:ext>
            </a:extLst>
          </p:cNvPr>
          <p:cNvSpPr/>
          <p:nvPr/>
        </p:nvSpPr>
        <p:spPr>
          <a:xfrm>
            <a:off x="6827520" y="121920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FB6BB7F0-F582-DFE7-39E0-2E8A0C8D38CA}"/>
              </a:ext>
            </a:extLst>
          </p:cNvPr>
          <p:cNvSpPr/>
          <p:nvPr/>
        </p:nvSpPr>
        <p:spPr>
          <a:xfrm>
            <a:off x="7071359" y="1706880"/>
            <a:ext cx="4636121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name="Assistant",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instructions="""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You are a helpful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teaching assistant.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""",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tools=[search_web],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handoffs=[expert_agent],</a:t>
            </a:r>
            <a:endParaRPr lang="en-US" sz="1800" dirty="0"/>
          </a:p>
          <a:p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3400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76067-F5C8-82E7-B0A5-7A4ECDE5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F039F-7CD3-6745-F52C-8399F554A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B53A8A-6121-3DD5-CA17-2D546BD230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784D2C0-8B0A-C837-FD2F-B00C0AFD4D6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Running the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D00A2-26C4-5E0A-382E-BB6A14F61A1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A513F21-1930-938F-9AFC-303A635C1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2D27BB19-1B89-0658-9328-AC1DB480F6EB}"/>
              </a:ext>
            </a:extLst>
          </p:cNvPr>
          <p:cNvSpPr/>
          <p:nvPr/>
        </p:nvSpPr>
        <p:spPr>
          <a:xfrm>
            <a:off x="541335" y="1076325"/>
            <a:ext cx="5852160" cy="3657600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F87A7F08-0079-DC98-99D6-AFD7939F097C}"/>
              </a:ext>
            </a:extLst>
          </p:cNvPr>
          <p:cNvSpPr/>
          <p:nvPr/>
        </p:nvSpPr>
        <p:spPr>
          <a:xfrm>
            <a:off x="663255" y="1137285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333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0A58162C-AB2D-EB55-83C6-057849C141F0}"/>
              </a:ext>
            </a:extLst>
          </p:cNvPr>
          <p:cNvSpPr/>
          <p:nvPr/>
        </p:nvSpPr>
        <p:spPr>
          <a:xfrm>
            <a:off x="785175" y="1564005"/>
            <a:ext cx="536448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name="Assistant",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instructions="You are a helpful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teaching assistant.",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Runner.run(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agent,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 is an LLM?",</a:t>
            </a:r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print(result.final_output)</a:t>
            </a:r>
            <a:endParaRPr lang="en-US" sz="1467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182D11EF-54E5-D244-F6D1-CCF855315A1B}"/>
              </a:ext>
            </a:extLst>
          </p:cNvPr>
          <p:cNvSpPr/>
          <p:nvPr/>
        </p:nvSpPr>
        <p:spPr>
          <a:xfrm>
            <a:off x="6759255" y="1076325"/>
            <a:ext cx="4876800" cy="792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38B89758-EC09-6D71-3393-EB6705572901}"/>
              </a:ext>
            </a:extLst>
          </p:cNvPr>
          <p:cNvSpPr/>
          <p:nvPr/>
        </p:nvSpPr>
        <p:spPr>
          <a:xfrm>
            <a:off x="7064055" y="1100709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from agents import Agent, Runner</a:t>
            </a:r>
            <a:endParaRPr lang="en-US" sz="1267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B411BBC2-6EC5-6922-064B-E25DFB8C0055}"/>
              </a:ext>
            </a:extLst>
          </p:cNvPr>
          <p:cNvSpPr/>
          <p:nvPr/>
        </p:nvSpPr>
        <p:spPr>
          <a:xfrm>
            <a:off x="7064055" y="144208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Import the Agent class and the Runner that executes it</a:t>
            </a:r>
            <a:endParaRPr lang="en-US" sz="13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9FFF76FB-B430-74DC-BFEE-AB97CE22600C}"/>
              </a:ext>
            </a:extLst>
          </p:cNvPr>
          <p:cNvSpPr/>
          <p:nvPr/>
        </p:nvSpPr>
        <p:spPr>
          <a:xfrm>
            <a:off x="6759255" y="1990725"/>
            <a:ext cx="4876800" cy="792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0377E879-D400-B516-E00D-D11A405226D8}"/>
              </a:ext>
            </a:extLst>
          </p:cNvPr>
          <p:cNvSpPr/>
          <p:nvPr/>
        </p:nvSpPr>
        <p:spPr>
          <a:xfrm>
            <a:off x="7064055" y="2015109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agent = Agent(...)</a:t>
            </a:r>
            <a:endParaRPr lang="en-US" sz="1267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B95B4152-2021-9E14-01D3-A58B6C40C4CA}"/>
              </a:ext>
            </a:extLst>
          </p:cNvPr>
          <p:cNvSpPr/>
          <p:nvPr/>
        </p:nvSpPr>
        <p:spPr>
          <a:xfrm>
            <a:off x="7064055" y="235648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 the same teaching assistant agent</a:t>
            </a:r>
            <a:endParaRPr lang="en-US" sz="13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AF6CDE9E-388B-200D-AF3F-ABD182F69B00}"/>
              </a:ext>
            </a:extLst>
          </p:cNvPr>
          <p:cNvSpPr/>
          <p:nvPr/>
        </p:nvSpPr>
        <p:spPr>
          <a:xfrm>
            <a:off x="6759255" y="2905125"/>
            <a:ext cx="4876800" cy="792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26773B02-1148-58F2-FECC-9535556A8D01}"/>
              </a:ext>
            </a:extLst>
          </p:cNvPr>
          <p:cNvSpPr/>
          <p:nvPr/>
        </p:nvSpPr>
        <p:spPr>
          <a:xfrm>
            <a:off x="7064055" y="2929509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await Runner.run(agent, ...)</a:t>
            </a:r>
            <a:endParaRPr lang="en-US" sz="1267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045DF94-2180-9750-5ADE-36DEBDED7B23}"/>
              </a:ext>
            </a:extLst>
          </p:cNvPr>
          <p:cNvSpPr/>
          <p:nvPr/>
        </p:nvSpPr>
        <p:spPr>
          <a:xfrm>
            <a:off x="7064055" y="327088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Run the agent loop: sends the message to the LLM, handles tool calls, and returns when done</a:t>
            </a:r>
            <a:endParaRPr lang="en-US" sz="13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CD06A49B-4E6D-D77B-906A-B1AC36FCA608}"/>
              </a:ext>
            </a:extLst>
          </p:cNvPr>
          <p:cNvSpPr/>
          <p:nvPr/>
        </p:nvSpPr>
        <p:spPr>
          <a:xfrm>
            <a:off x="6759255" y="3819525"/>
            <a:ext cx="4876800" cy="792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79A2CB08-EB9A-1584-8BEC-D8151FE1D84E}"/>
              </a:ext>
            </a:extLst>
          </p:cNvPr>
          <p:cNvSpPr/>
          <p:nvPr/>
        </p:nvSpPr>
        <p:spPr>
          <a:xfrm>
            <a:off x="7064055" y="3843909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0206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result.final_output</a:t>
            </a:r>
            <a:endParaRPr lang="en-US" sz="1267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5B85DBC-BB73-DF73-01CE-0C8EE5C3A936}"/>
              </a:ext>
            </a:extLst>
          </p:cNvPr>
          <p:cNvSpPr/>
          <p:nvPr/>
        </p:nvSpPr>
        <p:spPr>
          <a:xfrm>
            <a:off x="7064055" y="418528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56E48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The agent's final text response after the loop completes</a:t>
            </a:r>
            <a:endParaRPr lang="en-US" sz="1333" dirty="0">
              <a:solidFill>
                <a:srgbClr val="D56E48"/>
              </a:solidFill>
              <a:latin typeface="Montserrat" panose="00000500000000000000" pitchFamily="2" charset="0"/>
            </a:endParaRPr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C2E6C14C-1D51-F73B-D5E8-1CC3BB82CC7E}"/>
              </a:ext>
            </a:extLst>
          </p:cNvPr>
          <p:cNvSpPr/>
          <p:nvPr/>
        </p:nvSpPr>
        <p:spPr>
          <a:xfrm>
            <a:off x="541335" y="4977765"/>
            <a:ext cx="11094720" cy="1341120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666D8185-35E1-93D0-673E-B7390D90F8E1}"/>
              </a:ext>
            </a:extLst>
          </p:cNvPr>
          <p:cNvSpPr/>
          <p:nvPr/>
        </p:nvSpPr>
        <p:spPr>
          <a:xfrm>
            <a:off x="724215" y="5038725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Output</a:t>
            </a:r>
            <a:endParaRPr lang="en-US" sz="1333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A100F6D1-F093-8267-B43D-40286A0BDD9F}"/>
              </a:ext>
            </a:extLst>
          </p:cNvPr>
          <p:cNvSpPr/>
          <p:nvPr/>
        </p:nvSpPr>
        <p:spPr>
          <a:xfrm>
            <a:off x="724214" y="5404485"/>
            <a:ext cx="1116520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LLM (Large Language Model) is a type of AI trained on massive text</a:t>
            </a:r>
            <a:r>
              <a:rPr lang="en-US" sz="1467" dirty="0">
                <a:ea typeface="Consolas" pitchFamily="34" charset="-122"/>
              </a:rPr>
              <a:t> </a:t>
            </a:r>
            <a:r>
              <a:rPr lang="en-US" sz="1467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 to understand and generate human language. Examples include</a:t>
            </a:r>
            <a:r>
              <a:rPr lang="en-US" sz="1467" dirty="0">
                <a:ea typeface="Consolas" pitchFamily="34" charset="-122"/>
              </a:rPr>
              <a:t> </a:t>
            </a:r>
            <a:r>
              <a:rPr lang="en-US" sz="1467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GPT-4, Claude, and Gemini.</a:t>
            </a:r>
            <a:endParaRPr lang="en-US" sz="1467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311EC839-D391-D668-4F60-3C527ECE4483}"/>
              </a:ext>
            </a:extLst>
          </p:cNvPr>
          <p:cNvSpPr/>
          <p:nvPr/>
        </p:nvSpPr>
        <p:spPr>
          <a:xfrm>
            <a:off x="11148375" y="6196965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89613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9D38-B066-03D0-84C5-171FBBBD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4656CA-1313-30D4-FB4B-50502D72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8BBFB0-D8F4-D528-C7D6-6DFF39AA2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A9B2F0C-A19C-AF36-70BC-A544A115324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Let’s get started!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BAE39-A2D5-6E71-A7AA-7648ADEB528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69BB18-2FB5-3164-92ED-54F25F73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33106A81-67E8-7A41-EF1E-8CF61A128FE4}"/>
              </a:ext>
            </a:extLst>
          </p:cNvPr>
          <p:cNvSpPr/>
          <p:nvPr/>
        </p:nvSpPr>
        <p:spPr>
          <a:xfrm>
            <a:off x="11148375" y="6196965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333"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89821DDD-902E-6F9B-98E6-08C2D9401227}"/>
              </a:ext>
            </a:extLst>
          </p:cNvPr>
          <p:cNvSpPr/>
          <p:nvPr/>
        </p:nvSpPr>
        <p:spPr>
          <a:xfrm>
            <a:off x="609600" y="1341120"/>
            <a:ext cx="109728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1C6C57-BB8E-27C6-83C6-803D5FFC8CA8}"/>
              </a:ext>
            </a:extLst>
          </p:cNvPr>
          <p:cNvSpPr/>
          <p:nvPr/>
        </p:nvSpPr>
        <p:spPr>
          <a:xfrm>
            <a:off x="853440" y="1524000"/>
            <a:ext cx="670560" cy="67056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25DD96E-1634-4FB7-737B-5526BDF7C476}"/>
              </a:ext>
            </a:extLst>
          </p:cNvPr>
          <p:cNvSpPr/>
          <p:nvPr/>
        </p:nvSpPr>
        <p:spPr>
          <a:xfrm>
            <a:off x="853440" y="152400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3D1540E-3594-0384-EE28-01FA7ACF659A}"/>
              </a:ext>
            </a:extLst>
          </p:cNvPr>
          <p:cNvSpPr/>
          <p:nvPr/>
        </p:nvSpPr>
        <p:spPr>
          <a:xfrm>
            <a:off x="1828800" y="140208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EC41B79-F973-D31F-283A-982C8AE87E15}"/>
              </a:ext>
            </a:extLst>
          </p:cNvPr>
          <p:cNvSpPr/>
          <p:nvPr/>
        </p:nvSpPr>
        <p:spPr>
          <a:xfrm>
            <a:off x="1828800" y="18288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Python 3.10+ required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A43A812-57A2-E035-B1AD-EA107F1072C8}"/>
              </a:ext>
            </a:extLst>
          </p:cNvPr>
          <p:cNvSpPr/>
          <p:nvPr/>
        </p:nvSpPr>
        <p:spPr>
          <a:xfrm>
            <a:off x="6096000" y="1524000"/>
            <a:ext cx="5242560" cy="670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7D2F293-AD15-5FA5-2C5E-2951CCEA5407}"/>
              </a:ext>
            </a:extLst>
          </p:cNvPr>
          <p:cNvSpPr/>
          <p:nvPr/>
        </p:nvSpPr>
        <p:spPr>
          <a:xfrm>
            <a:off x="6278880" y="1524000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pip install openai-agents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833EC645-B78E-F985-71D4-34F28CFA576D}"/>
              </a:ext>
            </a:extLst>
          </p:cNvPr>
          <p:cNvSpPr/>
          <p:nvPr/>
        </p:nvSpPr>
        <p:spPr>
          <a:xfrm>
            <a:off x="609600" y="2621280"/>
            <a:ext cx="109728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8A8FECEF-581E-62D5-141A-1DB59158E21F}"/>
              </a:ext>
            </a:extLst>
          </p:cNvPr>
          <p:cNvSpPr/>
          <p:nvPr/>
        </p:nvSpPr>
        <p:spPr>
          <a:xfrm>
            <a:off x="853440" y="2804160"/>
            <a:ext cx="670560" cy="67056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7A426B8-4A03-EBAB-695E-8BACF93DDEB3}"/>
              </a:ext>
            </a:extLst>
          </p:cNvPr>
          <p:cNvSpPr/>
          <p:nvPr/>
        </p:nvSpPr>
        <p:spPr>
          <a:xfrm>
            <a:off x="853440" y="280416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2A59BBA-0A17-D523-AA41-E841E8229464}"/>
              </a:ext>
            </a:extLst>
          </p:cNvPr>
          <p:cNvSpPr/>
          <p:nvPr/>
        </p:nvSpPr>
        <p:spPr>
          <a:xfrm>
            <a:off x="1828800" y="268224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Set API Key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6DF2B69-0CBE-45F0-E073-B196BC804D76}"/>
              </a:ext>
            </a:extLst>
          </p:cNvPr>
          <p:cNvSpPr/>
          <p:nvPr/>
        </p:nvSpPr>
        <p:spPr>
          <a:xfrm>
            <a:off x="1828800" y="310896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Or use any provider via LiteLLM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6E2FC7B0-EDF7-B123-4DB5-3E1B31CCF9BE}"/>
              </a:ext>
            </a:extLst>
          </p:cNvPr>
          <p:cNvSpPr/>
          <p:nvPr/>
        </p:nvSpPr>
        <p:spPr>
          <a:xfrm>
            <a:off x="6096000" y="2804160"/>
            <a:ext cx="5242560" cy="670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9976EF8-9815-EA23-21D2-DF16BF101488}"/>
              </a:ext>
            </a:extLst>
          </p:cNvPr>
          <p:cNvSpPr/>
          <p:nvPr/>
        </p:nvSpPr>
        <p:spPr>
          <a:xfrm>
            <a:off x="6278880" y="2804160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export OPENAI_API_KEY=sk-...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F9F73F03-7379-C57A-864D-1EC4E8AE585C}"/>
              </a:ext>
            </a:extLst>
          </p:cNvPr>
          <p:cNvSpPr/>
          <p:nvPr/>
        </p:nvSpPr>
        <p:spPr>
          <a:xfrm>
            <a:off x="609600" y="3901440"/>
            <a:ext cx="109728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61702518-340C-5FB9-0D0A-032244378858}"/>
              </a:ext>
            </a:extLst>
          </p:cNvPr>
          <p:cNvSpPr/>
          <p:nvPr/>
        </p:nvSpPr>
        <p:spPr>
          <a:xfrm>
            <a:off x="853440" y="4084320"/>
            <a:ext cx="670560" cy="670560"/>
          </a:xfrm>
          <a:prstGeom prst="ellipse">
            <a:avLst/>
          </a:prstGeom>
          <a:solidFill>
            <a:srgbClr val="1BBFD1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6EFFE13-7B18-ABF4-2F8D-F25820A6D226}"/>
              </a:ext>
            </a:extLst>
          </p:cNvPr>
          <p:cNvSpPr/>
          <p:nvPr/>
        </p:nvSpPr>
        <p:spPr>
          <a:xfrm>
            <a:off x="853440" y="408432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72ED024-3FE7-8650-0A0E-B96068B745A0}"/>
              </a:ext>
            </a:extLst>
          </p:cNvPr>
          <p:cNvSpPr/>
          <p:nvPr/>
        </p:nvSpPr>
        <p:spPr>
          <a:xfrm>
            <a:off x="1828800" y="396240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Create Agent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D95C4A8E-B18F-8476-16C1-C564F6582AA2}"/>
              </a:ext>
            </a:extLst>
          </p:cNvPr>
          <p:cNvSpPr/>
          <p:nvPr/>
        </p:nvSpPr>
        <p:spPr>
          <a:xfrm>
            <a:off x="1828800" y="438912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Configure instructions and tools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D445D122-44D2-9415-32BC-130A658BBF4E}"/>
              </a:ext>
            </a:extLst>
          </p:cNvPr>
          <p:cNvSpPr/>
          <p:nvPr/>
        </p:nvSpPr>
        <p:spPr>
          <a:xfrm>
            <a:off x="6096000" y="4084320"/>
            <a:ext cx="5242560" cy="670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AE7DA0B9-1996-E7EE-AB78-A8DA62F63003}"/>
              </a:ext>
            </a:extLst>
          </p:cNvPr>
          <p:cNvSpPr/>
          <p:nvPr/>
        </p:nvSpPr>
        <p:spPr>
          <a:xfrm>
            <a:off x="6278880" y="4084320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agent = Agent(name="Bot", ...)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3364612A-17C4-66FA-07EF-A55B73E2509A}"/>
              </a:ext>
            </a:extLst>
          </p:cNvPr>
          <p:cNvSpPr/>
          <p:nvPr/>
        </p:nvSpPr>
        <p:spPr>
          <a:xfrm>
            <a:off x="609600" y="5181600"/>
            <a:ext cx="10972800" cy="103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1867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19322E78-BD2D-6A6E-8BD8-CF82F8CC89DF}"/>
              </a:ext>
            </a:extLst>
          </p:cNvPr>
          <p:cNvSpPr/>
          <p:nvPr/>
        </p:nvSpPr>
        <p:spPr>
          <a:xfrm>
            <a:off x="853440" y="5364480"/>
            <a:ext cx="670560" cy="67056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C0A39CE-F577-90B2-F85D-A71B06991995}"/>
              </a:ext>
            </a:extLst>
          </p:cNvPr>
          <p:cNvSpPr/>
          <p:nvPr/>
        </p:nvSpPr>
        <p:spPr>
          <a:xfrm>
            <a:off x="853440" y="536448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0157FF8-8761-A9A6-022D-EB165A61CDE1}"/>
              </a:ext>
            </a:extLst>
          </p:cNvPr>
          <p:cNvSpPr/>
          <p:nvPr/>
        </p:nvSpPr>
        <p:spPr>
          <a:xfrm>
            <a:off x="1828800" y="524256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Run!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40E71D63-5157-E6FC-777F-D25AA2266E91}"/>
              </a:ext>
            </a:extLst>
          </p:cNvPr>
          <p:cNvSpPr/>
          <p:nvPr/>
        </p:nvSpPr>
        <p:spPr>
          <a:xfrm>
            <a:off x="1828800" y="566928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Get results with the Runner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28211B07-894A-0CCC-9BF0-EDB16BD39F66}"/>
              </a:ext>
            </a:extLst>
          </p:cNvPr>
          <p:cNvSpPr/>
          <p:nvPr/>
        </p:nvSpPr>
        <p:spPr>
          <a:xfrm>
            <a:off x="6096000" y="5364480"/>
            <a:ext cx="5242560" cy="6705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A" sz="1867">
              <a:latin typeface="Montserrat" panose="00000500000000000000" pitchFamily="2" charset="0"/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AB7D99E6-3CC7-0A89-DA33-08D573F0F77F}"/>
              </a:ext>
            </a:extLst>
          </p:cNvPr>
          <p:cNvSpPr/>
          <p:nvPr/>
        </p:nvSpPr>
        <p:spPr>
          <a:xfrm>
            <a:off x="6278880" y="5364480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2E8F0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Runner.run_sync(agent, msg)</a:t>
            </a:r>
            <a:endParaRPr lang="en-US" sz="1467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48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2" grpId="0" animBg="1"/>
      <p:bldP spid="4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7" grpId="0" animBg="1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64FF-595B-1792-BF9F-00B5BFF8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DB690-3E02-087A-4CAB-639135D830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3F767-8A45-64C1-F644-03885E9A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2BBBE4-44AE-3A80-8DF6-BE6701F14C87}"/>
              </a:ext>
            </a:extLst>
          </p:cNvPr>
          <p:cNvSpPr/>
          <p:nvPr/>
        </p:nvSpPr>
        <p:spPr>
          <a:xfrm>
            <a:off x="293914" y="793804"/>
            <a:ext cx="5802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463DA-BF09-FB12-BDE4-33972A6F6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96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23183-6484-8268-E2FE-59525069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65E74-5EC2-D47D-9CC3-ADAC4851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A063-01EF-FCB7-29C0-513B2EC790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8EF5944-F94E-10DC-C1BD-E8B38256C23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1. Build a Personal Finance AI Agent with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CEE11-2FC3-958E-A07E-1A264F8D505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0A3860-4C5B-ECC2-3D00-842EE940CC10}"/>
              </a:ext>
            </a:extLst>
          </p:cNvPr>
          <p:cNvSpPr txBox="1"/>
          <p:nvPr/>
        </p:nvSpPr>
        <p:spPr>
          <a:xfrm>
            <a:off x="269458" y="793898"/>
            <a:ext cx="1146450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In this project, we’ll build a personal finance AI agent with memory.</a:t>
            </a:r>
            <a:endParaRPr lang="en-CA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F627EA-F7C3-3C40-3A96-0DD8BFA56560}"/>
              </a:ext>
            </a:extLst>
          </p:cNvPr>
          <p:cNvCxnSpPr>
            <a:cxnSpLocks/>
          </p:cNvCxnSpPr>
          <p:nvPr/>
        </p:nvCxnSpPr>
        <p:spPr>
          <a:xfrm>
            <a:off x="2127388" y="2065917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9257AE-B44E-76ED-8722-940D4A225590}"/>
              </a:ext>
            </a:extLst>
          </p:cNvPr>
          <p:cNvSpPr txBox="1"/>
          <p:nvPr/>
        </p:nvSpPr>
        <p:spPr>
          <a:xfrm>
            <a:off x="193905" y="1582852"/>
            <a:ext cx="20964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Q1 = "I spent $120 on groceries, $40 on Uber, and $60 on restaurants this week"</a:t>
            </a:r>
            <a:endParaRPr lang="en-CA" sz="1100" i="1" dirty="0"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5139E2-5740-1B87-3DF7-F725F2CD86C4}"/>
              </a:ext>
            </a:extLst>
          </p:cNvPr>
          <p:cNvSpPr txBox="1"/>
          <p:nvPr/>
        </p:nvSpPr>
        <p:spPr>
          <a:xfrm>
            <a:off x="3396266" y="3993944"/>
            <a:ext cx="4996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Memory Using </a:t>
            </a:r>
            <a:r>
              <a:rPr lang="en-CA" sz="2400" i="1" dirty="0" err="1">
                <a:latin typeface="Montserrat" panose="00000500000000000000" pitchFamily="2" charset="0"/>
              </a:rPr>
              <a:t>SQLiteSession</a:t>
            </a:r>
            <a:r>
              <a:rPr lang="en-CA" sz="2400" i="1" dirty="0">
                <a:latin typeface="Montserrat" panose="00000500000000000000" pitchFamily="2" charset="0"/>
              </a:rPr>
              <a:t>( )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72D874F-B1EF-F719-296F-5A0E4A75AE00}"/>
              </a:ext>
            </a:extLst>
          </p:cNvPr>
          <p:cNvCxnSpPr>
            <a:cxnSpLocks/>
          </p:cNvCxnSpPr>
          <p:nvPr/>
        </p:nvCxnSpPr>
        <p:spPr>
          <a:xfrm>
            <a:off x="5894706" y="3377529"/>
            <a:ext cx="0" cy="720919"/>
          </a:xfrm>
          <a:prstGeom prst="line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Generated image">
            <a:extLst>
              <a:ext uri="{FF2B5EF4-FFF2-40B4-BE49-F238E27FC236}">
                <a16:creationId xmlns:a16="http://schemas.microsoft.com/office/drawing/2014/main" id="{C7D83C26-2C90-9963-D1C3-40F555DBB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997" y="4211478"/>
            <a:ext cx="1611418" cy="161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1A18575-C0CC-8190-959E-2441FF761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210FD-A677-815F-5EE2-C88E48510BAF}"/>
              </a:ext>
            </a:extLst>
          </p:cNvPr>
          <p:cNvCxnSpPr>
            <a:cxnSpLocks/>
          </p:cNvCxnSpPr>
          <p:nvPr/>
        </p:nvCxnSpPr>
        <p:spPr>
          <a:xfrm>
            <a:off x="8598639" y="2133605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159C79-E686-1E24-7792-10F9F742D57C}"/>
              </a:ext>
            </a:extLst>
          </p:cNvPr>
          <p:cNvCxnSpPr>
            <a:cxnSpLocks/>
          </p:cNvCxnSpPr>
          <p:nvPr/>
        </p:nvCxnSpPr>
        <p:spPr>
          <a:xfrm>
            <a:off x="2124460" y="3572308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4ABC6F5-6859-EC0A-7D87-A68FDBA76773}"/>
              </a:ext>
            </a:extLst>
          </p:cNvPr>
          <p:cNvSpPr txBox="1"/>
          <p:nvPr/>
        </p:nvSpPr>
        <p:spPr>
          <a:xfrm>
            <a:off x="123754" y="3523805"/>
            <a:ext cx="20964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Q2 = “My weekly budget is $250. Based on everything I told you so far, where can I cut spending next week?”</a:t>
            </a:r>
            <a:endParaRPr lang="en-CA" sz="1100" i="1" dirty="0">
              <a:latin typeface="Montserrat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A80F6C-F2E3-5BEE-67DA-F2DF787ABB64}"/>
              </a:ext>
            </a:extLst>
          </p:cNvPr>
          <p:cNvSpPr txBox="1"/>
          <p:nvPr/>
        </p:nvSpPr>
        <p:spPr>
          <a:xfrm>
            <a:off x="9207444" y="1146151"/>
            <a:ext cx="28054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 i="1">
                <a:latin typeface="Montserrat" panose="00000500000000000000" pitchFamily="2" charset="0"/>
              </a:defRPr>
            </a:lvl1pPr>
          </a:lstStyle>
          <a:p>
            <a:r>
              <a:rPr lang="en-US" sz="1400" dirty="0"/>
              <a:t>Got it! I recorded these expenses. </a:t>
            </a:r>
          </a:p>
          <a:p>
            <a:r>
              <a:rPr lang="en-US" sz="1400" dirty="0"/>
              <a:t>Updated totals: $220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By category: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groceries $120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transport $40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eating out $60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ACF4CC-E3F1-9D49-F35E-41E0746490CC}"/>
              </a:ext>
            </a:extLst>
          </p:cNvPr>
          <p:cNvSpPr txBox="1"/>
          <p:nvPr/>
        </p:nvSpPr>
        <p:spPr>
          <a:xfrm>
            <a:off x="9195927" y="2779674"/>
            <a:ext cx="280542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600" i="1">
                <a:latin typeface="Montserrat" panose="00000500000000000000" pitchFamily="2" charset="0"/>
              </a:defRPr>
            </a:lvl1pPr>
          </a:lstStyle>
          <a:p>
            <a:r>
              <a:rPr lang="en-US" sz="1400" dirty="0"/>
              <a:t>You’re currently at $220 this week; $30 below your $250 weekly budget. Focus on groceries and eating out to free up more savings.</a:t>
            </a:r>
          </a:p>
          <a:p>
            <a:endParaRPr lang="en-US" sz="1400" dirty="0"/>
          </a:p>
          <a:p>
            <a:r>
              <a:rPr lang="en-US" sz="1400" dirty="0"/>
              <a:t>Suggestions: Save $15–$30: plan 3–4 meals, make a tight shopping list, buy store brands or items on sale, and avoid impulse buys. 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DD132D-F021-89BF-DA9F-D31ACC25D097}"/>
              </a:ext>
            </a:extLst>
          </p:cNvPr>
          <p:cNvCxnSpPr>
            <a:cxnSpLocks/>
          </p:cNvCxnSpPr>
          <p:nvPr/>
        </p:nvCxnSpPr>
        <p:spPr>
          <a:xfrm>
            <a:off x="8595711" y="3499611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3F6B2-8375-CD7A-BF67-BB2F27C549C3}"/>
              </a:ext>
            </a:extLst>
          </p:cNvPr>
          <p:cNvSpPr/>
          <p:nvPr/>
        </p:nvSpPr>
        <p:spPr>
          <a:xfrm>
            <a:off x="4788842" y="2256154"/>
            <a:ext cx="2219851" cy="1057127"/>
          </a:xfrm>
          <a:prstGeom prst="roundRect">
            <a:avLst/>
          </a:prstGeom>
          <a:solidFill>
            <a:srgbClr val="D56E4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i="1" dirty="0">
                <a:latin typeface="Montserrat" panose="00000500000000000000" pitchFamily="2" charset="0"/>
              </a:rPr>
              <a:t>LLM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48468B-A1EF-983F-8AB8-507E193693FA}"/>
              </a:ext>
            </a:extLst>
          </p:cNvPr>
          <p:cNvSpPr/>
          <p:nvPr/>
        </p:nvSpPr>
        <p:spPr>
          <a:xfrm>
            <a:off x="3109457" y="1250699"/>
            <a:ext cx="5283689" cy="4455925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4CB23-1B72-ABC2-2A8B-234074754CAD}"/>
              </a:ext>
            </a:extLst>
          </p:cNvPr>
          <p:cNvSpPr txBox="1"/>
          <p:nvPr/>
        </p:nvSpPr>
        <p:spPr>
          <a:xfrm>
            <a:off x="3254323" y="1363279"/>
            <a:ext cx="168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Montserrat" panose="00000500000000000000" pitchFamily="2" charset="0"/>
              </a:rPr>
              <a:t>AI Agent</a:t>
            </a:r>
            <a:endParaRPr lang="en-CA" sz="1400" b="1" dirty="0">
              <a:latin typeface="Montserrat" panose="00000500000000000000" pitchFamily="2" charset="0"/>
            </a:endParaRPr>
          </a:p>
        </p:txBody>
      </p:sp>
      <p:pic>
        <p:nvPicPr>
          <p:cNvPr id="13" name="Picture 12" descr="Open Ai Logo: Over 1,809 Royalty-Free Licensable Stock Illustrations &amp;  Drawings | Shutterstock">
            <a:extLst>
              <a:ext uri="{FF2B5EF4-FFF2-40B4-BE49-F238E27FC236}">
                <a16:creationId xmlns:a16="http://schemas.microsoft.com/office/drawing/2014/main" id="{3E99FC78-97F3-6B9C-0ECE-3F5029941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0" t="23399" r="29863" b="21670"/>
          <a:stretch>
            <a:fillRect/>
          </a:stretch>
        </p:blipFill>
        <p:spPr bwMode="auto">
          <a:xfrm>
            <a:off x="5496546" y="1355557"/>
            <a:ext cx="848520" cy="81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cartoon of a robot&#10;&#10;AI-generated content may be incorrect.">
            <a:extLst>
              <a:ext uri="{FF2B5EF4-FFF2-40B4-BE49-F238E27FC236}">
                <a16:creationId xmlns:a16="http://schemas.microsoft.com/office/drawing/2014/main" id="{2D7BBA67-20CE-F5C9-E17E-F6358DB6815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10022" y="1733958"/>
            <a:ext cx="1549086" cy="210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2" grpId="0"/>
      <p:bldP spid="25" grpId="0"/>
      <p:bldP spid="27" grpId="0"/>
      <p:bldP spid="8" grpId="0" animBg="1"/>
      <p:bldP spid="10" grpId="0" animBg="1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FE38-5F4A-694E-E153-AE3FC3FE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ED726-5039-699F-FA4E-E8D41360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D31B87-EA6E-BF5A-2053-E24255ED6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A6B60D9-CD00-6ECB-F4BC-0A0A8525BD8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B7348-0091-537E-714A-E4C63B38753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9AE3899-3B28-F112-1259-77423A167BA7}"/>
              </a:ext>
            </a:extLst>
          </p:cNvPr>
          <p:cNvGraphicFramePr/>
          <p:nvPr/>
        </p:nvGraphicFramePr>
        <p:xfrm>
          <a:off x="-364716" y="1117726"/>
          <a:ext cx="9827492" cy="4686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C991213-CDA2-2A82-FAF0-7FCD3D2DA32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214" y="658766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0F61244-4EAF-4210-9C9D-1C3AD9207A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30F61244-4EAF-4210-9C9D-1C3AD9207A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52E6EA-6A49-4E98-A711-D73773AC4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4F52E6EA-6A49-4E98-A711-D73773AC45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1FF30D0-99AB-4BC0-BA0B-74692FABB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11FF30D0-99AB-4BC0-BA0B-74692FABB5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CEF161-168D-4209-A9C4-A74F2C4B9D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99CEF161-168D-4209-A9C4-A74F2C4B9D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6E87-699D-E661-1974-8BBF7E68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4BABE4-7C22-D3C2-8592-0C0F5434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198DFC-D1D2-3FA8-1739-D3DABC94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61395C3-91B5-6C42-F5CB-43A3B80E9FB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1: Build AI Agents with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B4C6B7-FE8E-B24F-4BB7-C804362D078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9A682-E1E7-9001-8B46-A65235702EB5}"/>
              </a:ext>
            </a:extLst>
          </p:cNvPr>
          <p:cNvSpPr txBox="1"/>
          <p:nvPr/>
        </p:nvSpPr>
        <p:spPr>
          <a:xfrm>
            <a:off x="154722" y="1049707"/>
            <a:ext cx="83937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panose="00000500000000000000" pitchFamily="2" charset="0"/>
              </a:rPr>
              <a:t>Access </a:t>
            </a:r>
            <a:r>
              <a:rPr lang="en-CA" dirty="0" err="1">
                <a:latin typeface="Montserrat" panose="00000500000000000000" pitchFamily="2" charset="0"/>
              </a:rPr>
              <a:t>Jupyter</a:t>
            </a:r>
            <a:r>
              <a:rPr lang="en-CA" dirty="0">
                <a:latin typeface="Montserrat" panose="00000500000000000000" pitchFamily="2" charset="0"/>
              </a:rPr>
              <a:t> Notebook on Google </a:t>
            </a:r>
            <a:r>
              <a:rPr lang="en-CA" dirty="0" err="1">
                <a:latin typeface="Montserrat" panose="00000500000000000000" pitchFamily="2" charset="0"/>
              </a:rPr>
              <a:t>Colab</a:t>
            </a:r>
            <a:r>
              <a:rPr lang="en-CA" dirty="0">
                <a:latin typeface="Montserrat" panose="00000500000000000000" pitchFamily="2" charset="0"/>
              </a:rPr>
              <a:t> here: </a:t>
            </a:r>
            <a:r>
              <a:rPr lang="en-CA" dirty="0">
                <a:latin typeface="Montserrat" panose="00000500000000000000" pitchFamily="2" charset="0"/>
                <a:hlinkClick r:id="rId4"/>
              </a:rPr>
              <a:t>https://drive.google.com/file/d/1N9OP52lXPketAz86vCLL7pybrJdTkI5j/view?usp=sharing</a:t>
            </a: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Montserrat" panose="00000500000000000000" pitchFamily="2" charset="0"/>
            </a:endParaRPr>
          </a:p>
        </p:txBody>
      </p:sp>
      <p:pic>
        <p:nvPicPr>
          <p:cNvPr id="1026" name="Picture 2" descr="Google Colab - Wikipedia">
            <a:extLst>
              <a:ext uri="{FF2B5EF4-FFF2-40B4-BE49-F238E27FC236}">
                <a16:creationId xmlns:a16="http://schemas.microsoft.com/office/drawing/2014/main" id="{2A0EE309-CA69-188B-68FE-A86B7EDE8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46" y="2486131"/>
            <a:ext cx="4054812" cy="232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18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6F5A-78F9-84C9-EC74-2A1DF560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FA6FF-DE84-C44D-264A-68C1F3AD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F1B477-3513-5B6B-BFBE-EEACAF31E595}"/>
              </a:ext>
            </a:extLst>
          </p:cNvPr>
          <p:cNvSpPr/>
          <p:nvPr/>
        </p:nvSpPr>
        <p:spPr>
          <a:xfrm>
            <a:off x="293915" y="489004"/>
            <a:ext cx="474345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BUILDING AI AGENTS WITH MEMORY USING CLAUDE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D2879-0772-1C12-1BC6-4CD217E6F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16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What You’ll Build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195" y="3455083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t>Setup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t>Create venv, install</a:t>
            </a:r>
            <a:br/>
            <a:r>
              <a:t>packages, .env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3035" y="3272203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54517" y="4369483"/>
            <a:ext cx="1611099" cy="41148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93048" y="3455083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EAF7FA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t>Agent (no mem)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t>Build agent, see</a:t>
            </a:r>
            <a:br/>
            <a:r>
              <a:t>it forget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98888" y="3272203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C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66096" y="4343400"/>
            <a:ext cx="1173621" cy="41148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67149" y="3429000"/>
            <a:ext cx="2468880" cy="2377440"/>
          </a:xfrm>
          <a:prstGeom prst="roundRect">
            <a:avLst>
              <a:gd name="adj" fmla="val 5000"/>
            </a:avLst>
          </a:prstGeom>
          <a:solidFill>
            <a:srgbClr val="FDF0EA"/>
          </a:solidFill>
          <a:ln w="1905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94360" rIns="137160" rtlCol="0" anchor="t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t>Add Memory</a:t>
            </a:r>
          </a:p>
          <a:p>
            <a:pPr algn="ctr">
              <a:spcBef>
                <a:spcPts val="1000"/>
              </a:spcBef>
              <a:defRPr sz="1400">
                <a:solidFill>
                  <a:srgbClr val="333333"/>
                </a:solidFill>
                <a:latin typeface="Montserrat"/>
              </a:defRPr>
            </a:pPr>
            <a:r>
              <a:t>One-line fix with</a:t>
            </a:r>
            <a:br/>
            <a:r>
              <a:t>SQLiteSession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2989" y="3246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AC6323-5809-D682-BAA6-568FE3AA07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pic>
        <p:nvPicPr>
          <p:cNvPr id="4" name="Picture 2" descr="AI Tools 101: Claude Code Guide to Build Real Apps Faster">
            <a:extLst>
              <a:ext uri="{FF2B5EF4-FFF2-40B4-BE49-F238E27FC236}">
                <a16:creationId xmlns:a16="http://schemas.microsoft.com/office/drawing/2014/main" id="{9A76EDE9-1A47-755B-E9AE-A85895218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927" y="672237"/>
            <a:ext cx="3899121" cy="250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6F3E-8DC0-87FC-337C-4F41D324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>
            <a:extLst>
              <a:ext uri="{FF2B5EF4-FFF2-40B4-BE49-F238E27FC236}">
                <a16:creationId xmlns:a16="http://schemas.microsoft.com/office/drawing/2014/main" id="{D0D27579-40EB-4094-C611-FDA4523A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150F90-0364-6E41-F4D7-EC50CB152C9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Agent Skills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E9B88-0AFA-4658-36E2-07F42C599AD9}"/>
              </a:ext>
            </a:extLst>
          </p:cNvPr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719A6E5-A072-3A9D-84B5-6DFAE5EC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14D45A-D26C-38E6-3F52-B895ADD83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49" y="1839218"/>
            <a:ext cx="9477375" cy="40020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9AC662-0191-073F-970C-C87787AA9F6B}"/>
              </a:ext>
            </a:extLst>
          </p:cNvPr>
          <p:cNvSpPr txBox="1"/>
          <p:nvPr/>
        </p:nvSpPr>
        <p:spPr>
          <a:xfrm>
            <a:off x="1250155" y="1026878"/>
            <a:ext cx="9148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/>
              <a:t>npx</a:t>
            </a:r>
            <a:r>
              <a:rPr lang="en-CA" dirty="0"/>
              <a:t> skills add https://github.com/laguagu/claude-code-nextjs-skills --skill </a:t>
            </a:r>
            <a:r>
              <a:rPr lang="en-CA" dirty="0" err="1"/>
              <a:t>openai</a:t>
            </a:r>
            <a:r>
              <a:rPr lang="en-CA" dirty="0"/>
              <a:t>-agents-</a:t>
            </a:r>
            <a:r>
              <a:rPr lang="en-CA" dirty="0" err="1"/>
              <a:t>sdk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03876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77A81C8-4111-592C-8746-7BBA07BBC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>
            <a:extLst>
              <a:ext uri="{FF2B5EF4-FFF2-40B4-BE49-F238E27FC236}">
                <a16:creationId xmlns:a16="http://schemas.microsoft.com/office/drawing/2014/main" id="{750EB20E-154F-F532-1CFC-29F5E123E8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82" y="-1"/>
            <a:ext cx="1219838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6F5BD04F-03F7-A7CC-F5F6-DDD4E90785DC}"/>
              </a:ext>
            </a:extLst>
          </p:cNvPr>
          <p:cNvSpPr/>
          <p:nvPr/>
        </p:nvSpPr>
        <p:spPr>
          <a:xfrm>
            <a:off x="134842" y="521528"/>
            <a:ext cx="394270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MULTI AI AGENTS WORKFLOWS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">
            <a:extLst>
              <a:ext uri="{FF2B5EF4-FFF2-40B4-BE49-F238E27FC236}">
                <a16:creationId xmlns:a16="http://schemas.microsoft.com/office/drawing/2014/main" id="{2F4E9671-9205-E59D-278B-A9E3DAE4B6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842" y="5586363"/>
            <a:ext cx="3856133" cy="10656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6015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DE15-2F04-4E80-060C-AAF38747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23C779-5142-E57D-4EDC-578C51DE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C50D5F-9208-3A62-DB02-F56A2C58E6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6733507-578E-C3C3-8ECD-8C2415E14AE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Multi AI Agents Workflows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1261F-CED3-A0CC-00EE-23842700390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4B93A-D3DA-8C8B-0B4A-6E3722658A61}"/>
              </a:ext>
            </a:extLst>
          </p:cNvPr>
          <p:cNvSpPr txBox="1"/>
          <p:nvPr/>
        </p:nvSpPr>
        <p:spPr>
          <a:xfrm>
            <a:off x="214058" y="863962"/>
            <a:ext cx="1146450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In this project, we will build a team of AI agents that work together to achieve a goal.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7C3CCA-DE44-D20D-C472-92D6CE85C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5E1F66-260E-5B2D-D412-84A72AD7E5BD}"/>
              </a:ext>
            </a:extLst>
          </p:cNvPr>
          <p:cNvSpPr/>
          <p:nvPr/>
        </p:nvSpPr>
        <p:spPr>
          <a:xfrm>
            <a:off x="8859924" y="1295132"/>
            <a:ext cx="2658836" cy="222086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C175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en-US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650F02-D5BA-3CC8-F5EA-E7377C5C10E2}"/>
              </a:ext>
            </a:extLst>
          </p:cNvPr>
          <p:cNvSpPr/>
          <p:nvPr/>
        </p:nvSpPr>
        <p:spPr>
          <a:xfrm>
            <a:off x="4953236" y="1386235"/>
            <a:ext cx="2797161" cy="222086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C175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en-US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C1E10-0ADA-C5F3-F307-68BB3C440EFE}"/>
              </a:ext>
            </a:extLst>
          </p:cNvPr>
          <p:cNvSpPr txBox="1"/>
          <p:nvPr/>
        </p:nvSpPr>
        <p:spPr>
          <a:xfrm>
            <a:off x="5044762" y="1445534"/>
            <a:ext cx="2334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Analyst AI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ACB667-7658-8E1F-F631-E61EFB63BFBC}"/>
              </a:ext>
            </a:extLst>
          </p:cNvPr>
          <p:cNvSpPr txBox="1"/>
          <p:nvPr/>
        </p:nvSpPr>
        <p:spPr>
          <a:xfrm>
            <a:off x="9021854" y="1343760"/>
            <a:ext cx="233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Writer AI Agent</a:t>
            </a:r>
          </a:p>
        </p:txBody>
      </p:sp>
      <p:pic>
        <p:nvPicPr>
          <p:cNvPr id="28" name="Picture 4" descr="Generated image">
            <a:extLst>
              <a:ext uri="{FF2B5EF4-FFF2-40B4-BE49-F238E27FC236}">
                <a16:creationId xmlns:a16="http://schemas.microsoft.com/office/drawing/2014/main" id="{B5595720-D339-3D7C-546A-0CE192902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005" y="2033170"/>
            <a:ext cx="1307941" cy="130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Generated image">
            <a:extLst>
              <a:ext uri="{FF2B5EF4-FFF2-40B4-BE49-F238E27FC236}">
                <a16:creationId xmlns:a16="http://schemas.microsoft.com/office/drawing/2014/main" id="{D47BECCA-71DF-C42C-8D30-9DD1394F1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072" y="1766000"/>
            <a:ext cx="1286576" cy="128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B5A9DC6-1D99-7F24-22C0-B4EA114F2C2A}"/>
              </a:ext>
            </a:extLst>
          </p:cNvPr>
          <p:cNvSpPr txBox="1"/>
          <p:nvPr/>
        </p:nvSpPr>
        <p:spPr>
          <a:xfrm>
            <a:off x="2923782" y="4503846"/>
            <a:ext cx="2334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dirty="0">
                <a:solidFill>
                  <a:srgbClr val="D56E48"/>
                </a:solidFill>
                <a:latin typeface="Montserrat" panose="00000500000000000000" pitchFamily="2" charset="0"/>
              </a:rPr>
              <a:t>Manager Function</a:t>
            </a:r>
          </a:p>
        </p:txBody>
      </p:sp>
      <p:pic>
        <p:nvPicPr>
          <p:cNvPr id="39" name="Picture 8" descr="Generated image">
            <a:extLst>
              <a:ext uri="{FF2B5EF4-FFF2-40B4-BE49-F238E27FC236}">
                <a16:creationId xmlns:a16="http://schemas.microsoft.com/office/drawing/2014/main" id="{F145F661-FF20-9C11-DD9A-1480B05C4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" b="24202"/>
          <a:stretch/>
        </p:blipFill>
        <p:spPr bwMode="auto">
          <a:xfrm>
            <a:off x="4665623" y="4285445"/>
            <a:ext cx="1473744" cy="112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EF9F2FFA-25C6-E15C-FD85-2DD166BBE568}"/>
              </a:ext>
            </a:extLst>
          </p:cNvPr>
          <p:cNvGrpSpPr/>
          <p:nvPr/>
        </p:nvGrpSpPr>
        <p:grpSpPr>
          <a:xfrm>
            <a:off x="985648" y="1456092"/>
            <a:ext cx="2879926" cy="2220866"/>
            <a:chOff x="618966" y="3325082"/>
            <a:chExt cx="2879926" cy="222086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35E30F9-4003-04AA-91A1-D73631634368}"/>
                </a:ext>
              </a:extLst>
            </p:cNvPr>
            <p:cNvSpPr/>
            <p:nvPr/>
          </p:nvSpPr>
          <p:spPr>
            <a:xfrm>
              <a:off x="671440" y="3325082"/>
              <a:ext cx="2737936" cy="2220866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0C1752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en-US" b="1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94CB72-4A57-9547-712C-9D02D66A4C75}"/>
                </a:ext>
              </a:extLst>
            </p:cNvPr>
            <p:cNvSpPr txBox="1"/>
            <p:nvPr/>
          </p:nvSpPr>
          <p:spPr>
            <a:xfrm>
              <a:off x="802603" y="3391049"/>
              <a:ext cx="23349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b="1" dirty="0">
                  <a:solidFill>
                    <a:srgbClr val="0C1752"/>
                  </a:solidFill>
                  <a:latin typeface="Montserrat" panose="00000500000000000000" pitchFamily="2" charset="0"/>
                </a:rPr>
                <a:t>Researcher AI Agent</a:t>
              </a:r>
            </a:p>
          </p:txBody>
        </p:sp>
        <p:pic>
          <p:nvPicPr>
            <p:cNvPr id="47" name="Picture 4" descr="Generated image">
              <a:extLst>
                <a:ext uri="{FF2B5EF4-FFF2-40B4-BE49-F238E27FC236}">
                  <a16:creationId xmlns:a16="http://schemas.microsoft.com/office/drawing/2014/main" id="{03666424-F955-2E77-DE58-739C6FDD3B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966" y="3934246"/>
              <a:ext cx="1307941" cy="1307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35777D2-7EBB-9C8F-13E7-76776B39F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25586" y="4639418"/>
              <a:ext cx="1873306" cy="754649"/>
            </a:xfrm>
            <a:prstGeom prst="rect">
              <a:avLst/>
            </a:prstGeom>
          </p:spPr>
        </p:pic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7B38D5-9741-FFD2-5207-DAED34A7D517}"/>
              </a:ext>
            </a:extLst>
          </p:cNvPr>
          <p:cNvCxnSpPr/>
          <p:nvPr/>
        </p:nvCxnSpPr>
        <p:spPr>
          <a:xfrm>
            <a:off x="3846783" y="2497935"/>
            <a:ext cx="1089320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4" descr="ChatGPT Logo transparent PNG - StickPNG">
            <a:extLst>
              <a:ext uri="{FF2B5EF4-FFF2-40B4-BE49-F238E27FC236}">
                <a16:creationId xmlns:a16="http://schemas.microsoft.com/office/drawing/2014/main" id="{B2A2DEE8-F318-1E5B-D140-9F1F13F6B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987" y="2246464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ChatGPT Logo transparent PNG - StickPNG">
            <a:extLst>
              <a:ext uri="{FF2B5EF4-FFF2-40B4-BE49-F238E27FC236}">
                <a16:creationId xmlns:a16="http://schemas.microsoft.com/office/drawing/2014/main" id="{DC49301D-2BE9-4592-1475-729ECB5A1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93" y="2245895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77E2A1F-082D-BBAF-715A-AF8A60C36973}"/>
              </a:ext>
            </a:extLst>
          </p:cNvPr>
          <p:cNvSpPr txBox="1"/>
          <p:nvPr/>
        </p:nvSpPr>
        <p:spPr>
          <a:xfrm>
            <a:off x="3470767" y="1690850"/>
            <a:ext cx="1834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Research Findings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44C8504-3E39-CAC3-B3CC-AD32A055684E}"/>
              </a:ext>
            </a:extLst>
          </p:cNvPr>
          <p:cNvCxnSpPr/>
          <p:nvPr/>
        </p:nvCxnSpPr>
        <p:spPr>
          <a:xfrm>
            <a:off x="7770604" y="2459226"/>
            <a:ext cx="1089320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5CDD364-657B-95AE-EFB4-91B917AEEDC7}"/>
              </a:ext>
            </a:extLst>
          </p:cNvPr>
          <p:cNvSpPr txBox="1"/>
          <p:nvPr/>
        </p:nvSpPr>
        <p:spPr>
          <a:xfrm>
            <a:off x="7684443" y="1543815"/>
            <a:ext cx="1165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Analysis &amp; Key Insights</a:t>
            </a:r>
          </a:p>
        </p:txBody>
      </p:sp>
      <p:pic>
        <p:nvPicPr>
          <p:cNvPr id="62" name="Picture 4" descr="ChatGPT Logo transparent PNG - StickPNG">
            <a:extLst>
              <a:ext uri="{FF2B5EF4-FFF2-40B4-BE49-F238E27FC236}">
                <a16:creationId xmlns:a16="http://schemas.microsoft.com/office/drawing/2014/main" id="{3B60D5E0-C472-A53C-8FF2-57F533870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0384" y="2061199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B378A687-F672-83F1-32AF-A868DFF317DA}"/>
              </a:ext>
            </a:extLst>
          </p:cNvPr>
          <p:cNvCxnSpPr>
            <a:cxnSpLocks/>
          </p:cNvCxnSpPr>
          <p:nvPr/>
        </p:nvCxnSpPr>
        <p:spPr>
          <a:xfrm>
            <a:off x="214058" y="2506913"/>
            <a:ext cx="771590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F954A947-4C56-B289-39D3-9FF791848BB6}"/>
              </a:ext>
            </a:extLst>
          </p:cNvPr>
          <p:cNvSpPr txBox="1"/>
          <p:nvPr/>
        </p:nvSpPr>
        <p:spPr>
          <a:xfrm>
            <a:off x="-403621" y="1951197"/>
            <a:ext cx="18341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Topic</a:t>
            </a:r>
          </a:p>
        </p:txBody>
      </p:sp>
      <p:sp>
        <p:nvSpPr>
          <p:cNvPr id="1031" name="Left Brace 1030">
            <a:extLst>
              <a:ext uri="{FF2B5EF4-FFF2-40B4-BE49-F238E27FC236}">
                <a16:creationId xmlns:a16="http://schemas.microsoft.com/office/drawing/2014/main" id="{FE3EF67B-D3CC-5C49-0FE5-731BE10A0BDC}"/>
              </a:ext>
            </a:extLst>
          </p:cNvPr>
          <p:cNvSpPr/>
          <p:nvPr/>
        </p:nvSpPr>
        <p:spPr>
          <a:xfrm rot="16200000">
            <a:off x="5549429" y="-1587120"/>
            <a:ext cx="1307941" cy="11164401"/>
          </a:xfrm>
          <a:prstGeom prst="leftBrace">
            <a:avLst>
              <a:gd name="adj1" fmla="val 114277"/>
              <a:gd name="adj2" fmla="val 50000"/>
            </a:avLst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DAB037A-DF39-696D-3D8D-12345F373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894" y="4350193"/>
            <a:ext cx="1830143" cy="183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C4CB691-E47F-F166-77B1-F52BB8F4C630}"/>
              </a:ext>
            </a:extLst>
          </p:cNvPr>
          <p:cNvCxnSpPr>
            <a:cxnSpLocks/>
          </p:cNvCxnSpPr>
          <p:nvPr/>
        </p:nvCxnSpPr>
        <p:spPr>
          <a:xfrm flipH="1">
            <a:off x="8859924" y="3607101"/>
            <a:ext cx="1122290" cy="97005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99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/>
      <p:bldP spid="14" grpId="0"/>
      <p:bldP spid="38" grpId="0"/>
      <p:bldP spid="59" grpId="0"/>
      <p:bldP spid="61" grpId="0"/>
      <p:bldP spid="1030" grpId="0"/>
      <p:bldP spid="10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7E04-8B27-42E1-F1CC-A4CAE9DA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579C8C-05E7-1880-568E-F1B2F6A3B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6BD9C-BC9B-5ED7-AED5-8190E7C8B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A0B0CF8-B7DB-2526-97A9-7A15D2C814A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Tavily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11253-31FB-0005-56E0-2EE56A61682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591239-E6E5-886B-A414-3E464485F64A}"/>
              </a:ext>
            </a:extLst>
          </p:cNvPr>
          <p:cNvSpPr txBox="1"/>
          <p:nvPr/>
        </p:nvSpPr>
        <p:spPr>
          <a:xfrm>
            <a:off x="214058" y="863962"/>
            <a:ext cx="1201391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 err="1"/>
              <a:t>Tavily</a:t>
            </a:r>
            <a:r>
              <a:rPr lang="en-US" sz="1800" dirty="0"/>
              <a:t> allows developers to connect AI agents to the web. </a:t>
            </a:r>
          </a:p>
          <a:p>
            <a:r>
              <a:rPr lang="en-US" sz="1800" dirty="0"/>
              <a:t>It’s used for Real-time search, extraction, research, and web crawling through a single, secure API.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D775DE4-9167-E118-5FF1-1940AE0C3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B4B6A6-347E-E721-5DB4-3AC02FCE28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CF6"/>
              </a:clrFrom>
              <a:clrTo>
                <a:srgbClr val="FFFC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0719" y="2086794"/>
            <a:ext cx="5958561" cy="31864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A73CBC-44D6-A4CE-3D7B-B24901E95F0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CF6"/>
              </a:clrFrom>
              <a:clrTo>
                <a:srgbClr val="FFFC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8249" y="2086794"/>
            <a:ext cx="5763063" cy="32257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2F5CF05-3565-9719-E70A-434ECA28533D}"/>
              </a:ext>
            </a:extLst>
          </p:cNvPr>
          <p:cNvSpPr txBox="1"/>
          <p:nvPr/>
        </p:nvSpPr>
        <p:spPr>
          <a:xfrm>
            <a:off x="3998948" y="6244291"/>
            <a:ext cx="6127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Montserrat" panose="00000500000000000000" pitchFamily="2" charset="0"/>
              </a:rPr>
              <a:t>Source: </a:t>
            </a:r>
            <a:r>
              <a:rPr lang="en-CA" dirty="0">
                <a:latin typeface="Montserrat" panose="00000500000000000000" pitchFamily="2" charset="0"/>
                <a:hlinkClick r:id="rId6"/>
              </a:rPr>
              <a:t>https://www.tavily.com/</a:t>
            </a:r>
            <a:endParaRPr lang="en-CA" dirty="0">
              <a:latin typeface="Montserrat" panose="00000500000000000000" pitchFamily="2" charset="0"/>
            </a:endParaRPr>
          </a:p>
          <a:p>
            <a:endParaRPr lang="en-CA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4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6620-3831-B9AB-F1DB-0BA10580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5EDF9A-6011-907E-EE5A-ED2477CC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B1850-35E4-3ECF-0670-4767056A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DEBF56-6EE6-076C-102C-4FD41140BA1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Pydantic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D3E14-E341-6833-1EBF-896296E335D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6DF8467-92A8-3F45-F141-BA1522FAC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3142258"/>
            <a:ext cx="5800725" cy="304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2EB1AA-CD7B-0100-1B62-32F35122CD40}"/>
              </a:ext>
            </a:extLst>
          </p:cNvPr>
          <p:cNvSpPr txBox="1"/>
          <p:nvPr/>
        </p:nvSpPr>
        <p:spPr>
          <a:xfrm>
            <a:off x="3202" y="768712"/>
            <a:ext cx="12073253" cy="502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600" dirty="0"/>
              <a:t>Pydantic is a Python library used to validate and parse data using Python type hints. It ensures that the data you get is clean, well-structured, and follows the rules you set.</a:t>
            </a:r>
          </a:p>
          <a:p>
            <a:r>
              <a:rPr lang="en-US" sz="1600" dirty="0"/>
              <a:t>How it works:</a:t>
            </a:r>
          </a:p>
          <a:p>
            <a:pPr lvl="1"/>
            <a:r>
              <a:rPr lang="en-US" sz="1600" dirty="0">
                <a:latin typeface="Montserrat" panose="00000500000000000000" pitchFamily="2" charset="0"/>
              </a:rPr>
              <a:t>You define a data structure using a class</a:t>
            </a:r>
          </a:p>
          <a:p>
            <a:pPr lvl="1"/>
            <a:r>
              <a:rPr lang="en-US" sz="1600" dirty="0">
                <a:latin typeface="Montserrat" panose="00000500000000000000" pitchFamily="2" charset="0"/>
              </a:rPr>
              <a:t>Pydantic ensures the data is correct (types, required fields, etc.)</a:t>
            </a:r>
          </a:p>
          <a:p>
            <a:pPr lvl="1"/>
            <a:r>
              <a:rPr lang="en-US" sz="1600" dirty="0">
                <a:latin typeface="Montserrat" panose="00000500000000000000" pitchFamily="2" charset="0"/>
              </a:rPr>
              <a:t>It even converts data automatically if possible (e.g., turns strings into numbers or dates)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0637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3596-E0F7-F4BC-9EB5-97527D32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64C846-509A-CF44-5FAD-0131A04DA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93BFE0-6809-D9F5-787A-646B91CFB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819F7DD-C554-A79F-A588-76C093A1EE2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DA30A-94BD-8D33-D735-2A3D4A1236A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550503-DDDC-226C-B653-AFCBFB59F808}"/>
              </a:ext>
            </a:extLst>
          </p:cNvPr>
          <p:cNvGraphicFramePr/>
          <p:nvPr/>
        </p:nvGraphicFramePr>
        <p:xfrm>
          <a:off x="88135" y="1447934"/>
          <a:ext cx="10241809" cy="4379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07D20191-2DF8-41EC-FD7B-27B8D87D878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214" y="658766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6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5B144B-1F07-44F2-86CF-749277D88B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D75B144B-1F07-44F2-86CF-749277D88B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99FCF71-E605-4C4F-BDC6-5A75B92BD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F99FCF71-E605-4C4F-BDC6-5A75B92BDD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D89B1CB-4958-4ECD-8D86-9F96736BB4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FD89B1CB-4958-4ECD-8D86-9F96736BB4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87F5B82-C07C-4498-B53E-66B06104FD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E87F5B82-C07C-4498-B53E-66B06104FD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6E87-699D-E661-1974-8BBF7E68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4BABE4-7C22-D3C2-8592-0C0F5434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198DFC-D1D2-3FA8-1739-D3DABC94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61395C3-91B5-6C42-F5CB-43A3B80E9FB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2: Build Multi-agent Workflows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B4C6B7-FE8E-B24F-4BB7-C804362D078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9A682-E1E7-9001-8B46-A65235702EB5}"/>
              </a:ext>
            </a:extLst>
          </p:cNvPr>
          <p:cNvSpPr txBox="1"/>
          <p:nvPr/>
        </p:nvSpPr>
        <p:spPr>
          <a:xfrm>
            <a:off x="154722" y="1049707"/>
            <a:ext cx="83937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panose="00000500000000000000" pitchFamily="2" charset="0"/>
              </a:rPr>
              <a:t>Access </a:t>
            </a:r>
            <a:r>
              <a:rPr lang="en-CA" dirty="0" err="1">
                <a:latin typeface="Montserrat" panose="00000500000000000000" pitchFamily="2" charset="0"/>
              </a:rPr>
              <a:t>Jupyter</a:t>
            </a:r>
            <a:r>
              <a:rPr lang="en-CA" dirty="0">
                <a:latin typeface="Montserrat" panose="00000500000000000000" pitchFamily="2" charset="0"/>
              </a:rPr>
              <a:t> Notebook on Google </a:t>
            </a:r>
            <a:r>
              <a:rPr lang="en-CA" dirty="0" err="1">
                <a:latin typeface="Montserrat" panose="00000500000000000000" pitchFamily="2" charset="0"/>
              </a:rPr>
              <a:t>Colab</a:t>
            </a:r>
            <a:r>
              <a:rPr lang="en-CA" dirty="0">
                <a:latin typeface="Montserrat" panose="00000500000000000000" pitchFamily="2" charset="0"/>
              </a:rPr>
              <a:t> here: </a:t>
            </a:r>
          </a:p>
          <a:p>
            <a:r>
              <a:rPr lang="en-CA" dirty="0">
                <a:latin typeface="Montserrat" panose="00000500000000000000" pitchFamily="2" charset="0"/>
                <a:hlinkClick r:id="rId4"/>
              </a:rPr>
              <a:t>https://drive.google.com/file/d/1IoUuiCqcYk4A69Emc4P1TfHLc3don8pj/view?usp=sharing</a:t>
            </a: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Montserrat" panose="00000500000000000000" pitchFamily="2" charset="0"/>
            </a:endParaRPr>
          </a:p>
        </p:txBody>
      </p:sp>
      <p:pic>
        <p:nvPicPr>
          <p:cNvPr id="1026" name="Picture 2" descr="Google Colab - Wikipedia">
            <a:extLst>
              <a:ext uri="{FF2B5EF4-FFF2-40B4-BE49-F238E27FC236}">
                <a16:creationId xmlns:a16="http://schemas.microsoft.com/office/drawing/2014/main" id="{2A0EE309-CA69-188B-68FE-A86B7EDE8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46" y="2486131"/>
            <a:ext cx="4054812" cy="232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390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81E2-8C74-ECEB-0FA0-DF92BF32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2A0CF0-4FD9-88F6-8268-202D833FC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60A64E-F85B-1B3D-B038-B77F74D0B492}"/>
              </a:ext>
            </a:extLst>
          </p:cNvPr>
          <p:cNvSpPr/>
          <p:nvPr/>
        </p:nvSpPr>
        <p:spPr>
          <a:xfrm>
            <a:off x="293915" y="258900"/>
            <a:ext cx="495185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MULTI-AGENT WORKFLOWS WITH CLAUDE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25B869-7B92-1CF0-0C43-3DA8E7D8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76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8C334C-3EE5-4C71-E4FE-AF3118EF0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518262-3F14-C43A-FC2E-768AF8036959}"/>
              </a:ext>
            </a:extLst>
          </p:cNvPr>
          <p:cNvSpPr/>
          <p:nvPr/>
        </p:nvSpPr>
        <p:spPr>
          <a:xfrm>
            <a:off x="8959813" y="1599783"/>
            <a:ext cx="2658836" cy="2220867"/>
          </a:xfrm>
          <a:prstGeom prst="roundRect">
            <a:avLst/>
          </a:prstGeom>
          <a:noFill/>
          <a:ln w="57150">
            <a:solidFill>
              <a:srgbClr val="02291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4"/>
            <a:endParaRPr lang="en-US" sz="140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048C1E-4689-424D-3710-3A6F4719DEB9}"/>
              </a:ext>
            </a:extLst>
          </p:cNvPr>
          <p:cNvSpPr/>
          <p:nvPr/>
        </p:nvSpPr>
        <p:spPr>
          <a:xfrm>
            <a:off x="5053125" y="1690886"/>
            <a:ext cx="2797161" cy="2220867"/>
          </a:xfrm>
          <a:prstGeom prst="roundRect">
            <a:avLst/>
          </a:prstGeom>
          <a:noFill/>
          <a:ln w="57150">
            <a:solidFill>
              <a:srgbClr val="02291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4"/>
            <a:endParaRPr lang="en-US" sz="140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48DF0-7462-0454-0F4B-8812849CA4F5}"/>
              </a:ext>
            </a:extLst>
          </p:cNvPr>
          <p:cNvSpPr txBox="1"/>
          <p:nvPr/>
        </p:nvSpPr>
        <p:spPr>
          <a:xfrm>
            <a:off x="5144651" y="1750186"/>
            <a:ext cx="2334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000" b="1" dirty="0">
                <a:solidFill>
                  <a:srgbClr val="022911"/>
                </a:solidFill>
                <a:latin typeface="Montserrat" panose="00000500000000000000" pitchFamily="2" charset="0"/>
              </a:rPr>
              <a:t>Analyst AI Agent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1AC6DC-ADD8-8FBB-E56A-056156966E4C}"/>
              </a:ext>
            </a:extLst>
          </p:cNvPr>
          <p:cNvSpPr txBox="1"/>
          <p:nvPr/>
        </p:nvSpPr>
        <p:spPr>
          <a:xfrm>
            <a:off x="9121743" y="1648411"/>
            <a:ext cx="233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000" b="1" dirty="0">
                <a:solidFill>
                  <a:srgbClr val="022911"/>
                </a:solidFill>
                <a:latin typeface="Montserrat" panose="00000500000000000000" pitchFamily="2" charset="0"/>
              </a:rPr>
              <a:t>Writer AI Agent</a:t>
            </a:r>
          </a:p>
        </p:txBody>
      </p:sp>
      <p:pic>
        <p:nvPicPr>
          <p:cNvPr id="23" name="Picture 4" descr="Generated image">
            <a:extLst>
              <a:ext uri="{FF2B5EF4-FFF2-40B4-BE49-F238E27FC236}">
                <a16:creationId xmlns:a16="http://schemas.microsoft.com/office/drawing/2014/main" id="{36780946-EA2E-C5E8-66B4-6F1D3FCD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94" y="2337822"/>
            <a:ext cx="1307941" cy="130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Generated image">
            <a:extLst>
              <a:ext uri="{FF2B5EF4-FFF2-40B4-BE49-F238E27FC236}">
                <a16:creationId xmlns:a16="http://schemas.microsoft.com/office/drawing/2014/main" id="{53732FE8-2625-BA1F-584B-8322A3A07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743" y="2277725"/>
            <a:ext cx="1286576" cy="128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A79A216-F7C3-AC73-E4CC-F8180EBB670C}"/>
              </a:ext>
            </a:extLst>
          </p:cNvPr>
          <p:cNvSpPr txBox="1"/>
          <p:nvPr/>
        </p:nvSpPr>
        <p:spPr>
          <a:xfrm>
            <a:off x="2809677" y="4351585"/>
            <a:ext cx="2334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CA" sz="2000" b="1" dirty="0">
                <a:solidFill>
                  <a:srgbClr val="D56E48"/>
                </a:solidFill>
                <a:latin typeface="Montserrat" panose="00000500000000000000" pitchFamily="2" charset="0"/>
              </a:rPr>
              <a:t>Manager Function</a:t>
            </a:r>
          </a:p>
        </p:txBody>
      </p:sp>
      <p:pic>
        <p:nvPicPr>
          <p:cNvPr id="26" name="Picture 8" descr="Generated image">
            <a:extLst>
              <a:ext uri="{FF2B5EF4-FFF2-40B4-BE49-F238E27FC236}">
                <a16:creationId xmlns:a16="http://schemas.microsoft.com/office/drawing/2014/main" id="{4F247EFC-FD7A-9B84-842B-BB8DEE720D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" b="24202"/>
          <a:stretch/>
        </p:blipFill>
        <p:spPr bwMode="auto">
          <a:xfrm>
            <a:off x="4392419" y="4254074"/>
            <a:ext cx="1287143" cy="98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475F798-42B1-7107-53F1-01F136589969}"/>
              </a:ext>
            </a:extLst>
          </p:cNvPr>
          <p:cNvGrpSpPr/>
          <p:nvPr/>
        </p:nvGrpSpPr>
        <p:grpSpPr>
          <a:xfrm>
            <a:off x="1138010" y="1760743"/>
            <a:ext cx="2827452" cy="2220867"/>
            <a:chOff x="671440" y="3325082"/>
            <a:chExt cx="2827452" cy="222086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F193110-8EEF-6D67-3990-50CE4D368B9E}"/>
                </a:ext>
              </a:extLst>
            </p:cNvPr>
            <p:cNvSpPr/>
            <p:nvPr/>
          </p:nvSpPr>
          <p:spPr>
            <a:xfrm>
              <a:off x="671440" y="3325082"/>
              <a:ext cx="2737936" cy="2220866"/>
            </a:xfrm>
            <a:prstGeom prst="roundRect">
              <a:avLst/>
            </a:prstGeom>
            <a:noFill/>
            <a:ln w="57150">
              <a:solidFill>
                <a:srgbClr val="022911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4"/>
              <a:endParaRPr lang="en-US" sz="1400" b="1" dirty="0">
                <a:solidFill>
                  <a:srgbClr val="02291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A7A973-45CA-5ABD-5318-56D3434023E6}"/>
                </a:ext>
              </a:extLst>
            </p:cNvPr>
            <p:cNvSpPr txBox="1"/>
            <p:nvPr/>
          </p:nvSpPr>
          <p:spPr>
            <a:xfrm>
              <a:off x="802603" y="3391049"/>
              <a:ext cx="23349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/>
              <a:r>
                <a:rPr lang="en-CA" sz="2000" b="1" dirty="0">
                  <a:solidFill>
                    <a:srgbClr val="022911"/>
                  </a:solidFill>
                  <a:latin typeface="Montserrat" panose="00000500000000000000" pitchFamily="2" charset="0"/>
                </a:rPr>
                <a:t>Researcher AI Agent</a:t>
              </a:r>
            </a:p>
          </p:txBody>
        </p:sp>
        <p:pic>
          <p:nvPicPr>
            <p:cNvPr id="30" name="Picture 4" descr="Generated image">
              <a:extLst>
                <a:ext uri="{FF2B5EF4-FFF2-40B4-BE49-F238E27FC236}">
                  <a16:creationId xmlns:a16="http://schemas.microsoft.com/office/drawing/2014/main" id="{077EECE9-7E09-456B-24F4-84D40AFD79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129" y="3954316"/>
              <a:ext cx="1307941" cy="1307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289D488-7317-9DFB-51D7-929112A72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25586" y="4639418"/>
              <a:ext cx="1873306" cy="754649"/>
            </a:xfrm>
            <a:prstGeom prst="rect">
              <a:avLst/>
            </a:prstGeom>
          </p:spPr>
        </p:pic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483185-DA0A-C9E2-5B14-FE43865B8EE1}"/>
              </a:ext>
            </a:extLst>
          </p:cNvPr>
          <p:cNvCxnSpPr>
            <a:cxnSpLocks/>
          </p:cNvCxnSpPr>
          <p:nvPr/>
        </p:nvCxnSpPr>
        <p:spPr>
          <a:xfrm>
            <a:off x="3875946" y="2802586"/>
            <a:ext cx="1160045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4" descr="ChatGPT Logo transparent PNG - StickPNG">
            <a:extLst>
              <a:ext uri="{FF2B5EF4-FFF2-40B4-BE49-F238E27FC236}">
                <a16:creationId xmlns:a16="http://schemas.microsoft.com/office/drawing/2014/main" id="{41684BAD-606A-528E-BB9E-7C368ADF2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875" y="2551116"/>
            <a:ext cx="679591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ChatGPT Logo transparent PNG - StickPNG">
            <a:extLst>
              <a:ext uri="{FF2B5EF4-FFF2-40B4-BE49-F238E27FC236}">
                <a16:creationId xmlns:a16="http://schemas.microsoft.com/office/drawing/2014/main" id="{24DB1419-C8D9-81DD-4CC4-598300401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082" y="2550547"/>
            <a:ext cx="679591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8E8F177-19FE-20F9-978D-B6961FC65DC1}"/>
              </a:ext>
            </a:extLst>
          </p:cNvPr>
          <p:cNvSpPr txBox="1"/>
          <p:nvPr/>
        </p:nvSpPr>
        <p:spPr>
          <a:xfrm>
            <a:off x="3570657" y="1995503"/>
            <a:ext cx="1834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Research Findings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A12459-9BE4-BBBB-6E92-3EC16F8FCCB6}"/>
              </a:ext>
            </a:extLst>
          </p:cNvPr>
          <p:cNvCxnSpPr>
            <a:cxnSpLocks/>
          </p:cNvCxnSpPr>
          <p:nvPr/>
        </p:nvCxnSpPr>
        <p:spPr>
          <a:xfrm>
            <a:off x="7850286" y="2763878"/>
            <a:ext cx="1109527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9966517-1F13-C680-7481-37F00A6BD016}"/>
              </a:ext>
            </a:extLst>
          </p:cNvPr>
          <p:cNvSpPr txBox="1"/>
          <p:nvPr/>
        </p:nvSpPr>
        <p:spPr>
          <a:xfrm>
            <a:off x="7784331" y="1848468"/>
            <a:ext cx="1165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Analysis &amp; Key Insights</a:t>
            </a:r>
          </a:p>
        </p:txBody>
      </p:sp>
      <p:pic>
        <p:nvPicPr>
          <p:cNvPr id="38" name="Picture 4" descr="ChatGPT Logo transparent PNG - StickPNG">
            <a:extLst>
              <a:ext uri="{FF2B5EF4-FFF2-40B4-BE49-F238E27FC236}">
                <a16:creationId xmlns:a16="http://schemas.microsoft.com/office/drawing/2014/main" id="{7406637E-6662-DF97-5BA5-510A8C57B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845" y="2562977"/>
            <a:ext cx="679591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5227C9-E807-0EE8-A743-E3B4FD7D043A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3017" y="2871177"/>
            <a:ext cx="1124992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eft Brace 39">
            <a:extLst>
              <a:ext uri="{FF2B5EF4-FFF2-40B4-BE49-F238E27FC236}">
                <a16:creationId xmlns:a16="http://schemas.microsoft.com/office/drawing/2014/main" id="{A7868760-5147-5101-86AD-9361681C0FAB}"/>
              </a:ext>
            </a:extLst>
          </p:cNvPr>
          <p:cNvSpPr/>
          <p:nvPr/>
        </p:nvSpPr>
        <p:spPr>
          <a:xfrm rot="16200000">
            <a:off x="5676283" y="-1052303"/>
            <a:ext cx="1307941" cy="10704072"/>
          </a:xfrm>
          <a:prstGeom prst="leftBrace">
            <a:avLst>
              <a:gd name="adj1" fmla="val 114277"/>
              <a:gd name="adj2" fmla="val 50000"/>
            </a:avLst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77"/>
            <a:endParaRPr lang="en-CA" sz="140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Picture 4">
            <a:extLst>
              <a:ext uri="{FF2B5EF4-FFF2-40B4-BE49-F238E27FC236}">
                <a16:creationId xmlns:a16="http://schemas.microsoft.com/office/drawing/2014/main" id="{5A18E8BD-6E3E-1D6C-D03A-1A260D69F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191" y="5632192"/>
            <a:ext cx="1160077" cy="116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291A06-6092-2D99-B44C-7BAA425EFFB0}"/>
              </a:ext>
            </a:extLst>
          </p:cNvPr>
          <p:cNvCxnSpPr>
            <a:cxnSpLocks/>
          </p:cNvCxnSpPr>
          <p:nvPr/>
        </p:nvCxnSpPr>
        <p:spPr>
          <a:xfrm>
            <a:off x="10289229" y="3820650"/>
            <a:ext cx="0" cy="186304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88A6F80-D617-AA83-5D4A-257ACEBE804F}"/>
              </a:ext>
            </a:extLst>
          </p:cNvPr>
          <p:cNvSpPr txBox="1"/>
          <p:nvPr/>
        </p:nvSpPr>
        <p:spPr>
          <a:xfrm>
            <a:off x="-549148" y="2389978"/>
            <a:ext cx="18341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97757"/>
                </a:solidFill>
                <a:latin typeface="Montserrat" panose="00000500000000000000" pitchFamily="2" charset="0"/>
              </a:rPr>
              <a:t>Topic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CB765C7-42EC-1DFB-9F37-6E7F3887FFD8}"/>
              </a:ext>
            </a:extLst>
          </p:cNvPr>
          <p:cNvSpPr/>
          <p:nvPr/>
        </p:nvSpPr>
        <p:spPr>
          <a:xfrm>
            <a:off x="795478" y="1433425"/>
            <a:ext cx="11084417" cy="3843285"/>
          </a:xfrm>
          <a:prstGeom prst="roundRect">
            <a:avLst/>
          </a:prstGeom>
          <a:noFill/>
          <a:ln w="38100">
            <a:solidFill>
              <a:srgbClr val="02291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1A4971-23A6-1825-B4EB-2315ED105B7A}"/>
              </a:ext>
            </a:extLst>
          </p:cNvPr>
          <p:cNvSpPr txBox="1"/>
          <p:nvPr/>
        </p:nvSpPr>
        <p:spPr>
          <a:xfrm>
            <a:off x="9380824" y="746290"/>
            <a:ext cx="1423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latin typeface="Montserrat" panose="00000500000000000000" pitchFamily="2" charset="0"/>
              </a:rPr>
              <a:t>OpenAI Agents SDK</a:t>
            </a:r>
            <a:endParaRPr lang="en-CA" sz="800" b="1" dirty="0">
              <a:latin typeface="Montserrat" panose="00000500000000000000" pitchFamily="2" charset="0"/>
            </a:endParaRPr>
          </a:p>
        </p:txBody>
      </p:sp>
      <p:pic>
        <p:nvPicPr>
          <p:cNvPr id="46" name="Picture 4" descr="ChatGPT Logo transparent PNG - StickPNG">
            <a:extLst>
              <a:ext uri="{FF2B5EF4-FFF2-40B4-BE49-F238E27FC236}">
                <a16:creationId xmlns:a16="http://schemas.microsoft.com/office/drawing/2014/main" id="{A038CFF4-B075-8170-FA37-D0580B8B1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4541" y="676963"/>
            <a:ext cx="679591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n8n - Wikipedia">
            <a:extLst>
              <a:ext uri="{FF2B5EF4-FFF2-40B4-BE49-F238E27FC236}">
                <a16:creationId xmlns:a16="http://schemas.microsoft.com/office/drawing/2014/main" id="{4CCACFE6-8B68-644D-590F-59E828EB9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29" y="634344"/>
            <a:ext cx="1845439" cy="7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 descr="LangGraph Beginner to Advance: Part 2: Hello World Graph in LangGraph | by  Talib | Towards AI">
            <a:extLst>
              <a:ext uri="{FF2B5EF4-FFF2-40B4-BE49-F238E27FC236}">
                <a16:creationId xmlns:a16="http://schemas.microsoft.com/office/drawing/2014/main" id="{2EEB1D8D-04F6-2250-ACB2-07C2FF7D01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7" r="1814" b="28377"/>
          <a:stretch>
            <a:fillRect/>
          </a:stretch>
        </p:blipFill>
        <p:spPr bwMode="auto">
          <a:xfrm>
            <a:off x="6187930" y="673553"/>
            <a:ext cx="1561652" cy="68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 descr="CrewAI Guide: Build Multi-Agent AI Teams in October 2025">
            <a:extLst>
              <a:ext uri="{FF2B5EF4-FFF2-40B4-BE49-F238E27FC236}">
                <a16:creationId xmlns:a16="http://schemas.microsoft.com/office/drawing/2014/main" id="{EA3CD957-7E95-E9AA-74F1-87A760C1D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43" y="747246"/>
            <a:ext cx="1718064" cy="54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66FF8A1-AEE4-447A-CC0C-6B8173C173E2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36695" y="693104"/>
            <a:ext cx="838191" cy="6832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/>
      <p:bldP spid="22" grpId="0"/>
      <p:bldP spid="25" grpId="0"/>
      <p:bldP spid="35" grpId="0"/>
      <p:bldP spid="37" grpId="0"/>
      <p:bldP spid="40" grpId="0" animBg="1"/>
      <p:bldP spid="43" grpId="0"/>
      <p:bldP spid="44" grpId="0" animBg="1"/>
      <p:bldP spid="4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A5BA-F71E-6A13-5802-FB1C2534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19DE96-8831-84BA-0E96-0C88434FF8DA}"/>
              </a:ext>
            </a:extLst>
          </p:cNvPr>
          <p:cNvSpPr/>
          <p:nvPr/>
        </p:nvSpPr>
        <p:spPr>
          <a:xfrm>
            <a:off x="163361" y="26497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The Problem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5F6186-5517-A41E-2B43-7AA451F4A40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2F2EF"/>
              </a:clrFrom>
              <a:clrTo>
                <a:srgbClr val="F2F2EF">
                  <a:alpha val="0"/>
                </a:srgbClr>
              </a:clrTo>
            </a:clrChange>
          </a:blip>
          <a:srcRect r="390" b="3282"/>
          <a:stretch>
            <a:fillRect/>
          </a:stretch>
        </p:blipFill>
        <p:spPr>
          <a:xfrm>
            <a:off x="-77117" y="245616"/>
            <a:ext cx="12144453" cy="6197412"/>
          </a:xfrm>
          <a:prstGeom prst="rect">
            <a:avLst/>
          </a:prstGeom>
        </p:spPr>
      </p:pic>
      <p:pic>
        <p:nvPicPr>
          <p:cNvPr id="52" name="Picture 2" descr="What comes next, if Claude Code is as good as people say.">
            <a:extLst>
              <a:ext uri="{FF2B5EF4-FFF2-40B4-BE49-F238E27FC236}">
                <a16:creationId xmlns:a16="http://schemas.microsoft.com/office/drawing/2014/main" id="{15BCDC76-776D-92F6-3B1A-C2E715753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77" y="5130327"/>
            <a:ext cx="2090581" cy="108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100C113-A454-51BD-6CD2-F9641FA3E17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58" r="21355"/>
          <a:stretch>
            <a:fillRect/>
          </a:stretch>
        </p:blipFill>
        <p:spPr>
          <a:xfrm>
            <a:off x="3474358" y="4995449"/>
            <a:ext cx="3038460" cy="1295072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24FF780-BEE5-F848-15FF-82AC3D6165E1}"/>
              </a:ext>
            </a:extLst>
          </p:cNvPr>
          <p:cNvCxnSpPr>
            <a:cxnSpLocks/>
          </p:cNvCxnSpPr>
          <p:nvPr/>
        </p:nvCxnSpPr>
        <p:spPr>
          <a:xfrm>
            <a:off x="1624338" y="3878915"/>
            <a:ext cx="0" cy="896648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31231BE-3DA2-3CA9-3890-27D70F8435B4}"/>
              </a:ext>
            </a:extLst>
          </p:cNvPr>
          <p:cNvSpPr txBox="1"/>
          <p:nvPr/>
        </p:nvSpPr>
        <p:spPr>
          <a:xfrm>
            <a:off x="226260" y="3535240"/>
            <a:ext cx="2189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Skills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7109E6E-103A-3B54-B88F-4E93C35E9DCF}"/>
              </a:ext>
            </a:extLst>
          </p:cNvPr>
          <p:cNvCxnSpPr>
            <a:cxnSpLocks/>
          </p:cNvCxnSpPr>
          <p:nvPr/>
        </p:nvCxnSpPr>
        <p:spPr>
          <a:xfrm flipV="1">
            <a:off x="6566308" y="4020782"/>
            <a:ext cx="2187241" cy="1729472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2E4871D-FCF9-9F7A-61E2-917689EE213E}"/>
              </a:ext>
            </a:extLst>
          </p:cNvPr>
          <p:cNvSpPr/>
          <p:nvPr/>
        </p:nvSpPr>
        <p:spPr>
          <a:xfrm>
            <a:off x="1356517" y="4803330"/>
            <a:ext cx="5209791" cy="1704355"/>
          </a:xfrm>
          <a:prstGeom prst="roundRect">
            <a:avLst/>
          </a:prstGeom>
          <a:noFill/>
          <a:ln w="38100"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B71A7B1-2417-5F56-B4C4-1A6F89B40E03}"/>
              </a:ext>
            </a:extLst>
          </p:cNvPr>
          <p:cNvCxnSpPr>
            <a:cxnSpLocks/>
          </p:cNvCxnSpPr>
          <p:nvPr/>
        </p:nvCxnSpPr>
        <p:spPr>
          <a:xfrm>
            <a:off x="2719036" y="3860999"/>
            <a:ext cx="0" cy="896648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92591B-4689-2485-2CDD-AD9C88AE61BA}"/>
              </a:ext>
            </a:extLst>
          </p:cNvPr>
          <p:cNvSpPr txBox="1"/>
          <p:nvPr/>
        </p:nvSpPr>
        <p:spPr>
          <a:xfrm>
            <a:off x="1320961" y="3557131"/>
            <a:ext cx="2189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Instructions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19E5B89-360E-BF0C-B8A8-BF2F34FB7763}"/>
              </a:ext>
            </a:extLst>
          </p:cNvPr>
          <p:cNvCxnSpPr>
            <a:cxnSpLocks/>
          </p:cNvCxnSpPr>
          <p:nvPr/>
        </p:nvCxnSpPr>
        <p:spPr>
          <a:xfrm>
            <a:off x="90527" y="5921982"/>
            <a:ext cx="1260109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2D4403F-1978-3F0B-83FF-C32030F58A8C}"/>
              </a:ext>
            </a:extLst>
          </p:cNvPr>
          <p:cNvSpPr txBox="1"/>
          <p:nvPr/>
        </p:nvSpPr>
        <p:spPr>
          <a:xfrm>
            <a:off x="-50791" y="4958056"/>
            <a:ext cx="15078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Implement workflow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2D77D0-680A-BA69-D351-F4B05F3CC96C}"/>
              </a:ext>
            </a:extLst>
          </p:cNvPr>
          <p:cNvSpPr txBox="1"/>
          <p:nvPr/>
        </p:nvSpPr>
        <p:spPr>
          <a:xfrm>
            <a:off x="7064973" y="4990005"/>
            <a:ext cx="2189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CA" sz="1600" b="1" dirty="0">
                <a:solidFill>
                  <a:srgbClr val="D56E48"/>
                </a:solidFill>
                <a:latin typeface="Montserrat" panose="00000500000000000000" pitchFamily="2" charset="0"/>
              </a:rPr>
              <a:t>Workflow Generated!</a:t>
            </a:r>
          </a:p>
        </p:txBody>
      </p:sp>
    </p:spTree>
    <p:extLst>
      <p:ext uri="{BB962C8B-B14F-4D97-AF65-F5344CB8AC3E}">
        <p14:creationId xmlns:p14="http://schemas.microsoft.com/office/powerpoint/2010/main" val="255446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96296E-6 L 0.08594 -0.0873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8" y="-4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 animBg="1"/>
      <p:bldP spid="59" grpId="0"/>
      <p:bldP spid="61" grpId="0"/>
      <p:bldP spid="6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7AECE-A6C8-90AF-8803-E1920B67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>
            <a:extLst>
              <a:ext uri="{FF2B5EF4-FFF2-40B4-BE49-F238E27FC236}">
                <a16:creationId xmlns:a16="http://schemas.microsoft.com/office/drawing/2014/main" id="{F84BF044-7763-10B0-825F-4BCCF901E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CC45F1-E30C-EAF1-1F82-A84AACF245B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What You’ll Build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8D4B3-D279-775E-CA6E-90F2BBC85637}"/>
              </a:ext>
            </a:extLst>
          </p:cNvPr>
          <p:cNvSpPr txBox="1"/>
          <p:nvPr/>
        </p:nvSpPr>
        <p:spPr>
          <a:xfrm rot="162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C1A8B5-AA78-C16A-EEFE-3FE35BC1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pic>
        <p:nvPicPr>
          <p:cNvPr id="4" name="Picture 2" descr="AI Tools 101: Claude Code Guide to Build Real Apps Faster">
            <a:extLst>
              <a:ext uri="{FF2B5EF4-FFF2-40B4-BE49-F238E27FC236}">
                <a16:creationId xmlns:a16="http://schemas.microsoft.com/office/drawing/2014/main" id="{E2FF76A9-E206-DFE3-D85D-34888E864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827" y="1863730"/>
            <a:ext cx="4865947" cy="313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154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6314</TotalTime>
  <Words>2748</Words>
  <Application>Microsoft Office PowerPoint</Application>
  <PresentationFormat>Widescreen</PresentationFormat>
  <Paragraphs>456</Paragraphs>
  <Slides>44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DM Sans</vt:lpstr>
      <vt:lpstr>Georgia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707</cp:revision>
  <dcterms:created xsi:type="dcterms:W3CDTF">2019-11-18T17:58:36Z</dcterms:created>
  <dcterms:modified xsi:type="dcterms:W3CDTF">2026-03-16T02:08:35Z</dcterms:modified>
</cp:coreProperties>
</file>