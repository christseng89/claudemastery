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565" r:id="rId2"/>
    <p:sldId id="4203" r:id="rId3"/>
    <p:sldId id="4208" r:id="rId4"/>
    <p:sldId id="569" r:id="rId5"/>
    <p:sldId id="4302" r:id="rId6"/>
    <p:sldId id="4207" r:id="rId7"/>
    <p:sldId id="4291" r:id="rId8"/>
    <p:sldId id="4292" r:id="rId9"/>
    <p:sldId id="4211" r:id="rId10"/>
    <p:sldId id="4298" r:id="rId11"/>
    <p:sldId id="4209" r:id="rId12"/>
    <p:sldId id="4297" r:id="rId13"/>
    <p:sldId id="4290" r:id="rId14"/>
    <p:sldId id="259" r:id="rId15"/>
    <p:sldId id="257" r:id="rId16"/>
    <p:sldId id="4306" r:id="rId17"/>
    <p:sldId id="4307" r:id="rId18"/>
    <p:sldId id="4308" r:id="rId19"/>
    <p:sldId id="4277" r:id="rId20"/>
    <p:sldId id="4278" r:id="rId21"/>
    <p:sldId id="4281" r:id="rId22"/>
    <p:sldId id="4282" r:id="rId23"/>
    <p:sldId id="4305" r:id="rId24"/>
    <p:sldId id="4295" r:id="rId25"/>
    <p:sldId id="4212" r:id="rId26"/>
    <p:sldId id="4213" r:id="rId27"/>
    <p:sldId id="4296" r:id="rId28"/>
    <p:sldId id="4303" r:id="rId29"/>
    <p:sldId id="4304" r:id="rId30"/>
    <p:sldId id="4299" r:id="rId31"/>
    <p:sldId id="4214" r:id="rId32"/>
    <p:sldId id="4309" r:id="rId33"/>
    <p:sldId id="4210" r:id="rId34"/>
    <p:sldId id="4300" r:id="rId35"/>
    <p:sldId id="4301" r:id="rId36"/>
    <p:sldId id="4310" r:id="rId37"/>
    <p:sldId id="4293" r:id="rId38"/>
    <p:sldId id="4294" r:id="rId39"/>
    <p:sldId id="2772"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1BBFD1"/>
    <a:srgbClr val="D56E48"/>
    <a:srgbClr val="11CCDD"/>
    <a:srgbClr val="F9F9F9"/>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50" autoAdjust="0"/>
    <p:restoredTop sz="94721"/>
  </p:normalViewPr>
  <p:slideViewPr>
    <p:cSldViewPr snapToGrid="0" snapToObjects="1">
      <p:cViewPr varScale="1">
        <p:scale>
          <a:sx n="87" d="100"/>
          <a:sy n="87" d="100"/>
        </p:scale>
        <p:origin x="261" y="7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BB715B-7861-4623-B455-2278A068250D}"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69F15D09-4FB3-476C-8B81-089C5D955308}">
      <dgm:prSet custT="1"/>
      <dgm:spPr>
        <a:solidFill>
          <a:srgbClr val="0C1752"/>
        </a:solidFill>
      </dgm:spPr>
      <dgm:t>
        <a:bodyPr/>
        <a:lstStyle/>
        <a:p>
          <a:pPr>
            <a:buNone/>
          </a:pPr>
          <a:r>
            <a:rPr lang="en-US" sz="1700" dirty="0">
              <a:latin typeface="Montserrat" panose="00000500000000000000" pitchFamily="2" charset="0"/>
            </a:rPr>
            <a:t>Explain what Claude Cowork is and how its core components (Skills, Plugins, and Connectors like Gmail) work together.</a:t>
          </a:r>
        </a:p>
      </dgm:t>
    </dgm:pt>
    <dgm:pt modelId="{FE03FB4A-8C35-4BDF-A455-6B4CA7979D93}" type="parTrans" cxnId="{D05E3E76-4C9F-4D0E-B6E2-E32CD7F6128E}">
      <dgm:prSet/>
      <dgm:spPr/>
      <dgm:t>
        <a:bodyPr/>
        <a:lstStyle/>
        <a:p>
          <a:endParaRPr lang="en-CA"/>
        </a:p>
      </dgm:t>
    </dgm:pt>
    <dgm:pt modelId="{AA84B12C-7878-437C-B9E2-1F0D60EBBF75}" type="sibTrans" cxnId="{D05E3E76-4C9F-4D0E-B6E2-E32CD7F6128E}">
      <dgm:prSet/>
      <dgm:spPr/>
      <dgm:t>
        <a:bodyPr/>
        <a:lstStyle/>
        <a:p>
          <a:endParaRPr lang="en-CA"/>
        </a:p>
      </dgm:t>
    </dgm:pt>
    <dgm:pt modelId="{29863779-49CA-4E64-AC7E-ED5B5378EFA9}">
      <dgm:prSet custT="1"/>
      <dgm:spPr>
        <a:solidFill>
          <a:srgbClr val="D56E48"/>
        </a:solidFill>
      </dgm:spPr>
      <dgm:t>
        <a:bodyPr/>
        <a:lstStyle/>
        <a:p>
          <a:pPr>
            <a:buNone/>
          </a:pPr>
          <a:r>
            <a:rPr lang="en-US" sz="1700" dirty="0">
              <a:latin typeface="Montserrat" panose="00000500000000000000" pitchFamily="2" charset="0"/>
            </a:rPr>
            <a:t>Effectively use </a:t>
          </a:r>
          <a:r>
            <a:rPr lang="en-US" sz="1700" b="1" dirty="0">
              <a:solidFill>
                <a:schemeClr val="accent5">
                  <a:lumMod val="50000"/>
                </a:schemeClr>
              </a:solidFill>
              <a:latin typeface="Montserrat" panose="00000500000000000000" pitchFamily="2" charset="0"/>
            </a:rPr>
            <a:t>existing</a:t>
          </a:r>
          <a:r>
            <a:rPr lang="en-US" sz="1700" dirty="0">
              <a:latin typeface="Montserrat" panose="00000500000000000000" pitchFamily="2" charset="0"/>
            </a:rPr>
            <a:t> </a:t>
          </a:r>
          <a:r>
            <a:rPr lang="en-US" sz="1700" b="1" dirty="0">
              <a:solidFill>
                <a:schemeClr val="accent5">
                  <a:lumMod val="50000"/>
                </a:schemeClr>
              </a:solidFill>
              <a:latin typeface="Montserrat" panose="00000500000000000000" pitchFamily="2" charset="0"/>
            </a:rPr>
            <a:t>Skills</a:t>
          </a:r>
          <a:r>
            <a:rPr lang="en-US" sz="1700" dirty="0">
              <a:latin typeface="Montserrat" panose="00000500000000000000" pitchFamily="2" charset="0"/>
            </a:rPr>
            <a:t> and </a:t>
          </a:r>
          <a:r>
            <a:rPr lang="en-US" sz="1700" b="1" dirty="0">
              <a:solidFill>
                <a:schemeClr val="accent5">
                  <a:lumMod val="50000"/>
                </a:schemeClr>
              </a:solidFill>
              <a:latin typeface="Montserrat" panose="00000500000000000000" pitchFamily="2" charset="0"/>
            </a:rPr>
            <a:t>Plugins</a:t>
          </a:r>
          <a:r>
            <a:rPr lang="en-US" sz="1700" dirty="0">
              <a:latin typeface="Montserrat" panose="00000500000000000000" pitchFamily="2" charset="0"/>
            </a:rPr>
            <a:t> to automate workflows and improve productivity.</a:t>
          </a:r>
        </a:p>
      </dgm:t>
    </dgm:pt>
    <dgm:pt modelId="{43BE335C-6957-4A26-84CA-935A1F6E868F}" type="parTrans" cxnId="{0A84CB0C-C4CE-477B-A99E-3E7D9F9E38D9}">
      <dgm:prSet/>
      <dgm:spPr/>
      <dgm:t>
        <a:bodyPr/>
        <a:lstStyle/>
        <a:p>
          <a:endParaRPr lang="en-CA"/>
        </a:p>
      </dgm:t>
    </dgm:pt>
    <dgm:pt modelId="{E44E0B3C-7448-45FD-A60D-3C0BB11D81E5}" type="sibTrans" cxnId="{0A84CB0C-C4CE-477B-A99E-3E7D9F9E38D9}">
      <dgm:prSet/>
      <dgm:spPr/>
      <dgm:t>
        <a:bodyPr/>
        <a:lstStyle/>
        <a:p>
          <a:endParaRPr lang="en-CA"/>
        </a:p>
      </dgm:t>
    </dgm:pt>
    <dgm:pt modelId="{323C0682-8FB4-4D5A-BD0C-18A9A848096B}">
      <dgm:prSet custT="1"/>
      <dgm:spPr>
        <a:solidFill>
          <a:schemeClr val="bg1">
            <a:lumMod val="65000"/>
          </a:schemeClr>
        </a:solidFill>
      </dgm:spPr>
      <dgm:t>
        <a:bodyPr/>
        <a:lstStyle/>
        <a:p>
          <a:pPr>
            <a:buNone/>
          </a:pPr>
          <a:r>
            <a:rPr lang="en-US" sz="1700" dirty="0">
              <a:latin typeface="Montserrat" panose="00000500000000000000" pitchFamily="2" charset="0"/>
            </a:rPr>
            <a:t>Build and deploy </a:t>
          </a:r>
          <a:r>
            <a:rPr lang="en-US" sz="1700" dirty="0">
              <a:solidFill>
                <a:srgbClr val="FFFF00"/>
              </a:solidFill>
              <a:latin typeface="Montserrat" panose="00000500000000000000" pitchFamily="2" charset="0"/>
            </a:rPr>
            <a:t>custom</a:t>
          </a:r>
          <a:r>
            <a:rPr lang="en-US" sz="1700" dirty="0">
              <a:latin typeface="Montserrat" panose="00000500000000000000" pitchFamily="2" charset="0"/>
            </a:rPr>
            <a:t> </a:t>
          </a:r>
          <a:r>
            <a:rPr lang="en-US" sz="1700" b="1" dirty="0">
              <a:solidFill>
                <a:srgbClr val="FFFF00"/>
              </a:solidFill>
              <a:latin typeface="Montserrat" panose="00000500000000000000" pitchFamily="2" charset="0"/>
            </a:rPr>
            <a:t>Skills</a:t>
          </a:r>
          <a:r>
            <a:rPr lang="en-US" sz="1700" dirty="0">
              <a:latin typeface="Montserrat" panose="00000500000000000000" pitchFamily="2" charset="0"/>
            </a:rPr>
            <a:t> and </a:t>
          </a:r>
          <a:r>
            <a:rPr lang="en-US" sz="1700" b="1" dirty="0">
              <a:solidFill>
                <a:srgbClr val="FFFF00"/>
              </a:solidFill>
              <a:latin typeface="Montserrat" panose="00000500000000000000" pitchFamily="2" charset="0"/>
            </a:rPr>
            <a:t>Plugins</a:t>
          </a:r>
          <a:r>
            <a:rPr lang="en-US" sz="1700" dirty="0">
              <a:latin typeface="Montserrat" panose="00000500000000000000" pitchFamily="2" charset="0"/>
            </a:rPr>
            <a:t> tailored to specific business needs.</a:t>
          </a:r>
        </a:p>
      </dgm:t>
    </dgm:pt>
    <dgm:pt modelId="{8526D693-98E5-4E0F-83A2-A85683CA00FE}" type="parTrans" cxnId="{F94D4E8B-EDD4-4207-99DC-903FAA52236E}">
      <dgm:prSet/>
      <dgm:spPr/>
      <dgm:t>
        <a:bodyPr/>
        <a:lstStyle/>
        <a:p>
          <a:endParaRPr lang="en-CA"/>
        </a:p>
      </dgm:t>
    </dgm:pt>
    <dgm:pt modelId="{A7701AB6-8899-418C-946C-B985D677FE42}" type="sibTrans" cxnId="{F94D4E8B-EDD4-4207-99DC-903FAA52236E}">
      <dgm:prSet/>
      <dgm:spPr/>
      <dgm:t>
        <a:bodyPr/>
        <a:lstStyle/>
        <a:p>
          <a:endParaRPr lang="en-CA"/>
        </a:p>
      </dgm:t>
    </dgm:pt>
    <dgm:pt modelId="{69F6342D-F165-4D4D-9F97-6F4D4CA7F740}">
      <dgm:prSet custT="1"/>
      <dgm:spPr>
        <a:solidFill>
          <a:srgbClr val="1BBFD1"/>
        </a:solidFill>
      </dgm:spPr>
      <dgm:t>
        <a:bodyPr/>
        <a:lstStyle/>
        <a:p>
          <a:pPr>
            <a:buNone/>
          </a:pPr>
          <a:r>
            <a:rPr lang="en-US" sz="1700" dirty="0">
              <a:latin typeface="Montserrat" panose="00000500000000000000" pitchFamily="2" charset="0"/>
            </a:rPr>
            <a:t>Automate task </a:t>
          </a:r>
          <a:r>
            <a:rPr lang="en-US" sz="1700" b="1" dirty="0">
              <a:solidFill>
                <a:srgbClr val="FF0000"/>
              </a:solidFill>
              <a:latin typeface="Montserrat" panose="00000500000000000000" pitchFamily="2" charset="0"/>
            </a:rPr>
            <a:t>scheduling</a:t>
          </a:r>
          <a:r>
            <a:rPr lang="en-US" sz="1700" dirty="0">
              <a:latin typeface="Montserrat" panose="00000500000000000000" pitchFamily="2" charset="0"/>
            </a:rPr>
            <a:t>, organize information, and manage complex multitask workflows (e.g., deep research and document synthesis).</a:t>
          </a:r>
        </a:p>
      </dgm:t>
    </dgm:pt>
    <dgm:pt modelId="{42066717-48EB-4E2E-8C5A-B76357948DC4}" type="parTrans" cxnId="{B4123DCF-FAB6-4813-BC69-6F503865E441}">
      <dgm:prSet/>
      <dgm:spPr/>
      <dgm:t>
        <a:bodyPr/>
        <a:lstStyle/>
        <a:p>
          <a:endParaRPr lang="en-CA"/>
        </a:p>
      </dgm:t>
    </dgm:pt>
    <dgm:pt modelId="{ACD42603-1E69-4DA9-9DFC-A2825FC65E48}" type="sibTrans" cxnId="{B4123DCF-FAB6-4813-BC69-6F503865E441}">
      <dgm:prSet/>
      <dgm:spPr/>
      <dgm:t>
        <a:bodyPr/>
        <a:lstStyle/>
        <a:p>
          <a:endParaRPr lang="en-CA"/>
        </a:p>
      </dgm:t>
    </dgm:pt>
    <dgm:pt modelId="{2D7DF396-94F6-4E06-837F-ED2FBB5A791A}">
      <dgm:prSet custT="1"/>
      <dgm:spPr>
        <a:solidFill>
          <a:srgbClr val="0C1752"/>
        </a:solidFill>
      </dgm:spPr>
      <dgm:t>
        <a:bodyPr/>
        <a:lstStyle/>
        <a:p>
          <a:pPr>
            <a:buNone/>
          </a:pPr>
          <a:r>
            <a:rPr lang="en-US" sz="1700" dirty="0">
              <a:latin typeface="Montserrat" panose="00000500000000000000" pitchFamily="2" charset="0"/>
            </a:rPr>
            <a:t>Apply Claude Cowork to real business use cases, including marketing, finance, financial analysis, and competitor research.</a:t>
          </a:r>
        </a:p>
      </dgm:t>
    </dgm:pt>
    <dgm:pt modelId="{6F34B8EC-9006-4B09-A6D3-A4DD57802AB3}" type="parTrans" cxnId="{27E7A66B-7A2A-42D0-90BA-108AA7B30DFC}">
      <dgm:prSet/>
      <dgm:spPr/>
      <dgm:t>
        <a:bodyPr/>
        <a:lstStyle/>
        <a:p>
          <a:endParaRPr lang="en-CA"/>
        </a:p>
      </dgm:t>
    </dgm:pt>
    <dgm:pt modelId="{E487503F-EE56-4F10-ACAF-FC22719A618D}" type="sibTrans" cxnId="{27E7A66B-7A2A-42D0-90BA-108AA7B30DFC}">
      <dgm:prSet/>
      <dgm:spPr/>
      <dgm:t>
        <a:bodyPr/>
        <a:lstStyle/>
        <a:p>
          <a:endParaRPr lang="en-CA"/>
        </a:p>
      </dgm:t>
    </dgm:pt>
    <dgm:pt modelId="{89639BA3-1BB7-4678-AE5F-D08A4B1A5B6F}">
      <dgm:prSet custT="1"/>
      <dgm:spPr>
        <a:solidFill>
          <a:srgbClr val="D56E48"/>
        </a:solidFill>
      </dgm:spPr>
      <dgm:t>
        <a:bodyPr/>
        <a:lstStyle/>
        <a:p>
          <a:pPr>
            <a:buNone/>
          </a:pPr>
          <a:r>
            <a:rPr lang="en-US" sz="1700" dirty="0">
              <a:latin typeface="Montserrat" panose="00000500000000000000" pitchFamily="2" charset="0"/>
            </a:rPr>
            <a:t>Design and implement a practical project using Claude Cowork in a real-world scenario.</a:t>
          </a:r>
        </a:p>
      </dgm:t>
    </dgm:pt>
    <dgm:pt modelId="{1D1F5A87-31F3-47D8-A2B5-80B233B65149}" type="parTrans" cxnId="{5D77B69C-F271-4217-B865-CD3246D40223}">
      <dgm:prSet/>
      <dgm:spPr/>
      <dgm:t>
        <a:bodyPr/>
        <a:lstStyle/>
        <a:p>
          <a:endParaRPr lang="en-CA"/>
        </a:p>
      </dgm:t>
    </dgm:pt>
    <dgm:pt modelId="{B53D294E-D418-4B21-8813-BF89E3A41479}" type="sibTrans" cxnId="{5D77B69C-F271-4217-B865-CD3246D40223}">
      <dgm:prSet/>
      <dgm:spPr/>
      <dgm:t>
        <a:bodyPr/>
        <a:lstStyle/>
        <a:p>
          <a:endParaRPr lang="en-CA"/>
        </a:p>
      </dgm:t>
    </dgm:pt>
    <dgm:pt modelId="{A3C8DA71-1FBA-4D51-933F-DA890777F95A}" type="pres">
      <dgm:prSet presAssocID="{21BB715B-7861-4623-B455-2278A068250D}" presName="diagram" presStyleCnt="0">
        <dgm:presLayoutVars>
          <dgm:dir/>
          <dgm:resizeHandles val="exact"/>
        </dgm:presLayoutVars>
      </dgm:prSet>
      <dgm:spPr/>
    </dgm:pt>
    <dgm:pt modelId="{69CE8057-0DF9-434C-8846-744BD4E37834}" type="pres">
      <dgm:prSet presAssocID="{69F15D09-4FB3-476C-8B81-089C5D955308}" presName="node" presStyleLbl="node1" presStyleIdx="0" presStyleCnt="6">
        <dgm:presLayoutVars>
          <dgm:bulletEnabled val="1"/>
        </dgm:presLayoutVars>
      </dgm:prSet>
      <dgm:spPr/>
    </dgm:pt>
    <dgm:pt modelId="{272B1A47-9F25-4A88-B777-E8016CC6609E}" type="pres">
      <dgm:prSet presAssocID="{AA84B12C-7878-437C-B9E2-1F0D60EBBF75}" presName="sibTrans" presStyleCnt="0"/>
      <dgm:spPr/>
    </dgm:pt>
    <dgm:pt modelId="{0834A8D9-3DDC-4044-9B45-2B9128E47F48}" type="pres">
      <dgm:prSet presAssocID="{29863779-49CA-4E64-AC7E-ED5B5378EFA9}" presName="node" presStyleLbl="node1" presStyleIdx="1" presStyleCnt="6">
        <dgm:presLayoutVars>
          <dgm:bulletEnabled val="1"/>
        </dgm:presLayoutVars>
      </dgm:prSet>
      <dgm:spPr/>
    </dgm:pt>
    <dgm:pt modelId="{6FE21B4F-5F4F-4E7A-A380-C523AA26C233}" type="pres">
      <dgm:prSet presAssocID="{E44E0B3C-7448-45FD-A60D-3C0BB11D81E5}" presName="sibTrans" presStyleCnt="0"/>
      <dgm:spPr/>
    </dgm:pt>
    <dgm:pt modelId="{55528C55-457D-462C-9CD9-2224288C1FA2}" type="pres">
      <dgm:prSet presAssocID="{323C0682-8FB4-4D5A-BD0C-18A9A848096B}" presName="node" presStyleLbl="node1" presStyleIdx="2" presStyleCnt="6">
        <dgm:presLayoutVars>
          <dgm:bulletEnabled val="1"/>
        </dgm:presLayoutVars>
      </dgm:prSet>
      <dgm:spPr/>
    </dgm:pt>
    <dgm:pt modelId="{09941833-DFA9-46A4-94B6-4D2FE7A45F77}" type="pres">
      <dgm:prSet presAssocID="{A7701AB6-8899-418C-946C-B985D677FE42}" presName="sibTrans" presStyleCnt="0"/>
      <dgm:spPr/>
    </dgm:pt>
    <dgm:pt modelId="{1128222C-25A7-456E-A265-1D059DEF86CA}" type="pres">
      <dgm:prSet presAssocID="{69F6342D-F165-4D4D-9F97-6F4D4CA7F740}" presName="node" presStyleLbl="node1" presStyleIdx="3" presStyleCnt="6">
        <dgm:presLayoutVars>
          <dgm:bulletEnabled val="1"/>
        </dgm:presLayoutVars>
      </dgm:prSet>
      <dgm:spPr/>
    </dgm:pt>
    <dgm:pt modelId="{D29B27E4-EDCA-4C0B-8662-F48981C50C3F}" type="pres">
      <dgm:prSet presAssocID="{ACD42603-1E69-4DA9-9DFC-A2825FC65E48}" presName="sibTrans" presStyleCnt="0"/>
      <dgm:spPr/>
    </dgm:pt>
    <dgm:pt modelId="{3884100F-46BE-4B67-98EB-C6A0A0A4B69E}" type="pres">
      <dgm:prSet presAssocID="{2D7DF396-94F6-4E06-837F-ED2FBB5A791A}" presName="node" presStyleLbl="node1" presStyleIdx="4" presStyleCnt="6">
        <dgm:presLayoutVars>
          <dgm:bulletEnabled val="1"/>
        </dgm:presLayoutVars>
      </dgm:prSet>
      <dgm:spPr/>
    </dgm:pt>
    <dgm:pt modelId="{3ED59332-68E2-4F0F-988B-FFA1941AF904}" type="pres">
      <dgm:prSet presAssocID="{E487503F-EE56-4F10-ACAF-FC22719A618D}" presName="sibTrans" presStyleCnt="0"/>
      <dgm:spPr/>
    </dgm:pt>
    <dgm:pt modelId="{2D31528C-39AB-4F4F-8DE1-72F80BD3C233}" type="pres">
      <dgm:prSet presAssocID="{89639BA3-1BB7-4678-AE5F-D08A4B1A5B6F}" presName="node" presStyleLbl="node1" presStyleIdx="5" presStyleCnt="6">
        <dgm:presLayoutVars>
          <dgm:bulletEnabled val="1"/>
        </dgm:presLayoutVars>
      </dgm:prSet>
      <dgm:spPr/>
    </dgm:pt>
  </dgm:ptLst>
  <dgm:cxnLst>
    <dgm:cxn modelId="{94C1F404-B358-4333-B048-03A20D2B93E5}" type="presOf" srcId="{21BB715B-7861-4623-B455-2278A068250D}" destId="{A3C8DA71-1FBA-4D51-933F-DA890777F95A}" srcOrd="0" destOrd="0" presId="urn:microsoft.com/office/officeart/2005/8/layout/default"/>
    <dgm:cxn modelId="{0A84CB0C-C4CE-477B-A99E-3E7D9F9E38D9}" srcId="{21BB715B-7861-4623-B455-2278A068250D}" destId="{29863779-49CA-4E64-AC7E-ED5B5378EFA9}" srcOrd="1" destOrd="0" parTransId="{43BE335C-6957-4A26-84CA-935A1F6E868F}" sibTransId="{E44E0B3C-7448-45FD-A60D-3C0BB11D81E5}"/>
    <dgm:cxn modelId="{51D24E0F-9806-4DAC-958D-80010AB2F879}" type="presOf" srcId="{69F6342D-F165-4D4D-9F97-6F4D4CA7F740}" destId="{1128222C-25A7-456E-A265-1D059DEF86CA}" srcOrd="0" destOrd="0" presId="urn:microsoft.com/office/officeart/2005/8/layout/default"/>
    <dgm:cxn modelId="{B439DB45-F0E0-4E0A-AD60-443CD65325D0}" type="presOf" srcId="{323C0682-8FB4-4D5A-BD0C-18A9A848096B}" destId="{55528C55-457D-462C-9CD9-2224288C1FA2}" srcOrd="0" destOrd="0" presId="urn:microsoft.com/office/officeart/2005/8/layout/default"/>
    <dgm:cxn modelId="{27E7A66B-7A2A-42D0-90BA-108AA7B30DFC}" srcId="{21BB715B-7861-4623-B455-2278A068250D}" destId="{2D7DF396-94F6-4E06-837F-ED2FBB5A791A}" srcOrd="4" destOrd="0" parTransId="{6F34B8EC-9006-4B09-A6D3-A4DD57802AB3}" sibTransId="{E487503F-EE56-4F10-ACAF-FC22719A618D}"/>
    <dgm:cxn modelId="{F482CE6E-9D53-42F4-8CF8-C7248C59AD99}" type="presOf" srcId="{69F15D09-4FB3-476C-8B81-089C5D955308}" destId="{69CE8057-0DF9-434C-8846-744BD4E37834}" srcOrd="0" destOrd="0" presId="urn:microsoft.com/office/officeart/2005/8/layout/default"/>
    <dgm:cxn modelId="{D05E3E76-4C9F-4D0E-B6E2-E32CD7F6128E}" srcId="{21BB715B-7861-4623-B455-2278A068250D}" destId="{69F15D09-4FB3-476C-8B81-089C5D955308}" srcOrd="0" destOrd="0" parTransId="{FE03FB4A-8C35-4BDF-A455-6B4CA7979D93}" sibTransId="{AA84B12C-7878-437C-B9E2-1F0D60EBBF75}"/>
    <dgm:cxn modelId="{F94D4E8B-EDD4-4207-99DC-903FAA52236E}" srcId="{21BB715B-7861-4623-B455-2278A068250D}" destId="{323C0682-8FB4-4D5A-BD0C-18A9A848096B}" srcOrd="2" destOrd="0" parTransId="{8526D693-98E5-4E0F-83A2-A85683CA00FE}" sibTransId="{A7701AB6-8899-418C-946C-B985D677FE42}"/>
    <dgm:cxn modelId="{5D77B69C-F271-4217-B865-CD3246D40223}" srcId="{21BB715B-7861-4623-B455-2278A068250D}" destId="{89639BA3-1BB7-4678-AE5F-D08A4B1A5B6F}" srcOrd="5" destOrd="0" parTransId="{1D1F5A87-31F3-47D8-A2B5-80B233B65149}" sibTransId="{B53D294E-D418-4B21-8813-BF89E3A41479}"/>
    <dgm:cxn modelId="{79B3A4A8-D175-46BD-9FD8-CE4ABF2B84D2}" type="presOf" srcId="{2D7DF396-94F6-4E06-837F-ED2FBB5A791A}" destId="{3884100F-46BE-4B67-98EB-C6A0A0A4B69E}" srcOrd="0" destOrd="0" presId="urn:microsoft.com/office/officeart/2005/8/layout/default"/>
    <dgm:cxn modelId="{68B37FCC-59F7-46FC-88BF-96A3F48DE81E}" type="presOf" srcId="{29863779-49CA-4E64-AC7E-ED5B5378EFA9}" destId="{0834A8D9-3DDC-4044-9B45-2B9128E47F48}" srcOrd="0" destOrd="0" presId="urn:microsoft.com/office/officeart/2005/8/layout/default"/>
    <dgm:cxn modelId="{B4123DCF-FAB6-4813-BC69-6F503865E441}" srcId="{21BB715B-7861-4623-B455-2278A068250D}" destId="{69F6342D-F165-4D4D-9F97-6F4D4CA7F740}" srcOrd="3" destOrd="0" parTransId="{42066717-48EB-4E2E-8C5A-B76357948DC4}" sibTransId="{ACD42603-1E69-4DA9-9DFC-A2825FC65E48}"/>
    <dgm:cxn modelId="{237D0DDF-37B3-4D93-9765-8F404C3A28BE}" type="presOf" srcId="{89639BA3-1BB7-4678-AE5F-D08A4B1A5B6F}" destId="{2D31528C-39AB-4F4F-8DE1-72F80BD3C233}" srcOrd="0" destOrd="0" presId="urn:microsoft.com/office/officeart/2005/8/layout/default"/>
    <dgm:cxn modelId="{1BF3D82F-BB40-4CA7-B9E2-80D1EAA6E22B}" type="presParOf" srcId="{A3C8DA71-1FBA-4D51-933F-DA890777F95A}" destId="{69CE8057-0DF9-434C-8846-744BD4E37834}" srcOrd="0" destOrd="0" presId="urn:microsoft.com/office/officeart/2005/8/layout/default"/>
    <dgm:cxn modelId="{93703590-56E8-4345-AF4A-5D204A00B28E}" type="presParOf" srcId="{A3C8DA71-1FBA-4D51-933F-DA890777F95A}" destId="{272B1A47-9F25-4A88-B777-E8016CC6609E}" srcOrd="1" destOrd="0" presId="urn:microsoft.com/office/officeart/2005/8/layout/default"/>
    <dgm:cxn modelId="{AF61214A-A9F8-4ABC-88B1-754C1A3D83D2}" type="presParOf" srcId="{A3C8DA71-1FBA-4D51-933F-DA890777F95A}" destId="{0834A8D9-3DDC-4044-9B45-2B9128E47F48}" srcOrd="2" destOrd="0" presId="urn:microsoft.com/office/officeart/2005/8/layout/default"/>
    <dgm:cxn modelId="{66848080-4952-4EBC-8048-ABEC90373E2C}" type="presParOf" srcId="{A3C8DA71-1FBA-4D51-933F-DA890777F95A}" destId="{6FE21B4F-5F4F-4E7A-A380-C523AA26C233}" srcOrd="3" destOrd="0" presId="urn:microsoft.com/office/officeart/2005/8/layout/default"/>
    <dgm:cxn modelId="{517894B9-E79F-41EB-8871-65E727D2597E}" type="presParOf" srcId="{A3C8DA71-1FBA-4D51-933F-DA890777F95A}" destId="{55528C55-457D-462C-9CD9-2224288C1FA2}" srcOrd="4" destOrd="0" presId="urn:microsoft.com/office/officeart/2005/8/layout/default"/>
    <dgm:cxn modelId="{04DB2366-A427-485E-9EB3-E818FA89764C}" type="presParOf" srcId="{A3C8DA71-1FBA-4D51-933F-DA890777F95A}" destId="{09941833-DFA9-46A4-94B6-4D2FE7A45F77}" srcOrd="5" destOrd="0" presId="urn:microsoft.com/office/officeart/2005/8/layout/default"/>
    <dgm:cxn modelId="{3D9952C2-C77A-4E0F-8CF1-57D35FE566E5}" type="presParOf" srcId="{A3C8DA71-1FBA-4D51-933F-DA890777F95A}" destId="{1128222C-25A7-456E-A265-1D059DEF86CA}" srcOrd="6" destOrd="0" presId="urn:microsoft.com/office/officeart/2005/8/layout/default"/>
    <dgm:cxn modelId="{8C308B3E-A605-4836-A809-6E1798B86375}" type="presParOf" srcId="{A3C8DA71-1FBA-4D51-933F-DA890777F95A}" destId="{D29B27E4-EDCA-4C0B-8662-F48981C50C3F}" srcOrd="7" destOrd="0" presId="urn:microsoft.com/office/officeart/2005/8/layout/default"/>
    <dgm:cxn modelId="{A0A8C7D0-3B4C-4698-AF94-237297B2D12B}" type="presParOf" srcId="{A3C8DA71-1FBA-4D51-933F-DA890777F95A}" destId="{3884100F-46BE-4B67-98EB-C6A0A0A4B69E}" srcOrd="8" destOrd="0" presId="urn:microsoft.com/office/officeart/2005/8/layout/default"/>
    <dgm:cxn modelId="{56F0A098-79FB-4010-8F5A-3523ADD9BC37}" type="presParOf" srcId="{A3C8DA71-1FBA-4D51-933F-DA890777F95A}" destId="{3ED59332-68E2-4F0F-988B-FFA1941AF904}" srcOrd="9" destOrd="0" presId="urn:microsoft.com/office/officeart/2005/8/layout/default"/>
    <dgm:cxn modelId="{795EBEE7-76AE-40FA-8910-9268BA5F2E9A}" type="presParOf" srcId="{A3C8DA71-1FBA-4D51-933F-DA890777F95A}" destId="{2D31528C-39AB-4F4F-8DE1-72F80BD3C233}"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CE8057-0DF9-434C-8846-744BD4E37834}">
      <dsp:nvSpPr>
        <dsp:cNvPr id="0" name=""/>
        <dsp:cNvSpPr/>
      </dsp:nvSpPr>
      <dsp:spPr>
        <a:xfrm>
          <a:off x="0" y="424052"/>
          <a:ext cx="3515816" cy="210948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Explain what Claude Cowork is and how its core components (Skills, Plugins, and Connectors like Gmail) work together.</a:t>
          </a:r>
        </a:p>
      </dsp:txBody>
      <dsp:txXfrm>
        <a:off x="0" y="424052"/>
        <a:ext cx="3515816" cy="2109489"/>
      </dsp:txXfrm>
    </dsp:sp>
    <dsp:sp modelId="{0834A8D9-3DDC-4044-9B45-2B9128E47F48}">
      <dsp:nvSpPr>
        <dsp:cNvPr id="0" name=""/>
        <dsp:cNvSpPr/>
      </dsp:nvSpPr>
      <dsp:spPr>
        <a:xfrm>
          <a:off x="3867398" y="424052"/>
          <a:ext cx="3515816" cy="210948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Effectively use </a:t>
          </a:r>
          <a:r>
            <a:rPr lang="en-US" sz="1700" b="1" kern="1200" dirty="0">
              <a:solidFill>
                <a:schemeClr val="accent5">
                  <a:lumMod val="50000"/>
                </a:schemeClr>
              </a:solidFill>
              <a:latin typeface="Montserrat" panose="00000500000000000000" pitchFamily="2" charset="0"/>
            </a:rPr>
            <a:t>existing</a:t>
          </a:r>
          <a:r>
            <a:rPr lang="en-US" sz="1700" kern="1200" dirty="0">
              <a:latin typeface="Montserrat" panose="00000500000000000000" pitchFamily="2" charset="0"/>
            </a:rPr>
            <a:t> </a:t>
          </a:r>
          <a:r>
            <a:rPr lang="en-US" sz="1700" b="1" kern="1200" dirty="0">
              <a:solidFill>
                <a:schemeClr val="accent5">
                  <a:lumMod val="50000"/>
                </a:schemeClr>
              </a:solidFill>
              <a:latin typeface="Montserrat" panose="00000500000000000000" pitchFamily="2" charset="0"/>
            </a:rPr>
            <a:t>Skills</a:t>
          </a:r>
          <a:r>
            <a:rPr lang="en-US" sz="1700" kern="1200" dirty="0">
              <a:latin typeface="Montserrat" panose="00000500000000000000" pitchFamily="2" charset="0"/>
            </a:rPr>
            <a:t> and </a:t>
          </a:r>
          <a:r>
            <a:rPr lang="en-US" sz="1700" b="1" kern="1200" dirty="0">
              <a:solidFill>
                <a:schemeClr val="accent5">
                  <a:lumMod val="50000"/>
                </a:schemeClr>
              </a:solidFill>
              <a:latin typeface="Montserrat" panose="00000500000000000000" pitchFamily="2" charset="0"/>
            </a:rPr>
            <a:t>Plugins</a:t>
          </a:r>
          <a:r>
            <a:rPr lang="en-US" sz="1700" kern="1200" dirty="0">
              <a:latin typeface="Montserrat" panose="00000500000000000000" pitchFamily="2" charset="0"/>
            </a:rPr>
            <a:t> to automate workflows and improve productivity.</a:t>
          </a:r>
        </a:p>
      </dsp:txBody>
      <dsp:txXfrm>
        <a:off x="3867398" y="424052"/>
        <a:ext cx="3515816" cy="2109489"/>
      </dsp:txXfrm>
    </dsp:sp>
    <dsp:sp modelId="{55528C55-457D-462C-9CD9-2224288C1FA2}">
      <dsp:nvSpPr>
        <dsp:cNvPr id="0" name=""/>
        <dsp:cNvSpPr/>
      </dsp:nvSpPr>
      <dsp:spPr>
        <a:xfrm>
          <a:off x="7734796" y="424052"/>
          <a:ext cx="3515816" cy="2109489"/>
        </a:xfrm>
        <a:prstGeom prst="rect">
          <a:avLst/>
        </a:prstGeom>
        <a:solidFill>
          <a:schemeClr val="bg1">
            <a:lumMod val="6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Build and deploy </a:t>
          </a:r>
          <a:r>
            <a:rPr lang="en-US" sz="1700" kern="1200" dirty="0">
              <a:solidFill>
                <a:srgbClr val="FFFF00"/>
              </a:solidFill>
              <a:latin typeface="Montserrat" panose="00000500000000000000" pitchFamily="2" charset="0"/>
            </a:rPr>
            <a:t>custom</a:t>
          </a:r>
          <a:r>
            <a:rPr lang="en-US" sz="1700" kern="1200" dirty="0">
              <a:latin typeface="Montserrat" panose="00000500000000000000" pitchFamily="2" charset="0"/>
            </a:rPr>
            <a:t> </a:t>
          </a:r>
          <a:r>
            <a:rPr lang="en-US" sz="1700" b="1" kern="1200" dirty="0">
              <a:solidFill>
                <a:srgbClr val="FFFF00"/>
              </a:solidFill>
              <a:latin typeface="Montserrat" panose="00000500000000000000" pitchFamily="2" charset="0"/>
            </a:rPr>
            <a:t>Skills</a:t>
          </a:r>
          <a:r>
            <a:rPr lang="en-US" sz="1700" kern="1200" dirty="0">
              <a:latin typeface="Montserrat" panose="00000500000000000000" pitchFamily="2" charset="0"/>
            </a:rPr>
            <a:t> and </a:t>
          </a:r>
          <a:r>
            <a:rPr lang="en-US" sz="1700" b="1" kern="1200" dirty="0">
              <a:solidFill>
                <a:srgbClr val="FFFF00"/>
              </a:solidFill>
              <a:latin typeface="Montserrat" panose="00000500000000000000" pitchFamily="2" charset="0"/>
            </a:rPr>
            <a:t>Plugins</a:t>
          </a:r>
          <a:r>
            <a:rPr lang="en-US" sz="1700" kern="1200" dirty="0">
              <a:latin typeface="Montserrat" panose="00000500000000000000" pitchFamily="2" charset="0"/>
            </a:rPr>
            <a:t> tailored to specific business needs.</a:t>
          </a:r>
        </a:p>
      </dsp:txBody>
      <dsp:txXfrm>
        <a:off x="7734796" y="424052"/>
        <a:ext cx="3515816" cy="2109489"/>
      </dsp:txXfrm>
    </dsp:sp>
    <dsp:sp modelId="{1128222C-25A7-456E-A265-1D059DEF86CA}">
      <dsp:nvSpPr>
        <dsp:cNvPr id="0" name=""/>
        <dsp:cNvSpPr/>
      </dsp:nvSpPr>
      <dsp:spPr>
        <a:xfrm>
          <a:off x="0" y="2885124"/>
          <a:ext cx="3515816" cy="2109489"/>
        </a:xfrm>
        <a:prstGeom prst="rect">
          <a:avLst/>
        </a:prstGeom>
        <a:solidFill>
          <a:srgbClr val="1BBFD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Automate task </a:t>
          </a:r>
          <a:r>
            <a:rPr lang="en-US" sz="1700" b="1" kern="1200" dirty="0">
              <a:solidFill>
                <a:srgbClr val="FF0000"/>
              </a:solidFill>
              <a:latin typeface="Montserrat" panose="00000500000000000000" pitchFamily="2" charset="0"/>
            </a:rPr>
            <a:t>scheduling</a:t>
          </a:r>
          <a:r>
            <a:rPr lang="en-US" sz="1700" kern="1200" dirty="0">
              <a:latin typeface="Montserrat" panose="00000500000000000000" pitchFamily="2" charset="0"/>
            </a:rPr>
            <a:t>, organize information, and manage complex multitask workflows (e.g., deep research and document synthesis).</a:t>
          </a:r>
        </a:p>
      </dsp:txBody>
      <dsp:txXfrm>
        <a:off x="0" y="2885124"/>
        <a:ext cx="3515816" cy="2109489"/>
      </dsp:txXfrm>
    </dsp:sp>
    <dsp:sp modelId="{3884100F-46BE-4B67-98EB-C6A0A0A4B69E}">
      <dsp:nvSpPr>
        <dsp:cNvPr id="0" name=""/>
        <dsp:cNvSpPr/>
      </dsp:nvSpPr>
      <dsp:spPr>
        <a:xfrm>
          <a:off x="3867398" y="2885124"/>
          <a:ext cx="3515816" cy="2109489"/>
        </a:xfrm>
        <a:prstGeom prst="rect">
          <a:avLst/>
        </a:prstGeom>
        <a:solidFill>
          <a:srgbClr val="0C175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Apply Claude Cowork to real business use cases, including marketing, finance, financial analysis, and competitor research.</a:t>
          </a:r>
        </a:p>
      </dsp:txBody>
      <dsp:txXfrm>
        <a:off x="3867398" y="2885124"/>
        <a:ext cx="3515816" cy="2109489"/>
      </dsp:txXfrm>
    </dsp:sp>
    <dsp:sp modelId="{2D31528C-39AB-4F4F-8DE1-72F80BD3C233}">
      <dsp:nvSpPr>
        <dsp:cNvPr id="0" name=""/>
        <dsp:cNvSpPr/>
      </dsp:nvSpPr>
      <dsp:spPr>
        <a:xfrm>
          <a:off x="7734796" y="2885124"/>
          <a:ext cx="3515816" cy="2109489"/>
        </a:xfrm>
        <a:prstGeom prst="rect">
          <a:avLst/>
        </a:prstGeom>
        <a:solidFill>
          <a:srgbClr val="D56E4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latin typeface="Montserrat" panose="00000500000000000000" pitchFamily="2" charset="0"/>
            </a:rPr>
            <a:t>Design and implement a practical project using Claude Cowork in a real-world scenario.</a:t>
          </a:r>
        </a:p>
      </dsp:txBody>
      <dsp:txXfrm>
        <a:off x="7734796" y="2885124"/>
        <a:ext cx="3515816" cy="210948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3/26/2026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6AEE1EF-10EF-1031-2962-1D5997B5B865}"/>
            </a:ext>
          </a:extLst>
        </p:cNvPr>
        <p:cNvGrpSpPr/>
        <p:nvPr/>
      </p:nvGrpSpPr>
      <p:grpSpPr>
        <a:xfrm>
          <a:off x="0" y="0"/>
          <a:ext cx="0" cy="0"/>
          <a:chOff x="0" y="0"/>
          <a:chExt cx="0" cy="0"/>
        </a:xfrm>
      </p:grpSpPr>
      <p:sp>
        <p:nvSpPr>
          <p:cNvPr id="109" name="Google Shape;109;p5:notes">
            <a:extLst>
              <a:ext uri="{FF2B5EF4-FFF2-40B4-BE49-F238E27FC236}">
                <a16:creationId xmlns:a16="http://schemas.microsoft.com/office/drawing/2014/main" id="{36820379-55A3-1AC6-7060-B86CEDABB87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a:extLst>
              <a:ext uri="{FF2B5EF4-FFF2-40B4-BE49-F238E27FC236}">
                <a16:creationId xmlns:a16="http://schemas.microsoft.com/office/drawing/2014/main" id="{64D450F6-4A69-B2CF-A62F-DAB69098B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0714112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3/26/2026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3/26/2026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3/26/2026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3/26/2026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3/26/2026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3/26/2026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3/26/2026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3/26/2026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3/26/2026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3/26/2026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3/26/2026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3/26/2026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claude.com/product/cowork"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1.png"/><Relationship Id="rId12" Type="http://schemas.openxmlformats.org/officeDocument/2006/relationships/image" Target="../media/image2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20.jpeg"/><Relationship Id="rId11" Type="http://schemas.openxmlformats.org/officeDocument/2006/relationships/image" Target="../media/image25.pn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2.png"/><Relationship Id="rId9"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anthropic.com/news/model-context-protocol" TargetMode="External"/><Relationship Id="rId5" Type="http://schemas.openxmlformats.org/officeDocument/2006/relationships/image" Target="../media/image2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platform.openai.com/tokenizer"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hyperlink" Target="https://futurism.com/altman-please-thanks-chatgpt" TargetMode="External"/><Relationship Id="rId4" Type="http://schemas.openxmlformats.org/officeDocument/2006/relationships/hyperlink" Target="https://platform.openai.com/tokenizer"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png"/><Relationship Id="rId7" Type="http://schemas.openxmlformats.org/officeDocument/2006/relationships/hyperlink" Target="https://www.skillhub.club/"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hyperlink" Target="https://skills.sh/" TargetMode="External"/><Relationship Id="rId4" Type="http://schemas.openxmlformats.org/officeDocument/2006/relationships/image" Target="../media/image35.png"/><Relationship Id="rId9" Type="http://schemas.openxmlformats.org/officeDocument/2006/relationships/hyperlink" Target="https://skillsmp.com/"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1.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293915" y="489004"/>
            <a:ext cx="4743450"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COWORK</a:t>
            </a: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F009C-BC70-F41E-E85C-AB4BA7B849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5FE73E-F233-502C-6C36-CEF10F073EF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EB05584-537E-BC69-3A07-9397EB529AD0}"/>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15C37C86-8CBB-1B82-88F6-EF3C1BBF5084}"/>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MODULE INTRODUCTION &amp; KEY LEARNING OBJECTIVES</a:t>
            </a:r>
          </a:p>
        </p:txBody>
      </p:sp>
      <p:pic>
        <p:nvPicPr>
          <p:cNvPr id="5" name="Picture 4">
            <a:extLst>
              <a:ext uri="{FF2B5EF4-FFF2-40B4-BE49-F238E27FC236}">
                <a16:creationId xmlns:a16="http://schemas.microsoft.com/office/drawing/2014/main" id="{348AF497-3078-1D39-5F4A-9D51BB2A9C3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9031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1976-2AE7-4EF7-1560-C61D0DF230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6DD5BA7-FB07-7089-F20D-24BB35AAE79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4664485-532C-5083-5A25-F8BB6A03806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71C1B3F-A8C9-9CB8-73B0-ED05DBBB3FA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Module Agenda</a:t>
            </a:r>
          </a:p>
        </p:txBody>
      </p:sp>
      <p:sp>
        <p:nvSpPr>
          <p:cNvPr id="8" name="Content Placeholder 2">
            <a:extLst>
              <a:ext uri="{FF2B5EF4-FFF2-40B4-BE49-F238E27FC236}">
                <a16:creationId xmlns:a16="http://schemas.microsoft.com/office/drawing/2014/main" id="{A21F32ED-32F2-3596-8751-FFA0888A1210}"/>
              </a:ext>
            </a:extLst>
          </p:cNvPr>
          <p:cNvSpPr>
            <a:spLocks noGrp="1"/>
          </p:cNvSpPr>
          <p:nvPr>
            <p:ph idx="1"/>
          </p:nvPr>
        </p:nvSpPr>
        <p:spPr>
          <a:xfrm>
            <a:off x="378242" y="907669"/>
            <a:ext cx="11096264" cy="5228971"/>
          </a:xfrm>
        </p:spPr>
        <p:txBody>
          <a:bodyPr>
            <a:normAutofit/>
          </a:bodyPr>
          <a:lstStyle/>
          <a:p>
            <a:pPr>
              <a:buClr>
                <a:srgbClr val="1BBFD1"/>
              </a:buClr>
            </a:pPr>
            <a:r>
              <a:rPr lang="en-US" sz="1800" b="1" dirty="0">
                <a:latin typeface="Montserrat" panose="00000500000000000000" pitchFamily="2" charset="0"/>
              </a:rPr>
              <a:t>Introduction to Claude Cowork:</a:t>
            </a:r>
            <a:r>
              <a:rPr lang="en-US" sz="1800" dirty="0">
                <a:latin typeface="Montserrat" panose="00000500000000000000" pitchFamily="2" charset="0"/>
              </a:rPr>
              <a:t> Overview, core concepts, and how Skills, Plugins, and Connectors (e.g., </a:t>
            </a:r>
            <a:r>
              <a:rPr lang="en-US" sz="1800" b="1" dirty="0">
                <a:solidFill>
                  <a:srgbClr val="FF0000"/>
                </a:solidFill>
                <a:latin typeface="Montserrat" panose="00000500000000000000" pitchFamily="2" charset="0"/>
              </a:rPr>
              <a:t>Gmail</a:t>
            </a:r>
            <a:r>
              <a:rPr lang="en-US" sz="1800" dirty="0">
                <a:latin typeface="Montserrat" panose="00000500000000000000" pitchFamily="2" charset="0"/>
              </a:rPr>
              <a:t>) work together.</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Using the Claude Cowork Ecosystem:</a:t>
            </a:r>
            <a:r>
              <a:rPr lang="en-US" sz="1800" dirty="0">
                <a:latin typeface="Montserrat" panose="00000500000000000000" pitchFamily="2" charset="0"/>
              </a:rPr>
              <a:t> How to use existing Skills and Plugins to automate everyday workflows.</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Building Custom Capabilities: </a:t>
            </a:r>
            <a:r>
              <a:rPr lang="en-US" sz="1800" dirty="0">
                <a:latin typeface="Montserrat" panose="00000500000000000000" pitchFamily="2" charset="0"/>
              </a:rPr>
              <a:t>Creating your own Skills and Plugins to extend Claude Cowork functionality.</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Productivity &amp; Workflow Automation:</a:t>
            </a:r>
            <a:r>
              <a:rPr lang="en-US" sz="1800" dirty="0">
                <a:latin typeface="Montserrat" panose="00000500000000000000" pitchFamily="2" charset="0"/>
              </a:rPr>
              <a:t> Scheduling tasks, organizing folders, and managing multitask workflows like deep research and document synthesis.</a:t>
            </a:r>
          </a:p>
          <a:p>
            <a:pPr>
              <a:buClr>
                <a:srgbClr val="1BBFD1"/>
              </a:buClr>
            </a:pPr>
            <a:endParaRPr lang="en-US" sz="1800" dirty="0">
              <a:latin typeface="Montserrat" panose="00000500000000000000" pitchFamily="2" charset="0"/>
            </a:endParaRPr>
          </a:p>
          <a:p>
            <a:pPr>
              <a:buClr>
                <a:srgbClr val="1BBFD1"/>
              </a:buClr>
            </a:pPr>
            <a:r>
              <a:rPr lang="en-US" sz="1800" b="1" dirty="0">
                <a:latin typeface="Montserrat" panose="00000500000000000000" pitchFamily="2" charset="0"/>
              </a:rPr>
              <a:t>Business Applications:</a:t>
            </a:r>
            <a:r>
              <a:rPr lang="en-US" sz="1800" dirty="0">
                <a:latin typeface="Montserrat" panose="00000500000000000000" pitchFamily="2" charset="0"/>
              </a:rPr>
              <a:t> Using Claude Cowork for </a:t>
            </a:r>
            <a:r>
              <a:rPr lang="en-US" sz="1800" b="1" dirty="0">
                <a:solidFill>
                  <a:srgbClr val="FF0000"/>
                </a:solidFill>
                <a:latin typeface="Montserrat" panose="00000500000000000000" pitchFamily="2" charset="0"/>
              </a:rPr>
              <a:t>marketing</a:t>
            </a:r>
            <a:r>
              <a:rPr lang="en-US" sz="1800" dirty="0">
                <a:latin typeface="Montserrat" panose="00000500000000000000" pitchFamily="2" charset="0"/>
              </a:rPr>
              <a:t>, </a:t>
            </a:r>
            <a:r>
              <a:rPr lang="en-US" sz="1800" b="1" dirty="0">
                <a:solidFill>
                  <a:srgbClr val="FF0000"/>
                </a:solidFill>
                <a:latin typeface="Montserrat" panose="00000500000000000000" pitchFamily="2" charset="0"/>
              </a:rPr>
              <a:t>legal</a:t>
            </a:r>
            <a:r>
              <a:rPr lang="en-US" sz="1800" dirty="0">
                <a:latin typeface="Montserrat" panose="00000500000000000000" pitchFamily="2" charset="0"/>
              </a:rPr>
              <a:t>, and </a:t>
            </a:r>
            <a:r>
              <a:rPr lang="en-US" sz="1800" b="1" dirty="0">
                <a:solidFill>
                  <a:srgbClr val="FF0000"/>
                </a:solidFill>
                <a:latin typeface="Montserrat" panose="00000500000000000000" pitchFamily="2" charset="0"/>
              </a:rPr>
              <a:t>finance</a:t>
            </a:r>
            <a:r>
              <a:rPr lang="en-US" sz="1800" dirty="0">
                <a:latin typeface="Montserrat" panose="00000500000000000000" pitchFamily="2" charset="0"/>
              </a:rPr>
              <a:t> tasks, including financial data analysis and competitor research.</a:t>
            </a:r>
          </a:p>
          <a:p>
            <a:pPr marL="0" indent="0">
              <a:buClr>
                <a:srgbClr val="1BBFD1"/>
              </a:buClr>
              <a:buNone/>
            </a:pPr>
            <a:endParaRPr lang="en-US" sz="1800" dirty="0">
              <a:latin typeface="Montserrat" panose="00000500000000000000" pitchFamily="2" charset="0"/>
            </a:endParaRPr>
          </a:p>
        </p:txBody>
      </p:sp>
      <p:sp>
        <p:nvSpPr>
          <p:cNvPr id="9" name="TextBox 8">
            <a:extLst>
              <a:ext uri="{FF2B5EF4-FFF2-40B4-BE49-F238E27FC236}">
                <a16:creationId xmlns:a16="http://schemas.microsoft.com/office/drawing/2014/main" id="{9B635601-1B01-6301-4C7A-EC04531AF16A}"/>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Tree>
    <p:extLst>
      <p:ext uri="{BB962C8B-B14F-4D97-AF65-F5344CB8AC3E}">
        <p14:creationId xmlns:p14="http://schemas.microsoft.com/office/powerpoint/2010/main" val="2688526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E655F7-D3CE-503A-06B0-415EBF4A470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BE74D-72DE-1ECA-0B68-A8F5C0DF635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468C15DF-79C1-8260-335D-38302FEC0BC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F172E0F-F674-1396-8D50-B98BB01F267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Intro to Claude Cowork</a:t>
            </a:r>
          </a:p>
        </p:txBody>
      </p:sp>
      <p:sp>
        <p:nvSpPr>
          <p:cNvPr id="9" name="TextBox 8">
            <a:extLst>
              <a:ext uri="{FF2B5EF4-FFF2-40B4-BE49-F238E27FC236}">
                <a16:creationId xmlns:a16="http://schemas.microsoft.com/office/drawing/2014/main" id="{F4A68AC4-8901-A54A-0C5D-14603BCF598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3" name="TextBox 32">
            <a:extLst>
              <a:ext uri="{FF2B5EF4-FFF2-40B4-BE49-F238E27FC236}">
                <a16:creationId xmlns:a16="http://schemas.microsoft.com/office/drawing/2014/main" id="{D86BCDC4-1681-62E4-2C41-AA0478515F57}"/>
              </a:ext>
            </a:extLst>
          </p:cNvPr>
          <p:cNvSpPr txBox="1"/>
          <p:nvPr/>
        </p:nvSpPr>
        <p:spPr>
          <a:xfrm>
            <a:off x="302895" y="833163"/>
            <a:ext cx="11431905" cy="1200329"/>
          </a:xfrm>
          <a:prstGeom prst="rect">
            <a:avLst/>
          </a:prstGeom>
          <a:noFill/>
        </p:spPr>
        <p:txBody>
          <a:bodyPr wrap="square">
            <a:spAutoFit/>
          </a:bodyPr>
          <a:lstStyle/>
          <a:p>
            <a:pPr marL="285750" indent="-285750" algn="l">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Claude Cowork uses the same agentic architecture that powers Claude Code, now accessible within Claude Desktop and without opening the terminal. </a:t>
            </a:r>
          </a:p>
          <a:p>
            <a:pPr marL="285750" indent="-285750" algn="l">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Instead of responding to prompts one at a time, Claude can take on complex, multi-step tasks and execute them on your behalf.</a:t>
            </a:r>
            <a:endParaRPr lang="en-US" sz="1800" dirty="0">
              <a:latin typeface="Montserrat" panose="00000500000000000000" pitchFamily="2" charset="0"/>
            </a:endParaRPr>
          </a:p>
        </p:txBody>
      </p:sp>
      <p:pic>
        <p:nvPicPr>
          <p:cNvPr id="35" name="Picture 34">
            <a:extLst>
              <a:ext uri="{FF2B5EF4-FFF2-40B4-BE49-F238E27FC236}">
                <a16:creationId xmlns:a16="http://schemas.microsoft.com/office/drawing/2014/main" id="{4948EEFC-27B2-FEC4-C276-A6124862DF67}"/>
              </a:ext>
            </a:extLst>
          </p:cNvPr>
          <p:cNvPicPr>
            <a:picLocks noChangeAspect="1"/>
          </p:cNvPicPr>
          <p:nvPr/>
        </p:nvPicPr>
        <p:blipFill>
          <a:blip r:embed="rId4"/>
          <a:stretch>
            <a:fillRect/>
          </a:stretch>
        </p:blipFill>
        <p:spPr>
          <a:xfrm>
            <a:off x="7080090" y="1710014"/>
            <a:ext cx="1975836" cy="1988921"/>
          </a:xfrm>
          <a:prstGeom prst="rect">
            <a:avLst/>
          </a:prstGeom>
        </p:spPr>
      </p:pic>
      <p:pic>
        <p:nvPicPr>
          <p:cNvPr id="1029" name="Picture 5">
            <a:extLst>
              <a:ext uri="{FF2B5EF4-FFF2-40B4-BE49-F238E27FC236}">
                <a16:creationId xmlns:a16="http://schemas.microsoft.com/office/drawing/2014/main" id="{D4CC8C0E-26EA-1187-C451-6F31679AAA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6245" y="2206954"/>
            <a:ext cx="4429125" cy="9550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9DE35B6-7275-D48D-6100-47AF853A2E7E}"/>
              </a:ext>
            </a:extLst>
          </p:cNvPr>
          <p:cNvPicPr>
            <a:picLocks noChangeAspect="1"/>
          </p:cNvPicPr>
          <p:nvPr/>
        </p:nvPicPr>
        <p:blipFill>
          <a:blip r:embed="rId6"/>
          <a:stretch>
            <a:fillRect/>
          </a:stretch>
        </p:blipFill>
        <p:spPr>
          <a:xfrm>
            <a:off x="2749550" y="4113491"/>
            <a:ext cx="5016500" cy="2654020"/>
          </a:xfrm>
          <a:prstGeom prst="rect">
            <a:avLst/>
          </a:prstGeom>
        </p:spPr>
      </p:pic>
      <p:sp>
        <p:nvSpPr>
          <p:cNvPr id="8" name="TextBox 7">
            <a:extLst>
              <a:ext uri="{FF2B5EF4-FFF2-40B4-BE49-F238E27FC236}">
                <a16:creationId xmlns:a16="http://schemas.microsoft.com/office/drawing/2014/main" id="{46C2D35B-762E-B405-E64F-AC25D9BFE6EF}"/>
              </a:ext>
            </a:extLst>
          </p:cNvPr>
          <p:cNvSpPr txBox="1"/>
          <p:nvPr/>
        </p:nvSpPr>
        <p:spPr>
          <a:xfrm>
            <a:off x="3409950" y="3744159"/>
            <a:ext cx="6121400" cy="646331"/>
          </a:xfrm>
          <a:prstGeom prst="rect">
            <a:avLst/>
          </a:prstGeom>
          <a:noFill/>
        </p:spPr>
        <p:txBody>
          <a:bodyPr wrap="square">
            <a:spAutoFit/>
          </a:bodyPr>
          <a:lstStyle/>
          <a:p>
            <a:r>
              <a:rPr lang="en-CA" dirty="0">
                <a:hlinkClick r:id="rId7"/>
              </a:rPr>
              <a:t>https://claude.com/product/cowork</a:t>
            </a:r>
            <a:endParaRPr lang="en-CA" dirty="0"/>
          </a:p>
          <a:p>
            <a:endParaRPr lang="en-CA" dirty="0"/>
          </a:p>
        </p:txBody>
      </p:sp>
    </p:spTree>
    <p:extLst>
      <p:ext uri="{BB962C8B-B14F-4D97-AF65-F5344CB8AC3E}">
        <p14:creationId xmlns:p14="http://schemas.microsoft.com/office/powerpoint/2010/main" val="341950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89FF-3A8B-E247-3773-DBF60B363CD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9AC04E-4B9D-3E19-0CB0-B1DDE565D324}"/>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625B5718-6EE5-D7C5-8DE6-6BAC906FBC26}"/>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412F3DE-5594-784D-F71A-B3BC9C6BDA3C}"/>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Intro to Claude Cowork</a:t>
            </a:r>
          </a:p>
        </p:txBody>
      </p:sp>
      <p:sp>
        <p:nvSpPr>
          <p:cNvPr id="9" name="TextBox 8">
            <a:extLst>
              <a:ext uri="{FF2B5EF4-FFF2-40B4-BE49-F238E27FC236}">
                <a16:creationId xmlns:a16="http://schemas.microsoft.com/office/drawing/2014/main" id="{24043236-FDDF-436D-3ACE-7E55FF70B45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2" name="Shape 4">
            <a:extLst>
              <a:ext uri="{FF2B5EF4-FFF2-40B4-BE49-F238E27FC236}">
                <a16:creationId xmlns:a16="http://schemas.microsoft.com/office/drawing/2014/main" id="{A2EA34AC-190B-7C95-748C-900356FEED7E}"/>
              </a:ext>
            </a:extLst>
          </p:cNvPr>
          <p:cNvSpPr/>
          <p:nvPr/>
        </p:nvSpPr>
        <p:spPr>
          <a:xfrm>
            <a:off x="1457565" y="1824213"/>
            <a:ext cx="3703320" cy="1234440"/>
          </a:xfrm>
          <a:prstGeom prst="rect">
            <a:avLst/>
          </a:prstGeom>
          <a:solidFill>
            <a:srgbClr val="D56E48"/>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13" name="Shape 5">
            <a:extLst>
              <a:ext uri="{FF2B5EF4-FFF2-40B4-BE49-F238E27FC236}">
                <a16:creationId xmlns:a16="http://schemas.microsoft.com/office/drawing/2014/main" id="{EA6EB15D-884C-3EB4-DED6-CE14712ADD66}"/>
              </a:ext>
            </a:extLst>
          </p:cNvPr>
          <p:cNvSpPr/>
          <p:nvPr/>
        </p:nvSpPr>
        <p:spPr>
          <a:xfrm>
            <a:off x="1686165" y="2098533"/>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14" name="Image 0" descr="preencoded.png">
            <a:extLst>
              <a:ext uri="{FF2B5EF4-FFF2-40B4-BE49-F238E27FC236}">
                <a16:creationId xmlns:a16="http://schemas.microsoft.com/office/drawing/2014/main" id="{8C79DFF7-F6D9-1B51-879C-7740B833024C}"/>
              </a:ext>
            </a:extLst>
          </p:cNvPr>
          <p:cNvPicPr>
            <a:picLocks noChangeAspect="1"/>
          </p:cNvPicPr>
          <p:nvPr/>
        </p:nvPicPr>
        <p:blipFill>
          <a:blip r:embed="rId4"/>
          <a:stretch>
            <a:fillRect/>
          </a:stretch>
        </p:blipFill>
        <p:spPr>
          <a:xfrm>
            <a:off x="1805037" y="2217405"/>
            <a:ext cx="402336" cy="402336"/>
          </a:xfrm>
          <a:prstGeom prst="rect">
            <a:avLst/>
          </a:prstGeom>
        </p:spPr>
      </p:pic>
      <p:sp>
        <p:nvSpPr>
          <p:cNvPr id="15" name="Text 6">
            <a:extLst>
              <a:ext uri="{FF2B5EF4-FFF2-40B4-BE49-F238E27FC236}">
                <a16:creationId xmlns:a16="http://schemas.microsoft.com/office/drawing/2014/main" id="{DFD5D644-3C1C-BED2-B7A2-14A396C7E2AD}"/>
              </a:ext>
            </a:extLst>
          </p:cNvPr>
          <p:cNvSpPr/>
          <p:nvPr/>
        </p:nvSpPr>
        <p:spPr>
          <a:xfrm>
            <a:off x="2509125" y="2052813"/>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Desktop App</a:t>
            </a:r>
            <a:endParaRPr lang="en-US" sz="1600" dirty="0">
              <a:latin typeface="Montserrat" panose="00000500000000000000" pitchFamily="2" charset="0"/>
            </a:endParaRPr>
          </a:p>
        </p:txBody>
      </p:sp>
      <p:sp>
        <p:nvSpPr>
          <p:cNvPr id="16" name="Text 7">
            <a:extLst>
              <a:ext uri="{FF2B5EF4-FFF2-40B4-BE49-F238E27FC236}">
                <a16:creationId xmlns:a16="http://schemas.microsoft.com/office/drawing/2014/main" id="{952EE6CA-DDAE-E4A9-3B33-6304D0D687D2}"/>
              </a:ext>
            </a:extLst>
          </p:cNvPr>
          <p:cNvSpPr/>
          <p:nvPr/>
        </p:nvSpPr>
        <p:spPr>
          <a:xfrm>
            <a:off x="2509125" y="2418573"/>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Runs on macOS &amp; Windows via </a:t>
            </a:r>
            <a:r>
              <a:rPr lang="en-US" sz="1200" b="1" dirty="0">
                <a:solidFill>
                  <a:schemeClr val="accent5">
                    <a:lumMod val="50000"/>
                  </a:schemeClr>
                </a:solidFill>
                <a:latin typeface="Montserrat" panose="00000500000000000000" pitchFamily="2" charset="0"/>
                <a:ea typeface="Calibri" pitchFamily="34" charset="-122"/>
                <a:cs typeface="Calibri" pitchFamily="34" charset="-120"/>
              </a:rPr>
              <a:t>Claude Desktop</a:t>
            </a:r>
            <a:endParaRPr lang="en-US" sz="1200" b="1" dirty="0">
              <a:solidFill>
                <a:schemeClr val="accent5">
                  <a:lumMod val="50000"/>
                </a:schemeClr>
              </a:solidFill>
              <a:latin typeface="Montserrat" panose="00000500000000000000" pitchFamily="2" charset="0"/>
            </a:endParaRPr>
          </a:p>
        </p:txBody>
      </p:sp>
      <p:sp>
        <p:nvSpPr>
          <p:cNvPr id="17" name="Shape 8">
            <a:extLst>
              <a:ext uri="{FF2B5EF4-FFF2-40B4-BE49-F238E27FC236}">
                <a16:creationId xmlns:a16="http://schemas.microsoft.com/office/drawing/2014/main" id="{DF19DCD0-41C2-0994-2082-C099F64422D8}"/>
              </a:ext>
            </a:extLst>
          </p:cNvPr>
          <p:cNvSpPr/>
          <p:nvPr/>
        </p:nvSpPr>
        <p:spPr>
          <a:xfrm>
            <a:off x="6620670" y="1870034"/>
            <a:ext cx="3703320" cy="1234440"/>
          </a:xfrm>
          <a:prstGeom prst="rect">
            <a:avLst/>
          </a:prstGeom>
          <a:solidFill>
            <a:srgbClr val="0C1752"/>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18" name="Shape 9">
            <a:extLst>
              <a:ext uri="{FF2B5EF4-FFF2-40B4-BE49-F238E27FC236}">
                <a16:creationId xmlns:a16="http://schemas.microsoft.com/office/drawing/2014/main" id="{AE93E5AC-60F1-D230-190E-0E73FE3D65D8}"/>
              </a:ext>
            </a:extLst>
          </p:cNvPr>
          <p:cNvSpPr/>
          <p:nvPr/>
        </p:nvSpPr>
        <p:spPr>
          <a:xfrm>
            <a:off x="6849270" y="2144354"/>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19" name="Image 1" descr="preencoded.png">
            <a:extLst>
              <a:ext uri="{FF2B5EF4-FFF2-40B4-BE49-F238E27FC236}">
                <a16:creationId xmlns:a16="http://schemas.microsoft.com/office/drawing/2014/main" id="{AF13C7BA-EAAF-B636-EB6D-248D7140C5F0}"/>
              </a:ext>
            </a:extLst>
          </p:cNvPr>
          <p:cNvPicPr>
            <a:picLocks noChangeAspect="1"/>
          </p:cNvPicPr>
          <p:nvPr/>
        </p:nvPicPr>
        <p:blipFill>
          <a:blip r:embed="rId5"/>
          <a:stretch>
            <a:fillRect/>
          </a:stretch>
        </p:blipFill>
        <p:spPr>
          <a:xfrm>
            <a:off x="6968142" y="2263226"/>
            <a:ext cx="402336" cy="402336"/>
          </a:xfrm>
          <a:prstGeom prst="rect">
            <a:avLst/>
          </a:prstGeom>
        </p:spPr>
      </p:pic>
      <p:sp>
        <p:nvSpPr>
          <p:cNvPr id="20" name="Text 10">
            <a:extLst>
              <a:ext uri="{FF2B5EF4-FFF2-40B4-BE49-F238E27FC236}">
                <a16:creationId xmlns:a16="http://schemas.microsoft.com/office/drawing/2014/main" id="{CD36E56B-92FA-4B19-5B32-B1F8040799F5}"/>
              </a:ext>
            </a:extLst>
          </p:cNvPr>
          <p:cNvSpPr/>
          <p:nvPr/>
        </p:nvSpPr>
        <p:spPr>
          <a:xfrm>
            <a:off x="7672230" y="209863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Paid Plans</a:t>
            </a:r>
            <a:endParaRPr lang="en-US" sz="1600" dirty="0">
              <a:latin typeface="Montserrat" panose="00000500000000000000" pitchFamily="2" charset="0"/>
            </a:endParaRPr>
          </a:p>
        </p:txBody>
      </p:sp>
      <p:sp>
        <p:nvSpPr>
          <p:cNvPr id="21" name="Text 11">
            <a:extLst>
              <a:ext uri="{FF2B5EF4-FFF2-40B4-BE49-F238E27FC236}">
                <a16:creationId xmlns:a16="http://schemas.microsoft.com/office/drawing/2014/main" id="{1A1A2464-82EE-C150-8D84-91ADD606001F}"/>
              </a:ext>
            </a:extLst>
          </p:cNvPr>
          <p:cNvSpPr/>
          <p:nvPr/>
        </p:nvSpPr>
        <p:spPr>
          <a:xfrm>
            <a:off x="7672230" y="2464394"/>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Available on </a:t>
            </a:r>
            <a:r>
              <a:rPr lang="en-US" sz="1200" b="1" dirty="0">
                <a:solidFill>
                  <a:srgbClr val="FF0000"/>
                </a:solidFill>
                <a:latin typeface="Montserrat" panose="00000500000000000000" pitchFamily="2" charset="0"/>
                <a:ea typeface="Calibri" pitchFamily="34" charset="-122"/>
                <a:cs typeface="Calibri" pitchFamily="34" charset="-120"/>
              </a:rPr>
              <a:t>Pro, Max, Team &amp; Enterprise</a:t>
            </a:r>
            <a:endParaRPr lang="en-US" sz="1200" b="1" dirty="0">
              <a:solidFill>
                <a:srgbClr val="FF0000"/>
              </a:solidFill>
              <a:latin typeface="Montserrat" panose="00000500000000000000" pitchFamily="2" charset="0"/>
            </a:endParaRPr>
          </a:p>
        </p:txBody>
      </p:sp>
      <p:sp>
        <p:nvSpPr>
          <p:cNvPr id="22" name="Shape 12">
            <a:extLst>
              <a:ext uri="{FF2B5EF4-FFF2-40B4-BE49-F238E27FC236}">
                <a16:creationId xmlns:a16="http://schemas.microsoft.com/office/drawing/2014/main" id="{90A50139-3F84-05F9-8E5E-94D48887C28B}"/>
              </a:ext>
            </a:extLst>
          </p:cNvPr>
          <p:cNvSpPr/>
          <p:nvPr/>
        </p:nvSpPr>
        <p:spPr>
          <a:xfrm>
            <a:off x="1457565" y="3424413"/>
            <a:ext cx="3703320" cy="1234440"/>
          </a:xfrm>
          <a:prstGeom prst="rect">
            <a:avLst/>
          </a:prstGeom>
          <a:solidFill>
            <a:schemeClr val="bg1">
              <a:lumMod val="65000"/>
            </a:schemeClr>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23" name="Shape 13">
            <a:extLst>
              <a:ext uri="{FF2B5EF4-FFF2-40B4-BE49-F238E27FC236}">
                <a16:creationId xmlns:a16="http://schemas.microsoft.com/office/drawing/2014/main" id="{D687C6D9-4408-59DD-5D4C-BBFB1A2C8C81}"/>
              </a:ext>
            </a:extLst>
          </p:cNvPr>
          <p:cNvSpPr/>
          <p:nvPr/>
        </p:nvSpPr>
        <p:spPr>
          <a:xfrm>
            <a:off x="1686165" y="3698733"/>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24" name="Image 2" descr="preencoded.png">
            <a:extLst>
              <a:ext uri="{FF2B5EF4-FFF2-40B4-BE49-F238E27FC236}">
                <a16:creationId xmlns:a16="http://schemas.microsoft.com/office/drawing/2014/main" id="{186CC20B-1297-E73D-9401-349550791672}"/>
              </a:ext>
            </a:extLst>
          </p:cNvPr>
          <p:cNvPicPr>
            <a:picLocks noChangeAspect="1"/>
          </p:cNvPicPr>
          <p:nvPr/>
        </p:nvPicPr>
        <p:blipFill>
          <a:blip r:embed="rId6"/>
          <a:stretch>
            <a:fillRect/>
          </a:stretch>
        </p:blipFill>
        <p:spPr>
          <a:xfrm>
            <a:off x="1805037" y="3817605"/>
            <a:ext cx="402336" cy="402336"/>
          </a:xfrm>
          <a:prstGeom prst="rect">
            <a:avLst/>
          </a:prstGeom>
        </p:spPr>
      </p:pic>
      <p:sp>
        <p:nvSpPr>
          <p:cNvPr id="25" name="Text 14">
            <a:extLst>
              <a:ext uri="{FF2B5EF4-FFF2-40B4-BE49-F238E27FC236}">
                <a16:creationId xmlns:a16="http://schemas.microsoft.com/office/drawing/2014/main" id="{FF6B6536-953D-4184-F686-188CAC9FAEF8}"/>
              </a:ext>
            </a:extLst>
          </p:cNvPr>
          <p:cNvSpPr/>
          <p:nvPr/>
        </p:nvSpPr>
        <p:spPr>
          <a:xfrm>
            <a:off x="2509125" y="3653013"/>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Launched </a:t>
            </a:r>
            <a:r>
              <a:rPr lang="en-US" sz="1600" dirty="0">
                <a:solidFill>
                  <a:srgbClr val="FFFF00"/>
                </a:solidFill>
                <a:latin typeface="Montserrat" panose="00000500000000000000" pitchFamily="2" charset="0"/>
                <a:ea typeface="Trebuchet MS" pitchFamily="34" charset="-122"/>
                <a:cs typeface="Trebuchet MS" pitchFamily="34" charset="-120"/>
              </a:rPr>
              <a:t>Jan 2026</a:t>
            </a:r>
            <a:endParaRPr lang="en-US" sz="1600" dirty="0">
              <a:solidFill>
                <a:srgbClr val="FFFF00"/>
              </a:solidFill>
              <a:latin typeface="Montserrat" panose="00000500000000000000" pitchFamily="2" charset="0"/>
            </a:endParaRPr>
          </a:p>
        </p:txBody>
      </p:sp>
      <p:sp>
        <p:nvSpPr>
          <p:cNvPr id="26" name="Text 15">
            <a:extLst>
              <a:ext uri="{FF2B5EF4-FFF2-40B4-BE49-F238E27FC236}">
                <a16:creationId xmlns:a16="http://schemas.microsoft.com/office/drawing/2014/main" id="{A6CF71DC-D69B-45C4-FF13-AFE4453F9FE9}"/>
              </a:ext>
            </a:extLst>
          </p:cNvPr>
          <p:cNvSpPr/>
          <p:nvPr/>
        </p:nvSpPr>
        <p:spPr>
          <a:xfrm>
            <a:off x="2509125" y="4018773"/>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Research preview with active development</a:t>
            </a:r>
            <a:endParaRPr lang="en-US" sz="1200" dirty="0">
              <a:solidFill>
                <a:schemeClr val="bg1"/>
              </a:solidFill>
              <a:latin typeface="Montserrat" panose="00000500000000000000" pitchFamily="2" charset="0"/>
            </a:endParaRPr>
          </a:p>
        </p:txBody>
      </p:sp>
      <p:sp>
        <p:nvSpPr>
          <p:cNvPr id="27" name="Shape 16">
            <a:extLst>
              <a:ext uri="{FF2B5EF4-FFF2-40B4-BE49-F238E27FC236}">
                <a16:creationId xmlns:a16="http://schemas.microsoft.com/office/drawing/2014/main" id="{053A208B-1F1C-85D8-EA83-AA96506D6315}"/>
              </a:ext>
            </a:extLst>
          </p:cNvPr>
          <p:cNvSpPr/>
          <p:nvPr/>
        </p:nvSpPr>
        <p:spPr>
          <a:xfrm>
            <a:off x="6620670" y="3470234"/>
            <a:ext cx="3703320" cy="1234440"/>
          </a:xfrm>
          <a:prstGeom prst="rect">
            <a:avLst/>
          </a:prstGeom>
          <a:solidFill>
            <a:srgbClr val="1BBFD1"/>
          </a:solidFill>
          <a:ln/>
          <a:effectLst>
            <a:outerShdw blurRad="101600" dist="38100" dir="8100000" algn="bl" rotWithShape="0">
              <a:srgbClr val="000000">
                <a:alpha val="12000"/>
              </a:srgbClr>
            </a:outerShdw>
          </a:effectLst>
        </p:spPr>
        <p:txBody>
          <a:bodyPr/>
          <a:lstStyle/>
          <a:p>
            <a:endParaRPr lang="en-CA">
              <a:latin typeface="Montserrat" panose="00000500000000000000" pitchFamily="2" charset="0"/>
            </a:endParaRPr>
          </a:p>
        </p:txBody>
      </p:sp>
      <p:sp>
        <p:nvSpPr>
          <p:cNvPr id="28" name="Shape 17">
            <a:extLst>
              <a:ext uri="{FF2B5EF4-FFF2-40B4-BE49-F238E27FC236}">
                <a16:creationId xmlns:a16="http://schemas.microsoft.com/office/drawing/2014/main" id="{4E52400E-1D58-B78A-0C4A-B7A07B870874}"/>
              </a:ext>
            </a:extLst>
          </p:cNvPr>
          <p:cNvSpPr/>
          <p:nvPr/>
        </p:nvSpPr>
        <p:spPr>
          <a:xfrm>
            <a:off x="6849270" y="3744554"/>
            <a:ext cx="640080" cy="640080"/>
          </a:xfrm>
          <a:prstGeom prst="ellipse">
            <a:avLst/>
          </a:prstGeom>
          <a:solidFill>
            <a:srgbClr val="FFFFFF">
              <a:alpha val="80000"/>
            </a:srgbClr>
          </a:solidFill>
          <a:ln/>
        </p:spPr>
        <p:txBody>
          <a:bodyPr/>
          <a:lstStyle/>
          <a:p>
            <a:endParaRPr lang="en-CA">
              <a:latin typeface="Montserrat" panose="00000500000000000000" pitchFamily="2" charset="0"/>
            </a:endParaRPr>
          </a:p>
        </p:txBody>
      </p:sp>
      <p:pic>
        <p:nvPicPr>
          <p:cNvPr id="29" name="Image 3" descr="preencoded.png">
            <a:extLst>
              <a:ext uri="{FF2B5EF4-FFF2-40B4-BE49-F238E27FC236}">
                <a16:creationId xmlns:a16="http://schemas.microsoft.com/office/drawing/2014/main" id="{EBAE65BF-2C0E-E84F-1833-2DF70A2E9722}"/>
              </a:ext>
            </a:extLst>
          </p:cNvPr>
          <p:cNvPicPr>
            <a:picLocks noChangeAspect="1"/>
          </p:cNvPicPr>
          <p:nvPr/>
        </p:nvPicPr>
        <p:blipFill>
          <a:blip r:embed="rId7"/>
          <a:stretch>
            <a:fillRect/>
          </a:stretch>
        </p:blipFill>
        <p:spPr>
          <a:xfrm>
            <a:off x="6968142" y="3863426"/>
            <a:ext cx="402336" cy="402336"/>
          </a:xfrm>
          <a:prstGeom prst="rect">
            <a:avLst/>
          </a:prstGeom>
        </p:spPr>
      </p:pic>
      <p:sp>
        <p:nvSpPr>
          <p:cNvPr id="30" name="Text 18">
            <a:extLst>
              <a:ext uri="{FF2B5EF4-FFF2-40B4-BE49-F238E27FC236}">
                <a16:creationId xmlns:a16="http://schemas.microsoft.com/office/drawing/2014/main" id="{6D2C74F3-EBEE-B590-5EF3-E52BD2F3C0C6}"/>
              </a:ext>
            </a:extLst>
          </p:cNvPr>
          <p:cNvSpPr/>
          <p:nvPr/>
        </p:nvSpPr>
        <p:spPr>
          <a:xfrm>
            <a:off x="7672230" y="3698834"/>
            <a:ext cx="2468880" cy="365760"/>
          </a:xfrm>
          <a:prstGeom prst="rect">
            <a:avLst/>
          </a:prstGeom>
          <a:noFill/>
          <a:ln/>
        </p:spPr>
        <p:txBody>
          <a:bodyPr wrap="square" lIns="0" tIns="0" rIns="0" bIns="0" rtlCol="0" anchor="ctr"/>
          <a:lstStyle/>
          <a:p>
            <a:pPr marL="0" indent="0">
              <a:buNone/>
            </a:pPr>
            <a:r>
              <a:rPr lang="en-US" sz="1600" b="1" dirty="0">
                <a:solidFill>
                  <a:srgbClr val="FFFFFF"/>
                </a:solidFill>
                <a:latin typeface="Montserrat" panose="00000500000000000000" pitchFamily="2" charset="0"/>
                <a:ea typeface="Trebuchet MS" pitchFamily="34" charset="-122"/>
                <a:cs typeface="Trebuchet MS" pitchFamily="34" charset="-120"/>
              </a:rPr>
              <a:t>Secure Sandbox</a:t>
            </a:r>
            <a:endParaRPr lang="en-US" sz="1600" dirty="0">
              <a:latin typeface="Montserrat" panose="00000500000000000000" pitchFamily="2" charset="0"/>
            </a:endParaRPr>
          </a:p>
        </p:txBody>
      </p:sp>
      <p:sp>
        <p:nvSpPr>
          <p:cNvPr id="31" name="Text 19">
            <a:extLst>
              <a:ext uri="{FF2B5EF4-FFF2-40B4-BE49-F238E27FC236}">
                <a16:creationId xmlns:a16="http://schemas.microsoft.com/office/drawing/2014/main" id="{46EA6CB7-9A3E-8326-E05E-B97537AC45E2}"/>
              </a:ext>
            </a:extLst>
          </p:cNvPr>
          <p:cNvSpPr/>
          <p:nvPr/>
        </p:nvSpPr>
        <p:spPr>
          <a:xfrm>
            <a:off x="7672230" y="4064594"/>
            <a:ext cx="2468880" cy="457200"/>
          </a:xfrm>
          <a:prstGeom prst="rect">
            <a:avLst/>
          </a:prstGeom>
          <a:noFill/>
          <a:ln/>
        </p:spPr>
        <p:txBody>
          <a:bodyPr wrap="square" lIns="0" tIns="0" rIns="0" bIns="0" rtlCol="0" anchor="ctr"/>
          <a:lstStyle/>
          <a:p>
            <a:pPr marL="0" indent="0">
              <a:buNone/>
            </a:pPr>
            <a:r>
              <a:rPr lang="en-US" sz="1200" dirty="0">
                <a:solidFill>
                  <a:schemeClr val="bg1"/>
                </a:solidFill>
                <a:latin typeface="Montserrat" panose="00000500000000000000" pitchFamily="2" charset="0"/>
                <a:ea typeface="Calibri" pitchFamily="34" charset="-122"/>
                <a:cs typeface="Calibri" pitchFamily="34" charset="-120"/>
              </a:rPr>
              <a:t>Runs in an isolated virtual machine on your device</a:t>
            </a:r>
            <a:endParaRPr lang="en-US" sz="1200"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419084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0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par>
                                <p:cTn id="45" presetID="10"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fade">
                                      <p:cBhvr>
                                        <p:cTn id="58" dur="500"/>
                                        <p:tgtEl>
                                          <p:spTgt spid="27"/>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par>
                                <p:cTn id="62" presetID="10" presetClass="entr" presetSubtype="0" fill="hold" nodeType="with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fade">
                                      <p:cBhvr>
                                        <p:cTn id="67" dur="500"/>
                                        <p:tgtEl>
                                          <p:spTgt spid="30"/>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27" grpId="0" animBg="1"/>
      <p:bldP spid="28" grpId="0" animBg="1"/>
      <p:bldP spid="30" grpId="0" animBg="1"/>
      <p:bldP spid="3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4F133-1036-D0B1-AB6F-4C40E25611B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8551E04-458E-8699-0CB0-F6B3EDE163C8}"/>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B8641E44-5502-1415-180B-26EF305BA5E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0CC13CA-97EC-FF68-B30D-7EDA126D317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Key Learning Objectives</a:t>
            </a:r>
          </a:p>
        </p:txBody>
      </p:sp>
      <p:sp>
        <p:nvSpPr>
          <p:cNvPr id="9" name="TextBox 8">
            <a:extLst>
              <a:ext uri="{FF2B5EF4-FFF2-40B4-BE49-F238E27FC236}">
                <a16:creationId xmlns:a16="http://schemas.microsoft.com/office/drawing/2014/main" id="{252E9451-5EF1-0229-77F2-17E1FBBDD0BC}"/>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graphicFrame>
        <p:nvGraphicFramePr>
          <p:cNvPr id="11" name="Diagram 10">
            <a:extLst>
              <a:ext uri="{FF2B5EF4-FFF2-40B4-BE49-F238E27FC236}">
                <a16:creationId xmlns:a16="http://schemas.microsoft.com/office/drawing/2014/main" id="{CB4CB5A7-DA9F-25B8-A9F8-A4B4812F76A1}"/>
              </a:ext>
            </a:extLst>
          </p:cNvPr>
          <p:cNvGraphicFramePr/>
          <p:nvPr>
            <p:extLst>
              <p:ext uri="{D42A27DB-BD31-4B8C-83A1-F6EECF244321}">
                <p14:modId xmlns:p14="http://schemas.microsoft.com/office/powerpoint/2010/main" val="101878267"/>
              </p:ext>
            </p:extLst>
          </p:nvPr>
        </p:nvGraphicFramePr>
        <p:xfrm>
          <a:off x="319404" y="751406"/>
          <a:ext cx="11250613"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76813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graphicEl>
                                              <a:dgm id="{69CE8057-0DF9-434C-8846-744BD4E37834}"/>
                                            </p:graphicEl>
                                          </p:spTgt>
                                        </p:tgtEl>
                                        <p:attrNameLst>
                                          <p:attrName>style.visibility</p:attrName>
                                        </p:attrNameLst>
                                      </p:cBhvr>
                                      <p:to>
                                        <p:strVal val="visible"/>
                                      </p:to>
                                    </p:set>
                                    <p:animEffect transition="in" filter="fade">
                                      <p:cBhvr>
                                        <p:cTn id="7" dur="500"/>
                                        <p:tgtEl>
                                          <p:spTgt spid="11">
                                            <p:graphicEl>
                                              <a:dgm id="{69CE8057-0DF9-434C-8846-744BD4E37834}"/>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graphicEl>
                                              <a:dgm id="{0834A8D9-3DDC-4044-9B45-2B9128E47F48}"/>
                                            </p:graphicEl>
                                          </p:spTgt>
                                        </p:tgtEl>
                                        <p:attrNameLst>
                                          <p:attrName>style.visibility</p:attrName>
                                        </p:attrNameLst>
                                      </p:cBhvr>
                                      <p:to>
                                        <p:strVal val="visible"/>
                                      </p:to>
                                    </p:set>
                                    <p:animEffect transition="in" filter="fade">
                                      <p:cBhvr>
                                        <p:cTn id="12" dur="500"/>
                                        <p:tgtEl>
                                          <p:spTgt spid="11">
                                            <p:graphicEl>
                                              <a:dgm id="{0834A8D9-3DDC-4044-9B45-2B9128E47F48}"/>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graphicEl>
                                              <a:dgm id="{55528C55-457D-462C-9CD9-2224288C1FA2}"/>
                                            </p:graphicEl>
                                          </p:spTgt>
                                        </p:tgtEl>
                                        <p:attrNameLst>
                                          <p:attrName>style.visibility</p:attrName>
                                        </p:attrNameLst>
                                      </p:cBhvr>
                                      <p:to>
                                        <p:strVal val="visible"/>
                                      </p:to>
                                    </p:set>
                                    <p:animEffect transition="in" filter="fade">
                                      <p:cBhvr>
                                        <p:cTn id="17" dur="500"/>
                                        <p:tgtEl>
                                          <p:spTgt spid="11">
                                            <p:graphicEl>
                                              <a:dgm id="{55528C55-457D-462C-9CD9-2224288C1FA2}"/>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graphicEl>
                                              <a:dgm id="{1128222C-25A7-456E-A265-1D059DEF86CA}"/>
                                            </p:graphicEl>
                                          </p:spTgt>
                                        </p:tgtEl>
                                        <p:attrNameLst>
                                          <p:attrName>style.visibility</p:attrName>
                                        </p:attrNameLst>
                                      </p:cBhvr>
                                      <p:to>
                                        <p:strVal val="visible"/>
                                      </p:to>
                                    </p:set>
                                    <p:animEffect transition="in" filter="fade">
                                      <p:cBhvr>
                                        <p:cTn id="22" dur="500"/>
                                        <p:tgtEl>
                                          <p:spTgt spid="11">
                                            <p:graphicEl>
                                              <a:dgm id="{1128222C-25A7-456E-A265-1D059DEF86CA}"/>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graphicEl>
                                              <a:dgm id="{3884100F-46BE-4B67-98EB-C6A0A0A4B69E}"/>
                                            </p:graphicEl>
                                          </p:spTgt>
                                        </p:tgtEl>
                                        <p:attrNameLst>
                                          <p:attrName>style.visibility</p:attrName>
                                        </p:attrNameLst>
                                      </p:cBhvr>
                                      <p:to>
                                        <p:strVal val="visible"/>
                                      </p:to>
                                    </p:set>
                                    <p:animEffect transition="in" filter="fade">
                                      <p:cBhvr>
                                        <p:cTn id="27" dur="500"/>
                                        <p:tgtEl>
                                          <p:spTgt spid="11">
                                            <p:graphicEl>
                                              <a:dgm id="{3884100F-46BE-4B67-98EB-C6A0A0A4B69E}"/>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graphicEl>
                                              <a:dgm id="{2D31528C-39AB-4F4F-8DE1-72F80BD3C233}"/>
                                            </p:graphicEl>
                                          </p:spTgt>
                                        </p:tgtEl>
                                        <p:attrNameLst>
                                          <p:attrName>style.visibility</p:attrName>
                                        </p:attrNameLst>
                                      </p:cBhvr>
                                      <p:to>
                                        <p:strVal val="visible"/>
                                      </p:to>
                                    </p:set>
                                    <p:animEffect transition="in" filter="fade">
                                      <p:cBhvr>
                                        <p:cTn id="32" dur="500"/>
                                        <p:tgtEl>
                                          <p:spTgt spid="11">
                                            <p:graphicEl>
                                              <a:dgm id="{2D31528C-39AB-4F4F-8DE1-72F80BD3C23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6EF96-B05A-C12C-71F5-1A935C9689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B67389-D35D-F7F1-3F25-D47378648B1C}"/>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3C885E9-68CB-D428-58F0-A9205210ED56}"/>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6411A3A-37A6-665F-2B5B-EB682C0F160E}"/>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COWORK CAPABILITIES</a:t>
            </a:r>
          </a:p>
        </p:txBody>
      </p:sp>
      <p:pic>
        <p:nvPicPr>
          <p:cNvPr id="5" name="Picture 4">
            <a:extLst>
              <a:ext uri="{FF2B5EF4-FFF2-40B4-BE49-F238E27FC236}">
                <a16:creationId xmlns:a16="http://schemas.microsoft.com/office/drawing/2014/main" id="{634D87B5-FF8A-2BF7-65F1-2316D6B44A3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793837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CEA5-D678-99B9-7AD7-EC2B0D9C9D9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D60704B-6253-2793-A3E0-DAC1C681442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B2FFE6E7-A0E2-E608-3FCB-4B2526FD5DBD}"/>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D5AFC891-1075-3BDE-DBBD-0418976417C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How does Cowork work?</a:t>
            </a:r>
          </a:p>
        </p:txBody>
      </p:sp>
      <p:sp>
        <p:nvSpPr>
          <p:cNvPr id="9" name="TextBox 8">
            <a:extLst>
              <a:ext uri="{FF2B5EF4-FFF2-40B4-BE49-F238E27FC236}">
                <a16:creationId xmlns:a16="http://schemas.microsoft.com/office/drawing/2014/main" id="{32F11FD1-5485-C63F-C45D-D3FB5E69736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Shape 2">
            <a:extLst>
              <a:ext uri="{FF2B5EF4-FFF2-40B4-BE49-F238E27FC236}">
                <a16:creationId xmlns:a16="http://schemas.microsoft.com/office/drawing/2014/main" id="{F5ED6277-C80E-7EC1-752C-8131FAF1FD0D}"/>
              </a:ext>
            </a:extLst>
          </p:cNvPr>
          <p:cNvSpPr/>
          <p:nvPr/>
        </p:nvSpPr>
        <p:spPr>
          <a:xfrm>
            <a:off x="822960" y="1243380"/>
            <a:ext cx="2170035" cy="23784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3" name="Shape 3">
            <a:extLst>
              <a:ext uri="{FF2B5EF4-FFF2-40B4-BE49-F238E27FC236}">
                <a16:creationId xmlns:a16="http://schemas.microsoft.com/office/drawing/2014/main" id="{3F7EC0BC-9B2D-9A13-5F40-25AE11C439C7}"/>
              </a:ext>
            </a:extLst>
          </p:cNvPr>
          <p:cNvSpPr/>
          <p:nvPr/>
        </p:nvSpPr>
        <p:spPr>
          <a:xfrm>
            <a:off x="1621395" y="1453692"/>
            <a:ext cx="548640" cy="548640"/>
          </a:xfrm>
          <a:prstGeom prst="ellipse">
            <a:avLst/>
          </a:prstGeom>
          <a:solidFill>
            <a:srgbClr val="0C1752">
              <a:alpha val="80000"/>
            </a:srgbClr>
          </a:solidFill>
          <a:ln/>
        </p:spPr>
        <p:txBody>
          <a:bodyPr/>
          <a:lstStyle/>
          <a:p>
            <a:endParaRPr lang="en-CA">
              <a:solidFill>
                <a:srgbClr val="0C1752"/>
              </a:solidFill>
            </a:endParaRPr>
          </a:p>
        </p:txBody>
      </p:sp>
      <p:sp>
        <p:nvSpPr>
          <p:cNvPr id="4" name="Text 4">
            <a:extLst>
              <a:ext uri="{FF2B5EF4-FFF2-40B4-BE49-F238E27FC236}">
                <a16:creationId xmlns:a16="http://schemas.microsoft.com/office/drawing/2014/main" id="{A6CF3F30-4EF6-3213-ECFA-FC79FF2C60E0}"/>
              </a:ext>
            </a:extLst>
          </p:cNvPr>
          <p:cNvSpPr/>
          <p:nvPr/>
        </p:nvSpPr>
        <p:spPr>
          <a:xfrm>
            <a:off x="1621395" y="1453692"/>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latin typeface="Trebuchet MS" pitchFamily="34" charset="0"/>
                <a:ea typeface="Trebuchet MS" pitchFamily="34" charset="-122"/>
                <a:cs typeface="Trebuchet MS" pitchFamily="34" charset="-120"/>
              </a:rPr>
              <a:t>1</a:t>
            </a:r>
            <a:endParaRPr lang="en-US" sz="2200" dirty="0">
              <a:solidFill>
                <a:schemeClr val="bg1"/>
              </a:solidFill>
            </a:endParaRPr>
          </a:p>
        </p:txBody>
      </p:sp>
      <p:sp>
        <p:nvSpPr>
          <p:cNvPr id="8" name="Text 5">
            <a:extLst>
              <a:ext uri="{FF2B5EF4-FFF2-40B4-BE49-F238E27FC236}">
                <a16:creationId xmlns:a16="http://schemas.microsoft.com/office/drawing/2014/main" id="{86D5F4B6-6DCD-BE9B-BDCF-56CE3864191B}"/>
              </a:ext>
            </a:extLst>
          </p:cNvPr>
          <p:cNvSpPr/>
          <p:nvPr/>
        </p:nvSpPr>
        <p:spPr>
          <a:xfrm>
            <a:off x="1244483" y="2306074"/>
            <a:ext cx="1371600" cy="640080"/>
          </a:xfrm>
          <a:prstGeom prst="rect">
            <a:avLst/>
          </a:prstGeom>
          <a:noFill/>
          <a:ln/>
        </p:spPr>
        <p:txBody>
          <a:bodyPr wrap="square" lIns="0" tIns="0" rIns="0" bIns="0" rtlCol="0" anchor="ctr"/>
          <a:lstStyle/>
          <a:p>
            <a:pPr marL="0" indent="0" algn="ctr">
              <a:buNone/>
            </a:pPr>
            <a:r>
              <a:rPr lang="en-US" dirty="0">
                <a:latin typeface="Montserrat" panose="00000500000000000000" pitchFamily="2" charset="0"/>
                <a:ea typeface="Calibri" pitchFamily="34" charset="-122"/>
                <a:cs typeface="Calibri" pitchFamily="34" charset="-120"/>
              </a:rPr>
              <a:t>Describe</a:t>
            </a:r>
            <a:endParaRPr lang="en-US" dirty="0">
              <a:latin typeface="Montserrat" panose="00000500000000000000" pitchFamily="2" charset="0"/>
            </a:endParaRPr>
          </a:p>
          <a:p>
            <a:pPr marL="0" indent="0" algn="ctr">
              <a:buNone/>
            </a:pPr>
            <a:r>
              <a:rPr lang="en-US" dirty="0">
                <a:latin typeface="Montserrat" panose="00000500000000000000" pitchFamily="2" charset="0"/>
                <a:ea typeface="Calibri" pitchFamily="34" charset="-122"/>
                <a:cs typeface="Calibri" pitchFamily="34" charset="-120"/>
              </a:rPr>
              <a:t>Your Task</a:t>
            </a:r>
            <a:endParaRPr lang="en-US" dirty="0">
              <a:latin typeface="Montserrat" panose="00000500000000000000" pitchFamily="2" charset="0"/>
            </a:endParaRPr>
          </a:p>
        </p:txBody>
      </p:sp>
      <p:pic>
        <p:nvPicPr>
          <p:cNvPr id="10" name="Image 0" descr="preencoded.png">
            <a:extLst>
              <a:ext uri="{FF2B5EF4-FFF2-40B4-BE49-F238E27FC236}">
                <a16:creationId xmlns:a16="http://schemas.microsoft.com/office/drawing/2014/main" id="{5A631969-B67D-AECA-13E8-E3973D5B7C4A}"/>
              </a:ext>
            </a:extLst>
          </p:cNvPr>
          <p:cNvPicPr>
            <a:picLocks noChangeAspect="1"/>
          </p:cNvPicPr>
          <p:nvPr/>
        </p:nvPicPr>
        <p:blipFill>
          <a:blip r:embed="rId4"/>
          <a:stretch>
            <a:fillRect/>
          </a:stretch>
        </p:blipFill>
        <p:spPr>
          <a:xfrm>
            <a:off x="3610770" y="1837740"/>
            <a:ext cx="274320" cy="274320"/>
          </a:xfrm>
          <a:prstGeom prst="rect">
            <a:avLst/>
          </a:prstGeom>
        </p:spPr>
      </p:pic>
      <p:sp>
        <p:nvSpPr>
          <p:cNvPr id="12" name="Shape 6">
            <a:extLst>
              <a:ext uri="{FF2B5EF4-FFF2-40B4-BE49-F238E27FC236}">
                <a16:creationId xmlns:a16="http://schemas.microsoft.com/office/drawing/2014/main" id="{58D67824-E0C8-72D9-FC6C-361CD3B8CB28}"/>
              </a:ext>
            </a:extLst>
          </p:cNvPr>
          <p:cNvSpPr/>
          <p:nvPr/>
        </p:nvSpPr>
        <p:spPr>
          <a:xfrm>
            <a:off x="3541635" y="1243380"/>
            <a:ext cx="2080815" cy="237846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13" name="Shape 7">
            <a:extLst>
              <a:ext uri="{FF2B5EF4-FFF2-40B4-BE49-F238E27FC236}">
                <a16:creationId xmlns:a16="http://schemas.microsoft.com/office/drawing/2014/main" id="{4F3A754A-3087-F412-254E-51C4AE8B332E}"/>
              </a:ext>
            </a:extLst>
          </p:cNvPr>
          <p:cNvSpPr/>
          <p:nvPr/>
        </p:nvSpPr>
        <p:spPr>
          <a:xfrm>
            <a:off x="4250850" y="1471980"/>
            <a:ext cx="548640" cy="548640"/>
          </a:xfrm>
          <a:prstGeom prst="ellipse">
            <a:avLst/>
          </a:prstGeom>
          <a:solidFill>
            <a:srgbClr val="D56E48">
              <a:alpha val="80000"/>
            </a:srgbClr>
          </a:solidFill>
          <a:ln/>
        </p:spPr>
        <p:txBody>
          <a:bodyPr/>
          <a:lstStyle/>
          <a:p>
            <a:endParaRPr lang="en-CA"/>
          </a:p>
        </p:txBody>
      </p:sp>
      <p:sp>
        <p:nvSpPr>
          <p:cNvPr id="14" name="Text 8">
            <a:extLst>
              <a:ext uri="{FF2B5EF4-FFF2-40B4-BE49-F238E27FC236}">
                <a16:creationId xmlns:a16="http://schemas.microsoft.com/office/drawing/2014/main" id="{1E0F9548-3B62-E788-04C2-5D99A549761A}"/>
              </a:ext>
            </a:extLst>
          </p:cNvPr>
          <p:cNvSpPr/>
          <p:nvPr/>
        </p:nvSpPr>
        <p:spPr>
          <a:xfrm>
            <a:off x="4250850" y="14719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5" name="Text 9">
            <a:extLst>
              <a:ext uri="{FF2B5EF4-FFF2-40B4-BE49-F238E27FC236}">
                <a16:creationId xmlns:a16="http://schemas.microsoft.com/office/drawing/2014/main" id="{D7DD3D39-F931-16F7-8D9D-EEDC2678A6B5}"/>
              </a:ext>
            </a:extLst>
          </p:cNvPr>
          <p:cNvSpPr/>
          <p:nvPr/>
        </p:nvSpPr>
        <p:spPr>
          <a:xfrm>
            <a:off x="3747930" y="2405280"/>
            <a:ext cx="1681624"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Claude Plans</a:t>
            </a:r>
          </a:p>
          <a:p>
            <a:pPr algn="ctr"/>
            <a:r>
              <a:rPr lang="en-US" dirty="0">
                <a:latin typeface="Montserrat" panose="00000500000000000000" pitchFamily="2" charset="0"/>
                <a:ea typeface="Calibri" pitchFamily="34" charset="-122"/>
                <a:cs typeface="Calibri" pitchFamily="34" charset="-120"/>
              </a:rPr>
              <a:t>&amp; Breaks Down</a:t>
            </a:r>
          </a:p>
        </p:txBody>
      </p:sp>
      <p:pic>
        <p:nvPicPr>
          <p:cNvPr id="16" name="Image 1" descr="preencoded.png">
            <a:extLst>
              <a:ext uri="{FF2B5EF4-FFF2-40B4-BE49-F238E27FC236}">
                <a16:creationId xmlns:a16="http://schemas.microsoft.com/office/drawing/2014/main" id="{50EC5561-4A86-829A-18A6-47BADBCEA1DE}"/>
              </a:ext>
            </a:extLst>
          </p:cNvPr>
          <p:cNvPicPr>
            <a:picLocks noChangeAspect="1"/>
          </p:cNvPicPr>
          <p:nvPr/>
        </p:nvPicPr>
        <p:blipFill>
          <a:blip r:embed="rId4"/>
          <a:stretch>
            <a:fillRect/>
          </a:stretch>
        </p:blipFill>
        <p:spPr>
          <a:xfrm>
            <a:off x="6217920" y="1846680"/>
            <a:ext cx="274320" cy="274320"/>
          </a:xfrm>
          <a:prstGeom prst="rect">
            <a:avLst/>
          </a:prstGeom>
        </p:spPr>
      </p:pic>
      <p:sp>
        <p:nvSpPr>
          <p:cNvPr id="17" name="Shape 10">
            <a:extLst>
              <a:ext uri="{FF2B5EF4-FFF2-40B4-BE49-F238E27FC236}">
                <a16:creationId xmlns:a16="http://schemas.microsoft.com/office/drawing/2014/main" id="{03F64BC5-FF8A-B9C8-85A9-C52510C50512}"/>
              </a:ext>
            </a:extLst>
          </p:cNvPr>
          <p:cNvSpPr/>
          <p:nvPr/>
        </p:nvSpPr>
        <p:spPr>
          <a:xfrm>
            <a:off x="6171090" y="1252320"/>
            <a:ext cx="2058510" cy="2369520"/>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18" name="Shape 11">
            <a:extLst>
              <a:ext uri="{FF2B5EF4-FFF2-40B4-BE49-F238E27FC236}">
                <a16:creationId xmlns:a16="http://schemas.microsoft.com/office/drawing/2014/main" id="{6B6F10EE-BE75-78A1-895A-53A875C79976}"/>
              </a:ext>
            </a:extLst>
          </p:cNvPr>
          <p:cNvSpPr/>
          <p:nvPr/>
        </p:nvSpPr>
        <p:spPr>
          <a:xfrm>
            <a:off x="6925470" y="1435200"/>
            <a:ext cx="548640" cy="548640"/>
          </a:xfrm>
          <a:prstGeom prst="ellipse">
            <a:avLst/>
          </a:prstGeom>
          <a:solidFill>
            <a:srgbClr val="1BBFD1">
              <a:alpha val="80000"/>
            </a:srgbClr>
          </a:solidFill>
          <a:ln/>
        </p:spPr>
        <p:txBody>
          <a:bodyPr/>
          <a:lstStyle/>
          <a:p>
            <a:endParaRPr lang="en-CA"/>
          </a:p>
        </p:txBody>
      </p:sp>
      <p:sp>
        <p:nvSpPr>
          <p:cNvPr id="19" name="Text 12">
            <a:extLst>
              <a:ext uri="{FF2B5EF4-FFF2-40B4-BE49-F238E27FC236}">
                <a16:creationId xmlns:a16="http://schemas.microsoft.com/office/drawing/2014/main" id="{2259BD42-42B7-C963-F100-64E0816CAB47}"/>
              </a:ext>
            </a:extLst>
          </p:cNvPr>
          <p:cNvSpPr/>
          <p:nvPr/>
        </p:nvSpPr>
        <p:spPr>
          <a:xfrm>
            <a:off x="6925470" y="14352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0" name="Text 13">
            <a:extLst>
              <a:ext uri="{FF2B5EF4-FFF2-40B4-BE49-F238E27FC236}">
                <a16:creationId xmlns:a16="http://schemas.microsoft.com/office/drawing/2014/main" id="{A8BFC3EB-D48A-85BE-F7B7-575DAD9EA24E}"/>
              </a:ext>
            </a:extLst>
          </p:cNvPr>
          <p:cNvSpPr/>
          <p:nvPr/>
        </p:nvSpPr>
        <p:spPr>
          <a:xfrm>
            <a:off x="6492240" y="2306074"/>
            <a:ext cx="1371600"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Executes in</a:t>
            </a:r>
          </a:p>
          <a:p>
            <a:pPr algn="ctr"/>
            <a:r>
              <a:rPr lang="en-US" dirty="0">
                <a:latin typeface="Montserrat" panose="00000500000000000000" pitchFamily="2" charset="0"/>
                <a:ea typeface="Calibri" pitchFamily="34" charset="-122"/>
                <a:cs typeface="Calibri" pitchFamily="34" charset="-120"/>
              </a:rPr>
              <a:t>Sandbox VM</a:t>
            </a:r>
          </a:p>
        </p:txBody>
      </p:sp>
      <p:pic>
        <p:nvPicPr>
          <p:cNvPr id="21" name="Image 2" descr="preencoded.png">
            <a:extLst>
              <a:ext uri="{FF2B5EF4-FFF2-40B4-BE49-F238E27FC236}">
                <a16:creationId xmlns:a16="http://schemas.microsoft.com/office/drawing/2014/main" id="{0540B6A2-5329-5005-21F2-11326A6FCC85}"/>
              </a:ext>
            </a:extLst>
          </p:cNvPr>
          <p:cNvPicPr>
            <a:picLocks noChangeAspect="1"/>
          </p:cNvPicPr>
          <p:nvPr/>
        </p:nvPicPr>
        <p:blipFill>
          <a:blip r:embed="rId4"/>
          <a:stretch>
            <a:fillRect/>
          </a:stretch>
        </p:blipFill>
        <p:spPr>
          <a:xfrm>
            <a:off x="8321040" y="1846680"/>
            <a:ext cx="274320" cy="274320"/>
          </a:xfrm>
          <a:prstGeom prst="rect">
            <a:avLst/>
          </a:prstGeom>
        </p:spPr>
      </p:pic>
      <p:sp>
        <p:nvSpPr>
          <p:cNvPr id="22" name="Shape 14">
            <a:extLst>
              <a:ext uri="{FF2B5EF4-FFF2-40B4-BE49-F238E27FC236}">
                <a16:creationId xmlns:a16="http://schemas.microsoft.com/office/drawing/2014/main" id="{CD6CE90A-F1AF-2224-0FB7-2888C8D396A9}"/>
              </a:ext>
            </a:extLst>
          </p:cNvPr>
          <p:cNvSpPr/>
          <p:nvPr/>
        </p:nvSpPr>
        <p:spPr>
          <a:xfrm>
            <a:off x="8961675" y="1252319"/>
            <a:ext cx="2080815" cy="2378459"/>
          </a:xfrm>
          <a:prstGeom prst="rect">
            <a:avLst/>
          </a:prstGeom>
          <a:solidFill>
            <a:schemeClr val="bg1"/>
          </a:solidFill>
          <a:ln/>
          <a:effectLst>
            <a:outerShdw blurRad="101600" dist="38100" dir="8100000" algn="bl" rotWithShape="0">
              <a:srgbClr val="000000">
                <a:alpha val="12000"/>
              </a:srgbClr>
            </a:outerShdw>
          </a:effectLst>
        </p:spPr>
        <p:txBody>
          <a:bodyPr/>
          <a:lstStyle/>
          <a:p>
            <a:endParaRPr lang="en-CA"/>
          </a:p>
        </p:txBody>
      </p:sp>
      <p:sp>
        <p:nvSpPr>
          <p:cNvPr id="23" name="Shape 15">
            <a:extLst>
              <a:ext uri="{FF2B5EF4-FFF2-40B4-BE49-F238E27FC236}">
                <a16:creationId xmlns:a16="http://schemas.microsoft.com/office/drawing/2014/main" id="{7C2865FE-9EA3-4810-680C-F260093871B7}"/>
              </a:ext>
            </a:extLst>
          </p:cNvPr>
          <p:cNvSpPr/>
          <p:nvPr/>
        </p:nvSpPr>
        <p:spPr>
          <a:xfrm>
            <a:off x="9707894" y="1471980"/>
            <a:ext cx="548640" cy="548640"/>
          </a:xfrm>
          <a:prstGeom prst="ellipse">
            <a:avLst/>
          </a:prstGeom>
          <a:solidFill>
            <a:schemeClr val="bg1">
              <a:lumMod val="65000"/>
              <a:alpha val="80000"/>
            </a:schemeClr>
          </a:solidFill>
          <a:ln/>
        </p:spPr>
        <p:txBody>
          <a:bodyPr/>
          <a:lstStyle/>
          <a:p>
            <a:endParaRPr lang="en-CA"/>
          </a:p>
        </p:txBody>
      </p:sp>
      <p:sp>
        <p:nvSpPr>
          <p:cNvPr id="24" name="Text 16">
            <a:extLst>
              <a:ext uri="{FF2B5EF4-FFF2-40B4-BE49-F238E27FC236}">
                <a16:creationId xmlns:a16="http://schemas.microsoft.com/office/drawing/2014/main" id="{6F2FDEAF-F40B-18C5-098F-5C3C54C8DF46}"/>
              </a:ext>
            </a:extLst>
          </p:cNvPr>
          <p:cNvSpPr/>
          <p:nvPr/>
        </p:nvSpPr>
        <p:spPr>
          <a:xfrm>
            <a:off x="9707894" y="14719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25" name="Text 17">
            <a:extLst>
              <a:ext uri="{FF2B5EF4-FFF2-40B4-BE49-F238E27FC236}">
                <a16:creationId xmlns:a16="http://schemas.microsoft.com/office/drawing/2014/main" id="{8E4184A2-899C-C521-A32E-83833B034A10}"/>
              </a:ext>
            </a:extLst>
          </p:cNvPr>
          <p:cNvSpPr/>
          <p:nvPr/>
        </p:nvSpPr>
        <p:spPr>
          <a:xfrm>
            <a:off x="9259965" y="2306074"/>
            <a:ext cx="1371600" cy="640080"/>
          </a:xfrm>
          <a:prstGeom prst="rect">
            <a:avLst/>
          </a:prstGeom>
          <a:noFill/>
          <a:ln/>
        </p:spPr>
        <p:txBody>
          <a:bodyPr wrap="square" lIns="0" tIns="0" rIns="0" bIns="0" rtlCol="0" anchor="ctr"/>
          <a:lstStyle/>
          <a:p>
            <a:pPr algn="ctr"/>
            <a:r>
              <a:rPr lang="en-US" dirty="0">
                <a:latin typeface="Montserrat" panose="00000500000000000000" pitchFamily="2" charset="0"/>
                <a:ea typeface="Calibri" pitchFamily="34" charset="-122"/>
                <a:cs typeface="Calibri" pitchFamily="34" charset="-120"/>
              </a:rPr>
              <a:t>Delivers</a:t>
            </a:r>
          </a:p>
          <a:p>
            <a:pPr algn="ctr"/>
            <a:r>
              <a:rPr lang="en-US" dirty="0">
                <a:latin typeface="Montserrat" panose="00000500000000000000" pitchFamily="2" charset="0"/>
                <a:ea typeface="Calibri" pitchFamily="34" charset="-122"/>
                <a:cs typeface="Calibri" pitchFamily="34" charset="-120"/>
              </a:rPr>
              <a:t>Outputs</a:t>
            </a:r>
          </a:p>
        </p:txBody>
      </p:sp>
      <p:sp>
        <p:nvSpPr>
          <p:cNvPr id="26" name="Text 18">
            <a:extLst>
              <a:ext uri="{FF2B5EF4-FFF2-40B4-BE49-F238E27FC236}">
                <a16:creationId xmlns:a16="http://schemas.microsoft.com/office/drawing/2014/main" id="{BFA62541-518A-1218-D6E9-F5420DC237C3}"/>
              </a:ext>
            </a:extLst>
          </p:cNvPr>
          <p:cNvSpPr/>
          <p:nvPr/>
        </p:nvSpPr>
        <p:spPr>
          <a:xfrm>
            <a:off x="365760" y="4331009"/>
            <a:ext cx="7863840" cy="411480"/>
          </a:xfrm>
          <a:prstGeom prst="rect">
            <a:avLst/>
          </a:prstGeom>
          <a:noFill/>
          <a:ln/>
        </p:spPr>
        <p:txBody>
          <a:bodyPr wrap="square" lIns="0" tIns="0" rIns="0" bIns="0" rtlCol="0" anchor="ctr"/>
          <a:lstStyle/>
          <a:p>
            <a:pPr marL="0" indent="0">
              <a:buNone/>
            </a:pPr>
            <a:r>
              <a:rPr lang="en-US" sz="2400" b="1" dirty="0">
                <a:solidFill>
                  <a:srgbClr val="0C1752"/>
                </a:solidFill>
                <a:latin typeface="Montserrat" panose="00000500000000000000" pitchFamily="2" charset="0"/>
                <a:ea typeface="Trebuchet MS" pitchFamily="34" charset="-122"/>
                <a:cs typeface="Trebuchet MS" pitchFamily="34" charset="-120"/>
              </a:rPr>
              <a:t>Key Behaviors:</a:t>
            </a:r>
            <a:endParaRPr lang="en-US" sz="2400" dirty="0">
              <a:solidFill>
                <a:srgbClr val="0C1752"/>
              </a:solidFill>
              <a:latin typeface="Montserrat" panose="00000500000000000000" pitchFamily="2" charset="0"/>
            </a:endParaRPr>
          </a:p>
        </p:txBody>
      </p:sp>
      <p:sp>
        <p:nvSpPr>
          <p:cNvPr id="28" name="Text 19">
            <a:extLst>
              <a:ext uri="{FF2B5EF4-FFF2-40B4-BE49-F238E27FC236}">
                <a16:creationId xmlns:a16="http://schemas.microsoft.com/office/drawing/2014/main" id="{EEF45E9A-5DA7-8C52-88BE-C82EBDC1428B}"/>
              </a:ext>
            </a:extLst>
          </p:cNvPr>
          <p:cNvSpPr/>
          <p:nvPr/>
        </p:nvSpPr>
        <p:spPr>
          <a:xfrm>
            <a:off x="861218" y="4707936"/>
            <a:ext cx="10262235" cy="2369520"/>
          </a:xfrm>
          <a:prstGeom prst="rect">
            <a:avLst/>
          </a:prstGeom>
          <a:noFill/>
          <a:ln/>
        </p:spPr>
        <p:txBody>
          <a:bodyPr wrap="square" lIns="0" tIns="0" rIns="0" bIns="0" rtlCol="0" anchor="ctr"/>
          <a:lstStyle/>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Direct local file access: </a:t>
            </a:r>
            <a:r>
              <a:rPr lang="en-US" sz="2000" dirty="0">
                <a:solidFill>
                  <a:srgbClr val="0C1752"/>
                </a:solidFill>
                <a:latin typeface="Montserrat" panose="00000500000000000000" pitchFamily="2" charset="0"/>
                <a:ea typeface="Calibri" pitchFamily="34" charset="-122"/>
                <a:cs typeface="Calibri" pitchFamily="34" charset="-120"/>
              </a:rPr>
              <a:t>reads and writes to your folders</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Sub-agent coordination: </a:t>
            </a:r>
            <a:r>
              <a:rPr lang="en-US" sz="2000" dirty="0">
                <a:solidFill>
                  <a:srgbClr val="0C1752"/>
                </a:solidFill>
                <a:latin typeface="Montserrat" panose="00000500000000000000" pitchFamily="2" charset="0"/>
                <a:ea typeface="Calibri" pitchFamily="34" charset="-122"/>
                <a:cs typeface="Calibri" pitchFamily="34" charset="-120"/>
              </a:rPr>
              <a:t>breaks complex work into parallel tasks</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Professional outputs: </a:t>
            </a:r>
            <a:r>
              <a:rPr lang="en-US" sz="2000" dirty="0">
                <a:solidFill>
                  <a:srgbClr val="0C1752"/>
                </a:solidFill>
                <a:latin typeface="Montserrat" panose="00000500000000000000" pitchFamily="2" charset="0"/>
                <a:ea typeface="Calibri" pitchFamily="34" charset="-122"/>
                <a:cs typeface="Calibri" pitchFamily="34" charset="-120"/>
              </a:rPr>
              <a:t>Excel, PowerPoint, Word, PDFs &amp; more</a:t>
            </a:r>
          </a:p>
          <a:p>
            <a:pPr marL="342900" indent="-342900">
              <a:buFont typeface="Arial" panose="020B0604020202020204" pitchFamily="34" charset="0"/>
              <a:buChar char="•"/>
            </a:pPr>
            <a:r>
              <a:rPr lang="en-US" sz="2000" b="1" dirty="0">
                <a:solidFill>
                  <a:srgbClr val="0C1752"/>
                </a:solidFill>
                <a:latin typeface="Montserrat" panose="00000500000000000000" pitchFamily="2" charset="0"/>
                <a:ea typeface="Calibri" pitchFamily="34" charset="-122"/>
                <a:cs typeface="Calibri" pitchFamily="34" charset="-120"/>
              </a:rPr>
              <a:t>Scheduled tasks: </a:t>
            </a:r>
            <a:r>
              <a:rPr lang="en-US" sz="2000" dirty="0">
                <a:solidFill>
                  <a:srgbClr val="0C1752"/>
                </a:solidFill>
                <a:latin typeface="Montserrat" panose="00000500000000000000" pitchFamily="2" charset="0"/>
                <a:ea typeface="Calibri" pitchFamily="34" charset="-122"/>
                <a:cs typeface="Calibri" pitchFamily="34" charset="-120"/>
              </a:rPr>
              <a:t>automate recurring work without manual prompts</a:t>
            </a: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a:p>
            <a:pPr marL="342900" indent="-342900">
              <a:buFont typeface="Arial" panose="020B0604020202020204" pitchFamily="34" charset="0"/>
              <a:buChar char="•"/>
            </a:pPr>
            <a:endParaRPr lang="en-US" sz="2000" dirty="0">
              <a:solidFill>
                <a:srgbClr val="0C1752"/>
              </a:solidFill>
              <a:latin typeface="Montserrat" panose="00000500000000000000" pitchFamily="2" charset="0"/>
            </a:endParaRPr>
          </a:p>
        </p:txBody>
      </p:sp>
      <p:sp>
        <p:nvSpPr>
          <p:cNvPr id="30" name="Text 20">
            <a:extLst>
              <a:ext uri="{FF2B5EF4-FFF2-40B4-BE49-F238E27FC236}">
                <a16:creationId xmlns:a16="http://schemas.microsoft.com/office/drawing/2014/main" id="{FAAEA4D2-3B60-35BE-2028-63420C334E92}"/>
              </a:ext>
            </a:extLst>
          </p:cNvPr>
          <p:cNvSpPr/>
          <p:nvPr/>
        </p:nvSpPr>
        <p:spPr>
          <a:xfrm>
            <a:off x="1234440" y="4727856"/>
            <a:ext cx="7315200" cy="310896"/>
          </a:xfrm>
          <a:prstGeom prst="rect">
            <a:avLst/>
          </a:prstGeom>
          <a:noFill/>
          <a:ln/>
        </p:spPr>
        <p:txBody>
          <a:bodyPr wrap="square" lIns="0" tIns="0" rIns="0" bIns="0" rtlCol="0" anchor="ctr"/>
          <a:lstStyle/>
          <a:p>
            <a:pPr marL="0" indent="0">
              <a:buNone/>
            </a:pPr>
            <a:endParaRPr lang="en-US" sz="2000" dirty="0"/>
          </a:p>
        </p:txBody>
      </p:sp>
      <p:sp>
        <p:nvSpPr>
          <p:cNvPr id="32" name="Text 21">
            <a:extLst>
              <a:ext uri="{FF2B5EF4-FFF2-40B4-BE49-F238E27FC236}">
                <a16:creationId xmlns:a16="http://schemas.microsoft.com/office/drawing/2014/main" id="{D17165A5-B1EC-A6E5-75F0-955DE5778252}"/>
              </a:ext>
            </a:extLst>
          </p:cNvPr>
          <p:cNvSpPr/>
          <p:nvPr/>
        </p:nvSpPr>
        <p:spPr>
          <a:xfrm>
            <a:off x="1234440" y="5075328"/>
            <a:ext cx="7315200" cy="310896"/>
          </a:xfrm>
          <a:prstGeom prst="rect">
            <a:avLst/>
          </a:prstGeom>
          <a:noFill/>
          <a:ln/>
        </p:spPr>
        <p:txBody>
          <a:bodyPr wrap="square" lIns="0" tIns="0" rIns="0" bIns="0" rtlCol="0" anchor="ctr"/>
          <a:lstStyle/>
          <a:p>
            <a:pPr marL="0" indent="0">
              <a:buNone/>
            </a:pPr>
            <a:endParaRPr lang="en-US" sz="2000" dirty="0"/>
          </a:p>
        </p:txBody>
      </p:sp>
      <p:sp>
        <p:nvSpPr>
          <p:cNvPr id="34" name="Text 22">
            <a:extLst>
              <a:ext uri="{FF2B5EF4-FFF2-40B4-BE49-F238E27FC236}">
                <a16:creationId xmlns:a16="http://schemas.microsoft.com/office/drawing/2014/main" id="{06C652D9-5C62-0F5D-6FDC-D99824D4095E}"/>
              </a:ext>
            </a:extLst>
          </p:cNvPr>
          <p:cNvSpPr/>
          <p:nvPr/>
        </p:nvSpPr>
        <p:spPr>
          <a:xfrm>
            <a:off x="1234440" y="5422800"/>
            <a:ext cx="7315200" cy="310896"/>
          </a:xfrm>
          <a:prstGeom prst="rect">
            <a:avLst/>
          </a:prstGeom>
          <a:noFill/>
          <a:ln/>
        </p:spPr>
        <p:txBody>
          <a:bodyPr wrap="square" lIns="0" tIns="0" rIns="0" bIns="0" rtlCol="0" anchor="ctr"/>
          <a:lstStyle/>
          <a:p>
            <a:pPr marL="0" indent="0">
              <a:buNone/>
            </a:pPr>
            <a:endParaRPr lang="en-US" sz="2000" dirty="0"/>
          </a:p>
        </p:txBody>
      </p:sp>
    </p:spTree>
    <p:extLst>
      <p:ext uri="{BB962C8B-B14F-4D97-AF65-F5344CB8AC3E}">
        <p14:creationId xmlns:p14="http://schemas.microsoft.com/office/powerpoint/2010/main" val="44367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50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A7FC5-FC4E-EDCB-6DD1-2EA1681859F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892E49-BAC1-3E06-7AE9-F45B725030DF}"/>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1CC9C9BD-0E9E-7660-0E12-690BC6EB0BA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EB5B7900-B488-347C-E8F6-5AD3939A6FB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Cowork capabilities</a:t>
            </a:r>
          </a:p>
        </p:txBody>
      </p:sp>
      <p:sp>
        <p:nvSpPr>
          <p:cNvPr id="9" name="TextBox 8">
            <a:extLst>
              <a:ext uri="{FF2B5EF4-FFF2-40B4-BE49-F238E27FC236}">
                <a16:creationId xmlns:a16="http://schemas.microsoft.com/office/drawing/2014/main" id="{28495F31-778B-3015-7F3E-F032BEF0F65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1" name="Shape 2">
            <a:extLst>
              <a:ext uri="{FF2B5EF4-FFF2-40B4-BE49-F238E27FC236}">
                <a16:creationId xmlns:a16="http://schemas.microsoft.com/office/drawing/2014/main" id="{0CEDAEFC-C9C3-30CF-6EAE-76F16CC7654C}"/>
              </a:ext>
            </a:extLst>
          </p:cNvPr>
          <p:cNvSpPr/>
          <p:nvPr/>
        </p:nvSpPr>
        <p:spPr>
          <a:xfrm>
            <a:off x="1228003" y="1097280"/>
            <a:ext cx="2858222" cy="191109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29" name="Image 0" descr="preencoded.png">
            <a:extLst>
              <a:ext uri="{FF2B5EF4-FFF2-40B4-BE49-F238E27FC236}">
                <a16:creationId xmlns:a16="http://schemas.microsoft.com/office/drawing/2014/main" id="{1514331E-2608-88D5-F21D-DBB99FF942DB}"/>
              </a:ext>
            </a:extLst>
          </p:cNvPr>
          <p:cNvPicPr>
            <a:picLocks noChangeAspect="1"/>
          </p:cNvPicPr>
          <p:nvPr/>
        </p:nvPicPr>
        <p:blipFill>
          <a:blip r:embed="rId4"/>
          <a:stretch>
            <a:fillRect/>
          </a:stretch>
        </p:blipFill>
        <p:spPr>
          <a:xfrm>
            <a:off x="1456603" y="1280160"/>
            <a:ext cx="411480" cy="411480"/>
          </a:xfrm>
          <a:prstGeom prst="rect">
            <a:avLst/>
          </a:prstGeom>
        </p:spPr>
      </p:pic>
      <p:sp>
        <p:nvSpPr>
          <p:cNvPr id="31" name="Text 4">
            <a:extLst>
              <a:ext uri="{FF2B5EF4-FFF2-40B4-BE49-F238E27FC236}">
                <a16:creationId xmlns:a16="http://schemas.microsoft.com/office/drawing/2014/main" id="{6F54096C-438E-66D0-E07D-63A85AF85039}"/>
              </a:ext>
            </a:extLst>
          </p:cNvPr>
          <p:cNvSpPr/>
          <p:nvPr/>
        </p:nvSpPr>
        <p:spPr>
          <a:xfrm>
            <a:off x="1410882" y="1841754"/>
            <a:ext cx="2394183"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Document Creation</a:t>
            </a:r>
            <a:endParaRPr lang="en-US" dirty="0">
              <a:solidFill>
                <a:srgbClr val="FF0000"/>
              </a:solidFill>
              <a:latin typeface="Montserrat" panose="00000500000000000000" pitchFamily="2" charset="0"/>
            </a:endParaRPr>
          </a:p>
        </p:txBody>
      </p:sp>
      <p:sp>
        <p:nvSpPr>
          <p:cNvPr id="33" name="Text 5">
            <a:extLst>
              <a:ext uri="{FF2B5EF4-FFF2-40B4-BE49-F238E27FC236}">
                <a16:creationId xmlns:a16="http://schemas.microsoft.com/office/drawing/2014/main" id="{5AD8EA70-9C59-48AD-2C9D-65BFA31F626F}"/>
              </a:ext>
            </a:extLst>
          </p:cNvPr>
          <p:cNvSpPr/>
          <p:nvPr/>
        </p:nvSpPr>
        <p:spPr>
          <a:xfrm>
            <a:off x="1410883" y="2286000"/>
            <a:ext cx="2601887"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Word docs, spreadsheets, presentations, PDFs with professional formatting</a:t>
            </a:r>
            <a:endParaRPr lang="en-US" sz="1400" dirty="0">
              <a:latin typeface="Montserrat" panose="00000500000000000000" pitchFamily="2" charset="0"/>
            </a:endParaRPr>
          </a:p>
        </p:txBody>
      </p:sp>
      <p:sp>
        <p:nvSpPr>
          <p:cNvPr id="35" name="Shape 6">
            <a:extLst>
              <a:ext uri="{FF2B5EF4-FFF2-40B4-BE49-F238E27FC236}">
                <a16:creationId xmlns:a16="http://schemas.microsoft.com/office/drawing/2014/main" id="{40F69CDA-8931-CC45-5504-5465D0ADE545}"/>
              </a:ext>
            </a:extLst>
          </p:cNvPr>
          <p:cNvSpPr/>
          <p:nvPr/>
        </p:nvSpPr>
        <p:spPr>
          <a:xfrm>
            <a:off x="4666123" y="1097280"/>
            <a:ext cx="3192778" cy="191109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dirty="0"/>
          </a:p>
        </p:txBody>
      </p:sp>
      <p:pic>
        <p:nvPicPr>
          <p:cNvPr id="37" name="Image 1" descr="preencoded.png">
            <a:extLst>
              <a:ext uri="{FF2B5EF4-FFF2-40B4-BE49-F238E27FC236}">
                <a16:creationId xmlns:a16="http://schemas.microsoft.com/office/drawing/2014/main" id="{34535DB0-4294-ACBB-6209-32EC22F0FCC9}"/>
              </a:ext>
            </a:extLst>
          </p:cNvPr>
          <p:cNvPicPr>
            <a:picLocks noChangeAspect="1"/>
          </p:cNvPicPr>
          <p:nvPr/>
        </p:nvPicPr>
        <p:blipFill>
          <a:blip r:embed="rId5"/>
          <a:stretch>
            <a:fillRect/>
          </a:stretch>
        </p:blipFill>
        <p:spPr>
          <a:xfrm>
            <a:off x="4894724" y="1280160"/>
            <a:ext cx="411480" cy="411480"/>
          </a:xfrm>
          <a:prstGeom prst="rect">
            <a:avLst/>
          </a:prstGeom>
        </p:spPr>
      </p:pic>
      <p:sp>
        <p:nvSpPr>
          <p:cNvPr id="38" name="Text 8">
            <a:extLst>
              <a:ext uri="{FF2B5EF4-FFF2-40B4-BE49-F238E27FC236}">
                <a16:creationId xmlns:a16="http://schemas.microsoft.com/office/drawing/2014/main" id="{8E3E6E86-0A29-16C1-21C0-6847705CBDAE}"/>
              </a:ext>
            </a:extLst>
          </p:cNvPr>
          <p:cNvSpPr/>
          <p:nvPr/>
        </p:nvSpPr>
        <p:spPr>
          <a:xfrm>
            <a:off x="4849004" y="1755648"/>
            <a:ext cx="2148840"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Data Analysis</a:t>
            </a:r>
            <a:endParaRPr lang="en-US" dirty="0">
              <a:solidFill>
                <a:srgbClr val="FF0000"/>
              </a:solidFill>
              <a:latin typeface="Montserrat" panose="00000500000000000000" pitchFamily="2" charset="0"/>
            </a:endParaRPr>
          </a:p>
        </p:txBody>
      </p:sp>
      <p:sp>
        <p:nvSpPr>
          <p:cNvPr id="39" name="Text 9">
            <a:extLst>
              <a:ext uri="{FF2B5EF4-FFF2-40B4-BE49-F238E27FC236}">
                <a16:creationId xmlns:a16="http://schemas.microsoft.com/office/drawing/2014/main" id="{2784D1F1-5A38-7728-70CF-D9F5009A0AE3}"/>
              </a:ext>
            </a:extLst>
          </p:cNvPr>
          <p:cNvSpPr/>
          <p:nvPr/>
        </p:nvSpPr>
        <p:spPr>
          <a:xfrm>
            <a:off x="4819199" y="2231136"/>
            <a:ext cx="3016480"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Statistical analysis, visualization, data cleaning &amp; transformation</a:t>
            </a:r>
            <a:endParaRPr lang="en-US" sz="1400" dirty="0">
              <a:latin typeface="Montserrat" panose="00000500000000000000" pitchFamily="2" charset="0"/>
            </a:endParaRPr>
          </a:p>
        </p:txBody>
      </p:sp>
      <p:sp>
        <p:nvSpPr>
          <p:cNvPr id="40" name="Shape 10">
            <a:extLst>
              <a:ext uri="{FF2B5EF4-FFF2-40B4-BE49-F238E27FC236}">
                <a16:creationId xmlns:a16="http://schemas.microsoft.com/office/drawing/2014/main" id="{59A00049-2B98-DEEC-83AC-BC2D3DF2BD74}"/>
              </a:ext>
            </a:extLst>
          </p:cNvPr>
          <p:cNvSpPr/>
          <p:nvPr/>
        </p:nvSpPr>
        <p:spPr>
          <a:xfrm>
            <a:off x="8385403" y="1097280"/>
            <a:ext cx="2984098" cy="189280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42" name="Image 2" descr="preencoded.png">
            <a:extLst>
              <a:ext uri="{FF2B5EF4-FFF2-40B4-BE49-F238E27FC236}">
                <a16:creationId xmlns:a16="http://schemas.microsoft.com/office/drawing/2014/main" id="{56F23686-A9D4-1D48-6313-F1AC13667FFC}"/>
              </a:ext>
            </a:extLst>
          </p:cNvPr>
          <p:cNvPicPr>
            <a:picLocks noChangeAspect="1"/>
          </p:cNvPicPr>
          <p:nvPr/>
        </p:nvPicPr>
        <p:blipFill>
          <a:blip r:embed="rId6"/>
          <a:stretch>
            <a:fillRect/>
          </a:stretch>
        </p:blipFill>
        <p:spPr>
          <a:xfrm>
            <a:off x="8614003" y="1280160"/>
            <a:ext cx="411480" cy="411480"/>
          </a:xfrm>
          <a:prstGeom prst="rect">
            <a:avLst/>
          </a:prstGeom>
        </p:spPr>
      </p:pic>
      <p:sp>
        <p:nvSpPr>
          <p:cNvPr id="43" name="Text 12">
            <a:extLst>
              <a:ext uri="{FF2B5EF4-FFF2-40B4-BE49-F238E27FC236}">
                <a16:creationId xmlns:a16="http://schemas.microsoft.com/office/drawing/2014/main" id="{EB839148-BDA2-8756-3EF1-5F0E17F31F4D}"/>
              </a:ext>
            </a:extLst>
          </p:cNvPr>
          <p:cNvSpPr/>
          <p:nvPr/>
        </p:nvSpPr>
        <p:spPr>
          <a:xfrm>
            <a:off x="8568283" y="1755648"/>
            <a:ext cx="2604542"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Research</a:t>
            </a:r>
            <a:r>
              <a:rPr lang="en-US" b="1" dirty="0">
                <a:solidFill>
                  <a:srgbClr val="0F172A"/>
                </a:solidFill>
                <a:latin typeface="Montserrat" panose="00000500000000000000" pitchFamily="2" charset="0"/>
                <a:ea typeface="Trebuchet MS" pitchFamily="34" charset="-122"/>
                <a:cs typeface="Trebuchet MS" pitchFamily="34" charset="-120"/>
              </a:rPr>
              <a:t> &amp; </a:t>
            </a:r>
            <a:r>
              <a:rPr lang="en-US" b="1" dirty="0">
                <a:solidFill>
                  <a:srgbClr val="FF0000"/>
                </a:solidFill>
                <a:latin typeface="Montserrat" panose="00000500000000000000" pitchFamily="2" charset="0"/>
                <a:ea typeface="Trebuchet MS" pitchFamily="34" charset="-122"/>
                <a:cs typeface="Trebuchet MS" pitchFamily="34" charset="-120"/>
              </a:rPr>
              <a:t>Synthesis</a:t>
            </a:r>
            <a:endParaRPr lang="en-US" dirty="0">
              <a:solidFill>
                <a:srgbClr val="FF0000"/>
              </a:solidFill>
              <a:latin typeface="Montserrat" panose="00000500000000000000" pitchFamily="2" charset="0"/>
            </a:endParaRPr>
          </a:p>
        </p:txBody>
      </p:sp>
      <p:sp>
        <p:nvSpPr>
          <p:cNvPr id="44" name="Text 13">
            <a:extLst>
              <a:ext uri="{FF2B5EF4-FFF2-40B4-BE49-F238E27FC236}">
                <a16:creationId xmlns:a16="http://schemas.microsoft.com/office/drawing/2014/main" id="{D8EB72F9-C1BE-3F35-48DC-3D6E30D5E0AF}"/>
              </a:ext>
            </a:extLst>
          </p:cNvPr>
          <p:cNvSpPr/>
          <p:nvPr/>
        </p:nvSpPr>
        <p:spPr>
          <a:xfrm>
            <a:off x="8530183" y="2238375"/>
            <a:ext cx="2680742" cy="502920"/>
          </a:xfrm>
          <a:prstGeom prst="rect">
            <a:avLst/>
          </a:prstGeom>
          <a:noFill/>
          <a:ln/>
        </p:spPr>
        <p:txBody>
          <a:bodyPr wrap="square" lIns="0" tIns="0" rIns="0" bIns="0" rtlCol="0" anchor="ctr"/>
          <a:lstStyle/>
          <a:p>
            <a:pPr marL="0" indent="0">
              <a:buNone/>
            </a:pPr>
            <a:r>
              <a:rPr lang="en-US" sz="1400" b="1" dirty="0">
                <a:solidFill>
                  <a:srgbClr val="FF0000"/>
                </a:solidFill>
                <a:latin typeface="Montserrat" panose="00000500000000000000" pitchFamily="2" charset="0"/>
                <a:ea typeface="Calibri" pitchFamily="34" charset="-122"/>
                <a:cs typeface="Calibri" pitchFamily="34" charset="-120"/>
              </a:rPr>
              <a:t>Web</a:t>
            </a:r>
            <a:r>
              <a:rPr lang="en-US" sz="1400" dirty="0">
                <a:solidFill>
                  <a:srgbClr val="334155"/>
                </a:solidFill>
                <a:latin typeface="Montserrat" panose="00000500000000000000" pitchFamily="2" charset="0"/>
                <a:ea typeface="Calibri" pitchFamily="34" charset="-122"/>
                <a:cs typeface="Calibri" pitchFamily="34" charset="-120"/>
              </a:rPr>
              <a:t> research, transcript analysis, </a:t>
            </a:r>
            <a:r>
              <a:rPr lang="en-US" sz="1400" b="1" dirty="0">
                <a:solidFill>
                  <a:srgbClr val="FF0000"/>
                </a:solidFill>
                <a:latin typeface="Montserrat" panose="00000500000000000000" pitchFamily="2" charset="0"/>
                <a:ea typeface="Calibri" pitchFamily="34" charset="-122"/>
                <a:cs typeface="Calibri" pitchFamily="34" charset="-120"/>
              </a:rPr>
              <a:t>multi-source information gathering</a:t>
            </a:r>
            <a:endParaRPr lang="en-US" sz="1400" b="1" dirty="0">
              <a:solidFill>
                <a:srgbClr val="FF0000"/>
              </a:solidFill>
              <a:latin typeface="Montserrat" panose="00000500000000000000" pitchFamily="2" charset="0"/>
            </a:endParaRPr>
          </a:p>
        </p:txBody>
      </p:sp>
      <p:sp>
        <p:nvSpPr>
          <p:cNvPr id="45" name="Shape 14">
            <a:extLst>
              <a:ext uri="{FF2B5EF4-FFF2-40B4-BE49-F238E27FC236}">
                <a16:creationId xmlns:a16="http://schemas.microsoft.com/office/drawing/2014/main" id="{194E4C47-35F6-DACA-A998-ED8B2C1444AA}"/>
              </a:ext>
            </a:extLst>
          </p:cNvPr>
          <p:cNvSpPr/>
          <p:nvPr/>
        </p:nvSpPr>
        <p:spPr>
          <a:xfrm>
            <a:off x="1288371" y="3493008"/>
            <a:ext cx="2797853" cy="1755646"/>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latin typeface="Montserrat" panose="00000500000000000000" pitchFamily="2" charset="0"/>
            </a:endParaRPr>
          </a:p>
        </p:txBody>
      </p:sp>
      <p:pic>
        <p:nvPicPr>
          <p:cNvPr id="47" name="Image 3" descr="preencoded.png">
            <a:extLst>
              <a:ext uri="{FF2B5EF4-FFF2-40B4-BE49-F238E27FC236}">
                <a16:creationId xmlns:a16="http://schemas.microsoft.com/office/drawing/2014/main" id="{883EA0A2-8F42-0C92-A7FF-21B074F419D1}"/>
              </a:ext>
            </a:extLst>
          </p:cNvPr>
          <p:cNvPicPr>
            <a:picLocks noChangeAspect="1"/>
          </p:cNvPicPr>
          <p:nvPr/>
        </p:nvPicPr>
        <p:blipFill>
          <a:blip r:embed="rId7"/>
          <a:stretch>
            <a:fillRect/>
          </a:stretch>
        </p:blipFill>
        <p:spPr>
          <a:xfrm>
            <a:off x="1516972" y="3675888"/>
            <a:ext cx="411480" cy="411480"/>
          </a:xfrm>
          <a:prstGeom prst="rect">
            <a:avLst/>
          </a:prstGeom>
        </p:spPr>
      </p:pic>
      <p:sp>
        <p:nvSpPr>
          <p:cNvPr id="48" name="Text 16">
            <a:extLst>
              <a:ext uri="{FF2B5EF4-FFF2-40B4-BE49-F238E27FC236}">
                <a16:creationId xmlns:a16="http://schemas.microsoft.com/office/drawing/2014/main" id="{6EA723A8-E65D-BD50-D87F-2A7804E21DA7}"/>
              </a:ext>
            </a:extLst>
          </p:cNvPr>
          <p:cNvSpPr/>
          <p:nvPr/>
        </p:nvSpPr>
        <p:spPr>
          <a:xfrm>
            <a:off x="1471252" y="4151376"/>
            <a:ext cx="2148840"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File Management</a:t>
            </a:r>
            <a:endParaRPr lang="en-US" dirty="0">
              <a:solidFill>
                <a:srgbClr val="FF0000"/>
              </a:solidFill>
              <a:latin typeface="Montserrat" panose="00000500000000000000" pitchFamily="2" charset="0"/>
            </a:endParaRPr>
          </a:p>
        </p:txBody>
      </p:sp>
      <p:sp>
        <p:nvSpPr>
          <p:cNvPr id="49" name="Text 17">
            <a:extLst>
              <a:ext uri="{FF2B5EF4-FFF2-40B4-BE49-F238E27FC236}">
                <a16:creationId xmlns:a16="http://schemas.microsoft.com/office/drawing/2014/main" id="{6E1299D6-8129-6AA4-386B-3D83AB5B1BBB}"/>
              </a:ext>
            </a:extLst>
          </p:cNvPr>
          <p:cNvSpPr/>
          <p:nvPr/>
        </p:nvSpPr>
        <p:spPr>
          <a:xfrm>
            <a:off x="1471251" y="4547235"/>
            <a:ext cx="2588472"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Organize folders, batch rename, process receipts, sort files</a:t>
            </a:r>
            <a:endParaRPr lang="en-US" sz="1400" dirty="0">
              <a:latin typeface="Montserrat" panose="00000500000000000000" pitchFamily="2" charset="0"/>
            </a:endParaRPr>
          </a:p>
        </p:txBody>
      </p:sp>
      <p:sp>
        <p:nvSpPr>
          <p:cNvPr id="50" name="Shape 18">
            <a:extLst>
              <a:ext uri="{FF2B5EF4-FFF2-40B4-BE49-F238E27FC236}">
                <a16:creationId xmlns:a16="http://schemas.microsoft.com/office/drawing/2014/main" id="{5757AD12-29A2-AA27-75FC-25883DE4EF70}"/>
              </a:ext>
            </a:extLst>
          </p:cNvPr>
          <p:cNvSpPr/>
          <p:nvPr/>
        </p:nvSpPr>
        <p:spPr>
          <a:xfrm>
            <a:off x="4712101" y="3466337"/>
            <a:ext cx="3121978" cy="1755647"/>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latin typeface="Montserrat" panose="00000500000000000000" pitchFamily="2" charset="0"/>
            </a:endParaRPr>
          </a:p>
        </p:txBody>
      </p:sp>
      <p:pic>
        <p:nvPicPr>
          <p:cNvPr id="52" name="Image 4" descr="preencoded.png">
            <a:extLst>
              <a:ext uri="{FF2B5EF4-FFF2-40B4-BE49-F238E27FC236}">
                <a16:creationId xmlns:a16="http://schemas.microsoft.com/office/drawing/2014/main" id="{4B11744E-BDC4-E5BE-DD32-A9AC705E89EC}"/>
              </a:ext>
            </a:extLst>
          </p:cNvPr>
          <p:cNvPicPr>
            <a:picLocks noChangeAspect="1"/>
          </p:cNvPicPr>
          <p:nvPr/>
        </p:nvPicPr>
        <p:blipFill>
          <a:blip r:embed="rId8"/>
          <a:stretch>
            <a:fillRect/>
          </a:stretch>
        </p:blipFill>
        <p:spPr>
          <a:xfrm>
            <a:off x="4940701" y="3649218"/>
            <a:ext cx="411480" cy="411480"/>
          </a:xfrm>
          <a:prstGeom prst="rect">
            <a:avLst/>
          </a:prstGeom>
        </p:spPr>
      </p:pic>
      <p:sp>
        <p:nvSpPr>
          <p:cNvPr id="53" name="Text 20">
            <a:extLst>
              <a:ext uri="{FF2B5EF4-FFF2-40B4-BE49-F238E27FC236}">
                <a16:creationId xmlns:a16="http://schemas.microsoft.com/office/drawing/2014/main" id="{FC5D41C3-261E-BFDC-994A-91CD29008306}"/>
              </a:ext>
            </a:extLst>
          </p:cNvPr>
          <p:cNvSpPr/>
          <p:nvPr/>
        </p:nvSpPr>
        <p:spPr>
          <a:xfrm>
            <a:off x="4894980" y="4124706"/>
            <a:ext cx="2591669"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Code &amp; Automation</a:t>
            </a:r>
            <a:endParaRPr lang="en-US" dirty="0">
              <a:solidFill>
                <a:srgbClr val="FF0000"/>
              </a:solidFill>
              <a:latin typeface="Montserrat" panose="00000500000000000000" pitchFamily="2" charset="0"/>
            </a:endParaRPr>
          </a:p>
        </p:txBody>
      </p:sp>
      <p:sp>
        <p:nvSpPr>
          <p:cNvPr id="54" name="Text 21">
            <a:extLst>
              <a:ext uri="{FF2B5EF4-FFF2-40B4-BE49-F238E27FC236}">
                <a16:creationId xmlns:a16="http://schemas.microsoft.com/office/drawing/2014/main" id="{B2DA2BFA-EF2F-2D82-8CDA-E5C339C58CEC}"/>
              </a:ext>
            </a:extLst>
          </p:cNvPr>
          <p:cNvSpPr/>
          <p:nvPr/>
        </p:nvSpPr>
        <p:spPr>
          <a:xfrm>
            <a:off x="4894981" y="4426458"/>
            <a:ext cx="2780452"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Write scripts, build tools, automate repetitive workflows</a:t>
            </a:r>
            <a:endParaRPr lang="en-US" sz="1400" dirty="0">
              <a:latin typeface="Montserrat" panose="00000500000000000000" pitchFamily="2" charset="0"/>
            </a:endParaRPr>
          </a:p>
        </p:txBody>
      </p:sp>
      <p:sp>
        <p:nvSpPr>
          <p:cNvPr id="55" name="Shape 22">
            <a:extLst>
              <a:ext uri="{FF2B5EF4-FFF2-40B4-BE49-F238E27FC236}">
                <a16:creationId xmlns:a16="http://schemas.microsoft.com/office/drawing/2014/main" id="{EFB2707B-620A-4F1C-AE14-B97AE4C9F796}"/>
              </a:ext>
            </a:extLst>
          </p:cNvPr>
          <p:cNvSpPr/>
          <p:nvPr/>
        </p:nvSpPr>
        <p:spPr>
          <a:xfrm>
            <a:off x="8369700" y="3429000"/>
            <a:ext cx="3121978" cy="1755648"/>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57" name="Image 5" descr="preencoded.png">
            <a:extLst>
              <a:ext uri="{FF2B5EF4-FFF2-40B4-BE49-F238E27FC236}">
                <a16:creationId xmlns:a16="http://schemas.microsoft.com/office/drawing/2014/main" id="{179BD3B9-33F8-DDA1-3BF1-40494F253108}"/>
              </a:ext>
            </a:extLst>
          </p:cNvPr>
          <p:cNvPicPr>
            <a:picLocks noChangeAspect="1"/>
          </p:cNvPicPr>
          <p:nvPr/>
        </p:nvPicPr>
        <p:blipFill>
          <a:blip r:embed="rId9"/>
          <a:stretch>
            <a:fillRect/>
          </a:stretch>
        </p:blipFill>
        <p:spPr>
          <a:xfrm>
            <a:off x="8598301" y="3611880"/>
            <a:ext cx="411480" cy="411480"/>
          </a:xfrm>
          <a:prstGeom prst="rect">
            <a:avLst/>
          </a:prstGeom>
        </p:spPr>
      </p:pic>
      <p:sp>
        <p:nvSpPr>
          <p:cNvPr id="58" name="Text 24">
            <a:extLst>
              <a:ext uri="{FF2B5EF4-FFF2-40B4-BE49-F238E27FC236}">
                <a16:creationId xmlns:a16="http://schemas.microsoft.com/office/drawing/2014/main" id="{726D737D-8487-49E0-28B4-5BD5E3D740A5}"/>
              </a:ext>
            </a:extLst>
          </p:cNvPr>
          <p:cNvSpPr/>
          <p:nvPr/>
        </p:nvSpPr>
        <p:spPr>
          <a:xfrm>
            <a:off x="8552581" y="4087368"/>
            <a:ext cx="2148840" cy="320040"/>
          </a:xfrm>
          <a:prstGeom prst="rect">
            <a:avLst/>
          </a:prstGeom>
          <a:noFill/>
          <a:ln/>
        </p:spPr>
        <p:txBody>
          <a:bodyPr wrap="square" lIns="0" tIns="0" rIns="0" bIns="0" rtlCol="0" anchor="ctr"/>
          <a:lstStyle/>
          <a:p>
            <a:pPr marL="0" indent="0">
              <a:buNone/>
            </a:pPr>
            <a:r>
              <a:rPr lang="en-US" b="1" dirty="0">
                <a:solidFill>
                  <a:srgbClr val="FF0000"/>
                </a:solidFill>
                <a:latin typeface="Montserrat" panose="00000500000000000000" pitchFamily="2" charset="0"/>
                <a:ea typeface="Trebuchet MS" pitchFamily="34" charset="-122"/>
                <a:cs typeface="Trebuchet MS" pitchFamily="34" charset="-120"/>
              </a:rPr>
              <a:t>Scheduled</a:t>
            </a:r>
            <a:r>
              <a:rPr lang="en-US" b="1" dirty="0">
                <a:solidFill>
                  <a:srgbClr val="0F172A"/>
                </a:solidFill>
                <a:latin typeface="Montserrat" panose="00000500000000000000" pitchFamily="2" charset="0"/>
                <a:ea typeface="Trebuchet MS" pitchFamily="34" charset="-122"/>
                <a:cs typeface="Trebuchet MS" pitchFamily="34" charset="-120"/>
              </a:rPr>
              <a:t> Tasks</a:t>
            </a:r>
            <a:endParaRPr lang="en-US" dirty="0">
              <a:latin typeface="Montserrat" panose="00000500000000000000" pitchFamily="2" charset="0"/>
            </a:endParaRPr>
          </a:p>
        </p:txBody>
      </p:sp>
      <p:sp>
        <p:nvSpPr>
          <p:cNvPr id="59" name="Text 25">
            <a:extLst>
              <a:ext uri="{FF2B5EF4-FFF2-40B4-BE49-F238E27FC236}">
                <a16:creationId xmlns:a16="http://schemas.microsoft.com/office/drawing/2014/main" id="{EA54B3F3-1A5F-339F-A7F6-80C3427D2650}"/>
              </a:ext>
            </a:extLst>
          </p:cNvPr>
          <p:cNvSpPr/>
          <p:nvPr/>
        </p:nvSpPr>
        <p:spPr>
          <a:xfrm>
            <a:off x="8552580" y="4389120"/>
            <a:ext cx="2964587" cy="502920"/>
          </a:xfrm>
          <a:prstGeom prst="rect">
            <a:avLst/>
          </a:prstGeom>
          <a:noFill/>
          <a:ln/>
        </p:spPr>
        <p:txBody>
          <a:bodyPr wrap="square" lIns="0" tIns="0" rIns="0" bIns="0" rtlCol="0" anchor="ctr"/>
          <a:lstStyle/>
          <a:p>
            <a:pPr marL="0" indent="0">
              <a:buNone/>
            </a:pPr>
            <a:r>
              <a:rPr lang="en-US" sz="1400" dirty="0">
                <a:solidFill>
                  <a:srgbClr val="334155"/>
                </a:solidFill>
                <a:latin typeface="Montserrat" panose="00000500000000000000" pitchFamily="2" charset="0"/>
                <a:ea typeface="Calibri" pitchFamily="34" charset="-122"/>
                <a:cs typeface="Calibri" pitchFamily="34" charset="-120"/>
              </a:rPr>
              <a:t>Create </a:t>
            </a:r>
            <a:r>
              <a:rPr lang="en-US" sz="1400" b="1" dirty="0">
                <a:solidFill>
                  <a:srgbClr val="FF0000"/>
                </a:solidFill>
                <a:latin typeface="Montserrat" panose="00000500000000000000" pitchFamily="2" charset="0"/>
                <a:ea typeface="Calibri" pitchFamily="34" charset="-122"/>
                <a:cs typeface="Calibri" pitchFamily="34" charset="-120"/>
              </a:rPr>
              <a:t>recurring</a:t>
            </a:r>
            <a:r>
              <a:rPr lang="en-US" sz="1400" dirty="0">
                <a:solidFill>
                  <a:srgbClr val="334155"/>
                </a:solidFill>
                <a:latin typeface="Montserrat" panose="00000500000000000000" pitchFamily="2" charset="0"/>
                <a:ea typeface="Calibri" pitchFamily="34" charset="-122"/>
                <a:cs typeface="Calibri" pitchFamily="34" charset="-120"/>
              </a:rPr>
              <a:t> automated tasks that run on a set schedule</a:t>
            </a:r>
            <a:endParaRPr lang="en-US" sz="1400" dirty="0">
              <a:latin typeface="Montserrat" panose="00000500000000000000" pitchFamily="2" charset="0"/>
            </a:endParaRPr>
          </a:p>
        </p:txBody>
      </p:sp>
      <p:pic>
        <p:nvPicPr>
          <p:cNvPr id="61" name="Image 6" descr="preencoded.png">
            <a:extLst>
              <a:ext uri="{FF2B5EF4-FFF2-40B4-BE49-F238E27FC236}">
                <a16:creationId xmlns:a16="http://schemas.microsoft.com/office/drawing/2014/main" id="{F6953E5E-348D-D8E5-6AE4-7AA0321703E0}"/>
              </a:ext>
            </a:extLst>
          </p:cNvPr>
          <p:cNvPicPr>
            <a:picLocks noChangeAspect="1"/>
          </p:cNvPicPr>
          <p:nvPr/>
        </p:nvPicPr>
        <p:blipFill>
          <a:blip r:embed="rId10">
            <a:duotone>
              <a:schemeClr val="bg2">
                <a:shade val="45000"/>
                <a:satMod val="135000"/>
              </a:schemeClr>
              <a:prstClr val="white"/>
            </a:duotone>
          </a:blip>
          <a:stretch>
            <a:fillRect/>
          </a:stretch>
        </p:blipFill>
        <p:spPr>
          <a:xfrm>
            <a:off x="1410882" y="5565267"/>
            <a:ext cx="619125" cy="619125"/>
          </a:xfrm>
          <a:prstGeom prst="rect">
            <a:avLst/>
          </a:prstGeom>
        </p:spPr>
      </p:pic>
      <p:sp>
        <p:nvSpPr>
          <p:cNvPr id="62" name="Text 27">
            <a:extLst>
              <a:ext uri="{FF2B5EF4-FFF2-40B4-BE49-F238E27FC236}">
                <a16:creationId xmlns:a16="http://schemas.microsoft.com/office/drawing/2014/main" id="{83C59AFC-AC81-461A-C566-E75363180D1F}"/>
              </a:ext>
            </a:extLst>
          </p:cNvPr>
          <p:cNvSpPr/>
          <p:nvPr/>
        </p:nvSpPr>
        <p:spPr>
          <a:xfrm>
            <a:off x="2103119" y="5650992"/>
            <a:ext cx="8422005" cy="502920"/>
          </a:xfrm>
          <a:prstGeom prst="rect">
            <a:avLst/>
          </a:prstGeom>
          <a:noFill/>
          <a:ln/>
        </p:spPr>
        <p:txBody>
          <a:bodyPr wrap="square" lIns="0" tIns="0" rIns="0" bIns="0" rtlCol="0" anchor="ctr"/>
          <a:lstStyle/>
          <a:p>
            <a:pPr marL="0" indent="0">
              <a:buNone/>
            </a:pPr>
            <a:r>
              <a:rPr lang="en-US" dirty="0">
                <a:solidFill>
                  <a:srgbClr val="0C1752"/>
                </a:solidFill>
                <a:latin typeface="Montserrat" panose="00000500000000000000" pitchFamily="2" charset="0"/>
                <a:ea typeface="Calibri" pitchFamily="34" charset="-122"/>
                <a:cs typeface="Calibri" pitchFamily="34" charset="-120"/>
              </a:rPr>
              <a:t>Cowork uses </a:t>
            </a:r>
            <a:r>
              <a:rPr lang="en-US" b="1" i="1" u="sng" dirty="0">
                <a:solidFill>
                  <a:srgbClr val="FF0000"/>
                </a:solidFill>
                <a:latin typeface="Montserrat" panose="00000500000000000000" pitchFamily="2" charset="0"/>
                <a:ea typeface="Calibri" pitchFamily="34" charset="-122"/>
                <a:cs typeface="Calibri" pitchFamily="34" charset="-120"/>
              </a:rPr>
              <a:t>more tokens</a:t>
            </a:r>
            <a:r>
              <a:rPr lang="en-US" dirty="0">
                <a:solidFill>
                  <a:srgbClr val="0C1752"/>
                </a:solidFill>
                <a:latin typeface="Montserrat" panose="00000500000000000000" pitchFamily="2" charset="0"/>
                <a:ea typeface="Calibri" pitchFamily="34" charset="-122"/>
                <a:cs typeface="Calibri" pitchFamily="34" charset="-120"/>
              </a:rPr>
              <a:t> than standard chat; think of it as Claude doing deep work, not quick answers.</a:t>
            </a:r>
            <a:endParaRPr lang="en-US" dirty="0">
              <a:solidFill>
                <a:srgbClr val="0C1752"/>
              </a:solidFill>
              <a:latin typeface="Montserrat" panose="00000500000000000000" pitchFamily="2" charset="0"/>
            </a:endParaRPr>
          </a:p>
        </p:txBody>
      </p:sp>
    </p:spTree>
    <p:extLst>
      <p:ext uri="{BB962C8B-B14F-4D97-AF65-F5344CB8AC3E}">
        <p14:creationId xmlns:p14="http://schemas.microsoft.com/office/powerpoint/2010/main" val="2346449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500"/>
                                        <p:tgtEl>
                                          <p:spTgt spid="35"/>
                                        </p:tgtEl>
                                      </p:cBhvr>
                                    </p:animEffect>
                                  </p:childTnLst>
                                </p:cTn>
                              </p:par>
                              <p:par>
                                <p:cTn id="22" presetID="10" presetClass="entr" presetSubtype="0"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fade">
                                      <p:cBhvr>
                                        <p:cTn id="24" dur="500"/>
                                        <p:tgtEl>
                                          <p:spTgt spid="3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fad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nodeType="withEffect">
                                  <p:stCondLst>
                                    <p:cond delay="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500"/>
                                        <p:tgtEl>
                                          <p:spTgt spid="4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500"/>
                                        <p:tgtEl>
                                          <p:spTgt spid="4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500"/>
                                        <p:tgtEl>
                                          <p:spTgt spid="4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45"/>
                                        </p:tgtEl>
                                        <p:attrNameLst>
                                          <p:attrName>style.visibility</p:attrName>
                                        </p:attrNameLst>
                                      </p:cBhvr>
                                      <p:to>
                                        <p:strVal val="visible"/>
                                      </p:to>
                                    </p:set>
                                    <p:animEffect transition="in" filter="fade">
                                      <p:cBhvr>
                                        <p:cTn id="49" dur="500"/>
                                        <p:tgtEl>
                                          <p:spTgt spid="45"/>
                                        </p:tgtEl>
                                      </p:cBhvr>
                                    </p:animEffect>
                                  </p:childTnLst>
                                </p:cTn>
                              </p:par>
                              <p:par>
                                <p:cTn id="50" presetID="10" presetClass="entr" presetSubtype="0" fill="hold" nodeType="with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00"/>
                                        <p:tgtEl>
                                          <p:spTgt spid="4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9"/>
                                        </p:tgtEl>
                                        <p:attrNameLst>
                                          <p:attrName>style.visibility</p:attrName>
                                        </p:attrNameLst>
                                      </p:cBhvr>
                                      <p:to>
                                        <p:strVal val="visible"/>
                                      </p:to>
                                    </p:set>
                                    <p:animEffect transition="in" filter="fade">
                                      <p:cBhvr>
                                        <p:cTn id="58" dur="500"/>
                                        <p:tgtEl>
                                          <p:spTgt spid="49"/>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500"/>
                                        <p:tgtEl>
                                          <p:spTgt spid="50"/>
                                        </p:tgtEl>
                                      </p:cBhvr>
                                    </p:animEffect>
                                  </p:childTnLst>
                                </p:cTn>
                              </p:par>
                              <p:par>
                                <p:cTn id="64" presetID="10" presetClass="entr" presetSubtype="0" fill="hold" nodeType="withEffect">
                                  <p:stCondLst>
                                    <p:cond delay="0"/>
                                  </p:stCondLst>
                                  <p:childTnLst>
                                    <p:set>
                                      <p:cBhvr>
                                        <p:cTn id="65" dur="1" fill="hold">
                                          <p:stCondLst>
                                            <p:cond delay="0"/>
                                          </p:stCondLst>
                                        </p:cTn>
                                        <p:tgtEl>
                                          <p:spTgt spid="52"/>
                                        </p:tgtEl>
                                        <p:attrNameLst>
                                          <p:attrName>style.visibility</p:attrName>
                                        </p:attrNameLst>
                                      </p:cBhvr>
                                      <p:to>
                                        <p:strVal val="visible"/>
                                      </p:to>
                                    </p:set>
                                    <p:animEffect transition="in" filter="fade">
                                      <p:cBhvr>
                                        <p:cTn id="66" dur="500"/>
                                        <p:tgtEl>
                                          <p:spTgt spid="5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3"/>
                                        </p:tgtEl>
                                        <p:attrNameLst>
                                          <p:attrName>style.visibility</p:attrName>
                                        </p:attrNameLst>
                                      </p:cBhvr>
                                      <p:to>
                                        <p:strVal val="visible"/>
                                      </p:to>
                                    </p:set>
                                    <p:animEffect transition="in" filter="fade">
                                      <p:cBhvr>
                                        <p:cTn id="69" dur="500"/>
                                        <p:tgtEl>
                                          <p:spTgt spid="5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54"/>
                                        </p:tgtEl>
                                        <p:attrNameLst>
                                          <p:attrName>style.visibility</p:attrName>
                                        </p:attrNameLst>
                                      </p:cBhvr>
                                      <p:to>
                                        <p:strVal val="visible"/>
                                      </p:to>
                                    </p:set>
                                    <p:animEffect transition="in" filter="fade">
                                      <p:cBhvr>
                                        <p:cTn id="72" dur="500"/>
                                        <p:tgtEl>
                                          <p:spTgt spid="5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fade">
                                      <p:cBhvr>
                                        <p:cTn id="77" dur="500"/>
                                        <p:tgtEl>
                                          <p:spTgt spid="55"/>
                                        </p:tgtEl>
                                      </p:cBhvr>
                                    </p:animEffect>
                                  </p:childTnLst>
                                </p:cTn>
                              </p:par>
                              <p:par>
                                <p:cTn id="78" presetID="10" presetClass="entr" presetSubtype="0" fill="hold" nodeType="withEffect">
                                  <p:stCondLst>
                                    <p:cond delay="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00"/>
                                        <p:tgtEl>
                                          <p:spTgt spid="5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animEffect transition="in" filter="fade">
                                      <p:cBhvr>
                                        <p:cTn id="83" dur="500"/>
                                        <p:tgtEl>
                                          <p:spTgt spid="5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9"/>
                                        </p:tgtEl>
                                        <p:attrNameLst>
                                          <p:attrName>style.visibility</p:attrName>
                                        </p:attrNameLst>
                                      </p:cBhvr>
                                      <p:to>
                                        <p:strVal val="visible"/>
                                      </p:to>
                                    </p:set>
                                    <p:animEffect transition="in" filter="fade">
                                      <p:cBhvr>
                                        <p:cTn id="86" dur="500"/>
                                        <p:tgtEl>
                                          <p:spTgt spid="5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1"/>
                                        </p:tgtEl>
                                        <p:attrNameLst>
                                          <p:attrName>style.visibility</p:attrName>
                                        </p:attrNameLst>
                                      </p:cBhvr>
                                      <p:to>
                                        <p:strVal val="visible"/>
                                      </p:to>
                                    </p:set>
                                    <p:animEffect transition="in" filter="fade">
                                      <p:cBhvr>
                                        <p:cTn id="91" dur="500"/>
                                        <p:tgtEl>
                                          <p:spTgt spid="6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fade">
                                      <p:cBhvr>
                                        <p:cTn id="94"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1" grpId="0" animBg="1"/>
      <p:bldP spid="33" grpId="0" animBg="1"/>
      <p:bldP spid="35" grpId="0" animBg="1"/>
      <p:bldP spid="38" grpId="0" animBg="1"/>
      <p:bldP spid="39" grpId="0" animBg="1"/>
      <p:bldP spid="40" grpId="0" animBg="1"/>
      <p:bldP spid="43" grpId="0" animBg="1"/>
      <p:bldP spid="44" grpId="0" animBg="1"/>
      <p:bldP spid="45" grpId="0" animBg="1"/>
      <p:bldP spid="48" grpId="0" animBg="1"/>
      <p:bldP spid="49" grpId="0" animBg="1"/>
      <p:bldP spid="50" grpId="0" animBg="1"/>
      <p:bldP spid="53" grpId="0" animBg="1"/>
      <p:bldP spid="54" grpId="0" animBg="1"/>
      <p:bldP spid="55" grpId="0" animBg="1"/>
      <p:bldP spid="58" grpId="0" animBg="1"/>
      <p:bldP spid="59" grpId="0" animBg="1"/>
      <p:bldP spid="6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813C5-8DAE-D9BF-25EE-051CB476A14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0E54260-7737-AD8D-0B41-45CAF1D787E6}"/>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717857D-4DD5-2E99-7E3E-69C5EC95B196}"/>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98A7F87-4FB9-8F84-522B-8396D0A81256}"/>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 1</a:t>
            </a:r>
          </a:p>
        </p:txBody>
      </p:sp>
      <p:pic>
        <p:nvPicPr>
          <p:cNvPr id="5" name="Picture 4">
            <a:extLst>
              <a:ext uri="{FF2B5EF4-FFF2-40B4-BE49-F238E27FC236}">
                <a16:creationId xmlns:a16="http://schemas.microsoft.com/office/drawing/2014/main" id="{F1132235-0107-65DE-5BB5-61B4C0B1A011}"/>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645380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1E7E1-D4C5-4E41-969D-8E450D17F5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E0138D7-4388-F684-F8E1-8037AA131317}"/>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7B32AC81-C78C-5712-BA4C-4C906146D19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8BAD854D-C976-6A05-5553-B197140663B3}"/>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B0F27EFD-F0D8-7E5B-8007-6C346EFDE9A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55A7B379-14CE-D71F-1B28-1B46F990DAB2}"/>
              </a:ext>
            </a:extLst>
          </p:cNvPr>
          <p:cNvPicPr>
            <a:picLocks noChangeAspect="1"/>
          </p:cNvPicPr>
          <p:nvPr/>
        </p:nvPicPr>
        <p:blipFill>
          <a:blip r:embed="rId4"/>
          <a:stretch>
            <a:fillRect/>
          </a:stretch>
        </p:blipFill>
        <p:spPr>
          <a:xfrm>
            <a:off x="1986047" y="1322104"/>
            <a:ext cx="8252678" cy="4277271"/>
          </a:xfrm>
          <a:prstGeom prst="rect">
            <a:avLst/>
          </a:prstGeom>
        </p:spPr>
      </p:pic>
    </p:spTree>
    <p:extLst>
      <p:ext uri="{BB962C8B-B14F-4D97-AF65-F5344CB8AC3E}">
        <p14:creationId xmlns:p14="http://schemas.microsoft.com/office/powerpoint/2010/main" val="967308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45BCB-B27E-E726-16D8-87C44E2A592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FC7311-5471-0FA3-459B-4C12F6C17403}"/>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B1EE989-3B8F-AA13-8FB2-11C1C3AEED2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16B5608-5811-8257-B323-2FA47CA4FCC6}"/>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CONNECTORS &amp; MCP</a:t>
            </a:r>
          </a:p>
        </p:txBody>
      </p:sp>
      <p:pic>
        <p:nvPicPr>
          <p:cNvPr id="5" name="Picture 4">
            <a:extLst>
              <a:ext uri="{FF2B5EF4-FFF2-40B4-BE49-F238E27FC236}">
                <a16:creationId xmlns:a16="http://schemas.microsoft.com/office/drawing/2014/main" id="{9B79800D-65E9-F348-ABC2-6164457D1AA2}"/>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735764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7BA8993-2A0C-AFCA-B009-C797112A6A3C}"/>
            </a:ext>
          </a:extLst>
        </p:cNvPr>
        <p:cNvGrpSpPr/>
        <p:nvPr/>
      </p:nvGrpSpPr>
      <p:grpSpPr>
        <a:xfrm>
          <a:off x="0" y="0"/>
          <a:ext cx="0" cy="0"/>
          <a:chOff x="0" y="0"/>
          <a:chExt cx="0" cy="0"/>
        </a:xfrm>
      </p:grpSpPr>
      <p:pic>
        <p:nvPicPr>
          <p:cNvPr id="112" name="Google Shape;112;p5">
            <a:extLst>
              <a:ext uri="{FF2B5EF4-FFF2-40B4-BE49-F238E27FC236}">
                <a16:creationId xmlns:a16="http://schemas.microsoft.com/office/drawing/2014/main" id="{333194A4-4DBD-D0C3-E289-CF129E191A67}"/>
              </a:ext>
            </a:extLst>
          </p:cNvPr>
          <p:cNvPicPr preferRelativeResize="0"/>
          <p:nvPr/>
        </p:nvPicPr>
        <p:blipFill rotWithShape="1">
          <a:blip r:embed="rId3">
            <a:alphaModFix/>
          </a:blip>
          <a:srcRect/>
          <a:stretch/>
        </p:blipFill>
        <p:spPr>
          <a:xfrm>
            <a:off x="-3571" y="0"/>
            <a:ext cx="12224773" cy="6858000"/>
          </a:xfrm>
          <a:prstGeom prst="rect">
            <a:avLst/>
          </a:prstGeom>
          <a:noFill/>
          <a:ln>
            <a:noFill/>
          </a:ln>
        </p:spPr>
      </p:pic>
      <p:pic>
        <p:nvPicPr>
          <p:cNvPr id="113" name="Google Shape;113;p5">
            <a:extLst>
              <a:ext uri="{FF2B5EF4-FFF2-40B4-BE49-F238E27FC236}">
                <a16:creationId xmlns:a16="http://schemas.microsoft.com/office/drawing/2014/main" id="{DF7F6AA4-FE68-1F00-90FB-4823341853CE}"/>
              </a:ext>
            </a:extLst>
          </p:cNvPr>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a:extLst>
              <a:ext uri="{FF2B5EF4-FFF2-40B4-BE49-F238E27FC236}">
                <a16:creationId xmlns:a16="http://schemas.microsoft.com/office/drawing/2014/main" id="{4576D596-DF7C-1F7C-B128-453102586124}"/>
              </a:ext>
            </a:extLst>
          </p:cNvPr>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Model Context Protocol (MCP)?</a:t>
            </a:r>
            <a:endParaRPr dirty="0"/>
          </a:p>
        </p:txBody>
      </p:sp>
      <p:sp>
        <p:nvSpPr>
          <p:cNvPr id="115" name="Google Shape;115;p5">
            <a:extLst>
              <a:ext uri="{FF2B5EF4-FFF2-40B4-BE49-F238E27FC236}">
                <a16:creationId xmlns:a16="http://schemas.microsoft.com/office/drawing/2014/main" id="{14797906-552F-78EA-60A2-221A7BEC6696}"/>
              </a:ext>
            </a:extLst>
          </p:cNvPr>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116" name="Google Shape;116;p5">
            <a:extLst>
              <a:ext uri="{FF2B5EF4-FFF2-40B4-BE49-F238E27FC236}">
                <a16:creationId xmlns:a16="http://schemas.microsoft.com/office/drawing/2014/main" id="{BFC53742-D364-B80E-524A-549CA8058135}"/>
              </a:ext>
            </a:extLst>
          </p:cNvPr>
          <p:cNvSpPr txBox="1"/>
          <p:nvPr/>
        </p:nvSpPr>
        <p:spPr>
          <a:xfrm>
            <a:off x="166991" y="915981"/>
            <a:ext cx="11637228" cy="92190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MCP is an open standard and open-source framework introduced by Anthropic to standardize how AI models interact with external tools, systems, and data sources. </a:t>
            </a:r>
            <a:endParaRPr sz="1800" dirty="0">
              <a:solidFill>
                <a:schemeClr val="dk1"/>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2AE6E7A3-3C7E-140C-F3B9-9209703FA37B}"/>
              </a:ext>
            </a:extLst>
          </p:cNvPr>
          <p:cNvSpPr/>
          <p:nvPr/>
        </p:nvSpPr>
        <p:spPr>
          <a:xfrm>
            <a:off x="6362236" y="4388148"/>
            <a:ext cx="1602296"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pic>
        <p:nvPicPr>
          <p:cNvPr id="2050" name="Picture 2" descr="Gmail has a new logo that's a lot more Google | The Verge">
            <a:extLst>
              <a:ext uri="{FF2B5EF4-FFF2-40B4-BE49-F238E27FC236}">
                <a16:creationId xmlns:a16="http://schemas.microsoft.com/office/drawing/2014/main" id="{F67526D3-B748-C961-77D4-E2BA3E66308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10250487" y="2972287"/>
            <a:ext cx="1452177" cy="368166"/>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lack Logo, symbol, meaning, history, PNG, brand">
            <a:extLst>
              <a:ext uri="{FF2B5EF4-FFF2-40B4-BE49-F238E27FC236}">
                <a16:creationId xmlns:a16="http://schemas.microsoft.com/office/drawing/2014/main" id="{36A54658-8B5A-339E-06A8-B50082A5D3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2812" y="4504293"/>
            <a:ext cx="1225972" cy="68960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FDCA60FC-410E-F65D-C192-9E34E7EA43AE}"/>
              </a:ext>
            </a:extLst>
          </p:cNvPr>
          <p:cNvPicPr>
            <a:picLocks noChangeAspect="1"/>
          </p:cNvPicPr>
          <p:nvPr/>
        </p:nvPicPr>
        <p:blipFill>
          <a:blip r:embed="rId7"/>
          <a:stretch>
            <a:fillRect/>
          </a:stretch>
        </p:blipFill>
        <p:spPr>
          <a:xfrm>
            <a:off x="10192712" y="5585610"/>
            <a:ext cx="1225972" cy="817315"/>
          </a:xfrm>
          <a:prstGeom prst="rect">
            <a:avLst/>
          </a:prstGeom>
        </p:spPr>
      </p:pic>
      <p:cxnSp>
        <p:nvCxnSpPr>
          <p:cNvPr id="5" name="Straight Arrow Connector 4">
            <a:extLst>
              <a:ext uri="{FF2B5EF4-FFF2-40B4-BE49-F238E27FC236}">
                <a16:creationId xmlns:a16="http://schemas.microsoft.com/office/drawing/2014/main" id="{2F6BC43B-7BC8-FE9A-31C5-857C46FBDD62}"/>
              </a:ext>
            </a:extLst>
          </p:cNvPr>
          <p:cNvCxnSpPr>
            <a:cxnSpLocks/>
          </p:cNvCxnSpPr>
          <p:nvPr/>
        </p:nvCxnSpPr>
        <p:spPr>
          <a:xfrm flipV="1">
            <a:off x="8000851" y="3407973"/>
            <a:ext cx="2273917" cy="1156396"/>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7B213223-D64E-3C18-4552-EABBDE68AA99}"/>
              </a:ext>
            </a:extLst>
          </p:cNvPr>
          <p:cNvSpPr/>
          <p:nvPr/>
        </p:nvSpPr>
        <p:spPr>
          <a:xfrm rot="19992498">
            <a:off x="8663175" y="3707975"/>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pic>
        <p:nvPicPr>
          <p:cNvPr id="19" name="Picture 4">
            <a:extLst>
              <a:ext uri="{FF2B5EF4-FFF2-40B4-BE49-F238E27FC236}">
                <a16:creationId xmlns:a16="http://schemas.microsoft.com/office/drawing/2014/main" id="{0B48F839-56C1-F97C-8EFB-E120279CCAB2}"/>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8708" t="4469"/>
          <a:stretch/>
        </p:blipFill>
        <p:spPr bwMode="auto">
          <a:xfrm>
            <a:off x="8709770" y="3101232"/>
            <a:ext cx="610392" cy="51160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Gmail has a new logo that's a lot more Google | The Verge">
            <a:extLst>
              <a:ext uri="{FF2B5EF4-FFF2-40B4-BE49-F238E27FC236}">
                <a16:creationId xmlns:a16="http://schemas.microsoft.com/office/drawing/2014/main" id="{5DE79189-FDD6-CFC3-3E20-C171955616B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t="30060" r="5016" b="33818"/>
          <a:stretch/>
        </p:blipFill>
        <p:spPr bwMode="auto">
          <a:xfrm>
            <a:off x="3537389" y="3093257"/>
            <a:ext cx="1509952" cy="38281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lack Logo, symbol, meaning, history, PNG, brand">
            <a:extLst>
              <a:ext uri="{FF2B5EF4-FFF2-40B4-BE49-F238E27FC236}">
                <a16:creationId xmlns:a16="http://schemas.microsoft.com/office/drawing/2014/main" id="{4F94A50F-BB1E-4564-4789-91062A4223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7861" y="4379140"/>
            <a:ext cx="1274062" cy="71666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49027ACF-57D2-3677-9E09-E80B6A60A131}"/>
              </a:ext>
            </a:extLst>
          </p:cNvPr>
          <p:cNvPicPr>
            <a:picLocks noChangeAspect="1"/>
          </p:cNvPicPr>
          <p:nvPr/>
        </p:nvPicPr>
        <p:blipFill>
          <a:blip r:embed="rId7"/>
          <a:stretch>
            <a:fillRect/>
          </a:stretch>
        </p:blipFill>
        <p:spPr>
          <a:xfrm>
            <a:off x="3759201" y="5665366"/>
            <a:ext cx="1157258" cy="771506"/>
          </a:xfrm>
          <a:prstGeom prst="rect">
            <a:avLst/>
          </a:prstGeom>
        </p:spPr>
      </p:pic>
      <p:cxnSp>
        <p:nvCxnSpPr>
          <p:cNvPr id="11" name="Straight Arrow Connector 10">
            <a:extLst>
              <a:ext uri="{FF2B5EF4-FFF2-40B4-BE49-F238E27FC236}">
                <a16:creationId xmlns:a16="http://schemas.microsoft.com/office/drawing/2014/main" id="{170C03C9-3C31-A7A3-9A6F-A0535BB36ACF}"/>
              </a:ext>
            </a:extLst>
          </p:cNvPr>
          <p:cNvCxnSpPr>
            <a:cxnSpLocks/>
          </p:cNvCxnSpPr>
          <p:nvPr/>
        </p:nvCxnSpPr>
        <p:spPr>
          <a:xfrm flipV="1">
            <a:off x="2464155" y="3525357"/>
            <a:ext cx="1233113" cy="888214"/>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5DB8F840-DA8A-629A-8884-BED26C129437}"/>
              </a:ext>
            </a:extLst>
          </p:cNvPr>
          <p:cNvSpPr/>
          <p:nvPr/>
        </p:nvSpPr>
        <p:spPr>
          <a:xfrm>
            <a:off x="838702" y="4467862"/>
            <a:ext cx="1636421" cy="921901"/>
          </a:xfrm>
          <a:prstGeom prst="round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2000" dirty="0">
                <a:latin typeface="Montserrat" panose="00000500000000000000" pitchFamily="2" charset="0"/>
              </a:rPr>
              <a:t>AI Agent </a:t>
            </a:r>
          </a:p>
        </p:txBody>
      </p:sp>
      <p:cxnSp>
        <p:nvCxnSpPr>
          <p:cNvPr id="26" name="Straight Arrow Connector 25">
            <a:extLst>
              <a:ext uri="{FF2B5EF4-FFF2-40B4-BE49-F238E27FC236}">
                <a16:creationId xmlns:a16="http://schemas.microsoft.com/office/drawing/2014/main" id="{5594CF8C-979C-6C7D-7FE7-C15CC7BB31A6}"/>
              </a:ext>
            </a:extLst>
          </p:cNvPr>
          <p:cNvCxnSpPr>
            <a:cxnSpLocks/>
          </p:cNvCxnSpPr>
          <p:nvPr/>
        </p:nvCxnSpPr>
        <p:spPr>
          <a:xfrm>
            <a:off x="2475124" y="4770459"/>
            <a:ext cx="1062265" cy="0"/>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861083A-539C-0051-F4F3-83B7C7538B78}"/>
              </a:ext>
            </a:extLst>
          </p:cNvPr>
          <p:cNvCxnSpPr>
            <a:cxnSpLocks/>
          </p:cNvCxnSpPr>
          <p:nvPr/>
        </p:nvCxnSpPr>
        <p:spPr>
          <a:xfrm>
            <a:off x="2475124" y="5297148"/>
            <a:ext cx="1404851" cy="683433"/>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026" name="Picture 2" descr="Here's OpenAI's new logo | The Verge">
            <a:extLst>
              <a:ext uri="{FF2B5EF4-FFF2-40B4-BE49-F238E27FC236}">
                <a16:creationId xmlns:a16="http://schemas.microsoft.com/office/drawing/2014/main" id="{C4AA1415-AAD4-97F0-7DC1-FCF30D67972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5744" y="3686755"/>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lama 2 Model Details">
            <a:extLst>
              <a:ext uri="{FF2B5EF4-FFF2-40B4-BE49-F238E27FC236}">
                <a16:creationId xmlns:a16="http://schemas.microsoft.com/office/drawing/2014/main" id="{9C246D39-71E2-2EDA-76E4-8EBC959EFB61}"/>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1465181" y="3710970"/>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0442BFE-B917-6714-3846-6488B8AD768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2089029" y="3713994"/>
            <a:ext cx="588367" cy="53429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ere's OpenAI's new logo | The Verge">
            <a:extLst>
              <a:ext uri="{FF2B5EF4-FFF2-40B4-BE49-F238E27FC236}">
                <a16:creationId xmlns:a16="http://schemas.microsoft.com/office/drawing/2014/main" id="{41A7CFC9-B886-FDF7-3E76-2EB6365066C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1975" y="3702456"/>
            <a:ext cx="895231" cy="59941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4" descr="Llama 2 Model Details">
            <a:extLst>
              <a:ext uri="{FF2B5EF4-FFF2-40B4-BE49-F238E27FC236}">
                <a16:creationId xmlns:a16="http://schemas.microsoft.com/office/drawing/2014/main" id="{B69531C4-3E54-B56D-D488-593550DBA9D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55017" t="22122" r="12924" b="26288"/>
          <a:stretch>
            <a:fillRect/>
          </a:stretch>
        </p:blipFill>
        <p:spPr bwMode="auto">
          <a:xfrm>
            <a:off x="6811412" y="3726671"/>
            <a:ext cx="488749" cy="49319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6">
            <a:extLst>
              <a:ext uri="{FF2B5EF4-FFF2-40B4-BE49-F238E27FC236}">
                <a16:creationId xmlns:a16="http://schemas.microsoft.com/office/drawing/2014/main" id="{EA1CC70D-3CC4-572B-3DF9-1BDFFF32D276}"/>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r="76221"/>
          <a:stretch>
            <a:fillRect/>
          </a:stretch>
        </p:blipFill>
        <p:spPr bwMode="auto">
          <a:xfrm>
            <a:off x="7435260" y="3729695"/>
            <a:ext cx="588367" cy="534299"/>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F576F50E-B3B3-2CE3-1367-BE0483091A4A}"/>
              </a:ext>
            </a:extLst>
          </p:cNvPr>
          <p:cNvSpPr/>
          <p:nvPr/>
        </p:nvSpPr>
        <p:spPr>
          <a:xfrm>
            <a:off x="2843655" y="3525357"/>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TextBox 41">
            <a:extLst>
              <a:ext uri="{FF2B5EF4-FFF2-40B4-BE49-F238E27FC236}">
                <a16:creationId xmlns:a16="http://schemas.microsoft.com/office/drawing/2014/main" id="{BA5B436E-3EAC-CE20-31F3-C8622DC2016A}"/>
              </a:ext>
            </a:extLst>
          </p:cNvPr>
          <p:cNvSpPr txBox="1"/>
          <p:nvPr/>
        </p:nvSpPr>
        <p:spPr>
          <a:xfrm>
            <a:off x="2358440" y="6104483"/>
            <a:ext cx="1443024"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Custom APIs</a:t>
            </a:r>
          </a:p>
        </p:txBody>
      </p:sp>
      <p:cxnSp>
        <p:nvCxnSpPr>
          <p:cNvPr id="43" name="Straight Arrow Connector 42">
            <a:extLst>
              <a:ext uri="{FF2B5EF4-FFF2-40B4-BE49-F238E27FC236}">
                <a16:creationId xmlns:a16="http://schemas.microsoft.com/office/drawing/2014/main" id="{BC23DBA8-EB6A-D907-D84B-C25306D8EC73}"/>
              </a:ext>
            </a:extLst>
          </p:cNvPr>
          <p:cNvCxnSpPr>
            <a:cxnSpLocks/>
          </p:cNvCxnSpPr>
          <p:nvPr/>
        </p:nvCxnSpPr>
        <p:spPr>
          <a:xfrm flipV="1">
            <a:off x="8000851" y="4793028"/>
            <a:ext cx="2285883" cy="18197"/>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Rectangle: Rounded Corners 43">
            <a:extLst>
              <a:ext uri="{FF2B5EF4-FFF2-40B4-BE49-F238E27FC236}">
                <a16:creationId xmlns:a16="http://schemas.microsoft.com/office/drawing/2014/main" id="{73BA3DA8-287F-5FEC-D3F8-EFD2B2BA82E1}"/>
              </a:ext>
            </a:extLst>
          </p:cNvPr>
          <p:cNvSpPr/>
          <p:nvPr/>
        </p:nvSpPr>
        <p:spPr>
          <a:xfrm>
            <a:off x="8691390" y="460672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cxnSp>
        <p:nvCxnSpPr>
          <p:cNvPr id="47" name="Straight Arrow Connector 46">
            <a:extLst>
              <a:ext uri="{FF2B5EF4-FFF2-40B4-BE49-F238E27FC236}">
                <a16:creationId xmlns:a16="http://schemas.microsoft.com/office/drawing/2014/main" id="{C9330793-E153-9DC9-CA0F-F22E803FA8D6}"/>
              </a:ext>
            </a:extLst>
          </p:cNvPr>
          <p:cNvCxnSpPr>
            <a:cxnSpLocks/>
            <a:endCxn id="33" idx="1"/>
          </p:cNvCxnSpPr>
          <p:nvPr/>
        </p:nvCxnSpPr>
        <p:spPr>
          <a:xfrm>
            <a:off x="8000851" y="5090373"/>
            <a:ext cx="2191861" cy="903895"/>
          </a:xfrm>
          <a:prstGeom prst="straightConnector1">
            <a:avLst/>
          </a:prstGeom>
          <a:ln w="5715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Rectangle: Rounded Corners 47">
            <a:extLst>
              <a:ext uri="{FF2B5EF4-FFF2-40B4-BE49-F238E27FC236}">
                <a16:creationId xmlns:a16="http://schemas.microsoft.com/office/drawing/2014/main" id="{F3DDCB56-5AEF-3BD3-4898-D12AEEA8016D}"/>
              </a:ext>
            </a:extLst>
          </p:cNvPr>
          <p:cNvSpPr/>
          <p:nvPr/>
        </p:nvSpPr>
        <p:spPr>
          <a:xfrm rot="1449052">
            <a:off x="8622823" y="5468270"/>
            <a:ext cx="1286252" cy="372615"/>
          </a:xfrm>
          <a:prstGeom prst="roundRect">
            <a:avLst/>
          </a:prstGeom>
          <a:solidFill>
            <a:srgbClr val="D56E48"/>
          </a:solid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800" kern="1200" dirty="0">
                <a:solidFill>
                  <a:srgbClr val="FFFFFF"/>
                </a:solidFill>
                <a:latin typeface="Montserrat" panose="00000500000000000000" pitchFamily="2" charset="0"/>
                <a:cs typeface="Mongolian Baiti" panose="03000500000000000000" pitchFamily="66" charset="0"/>
              </a:rPr>
              <a:t>MCP</a:t>
            </a:r>
          </a:p>
        </p:txBody>
      </p:sp>
      <p:sp>
        <p:nvSpPr>
          <p:cNvPr id="52" name="Rectangle: Rounded Corners 51">
            <a:extLst>
              <a:ext uri="{FF2B5EF4-FFF2-40B4-BE49-F238E27FC236}">
                <a16:creationId xmlns:a16="http://schemas.microsoft.com/office/drawing/2014/main" id="{37247F75-2180-D734-2B7E-E392669A336F}"/>
              </a:ext>
            </a:extLst>
          </p:cNvPr>
          <p:cNvSpPr/>
          <p:nvPr/>
        </p:nvSpPr>
        <p:spPr>
          <a:xfrm>
            <a:off x="8228876" y="3668730"/>
            <a:ext cx="327415" cy="2530015"/>
          </a:xfrm>
          <a:prstGeom prst="roundRect">
            <a:avLst/>
          </a:prstGeom>
          <a:noFill/>
          <a:ln>
            <a:solidFill>
              <a:schemeClr val="accent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3" name="TextBox 52">
            <a:extLst>
              <a:ext uri="{FF2B5EF4-FFF2-40B4-BE49-F238E27FC236}">
                <a16:creationId xmlns:a16="http://schemas.microsoft.com/office/drawing/2014/main" id="{45238F95-1A6C-6F20-C87A-F0A41A149F5E}"/>
              </a:ext>
            </a:extLst>
          </p:cNvPr>
          <p:cNvSpPr txBox="1"/>
          <p:nvPr/>
        </p:nvSpPr>
        <p:spPr>
          <a:xfrm>
            <a:off x="7616287" y="6198745"/>
            <a:ext cx="1914307" cy="307777"/>
          </a:xfrm>
          <a:prstGeom prst="rect">
            <a:avLst/>
          </a:prstGeom>
          <a:noFill/>
        </p:spPr>
        <p:txBody>
          <a:bodyPr wrap="none" rtlCol="0">
            <a:spAutoFit/>
          </a:bodyPr>
          <a:lstStyle/>
          <a:p>
            <a:r>
              <a:rPr lang="en-CA" b="1" dirty="0">
                <a:solidFill>
                  <a:schemeClr val="accent2">
                    <a:lumMod val="75000"/>
                  </a:schemeClr>
                </a:solidFill>
                <a:latin typeface="Montserrat" panose="00000500000000000000" pitchFamily="2" charset="0"/>
              </a:rPr>
              <a:t>Standardized APIs</a:t>
            </a:r>
          </a:p>
        </p:txBody>
      </p:sp>
      <p:sp>
        <p:nvSpPr>
          <p:cNvPr id="58" name="TextBox 57">
            <a:extLst>
              <a:ext uri="{FF2B5EF4-FFF2-40B4-BE49-F238E27FC236}">
                <a16:creationId xmlns:a16="http://schemas.microsoft.com/office/drawing/2014/main" id="{D26A9905-B2A4-1EBF-6EA3-FC70AFE9CE5C}"/>
              </a:ext>
            </a:extLst>
          </p:cNvPr>
          <p:cNvSpPr txBox="1"/>
          <p:nvPr/>
        </p:nvSpPr>
        <p:spPr>
          <a:xfrm>
            <a:off x="1105123" y="2721642"/>
            <a:ext cx="3082895" cy="369332"/>
          </a:xfrm>
          <a:prstGeom prst="rect">
            <a:avLst/>
          </a:prstGeom>
          <a:noFill/>
        </p:spPr>
        <p:txBody>
          <a:bodyPr wrap="none" rtlCol="0">
            <a:spAutoFit/>
          </a:bodyPr>
          <a:lstStyle/>
          <a:p>
            <a:r>
              <a:rPr lang="en-CA" sz="1800" b="1" u="sng" dirty="0">
                <a:latin typeface="Montserrat" panose="00000500000000000000" pitchFamily="2" charset="0"/>
              </a:rPr>
              <a:t>Problem (Without MCP)</a:t>
            </a:r>
          </a:p>
        </p:txBody>
      </p:sp>
      <p:sp>
        <p:nvSpPr>
          <p:cNvPr id="59" name="TextBox 58">
            <a:extLst>
              <a:ext uri="{FF2B5EF4-FFF2-40B4-BE49-F238E27FC236}">
                <a16:creationId xmlns:a16="http://schemas.microsoft.com/office/drawing/2014/main" id="{0D65C32B-297E-94E3-6973-1D7DBC269C69}"/>
              </a:ext>
            </a:extLst>
          </p:cNvPr>
          <p:cNvSpPr txBox="1"/>
          <p:nvPr/>
        </p:nvSpPr>
        <p:spPr>
          <a:xfrm>
            <a:off x="7208364" y="2663701"/>
            <a:ext cx="2645276" cy="369332"/>
          </a:xfrm>
          <a:prstGeom prst="rect">
            <a:avLst/>
          </a:prstGeom>
          <a:noFill/>
        </p:spPr>
        <p:txBody>
          <a:bodyPr wrap="none" rtlCol="0">
            <a:spAutoFit/>
          </a:bodyPr>
          <a:lstStyle/>
          <a:p>
            <a:r>
              <a:rPr lang="en-CA" sz="1800" b="1" u="sng" dirty="0">
                <a:latin typeface="Montserrat" panose="00000500000000000000" pitchFamily="2" charset="0"/>
              </a:rPr>
              <a:t>Solution (With MCP)</a:t>
            </a:r>
          </a:p>
        </p:txBody>
      </p:sp>
      <p:pic>
        <p:nvPicPr>
          <p:cNvPr id="1035" name="Picture 11">
            <a:extLst>
              <a:ext uri="{FF2B5EF4-FFF2-40B4-BE49-F238E27FC236}">
                <a16:creationId xmlns:a16="http://schemas.microsoft.com/office/drawing/2014/main" id="{D40D4B7B-D208-E8FD-BE4B-B48AB4CF31D2}"/>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1963" r="-1170" b="25352"/>
          <a:stretch>
            <a:fillRect/>
          </a:stretch>
        </p:blipFill>
        <p:spPr bwMode="auto">
          <a:xfrm>
            <a:off x="5459511" y="1609603"/>
            <a:ext cx="1710313" cy="890661"/>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Model Context Protocol · GitHub">
            <a:extLst>
              <a:ext uri="{FF2B5EF4-FFF2-40B4-BE49-F238E27FC236}">
                <a16:creationId xmlns:a16="http://schemas.microsoft.com/office/drawing/2014/main" id="{660406CC-E6F7-0A46-5986-C26F4DE284A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18230" y="1474033"/>
            <a:ext cx="1167689" cy="1167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8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fade">
                                      <p:cBhvr>
                                        <p:cTn id="7" dur="500"/>
                                        <p:tgtEl>
                                          <p:spTgt spid="1035"/>
                                        </p:tgtEl>
                                      </p:cBhvr>
                                    </p:animEffect>
                                  </p:childTnLst>
                                </p:cTn>
                              </p:par>
                              <p:par>
                                <p:cTn id="8" presetID="10" presetClass="entr" presetSubtype="0" fill="hold" nodeType="withEffect">
                                  <p:stCondLst>
                                    <p:cond delay="0"/>
                                  </p:stCondLst>
                                  <p:childTnLst>
                                    <p:set>
                                      <p:cBhvr>
                                        <p:cTn id="9" dur="1" fill="hold">
                                          <p:stCondLst>
                                            <p:cond delay="0"/>
                                          </p:stCondLst>
                                        </p:cTn>
                                        <p:tgtEl>
                                          <p:spTgt spid="1037"/>
                                        </p:tgtEl>
                                        <p:attrNameLst>
                                          <p:attrName>style.visibility</p:attrName>
                                        </p:attrNameLst>
                                      </p:cBhvr>
                                      <p:to>
                                        <p:strVal val="visible"/>
                                      </p:to>
                                    </p:set>
                                    <p:animEffect transition="in" filter="fade">
                                      <p:cBhvr>
                                        <p:cTn id="10" dur="500"/>
                                        <p:tgtEl>
                                          <p:spTgt spid="103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500"/>
                                        <p:tgtEl>
                                          <p:spTgt spid="5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childTnLst>
                                </p:cTn>
                              </p:par>
                              <p:par>
                                <p:cTn id="22" presetID="10" presetClass="entr" presetSubtype="0" fill="hold" nodeType="withEffect">
                                  <p:stCondLst>
                                    <p:cond delay="0"/>
                                  </p:stCondLst>
                                  <p:childTnLst>
                                    <p:set>
                                      <p:cBhvr>
                                        <p:cTn id="23" dur="1" fill="hold">
                                          <p:stCondLst>
                                            <p:cond delay="0"/>
                                          </p:stCondLst>
                                        </p:cTn>
                                        <p:tgtEl>
                                          <p:spTgt spid="1026"/>
                                        </p:tgtEl>
                                        <p:attrNameLst>
                                          <p:attrName>style.visibility</p:attrName>
                                        </p:attrNameLst>
                                      </p:cBhvr>
                                      <p:to>
                                        <p:strVal val="visible"/>
                                      </p:to>
                                    </p:set>
                                    <p:animEffect transition="in" filter="fade">
                                      <p:cBhvr>
                                        <p:cTn id="24" dur="500"/>
                                        <p:tgtEl>
                                          <p:spTgt spid="1026"/>
                                        </p:tgtEl>
                                      </p:cBhvr>
                                    </p:animEffect>
                                  </p:childTnLst>
                                </p:cTn>
                              </p:par>
                              <p:par>
                                <p:cTn id="25" presetID="10" presetClass="entr" presetSubtype="0" fill="hold" nodeType="withEffect">
                                  <p:stCondLst>
                                    <p:cond delay="0"/>
                                  </p:stCondLst>
                                  <p:childTnLst>
                                    <p:set>
                                      <p:cBhvr>
                                        <p:cTn id="26" dur="1" fill="hold">
                                          <p:stCondLst>
                                            <p:cond delay="0"/>
                                          </p:stCondLst>
                                        </p:cTn>
                                        <p:tgtEl>
                                          <p:spTgt spid="1028"/>
                                        </p:tgtEl>
                                        <p:attrNameLst>
                                          <p:attrName>style.visibility</p:attrName>
                                        </p:attrNameLst>
                                      </p:cBhvr>
                                      <p:to>
                                        <p:strVal val="visible"/>
                                      </p:to>
                                    </p:set>
                                    <p:animEffect transition="in" filter="fade">
                                      <p:cBhvr>
                                        <p:cTn id="27" dur="500"/>
                                        <p:tgtEl>
                                          <p:spTgt spid="1028"/>
                                        </p:tgtEl>
                                      </p:cBhvr>
                                    </p:animEffect>
                                  </p:childTnLst>
                                </p:cTn>
                              </p:par>
                              <p:par>
                                <p:cTn id="28" presetID="10" presetClass="entr" presetSubtype="0" fill="hold" nodeType="withEffect">
                                  <p:stCondLst>
                                    <p:cond delay="0"/>
                                  </p:stCondLst>
                                  <p:childTnLst>
                                    <p:set>
                                      <p:cBhvr>
                                        <p:cTn id="29" dur="1" fill="hold">
                                          <p:stCondLst>
                                            <p:cond delay="0"/>
                                          </p:stCondLst>
                                        </p:cTn>
                                        <p:tgtEl>
                                          <p:spTgt spid="1030"/>
                                        </p:tgtEl>
                                        <p:attrNameLst>
                                          <p:attrName>style.visibility</p:attrName>
                                        </p:attrNameLst>
                                      </p:cBhvr>
                                      <p:to>
                                        <p:strVal val="visible"/>
                                      </p:to>
                                    </p:set>
                                    <p:animEffect transition="in" filter="fade">
                                      <p:cBhvr>
                                        <p:cTn id="30" dur="500"/>
                                        <p:tgtEl>
                                          <p:spTgt spid="103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par>
                                <p:cTn id="36" presetID="10" presetClass="entr" presetSubtype="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500"/>
                                        <p:tgtEl>
                                          <p:spTgt spid="9"/>
                                        </p:tgtEl>
                                      </p:cBhvr>
                                    </p:animEffect>
                                  </p:childTnLst>
                                </p:cTn>
                              </p:par>
                              <p:par>
                                <p:cTn id="39" presetID="10" presetClass="entr" presetSubtype="0" fill="hold" nodeType="with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500"/>
                                        <p:tgtEl>
                                          <p:spTgt spid="11"/>
                                        </p:tgtEl>
                                      </p:cBhvr>
                                    </p:animEffect>
                                  </p:childTnLst>
                                </p:cTn>
                              </p:par>
                              <p:par>
                                <p:cTn id="47" presetID="10"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500"/>
                                        <p:tgtEl>
                                          <p:spTgt spid="26"/>
                                        </p:tgtEl>
                                      </p:cBhvr>
                                    </p:animEffect>
                                  </p:childTnLst>
                                </p:cTn>
                              </p:par>
                              <p:par>
                                <p:cTn id="50" presetID="10" presetClass="entr" presetSubtype="0" fill="hold" nodeType="withEffect">
                                  <p:stCondLst>
                                    <p:cond delay="0"/>
                                  </p:stCondLst>
                                  <p:childTnLst>
                                    <p:set>
                                      <p:cBhvr>
                                        <p:cTn id="51" dur="1" fill="hold">
                                          <p:stCondLst>
                                            <p:cond delay="0"/>
                                          </p:stCondLst>
                                        </p:cTn>
                                        <p:tgtEl>
                                          <p:spTgt spid="30"/>
                                        </p:tgtEl>
                                        <p:attrNameLst>
                                          <p:attrName>style.visibility</p:attrName>
                                        </p:attrNameLst>
                                      </p:cBhvr>
                                      <p:to>
                                        <p:strVal val="visible"/>
                                      </p:to>
                                    </p:set>
                                    <p:animEffect transition="in" filter="fade">
                                      <p:cBhvr>
                                        <p:cTn id="52" dur="500"/>
                                        <p:tgtEl>
                                          <p:spTgt spid="3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00"/>
                                        <p:tgtEl>
                                          <p:spTgt spid="4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00"/>
                                        <p:tgtEl>
                                          <p:spTgt spid="4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fade">
                                      <p:cBhvr>
                                        <p:cTn id="63" dur="500"/>
                                        <p:tgtEl>
                                          <p:spTgt spid="2"/>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par>
                                <p:cTn id="67" presetID="10" presetClass="entr" presetSubtype="0" fill="hold" nodeType="with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par>
                                <p:cTn id="70" presetID="10" presetClass="entr" presetSubtype="0" fill="hold" nodeType="withEffect">
                                  <p:stCondLst>
                                    <p:cond delay="0"/>
                                  </p:stCondLst>
                                  <p:childTnLst>
                                    <p:set>
                                      <p:cBhvr>
                                        <p:cTn id="71" dur="1" fill="hold">
                                          <p:stCondLst>
                                            <p:cond delay="0"/>
                                          </p:stCondLst>
                                        </p:cTn>
                                        <p:tgtEl>
                                          <p:spTgt spid="40"/>
                                        </p:tgtEl>
                                        <p:attrNameLst>
                                          <p:attrName>style.visibility</p:attrName>
                                        </p:attrNameLst>
                                      </p:cBhvr>
                                      <p:to>
                                        <p:strVal val="visible"/>
                                      </p:to>
                                    </p:set>
                                    <p:animEffect transition="in" filter="fade">
                                      <p:cBhvr>
                                        <p:cTn id="72" dur="500"/>
                                        <p:tgtEl>
                                          <p:spTgt spid="4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50"/>
                                        </p:tgtEl>
                                        <p:attrNameLst>
                                          <p:attrName>style.visibility</p:attrName>
                                        </p:attrNameLst>
                                      </p:cBhvr>
                                      <p:to>
                                        <p:strVal val="visible"/>
                                      </p:to>
                                    </p:set>
                                    <p:animEffect transition="in" filter="fade">
                                      <p:cBhvr>
                                        <p:cTn id="77" dur="500"/>
                                        <p:tgtEl>
                                          <p:spTgt spid="2050"/>
                                        </p:tgtEl>
                                      </p:cBhvr>
                                    </p:animEffect>
                                  </p:childTnLst>
                                </p:cTn>
                              </p:par>
                              <p:par>
                                <p:cTn id="78" presetID="10" presetClass="entr" presetSubtype="0" fill="hold" nodeType="withEffect">
                                  <p:stCondLst>
                                    <p:cond delay="0"/>
                                  </p:stCondLst>
                                  <p:childTnLst>
                                    <p:set>
                                      <p:cBhvr>
                                        <p:cTn id="79" dur="1" fill="hold">
                                          <p:stCondLst>
                                            <p:cond delay="0"/>
                                          </p:stCondLst>
                                        </p:cTn>
                                        <p:tgtEl>
                                          <p:spTgt spid="2052"/>
                                        </p:tgtEl>
                                        <p:attrNameLst>
                                          <p:attrName>style.visibility</p:attrName>
                                        </p:attrNameLst>
                                      </p:cBhvr>
                                      <p:to>
                                        <p:strVal val="visible"/>
                                      </p:to>
                                    </p:set>
                                    <p:animEffect transition="in" filter="fade">
                                      <p:cBhvr>
                                        <p:cTn id="80" dur="500"/>
                                        <p:tgtEl>
                                          <p:spTgt spid="2052"/>
                                        </p:tgtEl>
                                      </p:cBhvr>
                                    </p:animEffect>
                                  </p:childTnLst>
                                </p:cTn>
                              </p:par>
                              <p:par>
                                <p:cTn id="81" presetID="10" presetClass="entr" presetSubtype="0" fill="hold"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fade">
                                      <p:cBhvr>
                                        <p:cTn id="88" dur="500"/>
                                        <p:tgtEl>
                                          <p:spTgt spid="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8"/>
                                        </p:tgtEl>
                                        <p:attrNameLst>
                                          <p:attrName>style.visibility</p:attrName>
                                        </p:attrNameLst>
                                      </p:cBhvr>
                                      <p:to>
                                        <p:strVal val="visible"/>
                                      </p:to>
                                    </p:set>
                                    <p:animEffect transition="in" filter="fade">
                                      <p:cBhvr>
                                        <p:cTn id="91" dur="500"/>
                                        <p:tgtEl>
                                          <p:spTgt spid="18"/>
                                        </p:tgtEl>
                                      </p:cBhvr>
                                    </p:animEffect>
                                  </p:childTnLst>
                                </p:cTn>
                              </p:par>
                              <p:par>
                                <p:cTn id="92" presetID="10" presetClass="entr" presetSubtype="0" fill="hold" nodeType="withEffect">
                                  <p:stCondLst>
                                    <p:cond delay="0"/>
                                  </p:stCondLst>
                                  <p:childTnLst>
                                    <p:set>
                                      <p:cBhvr>
                                        <p:cTn id="93" dur="1" fill="hold">
                                          <p:stCondLst>
                                            <p:cond delay="0"/>
                                          </p:stCondLst>
                                        </p:cTn>
                                        <p:tgtEl>
                                          <p:spTgt spid="19"/>
                                        </p:tgtEl>
                                        <p:attrNameLst>
                                          <p:attrName>style.visibility</p:attrName>
                                        </p:attrNameLst>
                                      </p:cBhvr>
                                      <p:to>
                                        <p:strVal val="visible"/>
                                      </p:to>
                                    </p:set>
                                    <p:animEffect transition="in" filter="fade">
                                      <p:cBhvr>
                                        <p:cTn id="94" dur="500"/>
                                        <p:tgtEl>
                                          <p:spTgt spid="19"/>
                                        </p:tgtEl>
                                      </p:cBhvr>
                                    </p:animEffect>
                                  </p:childTnLst>
                                </p:cTn>
                              </p:par>
                              <p:par>
                                <p:cTn id="95" presetID="10" presetClass="entr" presetSubtype="0" fill="hold" nodeType="withEffect">
                                  <p:stCondLst>
                                    <p:cond delay="0"/>
                                  </p:stCondLst>
                                  <p:childTnLst>
                                    <p:set>
                                      <p:cBhvr>
                                        <p:cTn id="96" dur="1" fill="hold">
                                          <p:stCondLst>
                                            <p:cond delay="0"/>
                                          </p:stCondLst>
                                        </p:cTn>
                                        <p:tgtEl>
                                          <p:spTgt spid="43"/>
                                        </p:tgtEl>
                                        <p:attrNameLst>
                                          <p:attrName>style.visibility</p:attrName>
                                        </p:attrNameLst>
                                      </p:cBhvr>
                                      <p:to>
                                        <p:strVal val="visible"/>
                                      </p:to>
                                    </p:set>
                                    <p:animEffect transition="in" filter="fade">
                                      <p:cBhvr>
                                        <p:cTn id="97" dur="500"/>
                                        <p:tgtEl>
                                          <p:spTgt spid="4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fade">
                                      <p:cBhvr>
                                        <p:cTn id="100" dur="500"/>
                                        <p:tgtEl>
                                          <p:spTgt spid="44"/>
                                        </p:tgtEl>
                                      </p:cBhvr>
                                    </p:animEffect>
                                  </p:childTnLst>
                                </p:cTn>
                              </p:par>
                              <p:par>
                                <p:cTn id="101" presetID="10" presetClass="entr" presetSubtype="0" fill="hold" nodeType="withEffect">
                                  <p:stCondLst>
                                    <p:cond delay="0"/>
                                  </p:stCondLst>
                                  <p:childTnLst>
                                    <p:set>
                                      <p:cBhvr>
                                        <p:cTn id="102" dur="1" fill="hold">
                                          <p:stCondLst>
                                            <p:cond delay="0"/>
                                          </p:stCondLst>
                                        </p:cTn>
                                        <p:tgtEl>
                                          <p:spTgt spid="47"/>
                                        </p:tgtEl>
                                        <p:attrNameLst>
                                          <p:attrName>style.visibility</p:attrName>
                                        </p:attrNameLst>
                                      </p:cBhvr>
                                      <p:to>
                                        <p:strVal val="visible"/>
                                      </p:to>
                                    </p:set>
                                    <p:animEffect transition="in" filter="fade">
                                      <p:cBhvr>
                                        <p:cTn id="103" dur="500"/>
                                        <p:tgtEl>
                                          <p:spTgt spid="4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8"/>
                                        </p:tgtEl>
                                        <p:attrNameLst>
                                          <p:attrName>style.visibility</p:attrName>
                                        </p:attrNameLst>
                                      </p:cBhvr>
                                      <p:to>
                                        <p:strVal val="visible"/>
                                      </p:to>
                                    </p:set>
                                    <p:animEffect transition="in" filter="fade">
                                      <p:cBhvr>
                                        <p:cTn id="106" dur="500"/>
                                        <p:tgtEl>
                                          <p:spTgt spid="4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52"/>
                                        </p:tgtEl>
                                        <p:attrNameLst>
                                          <p:attrName>style.visibility</p:attrName>
                                        </p:attrNameLst>
                                      </p:cBhvr>
                                      <p:to>
                                        <p:strVal val="visible"/>
                                      </p:to>
                                    </p:set>
                                    <p:animEffect transition="in" filter="fade">
                                      <p:cBhvr>
                                        <p:cTn id="109" dur="500"/>
                                        <p:tgtEl>
                                          <p:spTgt spid="52"/>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53"/>
                                        </p:tgtEl>
                                        <p:attrNameLst>
                                          <p:attrName>style.visibility</p:attrName>
                                        </p:attrNameLst>
                                      </p:cBhvr>
                                      <p:to>
                                        <p:strVal val="visible"/>
                                      </p:to>
                                    </p:set>
                                    <p:animEffect transition="in" filter="fade">
                                      <p:cBhvr>
                                        <p:cTn id="11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21" grpId="0" animBg="1"/>
      <p:bldP spid="41" grpId="0" animBg="1"/>
      <p:bldP spid="42" grpId="0"/>
      <p:bldP spid="44" grpId="0" animBg="1"/>
      <p:bldP spid="48" grpId="0" animBg="1"/>
      <p:bldP spid="52" grpId="0" animBg="1"/>
      <p:bldP spid="53" grpId="0"/>
      <p:bldP spid="58"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5"/>
          <p:cNvPicPr preferRelativeResize="0"/>
          <p:nvPr/>
        </p:nvPicPr>
        <p:blipFill rotWithShape="1">
          <a:blip r:embed="rId3">
            <a:alphaModFix/>
          </a:blip>
          <a:srcRect/>
          <a:stretch/>
        </p:blipFill>
        <p:spPr>
          <a:xfrm>
            <a:off x="-16387" y="0"/>
            <a:ext cx="12224773" cy="6858000"/>
          </a:xfrm>
          <a:prstGeom prst="rect">
            <a:avLst/>
          </a:prstGeom>
          <a:noFill/>
          <a:ln>
            <a:noFill/>
          </a:ln>
        </p:spPr>
      </p:pic>
      <p:pic>
        <p:nvPicPr>
          <p:cNvPr id="113" name="Google Shape;113;p5"/>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114" name="Google Shape;114;p5"/>
          <p:cNvSpPr/>
          <p:nvPr/>
        </p:nvSpPr>
        <p:spPr>
          <a:xfrm>
            <a:off x="154722" y="90489"/>
            <a:ext cx="982749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ea typeface="Montserrat"/>
                <a:cs typeface="Montserrat"/>
                <a:sym typeface="Montserrat"/>
              </a:rPr>
              <a:t>MCP Connectors</a:t>
            </a:r>
            <a:endParaRPr dirty="0"/>
          </a:p>
        </p:txBody>
      </p:sp>
      <p:sp>
        <p:nvSpPr>
          <p:cNvPr id="115" name="Google Shape;115;p5"/>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pic>
        <p:nvPicPr>
          <p:cNvPr id="5" name="Picture 4">
            <a:extLst>
              <a:ext uri="{FF2B5EF4-FFF2-40B4-BE49-F238E27FC236}">
                <a16:creationId xmlns:a16="http://schemas.microsoft.com/office/drawing/2014/main" id="{F7FA0F64-4433-F242-8916-6513E383748D}"/>
              </a:ext>
            </a:extLst>
          </p:cNvPr>
          <p:cNvPicPr>
            <a:picLocks noChangeAspect="1"/>
          </p:cNvPicPr>
          <p:nvPr/>
        </p:nvPicPr>
        <p:blipFill>
          <a:blip r:embed="rId5"/>
          <a:stretch>
            <a:fillRect/>
          </a:stretch>
        </p:blipFill>
        <p:spPr>
          <a:xfrm>
            <a:off x="3202534" y="4385760"/>
            <a:ext cx="4265066" cy="2336395"/>
          </a:xfrm>
          <a:prstGeom prst="rect">
            <a:avLst/>
          </a:prstGeom>
        </p:spPr>
      </p:pic>
      <p:sp>
        <p:nvSpPr>
          <p:cNvPr id="9" name="TextBox 8">
            <a:extLst>
              <a:ext uri="{FF2B5EF4-FFF2-40B4-BE49-F238E27FC236}">
                <a16:creationId xmlns:a16="http://schemas.microsoft.com/office/drawing/2014/main" id="{582B0EED-FC08-96D2-94C8-32B1387987D0}"/>
              </a:ext>
            </a:extLst>
          </p:cNvPr>
          <p:cNvSpPr txBox="1"/>
          <p:nvPr/>
        </p:nvSpPr>
        <p:spPr>
          <a:xfrm>
            <a:off x="8107766" y="5182545"/>
            <a:ext cx="2961815" cy="923330"/>
          </a:xfrm>
          <a:prstGeom prst="rect">
            <a:avLst/>
          </a:prstGeom>
          <a:noFill/>
        </p:spPr>
        <p:txBody>
          <a:bodyPr wrap="square">
            <a:spAutoFit/>
          </a:bodyPr>
          <a:lstStyle/>
          <a:p>
            <a:r>
              <a:rPr lang="en-CA" dirty="0">
                <a:hlinkClick r:id="rId6"/>
              </a:rPr>
              <a:t>https://www.anthropic.com/news/model-context-protocol</a:t>
            </a:r>
            <a:endParaRPr lang="en-CA" dirty="0"/>
          </a:p>
          <a:p>
            <a:endParaRPr lang="en-CA" dirty="0"/>
          </a:p>
        </p:txBody>
      </p:sp>
      <p:sp>
        <p:nvSpPr>
          <p:cNvPr id="44" name="Text 4">
            <a:extLst>
              <a:ext uri="{FF2B5EF4-FFF2-40B4-BE49-F238E27FC236}">
                <a16:creationId xmlns:a16="http://schemas.microsoft.com/office/drawing/2014/main" id="{167C5714-7960-77DB-9B17-90891179D5EF}"/>
              </a:ext>
            </a:extLst>
          </p:cNvPr>
          <p:cNvSpPr/>
          <p:nvPr/>
        </p:nvSpPr>
        <p:spPr>
          <a:xfrm>
            <a:off x="609600" y="1462591"/>
            <a:ext cx="10485120" cy="487680"/>
          </a:xfrm>
          <a:prstGeom prst="rect">
            <a:avLst/>
          </a:prstGeom>
          <a:noFill/>
          <a:ln/>
        </p:spPr>
        <p:txBody>
          <a:bodyPr wrap="square" lIns="0" tIns="0" rIns="0" bIns="0" rtlCol="0" anchor="ctr"/>
          <a:lstStyle/>
          <a:p>
            <a:r>
              <a:rPr lang="en-US" sz="2000" b="1" dirty="0">
                <a:solidFill>
                  <a:srgbClr val="0C1752"/>
                </a:solidFill>
                <a:latin typeface="Trebuchet MS" pitchFamily="34" charset="0"/>
                <a:ea typeface="Trebuchet MS" pitchFamily="34" charset="-122"/>
                <a:cs typeface="Trebuchet MS" pitchFamily="34" charset="-120"/>
              </a:rPr>
              <a:t>Available Connectors</a:t>
            </a:r>
            <a:endParaRPr lang="en-US" sz="2000" dirty="0">
              <a:solidFill>
                <a:srgbClr val="0C1752"/>
              </a:solidFill>
            </a:endParaRPr>
          </a:p>
        </p:txBody>
      </p:sp>
      <p:sp>
        <p:nvSpPr>
          <p:cNvPr id="45" name="Shape 5">
            <a:extLst>
              <a:ext uri="{FF2B5EF4-FFF2-40B4-BE49-F238E27FC236}">
                <a16:creationId xmlns:a16="http://schemas.microsoft.com/office/drawing/2014/main" id="{102786C2-5F5B-5AAF-A1FF-FF64D6030D85}"/>
              </a:ext>
            </a:extLst>
          </p:cNvPr>
          <p:cNvSpPr/>
          <p:nvPr/>
        </p:nvSpPr>
        <p:spPr>
          <a:xfrm>
            <a:off x="60960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47" name="Text 7">
            <a:extLst>
              <a:ext uri="{FF2B5EF4-FFF2-40B4-BE49-F238E27FC236}">
                <a16:creationId xmlns:a16="http://schemas.microsoft.com/office/drawing/2014/main" id="{E7934320-2322-E298-6019-309CBDC93513}"/>
              </a:ext>
            </a:extLst>
          </p:cNvPr>
          <p:cNvSpPr/>
          <p:nvPr/>
        </p:nvSpPr>
        <p:spPr>
          <a:xfrm>
            <a:off x="79248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Drive</a:t>
            </a:r>
            <a:endParaRPr lang="en-US" sz="1600" dirty="0">
              <a:solidFill>
                <a:srgbClr val="0C1752"/>
              </a:solidFill>
              <a:latin typeface="Montserrat" panose="00000500000000000000" pitchFamily="2" charset="0"/>
            </a:endParaRPr>
          </a:p>
        </p:txBody>
      </p:sp>
      <p:sp>
        <p:nvSpPr>
          <p:cNvPr id="48" name="Shape 8">
            <a:extLst>
              <a:ext uri="{FF2B5EF4-FFF2-40B4-BE49-F238E27FC236}">
                <a16:creationId xmlns:a16="http://schemas.microsoft.com/office/drawing/2014/main" id="{A3B4CA99-B637-956D-ED0D-2289EF5D4DC9}"/>
              </a:ext>
            </a:extLst>
          </p:cNvPr>
          <p:cNvSpPr/>
          <p:nvPr/>
        </p:nvSpPr>
        <p:spPr>
          <a:xfrm>
            <a:off x="341376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0" name="Text 10">
            <a:extLst>
              <a:ext uri="{FF2B5EF4-FFF2-40B4-BE49-F238E27FC236}">
                <a16:creationId xmlns:a16="http://schemas.microsoft.com/office/drawing/2014/main" id="{1C23FD97-08CC-9EEC-86D5-83C0234BE811}"/>
              </a:ext>
            </a:extLst>
          </p:cNvPr>
          <p:cNvSpPr/>
          <p:nvPr/>
        </p:nvSpPr>
        <p:spPr>
          <a:xfrm>
            <a:off x="359664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Google Calendar</a:t>
            </a:r>
            <a:endParaRPr lang="en-US" sz="1600" dirty="0">
              <a:solidFill>
                <a:srgbClr val="0C1752"/>
              </a:solidFill>
              <a:latin typeface="Montserrat" panose="00000500000000000000" pitchFamily="2" charset="0"/>
            </a:endParaRPr>
          </a:p>
        </p:txBody>
      </p:sp>
      <p:sp>
        <p:nvSpPr>
          <p:cNvPr id="51" name="Shape 11">
            <a:extLst>
              <a:ext uri="{FF2B5EF4-FFF2-40B4-BE49-F238E27FC236}">
                <a16:creationId xmlns:a16="http://schemas.microsoft.com/office/drawing/2014/main" id="{CD6A8729-7AC4-DA72-40EB-29894FEACA0F}"/>
              </a:ext>
            </a:extLst>
          </p:cNvPr>
          <p:cNvSpPr/>
          <p:nvPr/>
        </p:nvSpPr>
        <p:spPr>
          <a:xfrm>
            <a:off x="621792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3" name="Text 13">
            <a:extLst>
              <a:ext uri="{FF2B5EF4-FFF2-40B4-BE49-F238E27FC236}">
                <a16:creationId xmlns:a16="http://schemas.microsoft.com/office/drawing/2014/main" id="{2957D29F-9D04-2B38-2038-A60F63A6B6C7}"/>
              </a:ext>
            </a:extLst>
          </p:cNvPr>
          <p:cNvSpPr/>
          <p:nvPr/>
        </p:nvSpPr>
        <p:spPr>
          <a:xfrm>
            <a:off x="640080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Gmail</a:t>
            </a:r>
            <a:endParaRPr lang="en-US" sz="1600" dirty="0">
              <a:solidFill>
                <a:srgbClr val="0C1752"/>
              </a:solidFill>
              <a:latin typeface="Montserrat" panose="00000500000000000000" pitchFamily="2" charset="0"/>
            </a:endParaRPr>
          </a:p>
        </p:txBody>
      </p:sp>
      <p:sp>
        <p:nvSpPr>
          <p:cNvPr id="54" name="Shape 14">
            <a:extLst>
              <a:ext uri="{FF2B5EF4-FFF2-40B4-BE49-F238E27FC236}">
                <a16:creationId xmlns:a16="http://schemas.microsoft.com/office/drawing/2014/main" id="{DD8B2AB6-126C-B7E6-9A0A-006AD3F20EBB}"/>
              </a:ext>
            </a:extLst>
          </p:cNvPr>
          <p:cNvSpPr/>
          <p:nvPr/>
        </p:nvSpPr>
        <p:spPr>
          <a:xfrm>
            <a:off x="9022080" y="213315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6" name="Text 16">
            <a:extLst>
              <a:ext uri="{FF2B5EF4-FFF2-40B4-BE49-F238E27FC236}">
                <a16:creationId xmlns:a16="http://schemas.microsoft.com/office/drawing/2014/main" id="{3BA4A6A2-2BE0-2C45-354C-0040F1442E9B}"/>
              </a:ext>
            </a:extLst>
          </p:cNvPr>
          <p:cNvSpPr/>
          <p:nvPr/>
        </p:nvSpPr>
        <p:spPr>
          <a:xfrm>
            <a:off x="9204960" y="213315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Slack</a:t>
            </a:r>
            <a:endParaRPr lang="en-US" sz="1600" dirty="0">
              <a:solidFill>
                <a:srgbClr val="0C1752"/>
              </a:solidFill>
              <a:latin typeface="Montserrat" panose="00000500000000000000" pitchFamily="2" charset="0"/>
            </a:endParaRPr>
          </a:p>
        </p:txBody>
      </p:sp>
      <p:sp>
        <p:nvSpPr>
          <p:cNvPr id="57" name="Shape 17">
            <a:extLst>
              <a:ext uri="{FF2B5EF4-FFF2-40B4-BE49-F238E27FC236}">
                <a16:creationId xmlns:a16="http://schemas.microsoft.com/office/drawing/2014/main" id="{186065FE-2C27-B11E-95FA-E8ED55E1F259}"/>
              </a:ext>
            </a:extLst>
          </p:cNvPr>
          <p:cNvSpPr/>
          <p:nvPr/>
        </p:nvSpPr>
        <p:spPr>
          <a:xfrm>
            <a:off x="60960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59" name="Text 19">
            <a:extLst>
              <a:ext uri="{FF2B5EF4-FFF2-40B4-BE49-F238E27FC236}">
                <a16:creationId xmlns:a16="http://schemas.microsoft.com/office/drawing/2014/main" id="{C1B53E22-4ECE-6DB4-9D3B-32B0D8C44051}"/>
              </a:ext>
            </a:extLst>
          </p:cNvPr>
          <p:cNvSpPr/>
          <p:nvPr/>
        </p:nvSpPr>
        <p:spPr>
          <a:xfrm>
            <a:off x="79248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DocuSign</a:t>
            </a:r>
            <a:endParaRPr lang="en-US" sz="1600" dirty="0">
              <a:solidFill>
                <a:srgbClr val="0C1752"/>
              </a:solidFill>
              <a:latin typeface="Montserrat" panose="00000500000000000000" pitchFamily="2" charset="0"/>
            </a:endParaRPr>
          </a:p>
        </p:txBody>
      </p:sp>
      <p:sp>
        <p:nvSpPr>
          <p:cNvPr id="60" name="Shape 20">
            <a:extLst>
              <a:ext uri="{FF2B5EF4-FFF2-40B4-BE49-F238E27FC236}">
                <a16:creationId xmlns:a16="http://schemas.microsoft.com/office/drawing/2014/main" id="{BECB73F4-6C2C-6147-F42D-EA13A52B1D38}"/>
              </a:ext>
            </a:extLst>
          </p:cNvPr>
          <p:cNvSpPr/>
          <p:nvPr/>
        </p:nvSpPr>
        <p:spPr>
          <a:xfrm>
            <a:off x="341376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2" name="Text 22">
            <a:extLst>
              <a:ext uri="{FF2B5EF4-FFF2-40B4-BE49-F238E27FC236}">
                <a16:creationId xmlns:a16="http://schemas.microsoft.com/office/drawing/2014/main" id="{2511567D-A2DB-2362-D6D9-352D04425C65}"/>
              </a:ext>
            </a:extLst>
          </p:cNvPr>
          <p:cNvSpPr/>
          <p:nvPr/>
        </p:nvSpPr>
        <p:spPr>
          <a:xfrm>
            <a:off x="359664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Salesforce</a:t>
            </a:r>
            <a:endParaRPr lang="en-US" sz="1600" dirty="0">
              <a:solidFill>
                <a:srgbClr val="0C1752"/>
              </a:solidFill>
              <a:latin typeface="Montserrat" panose="00000500000000000000" pitchFamily="2" charset="0"/>
            </a:endParaRPr>
          </a:p>
        </p:txBody>
      </p:sp>
      <p:sp>
        <p:nvSpPr>
          <p:cNvPr id="63" name="Shape 23">
            <a:extLst>
              <a:ext uri="{FF2B5EF4-FFF2-40B4-BE49-F238E27FC236}">
                <a16:creationId xmlns:a16="http://schemas.microsoft.com/office/drawing/2014/main" id="{8DD4055F-5DF5-0E10-3B44-B1E1613169C4}"/>
              </a:ext>
            </a:extLst>
          </p:cNvPr>
          <p:cNvSpPr/>
          <p:nvPr/>
        </p:nvSpPr>
        <p:spPr>
          <a:xfrm>
            <a:off x="621792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5" name="Text 25">
            <a:extLst>
              <a:ext uri="{FF2B5EF4-FFF2-40B4-BE49-F238E27FC236}">
                <a16:creationId xmlns:a16="http://schemas.microsoft.com/office/drawing/2014/main" id="{68D1C8E3-EFB4-79AA-88B2-6C80FB5B7F12}"/>
              </a:ext>
            </a:extLst>
          </p:cNvPr>
          <p:cNvSpPr/>
          <p:nvPr/>
        </p:nvSpPr>
        <p:spPr>
          <a:xfrm>
            <a:off x="640080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FactSet</a:t>
            </a:r>
            <a:endParaRPr lang="en-US" sz="1600" dirty="0">
              <a:solidFill>
                <a:srgbClr val="0C1752"/>
              </a:solidFill>
              <a:latin typeface="Montserrat" panose="00000500000000000000" pitchFamily="2" charset="0"/>
            </a:endParaRPr>
          </a:p>
        </p:txBody>
      </p:sp>
      <p:sp>
        <p:nvSpPr>
          <p:cNvPr id="66" name="Shape 26">
            <a:extLst>
              <a:ext uri="{FF2B5EF4-FFF2-40B4-BE49-F238E27FC236}">
                <a16:creationId xmlns:a16="http://schemas.microsoft.com/office/drawing/2014/main" id="{A6E7C4E5-FA80-24C4-07B7-A088586A710D}"/>
              </a:ext>
            </a:extLst>
          </p:cNvPr>
          <p:cNvSpPr/>
          <p:nvPr/>
        </p:nvSpPr>
        <p:spPr>
          <a:xfrm>
            <a:off x="9022080" y="280371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68" name="Text 28">
            <a:extLst>
              <a:ext uri="{FF2B5EF4-FFF2-40B4-BE49-F238E27FC236}">
                <a16:creationId xmlns:a16="http://schemas.microsoft.com/office/drawing/2014/main" id="{A91104C0-9F45-D31E-225E-DCF0F8266C7D}"/>
              </a:ext>
            </a:extLst>
          </p:cNvPr>
          <p:cNvSpPr/>
          <p:nvPr/>
        </p:nvSpPr>
        <p:spPr>
          <a:xfrm>
            <a:off x="9204960" y="280371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WordPress</a:t>
            </a:r>
            <a:endParaRPr lang="en-US" sz="1600" dirty="0">
              <a:solidFill>
                <a:srgbClr val="0C1752"/>
              </a:solidFill>
              <a:latin typeface="Montserrat" panose="00000500000000000000" pitchFamily="2" charset="0"/>
            </a:endParaRPr>
          </a:p>
        </p:txBody>
      </p:sp>
      <p:sp>
        <p:nvSpPr>
          <p:cNvPr id="69" name="Shape 29">
            <a:extLst>
              <a:ext uri="{FF2B5EF4-FFF2-40B4-BE49-F238E27FC236}">
                <a16:creationId xmlns:a16="http://schemas.microsoft.com/office/drawing/2014/main" id="{318084F5-1E9B-EA0C-AFAD-18E4DA180EAE}"/>
              </a:ext>
            </a:extLst>
          </p:cNvPr>
          <p:cNvSpPr/>
          <p:nvPr/>
        </p:nvSpPr>
        <p:spPr>
          <a:xfrm>
            <a:off x="60960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1" name="Text 31">
            <a:extLst>
              <a:ext uri="{FF2B5EF4-FFF2-40B4-BE49-F238E27FC236}">
                <a16:creationId xmlns:a16="http://schemas.microsoft.com/office/drawing/2014/main" id="{851BB654-77AE-DC52-FAF4-E398C02274AB}"/>
              </a:ext>
            </a:extLst>
          </p:cNvPr>
          <p:cNvSpPr/>
          <p:nvPr/>
        </p:nvSpPr>
        <p:spPr>
          <a:xfrm>
            <a:off x="79248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Apollo</a:t>
            </a:r>
            <a:endParaRPr lang="en-US" sz="1600" dirty="0">
              <a:solidFill>
                <a:srgbClr val="0C1752"/>
              </a:solidFill>
              <a:latin typeface="Montserrat" panose="00000500000000000000" pitchFamily="2" charset="0"/>
            </a:endParaRPr>
          </a:p>
        </p:txBody>
      </p:sp>
      <p:sp>
        <p:nvSpPr>
          <p:cNvPr id="72" name="Shape 32">
            <a:extLst>
              <a:ext uri="{FF2B5EF4-FFF2-40B4-BE49-F238E27FC236}">
                <a16:creationId xmlns:a16="http://schemas.microsoft.com/office/drawing/2014/main" id="{FFDF7D6E-0627-D2CF-DB18-207308A60055}"/>
              </a:ext>
            </a:extLst>
          </p:cNvPr>
          <p:cNvSpPr/>
          <p:nvPr/>
        </p:nvSpPr>
        <p:spPr>
          <a:xfrm>
            <a:off x="341376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4" name="Text 34">
            <a:extLst>
              <a:ext uri="{FF2B5EF4-FFF2-40B4-BE49-F238E27FC236}">
                <a16:creationId xmlns:a16="http://schemas.microsoft.com/office/drawing/2014/main" id="{A54207F2-84DD-A4F8-5EF6-9473B17CFCBB}"/>
              </a:ext>
            </a:extLst>
          </p:cNvPr>
          <p:cNvSpPr/>
          <p:nvPr/>
        </p:nvSpPr>
        <p:spPr>
          <a:xfrm>
            <a:off x="359664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Clay</a:t>
            </a:r>
            <a:endParaRPr lang="en-US" sz="1600" dirty="0">
              <a:solidFill>
                <a:srgbClr val="0C1752"/>
              </a:solidFill>
              <a:latin typeface="Montserrat" panose="00000500000000000000" pitchFamily="2" charset="0"/>
            </a:endParaRPr>
          </a:p>
        </p:txBody>
      </p:sp>
      <p:sp>
        <p:nvSpPr>
          <p:cNvPr id="75" name="Shape 35">
            <a:extLst>
              <a:ext uri="{FF2B5EF4-FFF2-40B4-BE49-F238E27FC236}">
                <a16:creationId xmlns:a16="http://schemas.microsoft.com/office/drawing/2014/main" id="{17BA5460-B372-0967-36A5-F5F8D0F3B19A}"/>
              </a:ext>
            </a:extLst>
          </p:cNvPr>
          <p:cNvSpPr/>
          <p:nvPr/>
        </p:nvSpPr>
        <p:spPr>
          <a:xfrm>
            <a:off x="621792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77" name="Text 37">
            <a:extLst>
              <a:ext uri="{FF2B5EF4-FFF2-40B4-BE49-F238E27FC236}">
                <a16:creationId xmlns:a16="http://schemas.microsoft.com/office/drawing/2014/main" id="{21E4FA50-6BE2-7EE6-3726-706AE7464A6A}"/>
              </a:ext>
            </a:extLst>
          </p:cNvPr>
          <p:cNvSpPr/>
          <p:nvPr/>
        </p:nvSpPr>
        <p:spPr>
          <a:xfrm>
            <a:off x="640080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Outreach</a:t>
            </a:r>
            <a:endParaRPr lang="en-US" sz="1600" dirty="0">
              <a:solidFill>
                <a:srgbClr val="0C1752"/>
              </a:solidFill>
              <a:latin typeface="Montserrat" panose="00000500000000000000" pitchFamily="2" charset="0"/>
            </a:endParaRPr>
          </a:p>
        </p:txBody>
      </p:sp>
      <p:sp>
        <p:nvSpPr>
          <p:cNvPr id="78" name="Shape 38">
            <a:extLst>
              <a:ext uri="{FF2B5EF4-FFF2-40B4-BE49-F238E27FC236}">
                <a16:creationId xmlns:a16="http://schemas.microsoft.com/office/drawing/2014/main" id="{748F7040-B389-081D-EB47-B07B6ED96A82}"/>
              </a:ext>
            </a:extLst>
          </p:cNvPr>
          <p:cNvSpPr/>
          <p:nvPr/>
        </p:nvSpPr>
        <p:spPr>
          <a:xfrm>
            <a:off x="9022080" y="3474271"/>
            <a:ext cx="2499360" cy="512064"/>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sz="2400">
              <a:solidFill>
                <a:srgbClr val="0C1752"/>
              </a:solidFill>
              <a:latin typeface="Montserrat" panose="00000500000000000000" pitchFamily="2" charset="0"/>
            </a:endParaRPr>
          </a:p>
        </p:txBody>
      </p:sp>
      <p:sp>
        <p:nvSpPr>
          <p:cNvPr id="80" name="Text 40">
            <a:extLst>
              <a:ext uri="{FF2B5EF4-FFF2-40B4-BE49-F238E27FC236}">
                <a16:creationId xmlns:a16="http://schemas.microsoft.com/office/drawing/2014/main" id="{4CA28F90-3C92-C6B0-68F5-C132D6099344}"/>
              </a:ext>
            </a:extLst>
          </p:cNvPr>
          <p:cNvSpPr/>
          <p:nvPr/>
        </p:nvSpPr>
        <p:spPr>
          <a:xfrm>
            <a:off x="9204960" y="3474271"/>
            <a:ext cx="2194560" cy="512064"/>
          </a:xfrm>
          <a:prstGeom prst="rect">
            <a:avLst/>
          </a:prstGeom>
          <a:noFill/>
          <a:ln/>
        </p:spPr>
        <p:txBody>
          <a:bodyPr wrap="square" lIns="0" tIns="0" rIns="0" bIns="0" rtlCol="0" anchor="ctr"/>
          <a:lstStyle/>
          <a:p>
            <a:r>
              <a:rPr lang="en-US" sz="1600" dirty="0">
                <a:solidFill>
                  <a:srgbClr val="0C1752"/>
                </a:solidFill>
                <a:latin typeface="Montserrat" panose="00000500000000000000" pitchFamily="2" charset="0"/>
                <a:ea typeface="Calibri" pitchFamily="34" charset="-122"/>
                <a:cs typeface="Calibri" pitchFamily="34" charset="-120"/>
              </a:rPr>
              <a:t>SimilarWeb</a:t>
            </a:r>
            <a:endParaRPr lang="en-US" sz="1600" dirty="0">
              <a:solidFill>
                <a:srgbClr val="0C1752"/>
              </a:solidFill>
              <a:latin typeface="Montserrat" panose="00000500000000000000" pitchFamily="2" charset="0"/>
            </a:endParaRPr>
          </a:p>
        </p:txBody>
      </p:sp>
      <p:sp>
        <p:nvSpPr>
          <p:cNvPr id="85" name="TextBox 84">
            <a:extLst>
              <a:ext uri="{FF2B5EF4-FFF2-40B4-BE49-F238E27FC236}">
                <a16:creationId xmlns:a16="http://schemas.microsoft.com/office/drawing/2014/main" id="{4DA7E8EB-AFD2-24E9-9307-151CDD65DD25}"/>
              </a:ext>
            </a:extLst>
          </p:cNvPr>
          <p:cNvSpPr txBox="1"/>
          <p:nvPr/>
        </p:nvSpPr>
        <p:spPr>
          <a:xfrm>
            <a:off x="205739" y="763236"/>
            <a:ext cx="11538585"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Connectors let Claude pull from external systems; e.g., analyze a Google Sheet, then move a chart directly into a PowerPoint deck.</a:t>
            </a:r>
            <a:endParaRPr lang="en-US" sz="1800" dirty="0">
              <a:latin typeface="Montserrat" panose="000005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500"/>
                                        <p:tgtEl>
                                          <p:spTgt spid="4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fade">
                                      <p:cBhvr>
                                        <p:cTn id="27" dur="500"/>
                                        <p:tgtEl>
                                          <p:spTgt spid="5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fade">
                                      <p:cBhvr>
                                        <p:cTn id="36" dur="500"/>
                                        <p:tgtEl>
                                          <p:spTgt spid="5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7"/>
                                        </p:tgtEl>
                                        <p:attrNameLst>
                                          <p:attrName>style.visibility</p:attrName>
                                        </p:attrNameLst>
                                      </p:cBhvr>
                                      <p:to>
                                        <p:strVal val="visible"/>
                                      </p:to>
                                    </p:set>
                                    <p:animEffect transition="in" filter="fade">
                                      <p:cBhvr>
                                        <p:cTn id="39" dur="500"/>
                                        <p:tgtEl>
                                          <p:spTgt spid="5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59"/>
                                        </p:tgtEl>
                                        <p:attrNameLst>
                                          <p:attrName>style.visibility</p:attrName>
                                        </p:attrNameLst>
                                      </p:cBhvr>
                                      <p:to>
                                        <p:strVal val="visible"/>
                                      </p:to>
                                    </p:set>
                                    <p:animEffect transition="in" filter="fade">
                                      <p:cBhvr>
                                        <p:cTn id="42" dur="500"/>
                                        <p:tgtEl>
                                          <p:spTgt spid="59"/>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0"/>
                                        </p:tgtEl>
                                        <p:attrNameLst>
                                          <p:attrName>style.visibility</p:attrName>
                                        </p:attrNameLst>
                                      </p:cBhvr>
                                      <p:to>
                                        <p:strVal val="visible"/>
                                      </p:to>
                                    </p:set>
                                    <p:animEffect transition="in" filter="fade">
                                      <p:cBhvr>
                                        <p:cTn id="45" dur="500"/>
                                        <p:tgtEl>
                                          <p:spTgt spid="6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fade">
                                      <p:cBhvr>
                                        <p:cTn id="48" dur="500"/>
                                        <p:tgtEl>
                                          <p:spTgt spid="6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3"/>
                                        </p:tgtEl>
                                        <p:attrNameLst>
                                          <p:attrName>style.visibility</p:attrName>
                                        </p:attrNameLst>
                                      </p:cBhvr>
                                      <p:to>
                                        <p:strVal val="visible"/>
                                      </p:to>
                                    </p:set>
                                    <p:animEffect transition="in" filter="fade">
                                      <p:cBhvr>
                                        <p:cTn id="51" dur="500"/>
                                        <p:tgtEl>
                                          <p:spTgt spid="63"/>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5"/>
                                        </p:tgtEl>
                                        <p:attrNameLst>
                                          <p:attrName>style.visibility</p:attrName>
                                        </p:attrNameLst>
                                      </p:cBhvr>
                                      <p:to>
                                        <p:strVal val="visible"/>
                                      </p:to>
                                    </p:set>
                                    <p:animEffect transition="in" filter="fade">
                                      <p:cBhvr>
                                        <p:cTn id="54" dur="500"/>
                                        <p:tgtEl>
                                          <p:spTgt spid="6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
                                        </p:tgtEl>
                                        <p:attrNameLst>
                                          <p:attrName>style.visibility</p:attrName>
                                        </p:attrNameLst>
                                      </p:cBhvr>
                                      <p:to>
                                        <p:strVal val="visible"/>
                                      </p:to>
                                    </p:set>
                                    <p:animEffect transition="in" filter="fade">
                                      <p:cBhvr>
                                        <p:cTn id="57" dur="500"/>
                                        <p:tgtEl>
                                          <p:spTgt spid="6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50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9"/>
                                        </p:tgtEl>
                                        <p:attrNameLst>
                                          <p:attrName>style.visibility</p:attrName>
                                        </p:attrNameLst>
                                      </p:cBhvr>
                                      <p:to>
                                        <p:strVal val="visible"/>
                                      </p:to>
                                    </p:set>
                                    <p:animEffect transition="in" filter="fade">
                                      <p:cBhvr>
                                        <p:cTn id="63" dur="500"/>
                                        <p:tgtEl>
                                          <p:spTgt spid="6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1"/>
                                        </p:tgtEl>
                                        <p:attrNameLst>
                                          <p:attrName>style.visibility</p:attrName>
                                        </p:attrNameLst>
                                      </p:cBhvr>
                                      <p:to>
                                        <p:strVal val="visible"/>
                                      </p:to>
                                    </p:set>
                                    <p:animEffect transition="in" filter="fade">
                                      <p:cBhvr>
                                        <p:cTn id="66" dur="500"/>
                                        <p:tgtEl>
                                          <p:spTgt spid="7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fade">
                                      <p:cBhvr>
                                        <p:cTn id="69" dur="500"/>
                                        <p:tgtEl>
                                          <p:spTgt spid="7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74"/>
                                        </p:tgtEl>
                                        <p:attrNameLst>
                                          <p:attrName>style.visibility</p:attrName>
                                        </p:attrNameLst>
                                      </p:cBhvr>
                                      <p:to>
                                        <p:strVal val="visible"/>
                                      </p:to>
                                    </p:set>
                                    <p:animEffect transition="in" filter="fade">
                                      <p:cBhvr>
                                        <p:cTn id="72" dur="500"/>
                                        <p:tgtEl>
                                          <p:spTgt spid="7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75"/>
                                        </p:tgtEl>
                                        <p:attrNameLst>
                                          <p:attrName>style.visibility</p:attrName>
                                        </p:attrNameLst>
                                      </p:cBhvr>
                                      <p:to>
                                        <p:strVal val="visible"/>
                                      </p:to>
                                    </p:set>
                                    <p:animEffect transition="in" filter="fade">
                                      <p:cBhvr>
                                        <p:cTn id="75" dur="500"/>
                                        <p:tgtEl>
                                          <p:spTgt spid="7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77"/>
                                        </p:tgtEl>
                                        <p:attrNameLst>
                                          <p:attrName>style.visibility</p:attrName>
                                        </p:attrNameLst>
                                      </p:cBhvr>
                                      <p:to>
                                        <p:strVal val="visible"/>
                                      </p:to>
                                    </p:set>
                                    <p:animEffect transition="in" filter="fade">
                                      <p:cBhvr>
                                        <p:cTn id="78" dur="500"/>
                                        <p:tgtEl>
                                          <p:spTgt spid="7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8"/>
                                        </p:tgtEl>
                                        <p:attrNameLst>
                                          <p:attrName>style.visibility</p:attrName>
                                        </p:attrNameLst>
                                      </p:cBhvr>
                                      <p:to>
                                        <p:strVal val="visible"/>
                                      </p:to>
                                    </p:set>
                                    <p:animEffect transition="in" filter="fade">
                                      <p:cBhvr>
                                        <p:cTn id="81" dur="500"/>
                                        <p:tgtEl>
                                          <p:spTgt spid="7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80"/>
                                        </p:tgtEl>
                                        <p:attrNameLst>
                                          <p:attrName>style.visibility</p:attrName>
                                        </p:attrNameLst>
                                      </p:cBhvr>
                                      <p:to>
                                        <p:strVal val="visible"/>
                                      </p:to>
                                    </p:set>
                                    <p:animEffect transition="in" filter="fade">
                                      <p:cBhvr>
                                        <p:cTn id="84" dur="500"/>
                                        <p:tgtEl>
                                          <p:spTgt spid="8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9"/>
                                        </p:tgtEl>
                                        <p:attrNameLst>
                                          <p:attrName>style.visibility</p:attrName>
                                        </p:attrNameLst>
                                      </p:cBhvr>
                                      <p:to>
                                        <p:strVal val="visible"/>
                                      </p:to>
                                    </p:set>
                                    <p:animEffect transition="in" filter="fade">
                                      <p:cBhvr>
                                        <p:cTn id="89" dur="500"/>
                                        <p:tgtEl>
                                          <p:spTgt spid="9"/>
                                        </p:tgtEl>
                                      </p:cBhvr>
                                    </p:animEffect>
                                  </p:childTnLst>
                                </p:cTn>
                              </p:par>
                              <p:par>
                                <p:cTn id="90" presetID="10" presetClass="entr" presetSubtype="0" fill="hold" nodeType="with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fade">
                                      <p:cBhvr>
                                        <p:cTn id="9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4" grpId="0" animBg="1"/>
      <p:bldP spid="45" grpId="0" animBg="1"/>
      <p:bldP spid="47" grpId="0" animBg="1"/>
      <p:bldP spid="48" grpId="0" animBg="1"/>
      <p:bldP spid="50" grpId="0" animBg="1"/>
      <p:bldP spid="51" grpId="0" animBg="1"/>
      <p:bldP spid="53" grpId="0" animBg="1"/>
      <p:bldP spid="54" grpId="0" animBg="1"/>
      <p:bldP spid="56" grpId="0" animBg="1"/>
      <p:bldP spid="57" grpId="0" animBg="1"/>
      <p:bldP spid="59" grpId="0" animBg="1"/>
      <p:bldP spid="60" grpId="0" animBg="1"/>
      <p:bldP spid="62" grpId="0" animBg="1"/>
      <p:bldP spid="63" grpId="0" animBg="1"/>
      <p:bldP spid="65" grpId="0" animBg="1"/>
      <p:bldP spid="66" grpId="0" animBg="1"/>
      <p:bldP spid="68" grpId="0" animBg="1"/>
      <p:bldP spid="69" grpId="0" animBg="1"/>
      <p:bldP spid="71" grpId="0" animBg="1"/>
      <p:bldP spid="72" grpId="0" animBg="1"/>
      <p:bldP spid="74" grpId="0" animBg="1"/>
      <p:bldP spid="75" grpId="0" animBg="1"/>
      <p:bldP spid="77" grpId="0" animBg="1"/>
      <p:bldP spid="78" grpId="0" animBg="1"/>
      <p:bldP spid="80" grpId="0" animBg="1"/>
      <p:bldP spid="8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2" name="Google Shape;112;p5">
            <a:extLst>
              <a:ext uri="{FF2B5EF4-FFF2-40B4-BE49-F238E27FC236}">
                <a16:creationId xmlns:a16="http://schemas.microsoft.com/office/drawing/2014/main" id="{7FB99E83-5B1A-2A31-3096-0AEE80EC89D3}"/>
              </a:ext>
            </a:extLst>
          </p:cNvPr>
          <p:cNvPicPr preferRelativeResize="0"/>
          <p:nvPr/>
        </p:nvPicPr>
        <p:blipFill rotWithShape="1">
          <a:blip r:embed="rId3">
            <a:alphaModFix/>
          </a:blip>
          <a:srcRect b="85225"/>
          <a:stretch/>
        </p:blipFill>
        <p:spPr>
          <a:xfrm>
            <a:off x="-3571" y="0"/>
            <a:ext cx="12224773" cy="1013288"/>
          </a:xfrm>
          <a:prstGeom prst="rect">
            <a:avLst/>
          </a:prstGeom>
          <a:noFill/>
          <a:ln>
            <a:noFill/>
          </a:ln>
        </p:spPr>
      </p:pic>
      <p:pic>
        <p:nvPicPr>
          <p:cNvPr id="95" name="Google Shape;95;p2"/>
          <p:cNvPicPr preferRelativeResize="0"/>
          <p:nvPr/>
        </p:nvPicPr>
        <p:blipFill rotWithShape="1">
          <a:blip r:embed="rId4">
            <a:alphaModFix/>
          </a:blip>
          <a:srcRect l="2731" t="18967" r="5593" b="23672"/>
          <a:stretch/>
        </p:blipFill>
        <p:spPr>
          <a:xfrm>
            <a:off x="9428854" y="90489"/>
            <a:ext cx="2763146" cy="477788"/>
          </a:xfrm>
          <a:prstGeom prst="rect">
            <a:avLst/>
          </a:prstGeom>
          <a:noFill/>
          <a:ln>
            <a:noFill/>
          </a:ln>
        </p:spPr>
      </p:pic>
      <p:sp>
        <p:nvSpPr>
          <p:cNvPr id="96" name="Google Shape;96;p2"/>
          <p:cNvSpPr/>
          <p:nvPr/>
        </p:nvSpPr>
        <p:spPr>
          <a:xfrm>
            <a:off x="154722" y="90489"/>
            <a:ext cx="9827492"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2400" dirty="0">
                <a:solidFill>
                  <a:schemeClr val="lt1"/>
                </a:solidFill>
                <a:latin typeface="Montserrat"/>
                <a:sym typeface="Montserrat"/>
              </a:rPr>
              <a:t>Real-world MCP Application</a:t>
            </a:r>
            <a:endParaRPr dirty="0"/>
          </a:p>
        </p:txBody>
      </p:sp>
      <p:sp>
        <p:nvSpPr>
          <p:cNvPr id="97" name="Google Shape;97;p2"/>
          <p:cNvSpPr txBox="1"/>
          <p:nvPr/>
        </p:nvSpPr>
        <p:spPr>
          <a:xfrm rot="5400000">
            <a:off x="9505627" y="3291463"/>
            <a:ext cx="5106141"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CA" sz="1600">
                <a:solidFill>
                  <a:schemeClr val="accent3"/>
                </a:solidFill>
                <a:latin typeface="Calibri"/>
                <a:ea typeface="Calibri"/>
                <a:cs typeface="Calibri"/>
                <a:sym typeface="Calibri"/>
              </a:rPr>
              <a:t>© All rights reserved for Dr. Ryan Ahmed @Stemplicity Inc. </a:t>
            </a:r>
            <a:endParaRPr/>
          </a:p>
        </p:txBody>
      </p:sp>
      <p:sp>
        <p:nvSpPr>
          <p:cNvPr id="98" name="Google Shape;98;p2"/>
          <p:cNvSpPr txBox="1"/>
          <p:nvPr/>
        </p:nvSpPr>
        <p:spPr>
          <a:xfrm>
            <a:off x="206400" y="809050"/>
            <a:ext cx="11985600" cy="1469950"/>
          </a:xfrm>
          <a:prstGeom prst="rect">
            <a:avLst/>
          </a:prstGeom>
          <a:noFill/>
          <a:ln>
            <a:noFill/>
          </a:ln>
        </p:spPr>
        <p:txBody>
          <a:bodyPr spcFirstLastPara="1" wrap="square" lIns="91425" tIns="45700" rIns="91425" bIns="45700" anchor="t" anchorCtr="0">
            <a:normAutofit/>
          </a:bodyPr>
          <a:lstStyle/>
          <a:p>
            <a:pPr marL="228600" lvl="0" indent="-228600">
              <a:lnSpc>
                <a:spcPct val="90000"/>
              </a:lnSpc>
              <a:buClr>
                <a:srgbClr val="1BBFD1"/>
              </a:buClr>
              <a:buSzPts val="1800"/>
              <a:buFont typeface="Arial"/>
              <a:buChar char="•"/>
            </a:pPr>
            <a:r>
              <a:rPr lang="en-US" sz="1800" dirty="0">
                <a:solidFill>
                  <a:schemeClr val="dk1"/>
                </a:solidFill>
                <a:latin typeface="Montserrat"/>
                <a:ea typeface="Montserrat"/>
                <a:cs typeface="Montserrat"/>
                <a:sym typeface="Montserrat"/>
              </a:rPr>
              <a:t>Assume we have a simple AI agent that utilizes</a:t>
            </a:r>
            <a:r>
              <a:rPr lang="en-CA" sz="1800" dirty="0">
                <a:solidFill>
                  <a:schemeClr val="dk1"/>
                </a:solidFill>
                <a:latin typeface="Montserrat"/>
                <a:ea typeface="Montserrat"/>
                <a:cs typeface="Montserrat"/>
                <a:sym typeface="Montserrat"/>
              </a:rPr>
              <a:t> a currency conversion tool.</a:t>
            </a:r>
          </a:p>
          <a:p>
            <a:pPr marL="228600" marR="0" lvl="0" indent="-228600" algn="l" rtl="0">
              <a:lnSpc>
                <a:spcPct val="90000"/>
              </a:lnSpc>
              <a:spcBef>
                <a:spcPts val="0"/>
              </a:spcBef>
              <a:spcAft>
                <a:spcPts val="0"/>
              </a:spcAft>
              <a:buClr>
                <a:srgbClr val="1BBFD1"/>
              </a:buClr>
              <a:buSzPts val="1800"/>
              <a:buFont typeface="Arial"/>
              <a:buChar char="•"/>
            </a:pPr>
            <a:r>
              <a:rPr lang="en-US" sz="1800" dirty="0">
                <a:solidFill>
                  <a:schemeClr val="dk1"/>
                </a:solidFill>
                <a:latin typeface="Montserrat"/>
                <a:ea typeface="Montserrat"/>
                <a:cs typeface="Montserrat"/>
                <a:sym typeface="Montserrat"/>
              </a:rPr>
              <a:t>The agent will use Model Context Protocol (MCP), which is a standardized protocol that connects LLMs and AI agents to various external tools and data sources.</a:t>
            </a:r>
          </a:p>
          <a:p>
            <a:pPr marL="457200" marR="0" lvl="0" indent="0" algn="l" rtl="0">
              <a:lnSpc>
                <a:spcPct val="90000"/>
              </a:lnSpc>
              <a:spcBef>
                <a:spcPts val="0"/>
              </a:spcBef>
              <a:spcAft>
                <a:spcPts val="0"/>
              </a:spcAft>
              <a:buNone/>
            </a:pPr>
            <a:endParaRPr sz="1800" dirty="0">
              <a:solidFill>
                <a:schemeClr val="dk1"/>
              </a:solidFill>
              <a:latin typeface="Montserrat"/>
              <a:ea typeface="Montserrat"/>
              <a:cs typeface="Montserrat"/>
              <a:sym typeface="Montserrat"/>
            </a:endParaRPr>
          </a:p>
        </p:txBody>
      </p:sp>
      <p:cxnSp>
        <p:nvCxnSpPr>
          <p:cNvPr id="7" name="Straight Arrow Connector 6">
            <a:extLst>
              <a:ext uri="{FF2B5EF4-FFF2-40B4-BE49-F238E27FC236}">
                <a16:creationId xmlns:a16="http://schemas.microsoft.com/office/drawing/2014/main" id="{0ED87BBE-30AB-0AEB-7E0F-0831C1EBB9FE}"/>
              </a:ext>
            </a:extLst>
          </p:cNvPr>
          <p:cNvCxnSpPr>
            <a:cxnSpLocks/>
          </p:cNvCxnSpPr>
          <p:nvPr/>
        </p:nvCxnSpPr>
        <p:spPr>
          <a:xfrm>
            <a:off x="1734129" y="3700254"/>
            <a:ext cx="1651617" cy="0"/>
          </a:xfrm>
          <a:prstGeom prst="straightConnector1">
            <a:avLst/>
          </a:prstGeom>
          <a:ln w="57150">
            <a:solidFill>
              <a:schemeClr val="accent2">
                <a:lumMod val="7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DE225FE-2AC8-7CD9-5D74-0D4BEED8ED9B}"/>
              </a:ext>
            </a:extLst>
          </p:cNvPr>
          <p:cNvCxnSpPr>
            <a:cxnSpLocks/>
          </p:cNvCxnSpPr>
          <p:nvPr/>
        </p:nvCxnSpPr>
        <p:spPr>
          <a:xfrm>
            <a:off x="7276456" y="3809054"/>
            <a:ext cx="1111927"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AE3D92F-00C6-36CC-C487-20620062D434}"/>
              </a:ext>
            </a:extLst>
          </p:cNvPr>
          <p:cNvGrpSpPr/>
          <p:nvPr/>
        </p:nvGrpSpPr>
        <p:grpSpPr>
          <a:xfrm>
            <a:off x="8480010" y="2382152"/>
            <a:ext cx="2428308" cy="2537259"/>
            <a:chOff x="7978100" y="1778923"/>
            <a:chExt cx="3449782" cy="2537259"/>
          </a:xfrm>
          <a:solidFill>
            <a:srgbClr val="002060"/>
          </a:solidFill>
        </p:grpSpPr>
        <p:sp>
          <p:nvSpPr>
            <p:cNvPr id="3" name="Rectangle: Rounded Corners 2">
              <a:extLst>
                <a:ext uri="{FF2B5EF4-FFF2-40B4-BE49-F238E27FC236}">
                  <a16:creationId xmlns:a16="http://schemas.microsoft.com/office/drawing/2014/main" id="{CA831B43-C17C-15C1-E859-DF02DDF3D460}"/>
                </a:ext>
              </a:extLst>
            </p:cNvPr>
            <p:cNvSpPr/>
            <p:nvPr/>
          </p:nvSpPr>
          <p:spPr>
            <a:xfrm>
              <a:off x="7978100" y="1778923"/>
              <a:ext cx="3449782" cy="2537259"/>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A1B9C8B9-88F6-6DCA-BA21-65C95FCFFE6D}"/>
                </a:ext>
              </a:extLst>
            </p:cNvPr>
            <p:cNvSpPr/>
            <p:nvPr/>
          </p:nvSpPr>
          <p:spPr>
            <a:xfrm>
              <a:off x="8557124" y="2575590"/>
              <a:ext cx="2223653" cy="714894"/>
            </a:xfrm>
            <a:prstGeom prst="roundRect">
              <a:avLst/>
            </a:prstGeom>
            <a:grpFill/>
            <a:ln w="25400" cap="flat" cmpd="sng" algn="ctr">
              <a:solidFill>
                <a:srgbClr val="D56E48"/>
              </a:solidFill>
              <a:prstDash val="solid"/>
            </a:ln>
            <a:effectLst/>
          </p:spPr>
          <p:txBody>
            <a:bodyPr spcFirstLastPara="0" vert="horz" wrap="square" lIns="68580" tIns="68580" rIns="68580" bIns="68580" numCol="1" spcCol="1270" anchor="ctr" anchorCtr="0">
              <a:noAutofit/>
            </a:bodyPr>
            <a:lstStyle/>
            <a:p>
              <a:pPr algn="ctr" defTabSz="800100">
                <a:lnSpc>
                  <a:spcPct val="90000"/>
                </a:lnSpc>
                <a:spcBef>
                  <a:spcPct val="0"/>
                </a:spcBef>
                <a:spcAft>
                  <a:spcPct val="35000"/>
                </a:spcAft>
              </a:pPr>
              <a:r>
                <a:rPr lang="en-CA" sz="1600" kern="1200" dirty="0">
                  <a:solidFill>
                    <a:srgbClr val="FFFFFF"/>
                  </a:solidFill>
                  <a:latin typeface="Montserrat" panose="00000500000000000000" pitchFamily="2" charset="0"/>
                  <a:cs typeface="Mongolian Baiti" panose="03000500000000000000" pitchFamily="66" charset="0"/>
                </a:rPr>
                <a:t>Currency Convertor Tool </a:t>
              </a:r>
            </a:p>
          </p:txBody>
        </p:sp>
      </p:grpSp>
      <p:pic>
        <p:nvPicPr>
          <p:cNvPr id="27" name="Graphic 26" descr="User outline">
            <a:extLst>
              <a:ext uri="{FF2B5EF4-FFF2-40B4-BE49-F238E27FC236}">
                <a16:creationId xmlns:a16="http://schemas.microsoft.com/office/drawing/2014/main" id="{50171560-E6AE-39C3-5F06-32D148030D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8316" y="3085876"/>
            <a:ext cx="1235813" cy="1235813"/>
          </a:xfrm>
          <a:prstGeom prst="rect">
            <a:avLst/>
          </a:prstGeom>
        </p:spPr>
      </p:pic>
      <p:sp>
        <p:nvSpPr>
          <p:cNvPr id="28" name="TextBox 27">
            <a:extLst>
              <a:ext uri="{FF2B5EF4-FFF2-40B4-BE49-F238E27FC236}">
                <a16:creationId xmlns:a16="http://schemas.microsoft.com/office/drawing/2014/main" id="{454A7541-7655-A46D-07A6-2AF5BD505CE6}"/>
              </a:ext>
            </a:extLst>
          </p:cNvPr>
          <p:cNvSpPr txBox="1"/>
          <p:nvPr/>
        </p:nvSpPr>
        <p:spPr>
          <a:xfrm>
            <a:off x="1529016" y="2871311"/>
            <a:ext cx="2165344" cy="646331"/>
          </a:xfrm>
          <a:prstGeom prst="rect">
            <a:avLst/>
          </a:prstGeom>
          <a:noFill/>
        </p:spPr>
        <p:txBody>
          <a:bodyPr wrap="square" rtlCol="0">
            <a:spAutoFit/>
          </a:bodyPr>
          <a:lstStyle/>
          <a:p>
            <a:pPr algn="ctr"/>
            <a:r>
              <a:rPr lang="en-CA" sz="1800" i="1" dirty="0">
                <a:latin typeface="Montserrat" panose="00000500000000000000" pitchFamily="2" charset="0"/>
              </a:rPr>
              <a:t>What is $1000 USD in CAD?</a:t>
            </a:r>
          </a:p>
        </p:txBody>
      </p:sp>
      <p:sp>
        <p:nvSpPr>
          <p:cNvPr id="35" name="TextBox 34">
            <a:extLst>
              <a:ext uri="{FF2B5EF4-FFF2-40B4-BE49-F238E27FC236}">
                <a16:creationId xmlns:a16="http://schemas.microsoft.com/office/drawing/2014/main" id="{E298D9C0-E379-54A3-96D8-A9746273D364}"/>
              </a:ext>
            </a:extLst>
          </p:cNvPr>
          <p:cNvSpPr txBox="1"/>
          <p:nvPr/>
        </p:nvSpPr>
        <p:spPr>
          <a:xfrm>
            <a:off x="1182976" y="5396779"/>
            <a:ext cx="9791121" cy="646331"/>
          </a:xfrm>
          <a:prstGeom prst="rect">
            <a:avLst/>
          </a:prstGeom>
          <a:noFill/>
        </p:spPr>
        <p:txBody>
          <a:bodyPr wrap="square">
            <a:spAutoFit/>
          </a:bodyPr>
          <a:lstStyle/>
          <a:p>
            <a:pPr algn="ctr"/>
            <a:r>
              <a:rPr lang="en-CA" sz="1800" b="1" dirty="0">
                <a:latin typeface="Montserrat" panose="00000500000000000000" pitchFamily="2" charset="0"/>
              </a:rPr>
              <a:t>MCP is an open protocol designed to be a standard way for models to discover &amp; interact with tools. It’s like a universal plug adapter for AI tools!</a:t>
            </a:r>
          </a:p>
        </p:txBody>
      </p:sp>
      <p:cxnSp>
        <p:nvCxnSpPr>
          <p:cNvPr id="37" name="Connector: Curved 36">
            <a:extLst>
              <a:ext uri="{FF2B5EF4-FFF2-40B4-BE49-F238E27FC236}">
                <a16:creationId xmlns:a16="http://schemas.microsoft.com/office/drawing/2014/main" id="{C326CE9A-A744-0934-E9B3-969721933C64}"/>
              </a:ext>
            </a:extLst>
          </p:cNvPr>
          <p:cNvCxnSpPr>
            <a:cxnSpLocks/>
          </p:cNvCxnSpPr>
          <p:nvPr/>
        </p:nvCxnSpPr>
        <p:spPr>
          <a:xfrm rot="5400000">
            <a:off x="5209414" y="3750368"/>
            <a:ext cx="1200331" cy="1733870"/>
          </a:xfrm>
          <a:prstGeom prst="curvedConnector2">
            <a:avLst/>
          </a:prstGeom>
          <a:ln w="5715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1028" name="Picture 4">
            <a:extLst>
              <a:ext uri="{FF2B5EF4-FFF2-40B4-BE49-F238E27FC236}">
                <a16:creationId xmlns:a16="http://schemas.microsoft.com/office/drawing/2014/main" id="{419CDA84-6E67-EB99-DC71-0B76B9B2AF2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8708" t="4469"/>
          <a:stretch/>
        </p:blipFill>
        <p:spPr bwMode="auto">
          <a:xfrm>
            <a:off x="5657024" y="2359811"/>
            <a:ext cx="1245363" cy="1043810"/>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69086399-E66D-CC8E-782A-DD0975E73E0E}"/>
              </a:ext>
            </a:extLst>
          </p:cNvPr>
          <p:cNvSpPr txBox="1"/>
          <p:nvPr/>
        </p:nvSpPr>
        <p:spPr>
          <a:xfrm>
            <a:off x="8107943" y="1992803"/>
            <a:ext cx="3035100" cy="400110"/>
          </a:xfrm>
          <a:prstGeom prst="rect">
            <a:avLst/>
          </a:prstGeom>
          <a:noFill/>
        </p:spPr>
        <p:txBody>
          <a:bodyPr wrap="square">
            <a:spAutoFit/>
          </a:bodyPr>
          <a:lstStyle/>
          <a:p>
            <a:pPr algn="ctr"/>
            <a:r>
              <a:rPr lang="en-CA" sz="2000" b="1" dirty="0">
                <a:latin typeface="Montserrat" panose="00000500000000000000" pitchFamily="2" charset="0"/>
              </a:rPr>
              <a:t>MCP server</a:t>
            </a:r>
          </a:p>
        </p:txBody>
      </p:sp>
      <p:sp>
        <p:nvSpPr>
          <p:cNvPr id="4" name="TextBox 3">
            <a:extLst>
              <a:ext uri="{FF2B5EF4-FFF2-40B4-BE49-F238E27FC236}">
                <a16:creationId xmlns:a16="http://schemas.microsoft.com/office/drawing/2014/main" id="{5182F6D3-4E62-159F-C511-CEA2194AF9AD}"/>
              </a:ext>
            </a:extLst>
          </p:cNvPr>
          <p:cNvSpPr txBox="1"/>
          <p:nvPr/>
        </p:nvSpPr>
        <p:spPr>
          <a:xfrm>
            <a:off x="-406212" y="4209575"/>
            <a:ext cx="3035100" cy="400110"/>
          </a:xfrm>
          <a:prstGeom prst="rect">
            <a:avLst/>
          </a:prstGeom>
          <a:noFill/>
        </p:spPr>
        <p:txBody>
          <a:bodyPr wrap="square">
            <a:spAutoFit/>
          </a:bodyPr>
          <a:lstStyle/>
          <a:p>
            <a:pPr algn="ctr"/>
            <a:r>
              <a:rPr lang="en-CA" sz="2000" b="1" dirty="0">
                <a:latin typeface="Montserrat" panose="00000500000000000000" pitchFamily="2" charset="0"/>
              </a:rPr>
              <a:t>Client</a:t>
            </a:r>
          </a:p>
        </p:txBody>
      </p:sp>
      <p:cxnSp>
        <p:nvCxnSpPr>
          <p:cNvPr id="6" name="Straight Arrow Connector 5">
            <a:extLst>
              <a:ext uri="{FF2B5EF4-FFF2-40B4-BE49-F238E27FC236}">
                <a16:creationId xmlns:a16="http://schemas.microsoft.com/office/drawing/2014/main" id="{2459E0C4-12C4-BF92-4405-D5B3B38F00ED}"/>
              </a:ext>
            </a:extLst>
          </p:cNvPr>
          <p:cNvCxnSpPr>
            <a:cxnSpLocks/>
          </p:cNvCxnSpPr>
          <p:nvPr/>
        </p:nvCxnSpPr>
        <p:spPr>
          <a:xfrm>
            <a:off x="1734129" y="4049081"/>
            <a:ext cx="1577726" cy="0"/>
          </a:xfrm>
          <a:prstGeom prst="straightConnector1">
            <a:avLst/>
          </a:prstGeom>
          <a:ln w="57150">
            <a:solidFill>
              <a:schemeClr val="accent2">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B20A762-961C-BA06-5A2C-DA5A82D0BE43}"/>
              </a:ext>
            </a:extLst>
          </p:cNvPr>
          <p:cNvSpPr txBox="1"/>
          <p:nvPr/>
        </p:nvSpPr>
        <p:spPr>
          <a:xfrm>
            <a:off x="1563154" y="4137023"/>
            <a:ext cx="2165344" cy="369332"/>
          </a:xfrm>
          <a:prstGeom prst="rect">
            <a:avLst/>
          </a:prstGeom>
          <a:noFill/>
        </p:spPr>
        <p:txBody>
          <a:bodyPr wrap="square" rtlCol="0">
            <a:spAutoFit/>
          </a:bodyPr>
          <a:lstStyle/>
          <a:p>
            <a:pPr algn="ctr"/>
            <a:r>
              <a:rPr lang="en-CA" sz="1800" i="1" dirty="0">
                <a:latin typeface="Montserrat" panose="00000500000000000000" pitchFamily="2" charset="0"/>
              </a:rPr>
              <a:t>C$1,370</a:t>
            </a:r>
          </a:p>
        </p:txBody>
      </p:sp>
      <p:sp>
        <p:nvSpPr>
          <p:cNvPr id="10" name="Rectangle 9">
            <a:extLst>
              <a:ext uri="{FF2B5EF4-FFF2-40B4-BE49-F238E27FC236}">
                <a16:creationId xmlns:a16="http://schemas.microsoft.com/office/drawing/2014/main" id="{C110319A-2C2A-32BF-1BD7-5AE8BECE8B12}"/>
              </a:ext>
            </a:extLst>
          </p:cNvPr>
          <p:cNvSpPr/>
          <p:nvPr/>
        </p:nvSpPr>
        <p:spPr>
          <a:xfrm>
            <a:off x="3489247" y="3451336"/>
            <a:ext cx="1349897" cy="769326"/>
          </a:xfrm>
          <a:prstGeom prst="rect">
            <a:avLst/>
          </a:prstGeom>
          <a:solidFill>
            <a:srgbClr val="0C1752"/>
          </a:solidFill>
          <a:ln w="25400" cap="flat" cmpd="sng" algn="ctr">
            <a:noFill/>
            <a:prstDash val="solid"/>
          </a:ln>
          <a:effectLst/>
        </p:spPr>
        <p:txBody>
          <a:bodyPr spcFirstLastPara="0" vert="horz" wrap="square" lIns="64770" tIns="64770" rIns="64770" bIns="64770" numCol="1" spcCol="1270" anchor="ctr" anchorCtr="0">
            <a:noAutofit/>
          </a:bodyPr>
          <a:lstStyle/>
          <a:p>
            <a:pPr algn="ctr"/>
            <a:r>
              <a:rPr lang="en-CA" sz="2400" b="1" dirty="0">
                <a:solidFill>
                  <a:schemeClr val="bg1"/>
                </a:solidFill>
                <a:latin typeface="Montserrat" panose="00000500000000000000" pitchFamily="2" charset="0"/>
              </a:rPr>
              <a:t>LLM</a:t>
            </a:r>
          </a:p>
        </p:txBody>
      </p:sp>
      <p:sp>
        <p:nvSpPr>
          <p:cNvPr id="12" name="Rectangle: Rounded Corners 11">
            <a:extLst>
              <a:ext uri="{FF2B5EF4-FFF2-40B4-BE49-F238E27FC236}">
                <a16:creationId xmlns:a16="http://schemas.microsoft.com/office/drawing/2014/main" id="{97EAD111-6E78-8A7E-47BC-4129DC686755}"/>
              </a:ext>
            </a:extLst>
          </p:cNvPr>
          <p:cNvSpPr/>
          <p:nvPr/>
        </p:nvSpPr>
        <p:spPr>
          <a:xfrm>
            <a:off x="5946669" y="3620158"/>
            <a:ext cx="1329787" cy="377792"/>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latin typeface="Montserrat" panose="00000500000000000000" pitchFamily="2" charset="0"/>
              </a:rPr>
              <a:t>MCP</a:t>
            </a:r>
          </a:p>
        </p:txBody>
      </p:sp>
      <p:cxnSp>
        <p:nvCxnSpPr>
          <p:cNvPr id="13" name="Straight Arrow Connector 12">
            <a:extLst>
              <a:ext uri="{FF2B5EF4-FFF2-40B4-BE49-F238E27FC236}">
                <a16:creationId xmlns:a16="http://schemas.microsoft.com/office/drawing/2014/main" id="{06029C66-F4DA-AB4A-E327-54633869D974}"/>
              </a:ext>
            </a:extLst>
          </p:cNvPr>
          <p:cNvCxnSpPr>
            <a:cxnSpLocks/>
          </p:cNvCxnSpPr>
          <p:nvPr/>
        </p:nvCxnSpPr>
        <p:spPr>
          <a:xfrm>
            <a:off x="4873019" y="3809054"/>
            <a:ext cx="1073650" cy="0"/>
          </a:xfrm>
          <a:prstGeom prst="straightConnector1">
            <a:avLst/>
          </a:prstGeom>
          <a:ln w="57150">
            <a:solidFill>
              <a:schemeClr val="accent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500"/>
                                        <p:tgtEl>
                                          <p:spTgt spid="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00"/>
                                        <p:tgtEl>
                                          <p:spTgt spid="2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par>
                                <p:cTn id="41" presetID="10" presetClass="entr" presetSubtype="0" fill="hold" nodeType="withEffect">
                                  <p:stCondLst>
                                    <p:cond delay="0"/>
                                  </p:stCondLst>
                                  <p:childTnLst>
                                    <p:set>
                                      <p:cBhvr>
                                        <p:cTn id="42" dur="1" fill="hold">
                                          <p:stCondLst>
                                            <p:cond delay="0"/>
                                          </p:stCondLst>
                                        </p:cTn>
                                        <p:tgtEl>
                                          <p:spTgt spid="1028"/>
                                        </p:tgtEl>
                                        <p:attrNameLst>
                                          <p:attrName>style.visibility</p:attrName>
                                        </p:attrNameLst>
                                      </p:cBhvr>
                                      <p:to>
                                        <p:strVal val="visible"/>
                                      </p:to>
                                    </p:set>
                                    <p:animEffect transition="in" filter="fade">
                                      <p:cBhvr>
                                        <p:cTn id="43" dur="500"/>
                                        <p:tgtEl>
                                          <p:spTgt spid="1028"/>
                                        </p:tgtEl>
                                      </p:cBhvr>
                                    </p:animEffect>
                                  </p:childTnLst>
                                </p:cTn>
                              </p:par>
                              <p:par>
                                <p:cTn id="44" presetID="10" presetClass="entr" presetSubtype="0"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500"/>
                                        <p:tgtEl>
                                          <p:spTgt spid="3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fade">
                                      <p:cBhvr>
                                        <p:cTn id="49" dur="5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6"/>
                                        </p:tgtEl>
                                        <p:attrNameLst>
                                          <p:attrName>style.visibility</p:attrName>
                                        </p:attrNameLst>
                                      </p:cBhvr>
                                      <p:to>
                                        <p:strVal val="visible"/>
                                      </p:to>
                                    </p:set>
                                    <p:animEffect transition="in" filter="fade">
                                      <p:cBhvr>
                                        <p:cTn id="54" dur="500"/>
                                        <p:tgtEl>
                                          <p:spTgt spid="6"/>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5" grpId="0"/>
      <p:bldP spid="46" grpId="0"/>
      <p:bldP spid="4" grpId="0"/>
      <p:bldP spid="8" grpId="0"/>
      <p:bldP spid="10"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FE83-9A2B-C88F-8CA8-6120155FEC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D4E6AA-D360-299B-1A8E-660E71E2E07F}"/>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0F312D4-1433-6592-D1C8-B1955713A00C}"/>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99FD712B-209E-4AB5-978D-B430EB8699F9}"/>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 2</a:t>
            </a:r>
          </a:p>
        </p:txBody>
      </p:sp>
      <p:pic>
        <p:nvPicPr>
          <p:cNvPr id="5" name="Picture 4">
            <a:extLst>
              <a:ext uri="{FF2B5EF4-FFF2-40B4-BE49-F238E27FC236}">
                <a16:creationId xmlns:a16="http://schemas.microsoft.com/office/drawing/2014/main" id="{A8E36189-4322-B3DB-78A2-6B6646040358}"/>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1368969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6F049-42C0-3382-25BA-C3058CCCD2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66486F7-1DF0-2E7F-31AC-8C61B9A9A10E}"/>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EB2BC11D-51F2-762A-B431-34188B870395}"/>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65B0A12C-28A8-48B3-545B-C63B589B3A3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339740DD-9A57-77F9-C01D-AF6B52F01EA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DC3B225E-0A6F-CCCE-81EF-3B5DE071DDC7}"/>
              </a:ext>
            </a:extLst>
          </p:cNvPr>
          <p:cNvPicPr>
            <a:picLocks noChangeAspect="1"/>
          </p:cNvPicPr>
          <p:nvPr/>
        </p:nvPicPr>
        <p:blipFill>
          <a:blip r:embed="rId4"/>
          <a:stretch>
            <a:fillRect/>
          </a:stretch>
        </p:blipFill>
        <p:spPr>
          <a:xfrm>
            <a:off x="1986047" y="1322104"/>
            <a:ext cx="8252678" cy="4277271"/>
          </a:xfrm>
          <a:prstGeom prst="rect">
            <a:avLst/>
          </a:prstGeom>
        </p:spPr>
      </p:pic>
    </p:spTree>
    <p:extLst>
      <p:ext uri="{BB962C8B-B14F-4D97-AF65-F5344CB8AC3E}">
        <p14:creationId xmlns:p14="http://schemas.microsoft.com/office/powerpoint/2010/main" val="1429018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4B157-A81B-4F90-A765-6DBB4674B98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4D0D246-906C-DB0F-7282-E417D4426AE9}"/>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2299503-9AAE-C39F-4BE9-4B7E8C8FD09C}"/>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A442157-3F5C-2237-6CD8-1E047EF058F6}"/>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TOKENS AND CONTEXT WINDOW (FOUNDATIONS)</a:t>
            </a:r>
          </a:p>
        </p:txBody>
      </p:sp>
      <p:pic>
        <p:nvPicPr>
          <p:cNvPr id="5" name="Picture 4">
            <a:extLst>
              <a:ext uri="{FF2B5EF4-FFF2-40B4-BE49-F238E27FC236}">
                <a16:creationId xmlns:a16="http://schemas.microsoft.com/office/drawing/2014/main" id="{E8080227-40B0-3E0C-B026-1C165678828B}"/>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705681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689A3-6559-728A-89FE-3184C1689C2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BD2D3AD-D426-E146-EBCF-D8692C0750E9}"/>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80DCD08-AF0F-41A5-0BBF-DF82AFCDC012}"/>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1450A713-AF78-C5F0-202C-604F8EC8605A}"/>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Tokens</a:t>
            </a:r>
          </a:p>
        </p:txBody>
      </p:sp>
      <p:sp>
        <p:nvSpPr>
          <p:cNvPr id="9" name="TextBox 8">
            <a:extLst>
              <a:ext uri="{FF2B5EF4-FFF2-40B4-BE49-F238E27FC236}">
                <a16:creationId xmlns:a16="http://schemas.microsoft.com/office/drawing/2014/main" id="{D3E74964-DD66-C32E-1465-EB6408FA4366}"/>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62600D81-CA4B-E4E5-B4AC-69B13CC8B695}"/>
              </a:ext>
            </a:extLst>
          </p:cNvPr>
          <p:cNvSpPr txBox="1"/>
          <p:nvPr/>
        </p:nvSpPr>
        <p:spPr>
          <a:xfrm>
            <a:off x="222159" y="865898"/>
            <a:ext cx="11780457" cy="1569660"/>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Tokens are chunks of text, typically words, </a:t>
            </a:r>
            <a:r>
              <a:rPr lang="en-US" sz="1600" dirty="0" err="1">
                <a:latin typeface="Montserrat" panose="00000500000000000000" pitchFamily="2" charset="0"/>
              </a:rPr>
              <a:t>subwords</a:t>
            </a:r>
            <a:r>
              <a:rPr lang="en-US" sz="1600" dirty="0">
                <a:latin typeface="Montserrat" panose="00000500000000000000" pitchFamily="2" charset="0"/>
              </a:rPr>
              <a:t>, or characters, that the model uses to process and generate language. Understanding tokens is key to managing costs and context limits.</a:t>
            </a:r>
          </a:p>
          <a:p>
            <a:pPr marL="285750" indent="-285750">
              <a:buFont typeface="Arial" panose="020B0604020202020204" pitchFamily="34" charset="0"/>
              <a:buChar char="•"/>
            </a:pPr>
            <a:r>
              <a:rPr lang="en-US" sz="1600" dirty="0">
                <a:latin typeface="Montserrat" panose="00000500000000000000" pitchFamily="2" charset="0"/>
              </a:rPr>
              <a:t>The model doesn't "read" text like humans do. Instead, a tokenizer breaks down the input into these tokens and converts them into numerical IDs the model can understand.</a:t>
            </a:r>
          </a:p>
          <a:p>
            <a:pPr marL="285750" indent="-285750">
              <a:buFont typeface="Arial" panose="020B0604020202020204" pitchFamily="34" charset="0"/>
              <a:buChar char="•"/>
            </a:pPr>
            <a:r>
              <a:rPr lang="en-US" sz="1600" dirty="0">
                <a:latin typeface="Montserrat" panose="00000500000000000000" pitchFamily="2" charset="0"/>
              </a:rPr>
              <a:t>The model then learns relationships between these tokens to predict the next one in a sequence.</a:t>
            </a:r>
          </a:p>
          <a:p>
            <a:pPr marL="285750" indent="-285750">
              <a:buFont typeface="Arial" panose="020B0604020202020204" pitchFamily="34" charset="0"/>
              <a:buChar char="•"/>
            </a:pPr>
            <a:r>
              <a:rPr lang="en-US" sz="1600" dirty="0">
                <a:latin typeface="Montserrat" panose="00000500000000000000" pitchFamily="2" charset="0"/>
              </a:rPr>
              <a:t>Check OpenAI's Tokenizers here: </a:t>
            </a:r>
            <a:r>
              <a:rPr lang="en-US" sz="1600" dirty="0">
                <a:latin typeface="Montserrat" panose="00000500000000000000" pitchFamily="2" charset="0"/>
                <a:hlinkClick r:id="rId4"/>
              </a:rPr>
              <a:t>https://platform.openai.com/tokenizer</a:t>
            </a:r>
            <a:endParaRPr lang="en-US" sz="1600" dirty="0">
              <a:latin typeface="Montserrat" panose="00000500000000000000" pitchFamily="2" charset="0"/>
            </a:endParaRPr>
          </a:p>
        </p:txBody>
      </p:sp>
      <p:sp>
        <p:nvSpPr>
          <p:cNvPr id="17" name="Shape 4">
            <a:extLst>
              <a:ext uri="{FF2B5EF4-FFF2-40B4-BE49-F238E27FC236}">
                <a16:creationId xmlns:a16="http://schemas.microsoft.com/office/drawing/2014/main" id="{31C23C73-C6C2-9910-077C-2EDEB9D1332E}"/>
              </a:ext>
            </a:extLst>
          </p:cNvPr>
          <p:cNvSpPr/>
          <p:nvPr/>
        </p:nvSpPr>
        <p:spPr>
          <a:xfrm>
            <a:off x="2016042" y="2592598"/>
            <a:ext cx="8046720" cy="11887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latin typeface="Montserrat" panose="00000500000000000000" pitchFamily="2" charset="0"/>
            </a:endParaRPr>
          </a:p>
        </p:txBody>
      </p:sp>
      <p:sp>
        <p:nvSpPr>
          <p:cNvPr id="18" name="Text 5">
            <a:extLst>
              <a:ext uri="{FF2B5EF4-FFF2-40B4-BE49-F238E27FC236}">
                <a16:creationId xmlns:a16="http://schemas.microsoft.com/office/drawing/2014/main" id="{23729B43-D62C-F752-651C-F2258B2F05B8}"/>
              </a:ext>
            </a:extLst>
          </p:cNvPr>
          <p:cNvSpPr/>
          <p:nvPr/>
        </p:nvSpPr>
        <p:spPr>
          <a:xfrm>
            <a:off x="2198922" y="2638318"/>
            <a:ext cx="1828800" cy="32004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Example</a:t>
            </a:r>
            <a:endParaRPr lang="en-US" dirty="0">
              <a:solidFill>
                <a:srgbClr val="0C1752"/>
              </a:solidFill>
              <a:latin typeface="Montserrat" panose="00000500000000000000" pitchFamily="2" charset="0"/>
            </a:endParaRPr>
          </a:p>
        </p:txBody>
      </p:sp>
      <p:sp>
        <p:nvSpPr>
          <p:cNvPr id="19" name="Text 6">
            <a:extLst>
              <a:ext uri="{FF2B5EF4-FFF2-40B4-BE49-F238E27FC236}">
                <a16:creationId xmlns:a16="http://schemas.microsoft.com/office/drawing/2014/main" id="{20B5A196-9D4D-D35D-4C61-47D8E282F25D}"/>
              </a:ext>
            </a:extLst>
          </p:cNvPr>
          <p:cNvSpPr/>
          <p:nvPr/>
        </p:nvSpPr>
        <p:spPr>
          <a:xfrm>
            <a:off x="2198922" y="2958358"/>
            <a:ext cx="7680960" cy="731520"/>
          </a:xfrm>
          <a:prstGeom prst="rect">
            <a:avLst/>
          </a:prstGeom>
          <a:noFill/>
          <a:ln/>
        </p:spPr>
        <p:txBody>
          <a:bodyPr wrap="square" lIns="0" tIns="0" rIns="0" bIns="0" rtlCol="0" anchor="ctr"/>
          <a:lstStyle/>
          <a:p>
            <a:r>
              <a:rPr lang="en-US" sz="2000" b="1" dirty="0">
                <a:solidFill>
                  <a:srgbClr val="1B2A4A"/>
                </a:solidFill>
                <a:latin typeface="Montserrat" panose="00000500000000000000" pitchFamily="2" charset="0"/>
                <a:ea typeface="Consolas" pitchFamily="34" charset="-122"/>
                <a:cs typeface="Consolas" pitchFamily="34" charset="-120"/>
              </a:rPr>
              <a:t>"Welcome to the Bootcamp!"</a:t>
            </a:r>
            <a:endParaRPr lang="en-US" sz="2000" dirty="0">
              <a:latin typeface="Montserrat" panose="00000500000000000000" pitchFamily="2" charset="0"/>
            </a:endParaRPr>
          </a:p>
          <a:p>
            <a:pPr marL="0" indent="0">
              <a:buNone/>
            </a:pPr>
            <a:r>
              <a:rPr lang="en-US" dirty="0">
                <a:solidFill>
                  <a:srgbClr val="D56E48"/>
                </a:solidFill>
                <a:latin typeface="Montserrat" panose="00000500000000000000" pitchFamily="2" charset="0"/>
                <a:ea typeface="Consolas" pitchFamily="34" charset="-122"/>
                <a:cs typeface="Consolas" pitchFamily="34" charset="-120"/>
              </a:rPr>
              <a:t>→  [“Welcome", “to", " the", " Boot", " camp", " !"]  =  6 tokens</a:t>
            </a:r>
            <a:endParaRPr lang="en-US" sz="2000" dirty="0">
              <a:solidFill>
                <a:srgbClr val="D56E48"/>
              </a:solidFill>
              <a:latin typeface="Montserrat" panose="00000500000000000000" pitchFamily="2" charset="0"/>
            </a:endParaRPr>
          </a:p>
        </p:txBody>
      </p:sp>
      <p:sp>
        <p:nvSpPr>
          <p:cNvPr id="21" name="Shape 7">
            <a:extLst>
              <a:ext uri="{FF2B5EF4-FFF2-40B4-BE49-F238E27FC236}">
                <a16:creationId xmlns:a16="http://schemas.microsoft.com/office/drawing/2014/main" id="{BD513371-D5AB-6D12-97E5-B993307C9C02}"/>
              </a:ext>
            </a:extLst>
          </p:cNvPr>
          <p:cNvSpPr/>
          <p:nvPr/>
        </p:nvSpPr>
        <p:spPr>
          <a:xfrm>
            <a:off x="639875" y="4310142"/>
            <a:ext cx="2560320" cy="1815882"/>
          </a:xfrm>
          <a:prstGeom prst="rect">
            <a:avLst/>
          </a:prstGeom>
          <a:solidFill>
            <a:srgbClr val="0C1752"/>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2" name="Text 8">
            <a:extLst>
              <a:ext uri="{FF2B5EF4-FFF2-40B4-BE49-F238E27FC236}">
                <a16:creationId xmlns:a16="http://schemas.microsoft.com/office/drawing/2014/main" id="{4ED03A90-4A6F-A3A2-AA20-66607E832EEF}"/>
              </a:ext>
            </a:extLst>
          </p:cNvPr>
          <p:cNvSpPr/>
          <p:nvPr/>
        </p:nvSpPr>
        <p:spPr>
          <a:xfrm>
            <a:off x="639875" y="4487625"/>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 token</a:t>
            </a:r>
            <a:endParaRPr lang="en-US" sz="3200" dirty="0">
              <a:solidFill>
                <a:schemeClr val="bg1"/>
              </a:solidFill>
              <a:latin typeface="Montserrat" panose="00000500000000000000" pitchFamily="2" charset="0"/>
            </a:endParaRPr>
          </a:p>
        </p:txBody>
      </p:sp>
      <p:sp>
        <p:nvSpPr>
          <p:cNvPr id="23" name="Text 9">
            <a:extLst>
              <a:ext uri="{FF2B5EF4-FFF2-40B4-BE49-F238E27FC236}">
                <a16:creationId xmlns:a16="http://schemas.microsoft.com/office/drawing/2014/main" id="{FFBEA5F5-A45F-0ED9-0C16-FC37FDC1C3E9}"/>
              </a:ext>
            </a:extLst>
          </p:cNvPr>
          <p:cNvSpPr/>
          <p:nvPr/>
        </p:nvSpPr>
        <p:spPr>
          <a:xfrm>
            <a:off x="639875" y="5325550"/>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4 characters</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in English</a:t>
            </a:r>
            <a:endParaRPr lang="en-US" dirty="0">
              <a:solidFill>
                <a:schemeClr val="bg1"/>
              </a:solidFill>
              <a:latin typeface="Montserrat" panose="00000500000000000000" pitchFamily="2" charset="0"/>
            </a:endParaRPr>
          </a:p>
        </p:txBody>
      </p:sp>
      <p:sp>
        <p:nvSpPr>
          <p:cNvPr id="24" name="Shape 10">
            <a:extLst>
              <a:ext uri="{FF2B5EF4-FFF2-40B4-BE49-F238E27FC236}">
                <a16:creationId xmlns:a16="http://schemas.microsoft.com/office/drawing/2014/main" id="{8DA52108-45DA-003C-90C0-A40BCCC8165A}"/>
              </a:ext>
            </a:extLst>
          </p:cNvPr>
          <p:cNvSpPr/>
          <p:nvPr/>
        </p:nvSpPr>
        <p:spPr>
          <a:xfrm>
            <a:off x="4759242" y="4300033"/>
            <a:ext cx="2560320" cy="1809893"/>
          </a:xfrm>
          <a:prstGeom prst="rect">
            <a:avLst/>
          </a:prstGeom>
          <a:solidFill>
            <a:srgbClr val="D56E48"/>
          </a:solidFill>
          <a:ln/>
          <a:effectLst>
            <a:outerShdw blurRad="76200" dist="25400" dir="8100000" algn="bl" rotWithShape="0">
              <a:srgbClr val="000000">
                <a:alpha val="10000"/>
              </a:srgbClr>
            </a:outerShdw>
          </a:effectLst>
        </p:spPr>
        <p:txBody>
          <a:bodyPr/>
          <a:lstStyle/>
          <a:p>
            <a:endParaRPr lang="en-CA" sz="2400">
              <a:latin typeface="Montserrat" panose="00000500000000000000" pitchFamily="2" charset="0"/>
            </a:endParaRPr>
          </a:p>
        </p:txBody>
      </p:sp>
      <p:sp>
        <p:nvSpPr>
          <p:cNvPr id="25" name="Text 11">
            <a:extLst>
              <a:ext uri="{FF2B5EF4-FFF2-40B4-BE49-F238E27FC236}">
                <a16:creationId xmlns:a16="http://schemas.microsoft.com/office/drawing/2014/main" id="{B726CCFD-7E6D-5939-861D-E5A2C84A6192}"/>
              </a:ext>
            </a:extLst>
          </p:cNvPr>
          <p:cNvSpPr/>
          <p:nvPr/>
        </p:nvSpPr>
        <p:spPr>
          <a:xfrm>
            <a:off x="4759242" y="4457073"/>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~750</a:t>
            </a:r>
            <a:endParaRPr lang="en-US" sz="3200" dirty="0">
              <a:solidFill>
                <a:schemeClr val="bg1"/>
              </a:solidFill>
              <a:latin typeface="Montserrat" panose="00000500000000000000" pitchFamily="2" charset="0"/>
            </a:endParaRPr>
          </a:p>
        </p:txBody>
      </p:sp>
      <p:sp>
        <p:nvSpPr>
          <p:cNvPr id="26" name="Text 12">
            <a:extLst>
              <a:ext uri="{FF2B5EF4-FFF2-40B4-BE49-F238E27FC236}">
                <a16:creationId xmlns:a16="http://schemas.microsoft.com/office/drawing/2014/main" id="{9C499881-0EE5-069B-14FD-CD64CD12201F}"/>
              </a:ext>
            </a:extLst>
          </p:cNvPr>
          <p:cNvSpPr/>
          <p:nvPr/>
        </p:nvSpPr>
        <p:spPr>
          <a:xfrm>
            <a:off x="4853932" y="5283014"/>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words per</a:t>
            </a:r>
            <a:endParaRPr lang="en-US" dirty="0">
              <a:solidFill>
                <a:schemeClr val="bg1"/>
              </a:solidFill>
              <a:latin typeface="Montserrat" panose="00000500000000000000" pitchFamily="2" charset="0"/>
            </a:endParaRP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1,000 tokens</a:t>
            </a:r>
            <a:endParaRPr lang="en-US" dirty="0">
              <a:solidFill>
                <a:schemeClr val="bg1"/>
              </a:solidFill>
              <a:latin typeface="Montserrat" panose="00000500000000000000" pitchFamily="2" charset="0"/>
            </a:endParaRPr>
          </a:p>
        </p:txBody>
      </p:sp>
      <p:sp>
        <p:nvSpPr>
          <p:cNvPr id="27" name="Shape 13">
            <a:extLst>
              <a:ext uri="{FF2B5EF4-FFF2-40B4-BE49-F238E27FC236}">
                <a16:creationId xmlns:a16="http://schemas.microsoft.com/office/drawing/2014/main" id="{E9833D4C-2354-5193-4BF4-1A16BA2FDB52}"/>
              </a:ext>
            </a:extLst>
          </p:cNvPr>
          <p:cNvSpPr/>
          <p:nvPr/>
        </p:nvSpPr>
        <p:spPr>
          <a:xfrm>
            <a:off x="8782602" y="4305474"/>
            <a:ext cx="2560320" cy="1815882"/>
          </a:xfrm>
          <a:prstGeom prst="rect">
            <a:avLst/>
          </a:prstGeom>
          <a:solidFill>
            <a:schemeClr val="bg1">
              <a:lumMod val="65000"/>
            </a:schemeClr>
          </a:solidFill>
          <a:ln/>
          <a:effectLst>
            <a:outerShdw blurRad="76200" dist="25400" dir="8100000" algn="bl" rotWithShape="0">
              <a:srgbClr val="000000">
                <a:alpha val="10000"/>
              </a:srgbClr>
            </a:outerShdw>
          </a:effectLst>
        </p:spPr>
        <p:txBody>
          <a:bodyPr/>
          <a:lstStyle/>
          <a:p>
            <a:endParaRPr lang="en-CA" sz="2400">
              <a:solidFill>
                <a:schemeClr val="bg1">
                  <a:lumMod val="65000"/>
                </a:schemeClr>
              </a:solidFill>
              <a:latin typeface="Montserrat" panose="00000500000000000000" pitchFamily="2" charset="0"/>
            </a:endParaRPr>
          </a:p>
        </p:txBody>
      </p:sp>
      <p:sp>
        <p:nvSpPr>
          <p:cNvPr id="28" name="Text 14">
            <a:extLst>
              <a:ext uri="{FF2B5EF4-FFF2-40B4-BE49-F238E27FC236}">
                <a16:creationId xmlns:a16="http://schemas.microsoft.com/office/drawing/2014/main" id="{5B3689BE-CC37-173A-E740-901F34C2892E}"/>
              </a:ext>
            </a:extLst>
          </p:cNvPr>
          <p:cNvSpPr/>
          <p:nvPr/>
        </p:nvSpPr>
        <p:spPr>
          <a:xfrm>
            <a:off x="8782602" y="4426080"/>
            <a:ext cx="2560320" cy="548640"/>
          </a:xfrm>
          <a:prstGeom prst="rect">
            <a:avLst/>
          </a:prstGeom>
          <a:noFill/>
          <a:ln/>
        </p:spPr>
        <p:txBody>
          <a:bodyPr wrap="square" lIns="0" tIns="0" rIns="0" bIns="0" rtlCol="0" anchor="ctr"/>
          <a:lstStyle/>
          <a:p>
            <a:pPr marL="0" indent="0" algn="ctr">
              <a:buNone/>
            </a:pPr>
            <a:r>
              <a:rPr lang="en-US" sz="3200" b="1" dirty="0">
                <a:solidFill>
                  <a:schemeClr val="bg1"/>
                </a:solidFill>
                <a:latin typeface="Montserrat" panose="00000500000000000000" pitchFamily="2" charset="0"/>
                <a:ea typeface="Georgia" pitchFamily="34" charset="-122"/>
                <a:cs typeface="Georgia" pitchFamily="34" charset="-120"/>
              </a:rPr>
              <a:t>1M tokens</a:t>
            </a:r>
            <a:endParaRPr lang="en-US" sz="3200" dirty="0">
              <a:solidFill>
                <a:schemeClr val="bg1"/>
              </a:solidFill>
              <a:latin typeface="Montserrat" panose="00000500000000000000" pitchFamily="2" charset="0"/>
            </a:endParaRPr>
          </a:p>
        </p:txBody>
      </p:sp>
      <p:sp>
        <p:nvSpPr>
          <p:cNvPr id="29" name="Text 15">
            <a:extLst>
              <a:ext uri="{FF2B5EF4-FFF2-40B4-BE49-F238E27FC236}">
                <a16:creationId xmlns:a16="http://schemas.microsoft.com/office/drawing/2014/main" id="{7EEE39C7-959C-8FE1-4346-C38618823E65}"/>
              </a:ext>
            </a:extLst>
          </p:cNvPr>
          <p:cNvSpPr/>
          <p:nvPr/>
        </p:nvSpPr>
        <p:spPr>
          <a:xfrm>
            <a:off x="8782602" y="5102918"/>
            <a:ext cx="2560320" cy="594360"/>
          </a:xfrm>
          <a:prstGeom prst="rect">
            <a:avLst/>
          </a:prstGeom>
          <a:noFill/>
          <a:ln/>
        </p:spPr>
        <p:txBody>
          <a:bodyPr wrap="square" lIns="0" tIns="0" rIns="0" bIns="0" rtlCol="0" anchor="t"/>
          <a:lstStyle/>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Entire works of Shakespeare OR </a:t>
            </a:r>
          </a:p>
          <a:p>
            <a:pPr marL="0" indent="0" algn="ctr">
              <a:buNone/>
            </a:pPr>
            <a:r>
              <a:rPr lang="en-US" dirty="0">
                <a:solidFill>
                  <a:schemeClr val="bg1"/>
                </a:solidFill>
                <a:latin typeface="Montserrat" panose="00000500000000000000" pitchFamily="2" charset="0"/>
                <a:ea typeface="Calibri" pitchFamily="34" charset="-122"/>
                <a:cs typeface="Calibri" pitchFamily="34" charset="-120"/>
              </a:rPr>
              <a:t>≈ 8 full-length novels</a:t>
            </a:r>
            <a:endParaRPr lang="en-US"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88712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500"/>
                                        <p:tgtEl>
                                          <p:spTgt spid="2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fade">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4463F-A36F-9D61-D6D8-1013AE178C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2AAAD86-EB35-9870-30A8-58B09EAD1987}"/>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D9243261-24CC-1DB6-3324-09D8C77FE3F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C643021B-60C5-6942-2743-AE2A01F0865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The Context Window</a:t>
            </a:r>
          </a:p>
        </p:txBody>
      </p:sp>
      <p:sp>
        <p:nvSpPr>
          <p:cNvPr id="9" name="TextBox 8">
            <a:extLst>
              <a:ext uri="{FF2B5EF4-FFF2-40B4-BE49-F238E27FC236}">
                <a16:creationId xmlns:a16="http://schemas.microsoft.com/office/drawing/2014/main" id="{8F50E4DC-B747-2EB2-513C-BC3DCE653F9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95177514-1B9F-9486-2153-F8522FC5FDF5}"/>
              </a:ext>
            </a:extLst>
          </p:cNvPr>
          <p:cNvSpPr txBox="1"/>
          <p:nvPr/>
        </p:nvSpPr>
        <p:spPr>
          <a:xfrm>
            <a:off x="189384" y="871861"/>
            <a:ext cx="11780457" cy="1979233"/>
          </a:xfrm>
          <a:prstGeom prst="rect">
            <a:avLst/>
          </a:prstGeom>
        </p:spPr>
        <p:txBody>
          <a:bodyPr vert="horz" lIns="91440" tIns="45720" rIns="91440" bIns="45720" rtlCol="0">
            <a:norm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r>
              <a:rPr lang="en-US" sz="1700" dirty="0"/>
              <a:t>The context window is the maximum number of tokens an LLM can process in a single interaction including both input and output. It defines how much information the model can "see" at once.</a:t>
            </a:r>
          </a:p>
          <a:p>
            <a:endParaRPr lang="en-US" sz="1700" dirty="0"/>
          </a:p>
        </p:txBody>
      </p:sp>
      <p:sp>
        <p:nvSpPr>
          <p:cNvPr id="4" name="Text 3">
            <a:extLst>
              <a:ext uri="{FF2B5EF4-FFF2-40B4-BE49-F238E27FC236}">
                <a16:creationId xmlns:a16="http://schemas.microsoft.com/office/drawing/2014/main" id="{927F478E-8A65-D52F-B8E8-50BDF33C3788}"/>
              </a:ext>
            </a:extLst>
          </p:cNvPr>
          <p:cNvSpPr/>
          <p:nvPr/>
        </p:nvSpPr>
        <p:spPr>
          <a:xfrm>
            <a:off x="548640" y="1005840"/>
            <a:ext cx="8046720" cy="640080"/>
          </a:xfrm>
          <a:prstGeom prst="rect">
            <a:avLst/>
          </a:prstGeom>
          <a:noFill/>
          <a:ln/>
        </p:spPr>
        <p:txBody>
          <a:bodyPr wrap="square" lIns="0" tIns="0" rIns="0" bIns="0" rtlCol="0" anchor="ctr"/>
          <a:lstStyle/>
          <a:p>
            <a:pPr marL="0" indent="0">
              <a:buNone/>
            </a:pPr>
            <a:endParaRPr lang="en-US" sz="1500" dirty="0"/>
          </a:p>
        </p:txBody>
      </p:sp>
      <p:sp>
        <p:nvSpPr>
          <p:cNvPr id="8" name="Text 4">
            <a:extLst>
              <a:ext uri="{FF2B5EF4-FFF2-40B4-BE49-F238E27FC236}">
                <a16:creationId xmlns:a16="http://schemas.microsoft.com/office/drawing/2014/main" id="{41E3F8B8-934B-99BA-951C-407321F3D3A1}"/>
              </a:ext>
            </a:extLst>
          </p:cNvPr>
          <p:cNvSpPr/>
          <p:nvPr/>
        </p:nvSpPr>
        <p:spPr>
          <a:xfrm>
            <a:off x="1423589" y="146987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GPT-5</a:t>
            </a:r>
            <a:endParaRPr lang="en-US" sz="1600" dirty="0">
              <a:latin typeface="Montserrat" panose="00000500000000000000" pitchFamily="2" charset="0"/>
            </a:endParaRPr>
          </a:p>
        </p:txBody>
      </p:sp>
      <p:sp>
        <p:nvSpPr>
          <p:cNvPr id="10" name="Shape 5">
            <a:extLst>
              <a:ext uri="{FF2B5EF4-FFF2-40B4-BE49-F238E27FC236}">
                <a16:creationId xmlns:a16="http://schemas.microsoft.com/office/drawing/2014/main" id="{79D07D50-B2DF-3729-61C4-70C066545837}"/>
              </a:ext>
            </a:extLst>
          </p:cNvPr>
          <p:cNvSpPr/>
          <p:nvPr/>
        </p:nvSpPr>
        <p:spPr>
          <a:xfrm>
            <a:off x="3526709" y="1543030"/>
            <a:ext cx="2569291" cy="274320"/>
          </a:xfrm>
          <a:prstGeom prst="rect">
            <a:avLst/>
          </a:prstGeom>
          <a:solidFill>
            <a:srgbClr val="D56E48"/>
          </a:solidFill>
          <a:ln/>
        </p:spPr>
        <p:txBody>
          <a:bodyPr/>
          <a:lstStyle/>
          <a:p>
            <a:endParaRPr lang="en-CA">
              <a:solidFill>
                <a:srgbClr val="D56E48"/>
              </a:solidFill>
            </a:endParaRPr>
          </a:p>
        </p:txBody>
      </p:sp>
      <p:sp>
        <p:nvSpPr>
          <p:cNvPr id="11" name="Text 6">
            <a:extLst>
              <a:ext uri="{FF2B5EF4-FFF2-40B4-BE49-F238E27FC236}">
                <a16:creationId xmlns:a16="http://schemas.microsoft.com/office/drawing/2014/main" id="{2CE5F398-F9C9-136E-5B90-8DB529993B32}"/>
              </a:ext>
            </a:extLst>
          </p:cNvPr>
          <p:cNvSpPr/>
          <p:nvPr/>
        </p:nvSpPr>
        <p:spPr>
          <a:xfrm>
            <a:off x="6407069" y="1479022"/>
            <a:ext cx="914400" cy="411480"/>
          </a:xfrm>
          <a:prstGeom prst="rect">
            <a:avLst/>
          </a:prstGeom>
          <a:noFill/>
          <a:ln/>
        </p:spPr>
        <p:txBody>
          <a:bodyPr wrap="square" lIns="0" tIns="0" rIns="0" bIns="0" rtlCol="0" anchor="ctr"/>
          <a:lstStyle/>
          <a:p>
            <a:pPr marL="0" indent="0">
              <a:buNone/>
            </a:pPr>
            <a:r>
              <a:rPr lang="en-US" b="1" dirty="0">
                <a:solidFill>
                  <a:srgbClr val="D56E48"/>
                </a:solidFill>
                <a:latin typeface="Montserrat" panose="00000500000000000000" pitchFamily="2" charset="0"/>
                <a:ea typeface="Calibri" pitchFamily="34" charset="-122"/>
                <a:cs typeface="Calibri" pitchFamily="34" charset="-120"/>
              </a:rPr>
              <a:t>400K</a:t>
            </a:r>
            <a:endParaRPr lang="en-US" dirty="0">
              <a:solidFill>
                <a:srgbClr val="D56E48"/>
              </a:solidFill>
              <a:latin typeface="Montserrat" panose="00000500000000000000" pitchFamily="2" charset="0"/>
            </a:endParaRPr>
          </a:p>
        </p:txBody>
      </p:sp>
      <p:sp>
        <p:nvSpPr>
          <p:cNvPr id="12" name="Text 7">
            <a:extLst>
              <a:ext uri="{FF2B5EF4-FFF2-40B4-BE49-F238E27FC236}">
                <a16:creationId xmlns:a16="http://schemas.microsoft.com/office/drawing/2014/main" id="{1B7E11A2-0433-9325-CEB4-D28A655D6F51}"/>
              </a:ext>
            </a:extLst>
          </p:cNvPr>
          <p:cNvSpPr/>
          <p:nvPr/>
        </p:nvSpPr>
        <p:spPr>
          <a:xfrm>
            <a:off x="1423589" y="201851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Claude Opus 4.6</a:t>
            </a:r>
            <a:endParaRPr lang="en-US" sz="1600" dirty="0">
              <a:latin typeface="Montserrat" panose="00000500000000000000" pitchFamily="2" charset="0"/>
            </a:endParaRPr>
          </a:p>
        </p:txBody>
      </p:sp>
      <p:sp>
        <p:nvSpPr>
          <p:cNvPr id="13" name="Shape 8">
            <a:extLst>
              <a:ext uri="{FF2B5EF4-FFF2-40B4-BE49-F238E27FC236}">
                <a16:creationId xmlns:a16="http://schemas.microsoft.com/office/drawing/2014/main" id="{613C4032-36B8-6F62-6BDB-AA047B7FDD88}"/>
              </a:ext>
            </a:extLst>
          </p:cNvPr>
          <p:cNvSpPr/>
          <p:nvPr/>
        </p:nvSpPr>
        <p:spPr>
          <a:xfrm>
            <a:off x="3526709" y="2091670"/>
            <a:ext cx="4645741" cy="274320"/>
          </a:xfrm>
          <a:prstGeom prst="rect">
            <a:avLst/>
          </a:prstGeom>
          <a:solidFill>
            <a:schemeClr val="bg1">
              <a:lumMod val="65000"/>
            </a:schemeClr>
          </a:solidFill>
          <a:ln/>
        </p:spPr>
        <p:txBody>
          <a:bodyPr/>
          <a:lstStyle/>
          <a:p>
            <a:endParaRPr lang="en-CA"/>
          </a:p>
        </p:txBody>
      </p:sp>
      <p:sp>
        <p:nvSpPr>
          <p:cNvPr id="17" name="Text 9">
            <a:extLst>
              <a:ext uri="{FF2B5EF4-FFF2-40B4-BE49-F238E27FC236}">
                <a16:creationId xmlns:a16="http://schemas.microsoft.com/office/drawing/2014/main" id="{0CC3C94E-8F4F-858C-E52C-B90C329CD459}"/>
              </a:ext>
            </a:extLst>
          </p:cNvPr>
          <p:cNvSpPr/>
          <p:nvPr/>
        </p:nvSpPr>
        <p:spPr>
          <a:xfrm>
            <a:off x="8382430" y="2056253"/>
            <a:ext cx="914400" cy="411480"/>
          </a:xfrm>
          <a:prstGeom prst="rect">
            <a:avLst/>
          </a:prstGeom>
          <a:noFill/>
          <a:ln/>
        </p:spPr>
        <p:txBody>
          <a:bodyPr wrap="square" lIns="0" tIns="0" rIns="0" bIns="0" rtlCol="0" anchor="ctr"/>
          <a:lstStyle/>
          <a:p>
            <a:pPr marL="0" indent="0">
              <a:buNone/>
            </a:pPr>
            <a:r>
              <a:rPr lang="en-US" b="1" dirty="0">
                <a:solidFill>
                  <a:schemeClr val="bg1">
                    <a:lumMod val="50000"/>
                  </a:schemeClr>
                </a:solidFill>
                <a:latin typeface="Montserrat" panose="00000500000000000000" pitchFamily="2" charset="0"/>
                <a:ea typeface="Calibri" pitchFamily="34" charset="-122"/>
                <a:cs typeface="Calibri" pitchFamily="34" charset="-120"/>
              </a:rPr>
              <a:t>1M</a:t>
            </a:r>
            <a:endParaRPr lang="en-US" dirty="0">
              <a:solidFill>
                <a:schemeClr val="bg1">
                  <a:lumMod val="50000"/>
                </a:schemeClr>
              </a:solidFill>
              <a:latin typeface="Montserrat" panose="00000500000000000000" pitchFamily="2" charset="0"/>
            </a:endParaRPr>
          </a:p>
        </p:txBody>
      </p:sp>
      <p:sp>
        <p:nvSpPr>
          <p:cNvPr id="18" name="Text 10">
            <a:extLst>
              <a:ext uri="{FF2B5EF4-FFF2-40B4-BE49-F238E27FC236}">
                <a16:creationId xmlns:a16="http://schemas.microsoft.com/office/drawing/2014/main" id="{29270D2E-0012-4EE9-C057-FE40C218FEBF}"/>
              </a:ext>
            </a:extLst>
          </p:cNvPr>
          <p:cNvSpPr/>
          <p:nvPr/>
        </p:nvSpPr>
        <p:spPr>
          <a:xfrm>
            <a:off x="1423589" y="256715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Gemini 3.0</a:t>
            </a:r>
            <a:endParaRPr lang="en-US" sz="1600" dirty="0">
              <a:latin typeface="Montserrat" panose="00000500000000000000" pitchFamily="2" charset="0"/>
            </a:endParaRPr>
          </a:p>
        </p:txBody>
      </p:sp>
      <p:sp>
        <p:nvSpPr>
          <p:cNvPr id="19" name="Shape 11">
            <a:extLst>
              <a:ext uri="{FF2B5EF4-FFF2-40B4-BE49-F238E27FC236}">
                <a16:creationId xmlns:a16="http://schemas.microsoft.com/office/drawing/2014/main" id="{532C980E-E8C4-D2EA-41BA-CE1CFE395B22}"/>
              </a:ext>
            </a:extLst>
          </p:cNvPr>
          <p:cNvSpPr/>
          <p:nvPr/>
        </p:nvSpPr>
        <p:spPr>
          <a:xfrm>
            <a:off x="3526709" y="2640310"/>
            <a:ext cx="4645741" cy="274320"/>
          </a:xfrm>
          <a:prstGeom prst="rect">
            <a:avLst/>
          </a:prstGeom>
          <a:solidFill>
            <a:srgbClr val="0C1752"/>
          </a:solidFill>
          <a:ln/>
        </p:spPr>
        <p:txBody>
          <a:bodyPr/>
          <a:lstStyle/>
          <a:p>
            <a:endParaRPr lang="en-CA">
              <a:solidFill>
                <a:srgbClr val="0C1752"/>
              </a:solidFill>
            </a:endParaRPr>
          </a:p>
        </p:txBody>
      </p:sp>
      <p:sp>
        <p:nvSpPr>
          <p:cNvPr id="21" name="Text 12">
            <a:extLst>
              <a:ext uri="{FF2B5EF4-FFF2-40B4-BE49-F238E27FC236}">
                <a16:creationId xmlns:a16="http://schemas.microsoft.com/office/drawing/2014/main" id="{F4F8C250-F9EE-0240-C6FC-D7F6343AFC6D}"/>
              </a:ext>
            </a:extLst>
          </p:cNvPr>
          <p:cNvSpPr/>
          <p:nvPr/>
        </p:nvSpPr>
        <p:spPr>
          <a:xfrm>
            <a:off x="8394607" y="2598222"/>
            <a:ext cx="914400" cy="411480"/>
          </a:xfrm>
          <a:prstGeom prst="rect">
            <a:avLst/>
          </a:prstGeom>
          <a:noFill/>
          <a:ln/>
        </p:spPr>
        <p:txBody>
          <a:bodyPr wrap="square" lIns="0" tIns="0" rIns="0" bIns="0" rtlCol="0" anchor="ctr"/>
          <a:lstStyle/>
          <a:p>
            <a:pPr marL="0" indent="0">
              <a:buNone/>
            </a:pPr>
            <a:r>
              <a:rPr lang="en-US" b="1" dirty="0">
                <a:solidFill>
                  <a:srgbClr val="0C1752"/>
                </a:solidFill>
                <a:latin typeface="Montserrat" panose="00000500000000000000" pitchFamily="2" charset="0"/>
                <a:ea typeface="Calibri" pitchFamily="34" charset="-122"/>
                <a:cs typeface="Calibri" pitchFamily="34" charset="-120"/>
              </a:rPr>
              <a:t>1M</a:t>
            </a:r>
            <a:endParaRPr lang="en-US" dirty="0">
              <a:solidFill>
                <a:srgbClr val="0C1752"/>
              </a:solidFill>
              <a:latin typeface="Montserrat" panose="00000500000000000000" pitchFamily="2" charset="0"/>
            </a:endParaRPr>
          </a:p>
        </p:txBody>
      </p:sp>
      <p:sp>
        <p:nvSpPr>
          <p:cNvPr id="22" name="Text 13">
            <a:extLst>
              <a:ext uri="{FF2B5EF4-FFF2-40B4-BE49-F238E27FC236}">
                <a16:creationId xmlns:a16="http://schemas.microsoft.com/office/drawing/2014/main" id="{C44D4C51-0FE4-5D05-FAFB-6A489E75F9DE}"/>
              </a:ext>
            </a:extLst>
          </p:cNvPr>
          <p:cNvSpPr/>
          <p:nvPr/>
        </p:nvSpPr>
        <p:spPr>
          <a:xfrm>
            <a:off x="1423589" y="3115798"/>
            <a:ext cx="2011680" cy="411480"/>
          </a:xfrm>
          <a:prstGeom prst="rect">
            <a:avLst/>
          </a:prstGeom>
          <a:noFill/>
          <a:ln/>
        </p:spPr>
        <p:txBody>
          <a:bodyPr wrap="square" lIns="0" tIns="0" rIns="0" bIns="0" rtlCol="0" anchor="ctr"/>
          <a:lstStyle/>
          <a:p>
            <a:pPr marL="0" indent="0">
              <a:buNone/>
            </a:pPr>
            <a:r>
              <a:rPr lang="en-US" sz="1600" b="1" dirty="0">
                <a:solidFill>
                  <a:srgbClr val="1B2A4A"/>
                </a:solidFill>
                <a:latin typeface="Montserrat" panose="00000500000000000000" pitchFamily="2" charset="0"/>
                <a:ea typeface="Calibri" pitchFamily="34" charset="-122"/>
                <a:cs typeface="Calibri" pitchFamily="34" charset="-120"/>
              </a:rPr>
              <a:t>Llama 4 Maverick</a:t>
            </a:r>
            <a:endParaRPr lang="en-US" sz="1600" dirty="0">
              <a:latin typeface="Montserrat" panose="00000500000000000000" pitchFamily="2" charset="0"/>
            </a:endParaRPr>
          </a:p>
        </p:txBody>
      </p:sp>
      <p:sp>
        <p:nvSpPr>
          <p:cNvPr id="23" name="Shape 14">
            <a:extLst>
              <a:ext uri="{FF2B5EF4-FFF2-40B4-BE49-F238E27FC236}">
                <a16:creationId xmlns:a16="http://schemas.microsoft.com/office/drawing/2014/main" id="{26B4D30A-B359-245E-09D3-4D44C84C3174}"/>
              </a:ext>
            </a:extLst>
          </p:cNvPr>
          <p:cNvSpPr/>
          <p:nvPr/>
        </p:nvSpPr>
        <p:spPr>
          <a:xfrm>
            <a:off x="3526708" y="3188950"/>
            <a:ext cx="7388937" cy="274320"/>
          </a:xfrm>
          <a:prstGeom prst="rect">
            <a:avLst/>
          </a:prstGeom>
          <a:solidFill>
            <a:srgbClr val="1BBFD1"/>
          </a:solidFill>
          <a:ln/>
        </p:spPr>
        <p:txBody>
          <a:bodyPr/>
          <a:lstStyle/>
          <a:p>
            <a:endParaRPr lang="en-CA"/>
          </a:p>
        </p:txBody>
      </p:sp>
      <p:sp>
        <p:nvSpPr>
          <p:cNvPr id="25" name="Text 15">
            <a:extLst>
              <a:ext uri="{FF2B5EF4-FFF2-40B4-BE49-F238E27FC236}">
                <a16:creationId xmlns:a16="http://schemas.microsoft.com/office/drawing/2014/main" id="{9EF19AC7-C427-D040-AC03-2FF99B7E5764}"/>
              </a:ext>
            </a:extLst>
          </p:cNvPr>
          <p:cNvSpPr/>
          <p:nvPr/>
        </p:nvSpPr>
        <p:spPr>
          <a:xfrm>
            <a:off x="11096623" y="3136589"/>
            <a:ext cx="914400" cy="411480"/>
          </a:xfrm>
          <a:prstGeom prst="rect">
            <a:avLst/>
          </a:prstGeom>
          <a:noFill/>
          <a:ln/>
        </p:spPr>
        <p:txBody>
          <a:bodyPr wrap="square" lIns="0" tIns="0" rIns="0" bIns="0" rtlCol="0" anchor="ctr"/>
          <a:lstStyle/>
          <a:p>
            <a:pPr marL="0" indent="0">
              <a:buNone/>
            </a:pPr>
            <a:r>
              <a:rPr lang="en-US" b="1" dirty="0">
                <a:solidFill>
                  <a:srgbClr val="1BBFD1"/>
                </a:solidFill>
                <a:latin typeface="Montserrat" panose="00000500000000000000" pitchFamily="2" charset="0"/>
                <a:ea typeface="Calibri" pitchFamily="34" charset="-122"/>
                <a:cs typeface="Calibri" pitchFamily="34" charset="-120"/>
              </a:rPr>
              <a:t>10M</a:t>
            </a:r>
            <a:endParaRPr lang="en-US" dirty="0">
              <a:solidFill>
                <a:srgbClr val="1BBFD1"/>
              </a:solidFill>
              <a:latin typeface="Montserrat" panose="00000500000000000000" pitchFamily="2" charset="0"/>
            </a:endParaRPr>
          </a:p>
        </p:txBody>
      </p:sp>
      <p:sp>
        <p:nvSpPr>
          <p:cNvPr id="32" name="Shape 19">
            <a:extLst>
              <a:ext uri="{FF2B5EF4-FFF2-40B4-BE49-F238E27FC236}">
                <a16:creationId xmlns:a16="http://schemas.microsoft.com/office/drawing/2014/main" id="{89033E47-3189-C62C-2FB8-0325C01D0371}"/>
              </a:ext>
            </a:extLst>
          </p:cNvPr>
          <p:cNvSpPr/>
          <p:nvPr/>
        </p:nvSpPr>
        <p:spPr>
          <a:xfrm>
            <a:off x="689029" y="3735685"/>
            <a:ext cx="10586131" cy="923233"/>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CA" sz="2800"/>
          </a:p>
        </p:txBody>
      </p:sp>
      <p:sp>
        <p:nvSpPr>
          <p:cNvPr id="33" name="Text 20">
            <a:extLst>
              <a:ext uri="{FF2B5EF4-FFF2-40B4-BE49-F238E27FC236}">
                <a16:creationId xmlns:a16="http://schemas.microsoft.com/office/drawing/2014/main" id="{C5EAC387-2B31-74D3-7997-DFD3B9F24BFC}"/>
              </a:ext>
            </a:extLst>
          </p:cNvPr>
          <p:cNvSpPr/>
          <p:nvPr/>
        </p:nvSpPr>
        <p:spPr>
          <a:xfrm>
            <a:off x="916840" y="3828071"/>
            <a:ext cx="2743200" cy="320040"/>
          </a:xfrm>
          <a:prstGeom prst="rect">
            <a:avLst/>
          </a:prstGeom>
          <a:noFill/>
          <a:ln/>
        </p:spPr>
        <p:txBody>
          <a:bodyPr wrap="square" lIns="0" tIns="0" rIns="0" bIns="0" rtlCol="0" anchor="ctr"/>
          <a:lstStyle/>
          <a:p>
            <a:pPr marL="0" indent="0">
              <a:buNone/>
            </a:pPr>
            <a:r>
              <a:rPr lang="en-US" sz="2000" b="1" dirty="0">
                <a:latin typeface="Montserrat" panose="00000500000000000000" pitchFamily="2" charset="0"/>
                <a:ea typeface="Calibri" pitchFamily="34" charset="-122"/>
                <a:cs typeface="Calibri" pitchFamily="34" charset="-120"/>
              </a:rPr>
              <a:t>Why it matters</a:t>
            </a:r>
            <a:endParaRPr lang="en-US" sz="2000" dirty="0">
              <a:latin typeface="Montserrat" panose="00000500000000000000" pitchFamily="2" charset="0"/>
            </a:endParaRPr>
          </a:p>
        </p:txBody>
      </p:sp>
      <p:sp>
        <p:nvSpPr>
          <p:cNvPr id="34" name="Text 21">
            <a:extLst>
              <a:ext uri="{FF2B5EF4-FFF2-40B4-BE49-F238E27FC236}">
                <a16:creationId xmlns:a16="http://schemas.microsoft.com/office/drawing/2014/main" id="{56D7E4E5-031D-C50B-7E34-FB720CD895A3}"/>
              </a:ext>
            </a:extLst>
          </p:cNvPr>
          <p:cNvSpPr/>
          <p:nvPr/>
        </p:nvSpPr>
        <p:spPr>
          <a:xfrm>
            <a:off x="1325903" y="3931955"/>
            <a:ext cx="10162332" cy="854201"/>
          </a:xfrm>
          <a:prstGeom prst="rect">
            <a:avLst/>
          </a:prstGeom>
          <a:noFill/>
          <a:ln/>
        </p:spPr>
        <p:txBody>
          <a:bodyPr wrap="square" lIns="0" tIns="0" rIns="0" bIns="0" rtlCol="0" anchor="ctr"/>
          <a:lstStyle/>
          <a:p>
            <a:pPr marL="0" indent="0">
              <a:buNone/>
            </a:pPr>
            <a:r>
              <a:rPr lang="en-US" sz="1600" dirty="0">
                <a:latin typeface="Montserrat" panose="00000500000000000000" pitchFamily="2" charset="0"/>
                <a:ea typeface="Calibri" pitchFamily="34" charset="-122"/>
                <a:cs typeface="Calibri" pitchFamily="34" charset="-120"/>
              </a:rPr>
              <a:t>Larger context = more documents, longer conversations, and complex tasks. </a:t>
            </a:r>
            <a:endParaRPr lang="en-US" sz="1600" dirty="0">
              <a:latin typeface="Montserrat" panose="00000500000000000000" pitchFamily="2" charset="0"/>
            </a:endParaRPr>
          </a:p>
        </p:txBody>
      </p:sp>
      <p:graphicFrame>
        <p:nvGraphicFramePr>
          <p:cNvPr id="38" name="Table 37">
            <a:extLst>
              <a:ext uri="{FF2B5EF4-FFF2-40B4-BE49-F238E27FC236}">
                <a16:creationId xmlns:a16="http://schemas.microsoft.com/office/drawing/2014/main" id="{38DE4487-DF52-21DA-C0A7-A43ECE69E6FA}"/>
              </a:ext>
            </a:extLst>
          </p:cNvPr>
          <p:cNvGraphicFramePr>
            <a:graphicFrameLocks noGrp="1"/>
          </p:cNvGraphicFramePr>
          <p:nvPr/>
        </p:nvGraphicFramePr>
        <p:xfrm>
          <a:off x="2559139" y="4890040"/>
          <a:ext cx="6580879" cy="1676400"/>
        </p:xfrm>
        <a:graphic>
          <a:graphicData uri="http://schemas.openxmlformats.org/drawingml/2006/table">
            <a:tbl>
              <a:tblPr>
                <a:tableStyleId>{0E3FDE45-AF77-4B5C-9715-49D594BDF05E}</a:tableStyleId>
              </a:tblPr>
              <a:tblGrid>
                <a:gridCol w="1941752">
                  <a:extLst>
                    <a:ext uri="{9D8B030D-6E8A-4147-A177-3AD203B41FA5}">
                      <a16:colId xmlns:a16="http://schemas.microsoft.com/office/drawing/2014/main" val="1291129798"/>
                    </a:ext>
                  </a:extLst>
                </a:gridCol>
                <a:gridCol w="4639127">
                  <a:extLst>
                    <a:ext uri="{9D8B030D-6E8A-4147-A177-3AD203B41FA5}">
                      <a16:colId xmlns:a16="http://schemas.microsoft.com/office/drawing/2014/main" val="646490295"/>
                    </a:ext>
                  </a:extLst>
                </a:gridCol>
              </a:tblGrid>
              <a:tr h="236144">
                <a:tc>
                  <a:txBody>
                    <a:bodyPr/>
                    <a:lstStyle/>
                    <a:p>
                      <a:pPr algn="ctr">
                        <a:buNone/>
                      </a:pPr>
                      <a:r>
                        <a:rPr lang="en-CA" sz="1600" b="1" dirty="0">
                          <a:latin typeface="Montserrat" panose="00000500000000000000" pitchFamily="2" charset="0"/>
                        </a:rPr>
                        <a:t>Model</a:t>
                      </a:r>
                    </a:p>
                  </a:txBody>
                  <a:tcPr anchor="ctr"/>
                </a:tc>
                <a:tc>
                  <a:txBody>
                    <a:bodyPr/>
                    <a:lstStyle/>
                    <a:p>
                      <a:pPr algn="ctr">
                        <a:buNone/>
                      </a:pPr>
                      <a:r>
                        <a:rPr lang="en-CA" sz="1600" b="1" dirty="0">
                          <a:latin typeface="Montserrat" panose="00000500000000000000" pitchFamily="2" charset="0"/>
                        </a:rPr>
                        <a:t>Tokens</a:t>
                      </a:r>
                    </a:p>
                  </a:txBody>
                  <a:tcPr anchor="ctr"/>
                </a:tc>
                <a:extLst>
                  <a:ext uri="{0D108BD9-81ED-4DB2-BD59-A6C34878D82A}">
                    <a16:rowId xmlns:a16="http://schemas.microsoft.com/office/drawing/2014/main" val="2076730139"/>
                  </a:ext>
                </a:extLst>
              </a:tr>
              <a:tr h="236144">
                <a:tc>
                  <a:txBody>
                    <a:bodyPr/>
                    <a:lstStyle/>
                    <a:p>
                      <a:pPr algn="ctr">
                        <a:buNone/>
                      </a:pPr>
                      <a:r>
                        <a:rPr lang="en-CA" sz="1600" dirty="0">
                          <a:latin typeface="Montserrat" panose="00000500000000000000" pitchFamily="2" charset="0"/>
                        </a:rPr>
                        <a:t>128K</a:t>
                      </a:r>
                    </a:p>
                  </a:txBody>
                  <a:tcPr anchor="ctr"/>
                </a:tc>
                <a:tc>
                  <a:txBody>
                    <a:bodyPr/>
                    <a:lstStyle/>
                    <a:p>
                      <a:pPr algn="ctr">
                        <a:buNone/>
                      </a:pPr>
                      <a:r>
                        <a:rPr lang="en-CA" sz="1600" dirty="0">
                          <a:latin typeface="Montserrat" panose="00000500000000000000" pitchFamily="2" charset="0"/>
                        </a:rPr>
                        <a:t>~300 pages</a:t>
                      </a:r>
                    </a:p>
                  </a:txBody>
                  <a:tcPr anchor="ctr"/>
                </a:tc>
                <a:extLst>
                  <a:ext uri="{0D108BD9-81ED-4DB2-BD59-A6C34878D82A}">
                    <a16:rowId xmlns:a16="http://schemas.microsoft.com/office/drawing/2014/main" val="761086204"/>
                  </a:ext>
                </a:extLst>
              </a:tr>
              <a:tr h="236144">
                <a:tc>
                  <a:txBody>
                    <a:bodyPr/>
                    <a:lstStyle/>
                    <a:p>
                      <a:pPr algn="ctr">
                        <a:buNone/>
                      </a:pPr>
                      <a:r>
                        <a:rPr lang="en-CA" sz="1600">
                          <a:latin typeface="Montserrat" panose="00000500000000000000" pitchFamily="2" charset="0"/>
                        </a:rPr>
                        <a:t>400K</a:t>
                      </a:r>
                    </a:p>
                  </a:txBody>
                  <a:tcPr anchor="ctr"/>
                </a:tc>
                <a:tc>
                  <a:txBody>
                    <a:bodyPr/>
                    <a:lstStyle/>
                    <a:p>
                      <a:pPr algn="ctr">
                        <a:buNone/>
                      </a:pPr>
                      <a:r>
                        <a:rPr lang="en-CA" sz="1600" dirty="0">
                          <a:latin typeface="Montserrat" panose="00000500000000000000" pitchFamily="2" charset="0"/>
                        </a:rPr>
                        <a:t>~1,200 pages</a:t>
                      </a:r>
                    </a:p>
                  </a:txBody>
                  <a:tcPr anchor="ctr"/>
                </a:tc>
                <a:extLst>
                  <a:ext uri="{0D108BD9-81ED-4DB2-BD59-A6C34878D82A}">
                    <a16:rowId xmlns:a16="http://schemas.microsoft.com/office/drawing/2014/main" val="1195696201"/>
                  </a:ext>
                </a:extLst>
              </a:tr>
              <a:tr h="236144">
                <a:tc>
                  <a:txBody>
                    <a:bodyPr/>
                    <a:lstStyle/>
                    <a:p>
                      <a:pPr algn="ctr">
                        <a:buNone/>
                      </a:pPr>
                      <a:r>
                        <a:rPr lang="en-CA" sz="1600">
                          <a:latin typeface="Montserrat" panose="00000500000000000000" pitchFamily="2" charset="0"/>
                        </a:rPr>
                        <a:t>1M</a:t>
                      </a:r>
                    </a:p>
                  </a:txBody>
                  <a:tcPr anchor="ctr"/>
                </a:tc>
                <a:tc>
                  <a:txBody>
                    <a:bodyPr/>
                    <a:lstStyle/>
                    <a:p>
                      <a:pPr algn="ctr">
                        <a:buNone/>
                      </a:pPr>
                      <a:r>
                        <a:rPr lang="en-CA" sz="1600" dirty="0">
                          <a:latin typeface="Montserrat" panose="00000500000000000000" pitchFamily="2" charset="0"/>
                        </a:rPr>
                        <a:t>~2,500–3,000 pages</a:t>
                      </a:r>
                    </a:p>
                  </a:txBody>
                  <a:tcPr anchor="ctr"/>
                </a:tc>
                <a:extLst>
                  <a:ext uri="{0D108BD9-81ED-4DB2-BD59-A6C34878D82A}">
                    <a16:rowId xmlns:a16="http://schemas.microsoft.com/office/drawing/2014/main" val="553903336"/>
                  </a:ext>
                </a:extLst>
              </a:tr>
              <a:tr h="236144">
                <a:tc>
                  <a:txBody>
                    <a:bodyPr/>
                    <a:lstStyle/>
                    <a:p>
                      <a:pPr algn="ctr">
                        <a:buNone/>
                      </a:pPr>
                      <a:r>
                        <a:rPr lang="en-CA" sz="1600">
                          <a:latin typeface="Montserrat" panose="00000500000000000000" pitchFamily="2" charset="0"/>
                        </a:rPr>
                        <a:t>10M</a:t>
                      </a:r>
                    </a:p>
                  </a:txBody>
                  <a:tcPr anchor="ctr"/>
                </a:tc>
                <a:tc>
                  <a:txBody>
                    <a:bodyPr/>
                    <a:lstStyle/>
                    <a:p>
                      <a:pPr algn="ctr">
                        <a:buNone/>
                      </a:pPr>
                      <a:r>
                        <a:rPr lang="en-CA" sz="1600" dirty="0">
                          <a:latin typeface="Montserrat" panose="00000500000000000000" pitchFamily="2" charset="0"/>
                        </a:rPr>
                        <a:t>Entire codebase / archive</a:t>
                      </a:r>
                    </a:p>
                  </a:txBody>
                  <a:tcPr anchor="ctr"/>
                </a:tc>
                <a:extLst>
                  <a:ext uri="{0D108BD9-81ED-4DB2-BD59-A6C34878D82A}">
                    <a16:rowId xmlns:a16="http://schemas.microsoft.com/office/drawing/2014/main" val="52615529"/>
                  </a:ext>
                </a:extLst>
              </a:tr>
            </a:tbl>
          </a:graphicData>
        </a:graphic>
      </p:graphicFrame>
    </p:spTree>
    <p:extLst>
      <p:ext uri="{BB962C8B-B14F-4D97-AF65-F5344CB8AC3E}">
        <p14:creationId xmlns:p14="http://schemas.microsoft.com/office/powerpoint/2010/main" val="70703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500" fill="hold"/>
                                        <p:tgtEl>
                                          <p:spTgt spid="17"/>
                                        </p:tgtEl>
                                        <p:attrNameLst>
                                          <p:attrName>ppt_x</p:attrName>
                                        </p:attrNameLst>
                                      </p:cBhvr>
                                      <p:tavLst>
                                        <p:tav tm="0">
                                          <p:val>
                                            <p:strVal val="#ppt_x"/>
                                          </p:val>
                                        </p:tav>
                                        <p:tav tm="100000">
                                          <p:val>
                                            <p:strVal val="#ppt_x"/>
                                          </p:val>
                                        </p:tav>
                                      </p:tavLst>
                                    </p:anim>
                                    <p:anim calcmode="lin" valueType="num">
                                      <p:cBhvr additive="base">
                                        <p:cTn id="28" dur="5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 calcmode="lin" valueType="num">
                                      <p:cBhvr additive="base">
                                        <p:cTn id="35" dur="500" fill="hold"/>
                                        <p:tgtEl>
                                          <p:spTgt spid="19"/>
                                        </p:tgtEl>
                                        <p:attrNameLst>
                                          <p:attrName>ppt_x</p:attrName>
                                        </p:attrNameLst>
                                      </p:cBhvr>
                                      <p:tavLst>
                                        <p:tav tm="0">
                                          <p:val>
                                            <p:strVal val="#ppt_x"/>
                                          </p:val>
                                        </p:tav>
                                        <p:tav tm="100000">
                                          <p:val>
                                            <p:strVal val="#ppt_x"/>
                                          </p:val>
                                        </p:tav>
                                      </p:tavLst>
                                    </p:anim>
                                    <p:anim calcmode="lin" valueType="num">
                                      <p:cBhvr additive="base">
                                        <p:cTn id="36" dur="500" fill="hold"/>
                                        <p:tgtEl>
                                          <p:spTgt spid="19"/>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additive="base">
                                        <p:cTn id="47" dur="500" fill="hold"/>
                                        <p:tgtEl>
                                          <p:spTgt spid="23"/>
                                        </p:tgtEl>
                                        <p:attrNameLst>
                                          <p:attrName>ppt_x</p:attrName>
                                        </p:attrNameLst>
                                      </p:cBhvr>
                                      <p:tavLst>
                                        <p:tav tm="0">
                                          <p:val>
                                            <p:strVal val="#ppt_x"/>
                                          </p:val>
                                        </p:tav>
                                        <p:tav tm="100000">
                                          <p:val>
                                            <p:strVal val="#ppt_x"/>
                                          </p:val>
                                        </p:tav>
                                      </p:tavLst>
                                    </p:anim>
                                    <p:anim calcmode="lin" valueType="num">
                                      <p:cBhvr additive="base">
                                        <p:cTn id="48" dur="500" fill="hold"/>
                                        <p:tgtEl>
                                          <p:spTgt spid="2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animBg="1"/>
      <p:bldP spid="17" grpId="0" animBg="1"/>
      <p:bldP spid="18" grpId="0" animBg="1"/>
      <p:bldP spid="19" grpId="0" animBg="1"/>
      <p:bldP spid="21" grpId="0" animBg="1"/>
      <p:bldP spid="22" grpId="0" animBg="1"/>
      <p:bldP spid="23" grpId="0" animBg="1"/>
      <p:bldP spid="25" grpId="0" animBg="1"/>
      <p:bldP spid="32" grpId="0" animBg="1"/>
      <p:bldP spid="33" grpId="0" animBg="1"/>
      <p:bldP spid="3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B119-793C-0FDF-C32E-5F9DDE91E1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9267E8-8584-BDA9-D39B-300EAC7A87B4}"/>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E92872C3-0E9D-1C5F-A116-5900D1DCADC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AADF091B-9C17-B638-40BA-5AE0C84FB818}"/>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Understanding Tokens </a:t>
            </a:r>
          </a:p>
        </p:txBody>
      </p:sp>
      <p:sp>
        <p:nvSpPr>
          <p:cNvPr id="9" name="TextBox 8">
            <a:extLst>
              <a:ext uri="{FF2B5EF4-FFF2-40B4-BE49-F238E27FC236}">
                <a16:creationId xmlns:a16="http://schemas.microsoft.com/office/drawing/2014/main" id="{62AC4715-593F-BF2A-1E8F-7A0FF7951D7B}"/>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B431A747-CE62-D3DB-6E1D-A991DED273B4}"/>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E4E95363-7C0B-15FF-C8BD-02853A7DEC97}"/>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560A6279-38FB-B7CB-89A2-84DEBF975B7E}"/>
              </a:ext>
            </a:extLst>
          </p:cNvPr>
          <p:cNvSpPr txBox="1"/>
          <p:nvPr/>
        </p:nvSpPr>
        <p:spPr>
          <a:xfrm>
            <a:off x="153409" y="907669"/>
            <a:ext cx="8905799"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Use the </a:t>
            </a:r>
            <a:r>
              <a:rPr lang="en-US" sz="1600" dirty="0">
                <a:latin typeface="Montserrat" panose="00000500000000000000" pitchFamily="2" charset="0"/>
                <a:hlinkClick r:id="rId4"/>
              </a:rPr>
              <a:t>OpenAI Tokenizer Tool </a:t>
            </a:r>
            <a:r>
              <a:rPr lang="en-US" sz="1600" dirty="0">
                <a:latin typeface="Montserrat" panose="00000500000000000000" pitchFamily="2" charset="0"/>
              </a:rPr>
              <a:t>to analyze the following two prompts. Record the number of tokens for each of the following examples:</a:t>
            </a:r>
          </a:p>
          <a:p>
            <a:pPr marL="742950" lvl="1" indent="-285750">
              <a:buFont typeface="Courier New" panose="02070309020205020404" pitchFamily="49" charset="0"/>
              <a:buChar char="o"/>
            </a:pPr>
            <a:r>
              <a:rPr lang="en-US" sz="1600" i="1" dirty="0">
                <a:latin typeface="Montserrat" panose="00000500000000000000" pitchFamily="2" charset="0"/>
              </a:rPr>
              <a:t>Example 1: "Explain the difference between supervised and unsupervised learning in AI."</a:t>
            </a:r>
          </a:p>
          <a:p>
            <a:pPr marL="742950" lvl="1" indent="-285750">
              <a:buFont typeface="Courier New" panose="02070309020205020404" pitchFamily="49" charset="0"/>
              <a:buChar char="o"/>
            </a:pPr>
            <a:r>
              <a:rPr lang="en-US" sz="1600" i="1" dirty="0">
                <a:latin typeface="Montserrat" panose="00000500000000000000" pitchFamily="2" charset="0"/>
              </a:rPr>
              <a:t>Example 2: "Please explain the difference between supervised and unsupervised learning in AI. Thank You."</a:t>
            </a:r>
          </a:p>
          <a:p>
            <a:pPr marL="285750" indent="-285750">
              <a:buFont typeface="Arial" panose="020B0604020202020204" pitchFamily="34" charset="0"/>
              <a:buChar char="•"/>
            </a:pPr>
            <a:r>
              <a:rPr lang="en-US" sz="1600" dirty="0">
                <a:latin typeface="Montserrat" panose="00000500000000000000" pitchFamily="2" charset="0"/>
              </a:rPr>
              <a:t>Which sentence had more tokens?</a:t>
            </a:r>
          </a:p>
          <a:p>
            <a:pPr marL="285750" indent="-285750">
              <a:buFont typeface="Arial" panose="020B0604020202020204" pitchFamily="34" charset="0"/>
              <a:buChar char="•"/>
            </a:pPr>
            <a:r>
              <a:rPr lang="en-US" sz="1600" dirty="0">
                <a:latin typeface="Montserrat" panose="00000500000000000000" pitchFamily="2" charset="0"/>
              </a:rPr>
              <a:t>Reflect: Sam Altman once mentioned that people typing “thank you” and "please" to ChatGPT cost OpenAI millions of dollars. What does this tell you about the importance of token efficiency when designing prompts or building tools? (</a:t>
            </a:r>
            <a:r>
              <a:rPr lang="en-US" sz="1600" dirty="0">
                <a:latin typeface="Montserrat" panose="00000500000000000000" pitchFamily="2" charset="0"/>
                <a:hlinkClick r:id="rId5"/>
              </a:rPr>
              <a:t>https://futurism.com/altman-please-thanks-chatgpt</a:t>
            </a:r>
            <a:r>
              <a:rPr lang="en-US" sz="1600" dirty="0">
                <a:latin typeface="Montserrat" panose="00000500000000000000" pitchFamily="2" charset="0"/>
              </a:rPr>
              <a:t>)</a:t>
            </a:r>
          </a:p>
          <a:p>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CA27231B-FFAA-F14A-02D5-B1871A7DECF8}"/>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2907660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945B-9AC5-9655-1F3F-BA8913D45B1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F780441-8869-1559-1FBA-4AE9F8E4DA82}"/>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E594419-2D55-73D1-796E-0D29D1F00F5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BC95098-DA5D-8E90-AA7A-9EE94D9F06F1}"/>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Solution</a:t>
            </a:r>
          </a:p>
        </p:txBody>
      </p:sp>
      <p:sp>
        <p:nvSpPr>
          <p:cNvPr id="9" name="TextBox 8">
            <a:extLst>
              <a:ext uri="{FF2B5EF4-FFF2-40B4-BE49-F238E27FC236}">
                <a16:creationId xmlns:a16="http://schemas.microsoft.com/office/drawing/2014/main" id="{99A51415-D902-DB72-57F4-B249C4FB9E2F}"/>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1D2F54A1-A847-84F9-E14D-28C0FDD23C3B}"/>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pic>
        <p:nvPicPr>
          <p:cNvPr id="2" name="Picture 1">
            <a:extLst>
              <a:ext uri="{FF2B5EF4-FFF2-40B4-BE49-F238E27FC236}">
                <a16:creationId xmlns:a16="http://schemas.microsoft.com/office/drawing/2014/main" id="{27641939-3BD4-782F-1EC6-3078BEAB4736}"/>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pic>
        <p:nvPicPr>
          <p:cNvPr id="11" name="Picture 10">
            <a:extLst>
              <a:ext uri="{FF2B5EF4-FFF2-40B4-BE49-F238E27FC236}">
                <a16:creationId xmlns:a16="http://schemas.microsoft.com/office/drawing/2014/main" id="{4EC9C979-DB65-0995-7B76-86C67FEFB6A7}"/>
              </a:ext>
            </a:extLst>
          </p:cNvPr>
          <p:cNvPicPr>
            <a:picLocks noChangeAspect="1"/>
          </p:cNvPicPr>
          <p:nvPr/>
        </p:nvPicPr>
        <p:blipFill>
          <a:blip r:embed="rId5"/>
          <a:stretch>
            <a:fillRect/>
          </a:stretch>
        </p:blipFill>
        <p:spPr>
          <a:xfrm>
            <a:off x="164684" y="1017178"/>
            <a:ext cx="4317272" cy="3766391"/>
          </a:xfrm>
          <a:prstGeom prst="rect">
            <a:avLst/>
          </a:prstGeom>
        </p:spPr>
      </p:pic>
      <p:pic>
        <p:nvPicPr>
          <p:cNvPr id="13" name="Picture 12">
            <a:extLst>
              <a:ext uri="{FF2B5EF4-FFF2-40B4-BE49-F238E27FC236}">
                <a16:creationId xmlns:a16="http://schemas.microsoft.com/office/drawing/2014/main" id="{84B6D989-F72A-F660-79AF-F662FCF47299}"/>
              </a:ext>
            </a:extLst>
          </p:cNvPr>
          <p:cNvPicPr>
            <a:picLocks noChangeAspect="1"/>
          </p:cNvPicPr>
          <p:nvPr/>
        </p:nvPicPr>
        <p:blipFill>
          <a:blip r:embed="rId6"/>
          <a:stretch>
            <a:fillRect/>
          </a:stretch>
        </p:blipFill>
        <p:spPr>
          <a:xfrm>
            <a:off x="4793157" y="1094367"/>
            <a:ext cx="4359232" cy="3689202"/>
          </a:xfrm>
          <a:prstGeom prst="rect">
            <a:avLst/>
          </a:prstGeom>
        </p:spPr>
      </p:pic>
    </p:spTree>
    <p:extLst>
      <p:ext uri="{BB962C8B-B14F-4D97-AF65-F5344CB8AC3E}">
        <p14:creationId xmlns:p14="http://schemas.microsoft.com/office/powerpoint/2010/main" val="3210756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60D1A-8343-AE39-1C7E-EB4560514C8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993B865-5280-52F8-A7E5-87FF21D1B68E}"/>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2C86A26-F672-CFE8-4EBB-1EF96160F88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F961F49B-3EBA-2426-8DB8-4448657D3F61}"/>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SKILLS</a:t>
            </a:r>
          </a:p>
        </p:txBody>
      </p:sp>
      <p:pic>
        <p:nvPicPr>
          <p:cNvPr id="5" name="Picture 4">
            <a:extLst>
              <a:ext uri="{FF2B5EF4-FFF2-40B4-BE49-F238E27FC236}">
                <a16:creationId xmlns:a16="http://schemas.microsoft.com/office/drawing/2014/main" id="{D5D140DA-6AA1-A14D-0F75-696D7BF4D7D6}"/>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4025187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86C7-9C61-0178-9610-3988792187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CB3F50-D8DA-5FAF-D185-04525A1A21FB}"/>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DCFAE0E2-835B-946D-EFB6-90EB172566F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700D3CCC-EC6E-1028-45B6-92981E49C0E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What does a Skill file look like?</a:t>
            </a:r>
          </a:p>
        </p:txBody>
      </p:sp>
      <p:sp>
        <p:nvSpPr>
          <p:cNvPr id="9" name="TextBox 8">
            <a:extLst>
              <a:ext uri="{FF2B5EF4-FFF2-40B4-BE49-F238E27FC236}">
                <a16:creationId xmlns:a16="http://schemas.microsoft.com/office/drawing/2014/main" id="{6707CB1F-4C2F-FD85-36FE-E18DDA413E4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TextBox 2">
            <a:extLst>
              <a:ext uri="{FF2B5EF4-FFF2-40B4-BE49-F238E27FC236}">
                <a16:creationId xmlns:a16="http://schemas.microsoft.com/office/drawing/2014/main" id="{397E3BAD-8745-E1BE-2FFE-10E9A0D4B3FF}"/>
              </a:ext>
            </a:extLst>
          </p:cNvPr>
          <p:cNvSpPr txBox="1"/>
          <p:nvPr/>
        </p:nvSpPr>
        <p:spPr>
          <a:xfrm>
            <a:off x="236618" y="784575"/>
            <a:ext cx="11536281" cy="1754326"/>
          </a:xfrm>
          <a:prstGeom prst="rect">
            <a:avLst/>
          </a:prstGeom>
          <a:noFill/>
        </p:spPr>
        <p:txBody>
          <a:bodyPr wrap="square">
            <a:spAutoFit/>
          </a:bodyPr>
          <a:lstStyle>
            <a:defPPr>
              <a:defRPr lang="en-US"/>
            </a:defPPr>
            <a:lvl1pPr marL="285750" indent="-285750">
              <a:buFont typeface="Arial" panose="020B0604020202020204" pitchFamily="34" charset="0"/>
              <a:buChar char="•"/>
              <a:defRPr>
                <a:latin typeface="Montserrat" panose="00000500000000000000" pitchFamily="2" charset="0"/>
                <a:ea typeface="Calibri" pitchFamily="34" charset="-122"/>
                <a:cs typeface="Calibri" pitchFamily="34" charset="-120"/>
              </a:defRPr>
            </a:lvl1pPr>
          </a:lstStyle>
          <a:p>
            <a:pPr>
              <a:buClrTx/>
            </a:pPr>
            <a:r>
              <a:rPr lang="en-US" dirty="0"/>
              <a:t>Skills extend Claude's capabilities by giving it access to specialized knowledge and workflows. Create once, use everywhere.</a:t>
            </a:r>
          </a:p>
          <a:p>
            <a:pPr>
              <a:buClrTx/>
            </a:pPr>
            <a:r>
              <a:rPr lang="en-US" dirty="0"/>
              <a:t>Claude loads skills dynamically to improve performance on specialized tasks.</a:t>
            </a:r>
          </a:p>
          <a:p>
            <a:r>
              <a:rPr lang="en-US" dirty="0"/>
              <a:t>Every Skill requires a SKILL.md file. </a:t>
            </a:r>
          </a:p>
          <a:p>
            <a:r>
              <a:rPr lang="en-US" dirty="0"/>
              <a:t>Note that on the top of each SKILL.md file, there is metadata that describes what the skill does which includes name and description.</a:t>
            </a:r>
            <a:endParaRPr lang="en-CA" dirty="0"/>
          </a:p>
        </p:txBody>
      </p:sp>
      <p:pic>
        <p:nvPicPr>
          <p:cNvPr id="8" name="Picture 7">
            <a:extLst>
              <a:ext uri="{FF2B5EF4-FFF2-40B4-BE49-F238E27FC236}">
                <a16:creationId xmlns:a16="http://schemas.microsoft.com/office/drawing/2014/main" id="{FBB1AE7A-BB0C-D9BA-9A0F-0E74F409EEF9}"/>
              </a:ext>
            </a:extLst>
          </p:cNvPr>
          <p:cNvPicPr>
            <a:picLocks noChangeAspect="1"/>
          </p:cNvPicPr>
          <p:nvPr/>
        </p:nvPicPr>
        <p:blipFill>
          <a:blip r:embed="rId4"/>
          <a:stretch>
            <a:fillRect/>
          </a:stretch>
        </p:blipFill>
        <p:spPr>
          <a:xfrm>
            <a:off x="748397" y="2771323"/>
            <a:ext cx="10695205" cy="3756135"/>
          </a:xfrm>
          <a:prstGeom prst="rect">
            <a:avLst/>
          </a:prstGeom>
        </p:spPr>
      </p:pic>
    </p:spTree>
    <p:extLst>
      <p:ext uri="{BB962C8B-B14F-4D97-AF65-F5344CB8AC3E}">
        <p14:creationId xmlns:p14="http://schemas.microsoft.com/office/powerpoint/2010/main" val="300300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A2B1E-18FC-4AA6-B25F-972C6A666BA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5DA7F8-472E-1EFD-2BD3-0E138248B9EA}"/>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F69B1A5E-89E6-ED2E-80E1-BCC23F0D4544}"/>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315FA85-FA1A-E995-64FA-77386358B8B2}"/>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Skills Sources</a:t>
            </a:r>
          </a:p>
        </p:txBody>
      </p:sp>
      <p:sp>
        <p:nvSpPr>
          <p:cNvPr id="9" name="TextBox 8">
            <a:extLst>
              <a:ext uri="{FF2B5EF4-FFF2-40B4-BE49-F238E27FC236}">
                <a16:creationId xmlns:a16="http://schemas.microsoft.com/office/drawing/2014/main" id="{B19FC58B-B69E-FE8C-F725-A99CBA50270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14" name="Picture 13">
            <a:extLst>
              <a:ext uri="{FF2B5EF4-FFF2-40B4-BE49-F238E27FC236}">
                <a16:creationId xmlns:a16="http://schemas.microsoft.com/office/drawing/2014/main" id="{939D5ABF-B61E-9960-E152-B27D423281A7}"/>
              </a:ext>
            </a:extLst>
          </p:cNvPr>
          <p:cNvPicPr>
            <a:picLocks noChangeAspect="1"/>
          </p:cNvPicPr>
          <p:nvPr/>
        </p:nvPicPr>
        <p:blipFill>
          <a:blip r:embed="rId4"/>
          <a:stretch>
            <a:fillRect/>
          </a:stretch>
        </p:blipFill>
        <p:spPr>
          <a:xfrm>
            <a:off x="738666" y="1080645"/>
            <a:ext cx="8514945" cy="4280436"/>
          </a:xfrm>
          <a:prstGeom prst="rect">
            <a:avLst/>
          </a:prstGeom>
        </p:spPr>
      </p:pic>
      <p:sp>
        <p:nvSpPr>
          <p:cNvPr id="15" name="TextBox 14">
            <a:extLst>
              <a:ext uri="{FF2B5EF4-FFF2-40B4-BE49-F238E27FC236}">
                <a16:creationId xmlns:a16="http://schemas.microsoft.com/office/drawing/2014/main" id="{A1D5622C-95B2-437A-B466-1EF6A764E66D}"/>
              </a:ext>
            </a:extLst>
          </p:cNvPr>
          <p:cNvSpPr txBox="1"/>
          <p:nvPr/>
        </p:nvSpPr>
        <p:spPr>
          <a:xfrm>
            <a:off x="6549361" y="1067237"/>
            <a:ext cx="4952816" cy="1015663"/>
          </a:xfrm>
          <a:prstGeom prst="rect">
            <a:avLst/>
          </a:prstGeom>
          <a:noFill/>
        </p:spPr>
        <p:txBody>
          <a:bodyPr wrap="square">
            <a:spAutoFit/>
          </a:bodyPr>
          <a:lstStyle/>
          <a:p>
            <a:r>
              <a:rPr lang="en-CA" sz="2000" dirty="0">
                <a:solidFill>
                  <a:schemeClr val="bg1"/>
                </a:solidFill>
                <a:hlinkClick r:id="rId5">
                  <a:extLst>
                    <a:ext uri="{A12FA001-AC4F-418D-AE19-62706E023703}">
                      <ahyp:hlinkClr xmlns:ahyp="http://schemas.microsoft.com/office/drawing/2018/hyperlinkcolor" val="tx"/>
                    </a:ext>
                  </a:extLst>
                </a:hlinkClick>
              </a:rPr>
              <a:t>https://skills.sh/</a:t>
            </a:r>
            <a:endParaRPr lang="en-CA" sz="2000" dirty="0">
              <a:solidFill>
                <a:schemeClr val="bg1"/>
              </a:solidFill>
            </a:endParaRPr>
          </a:p>
          <a:p>
            <a:endParaRPr lang="en-CA" sz="2000" dirty="0">
              <a:solidFill>
                <a:schemeClr val="bg2"/>
              </a:solidFill>
            </a:endParaRPr>
          </a:p>
          <a:p>
            <a:endParaRPr lang="en-CA" sz="2000" dirty="0">
              <a:solidFill>
                <a:schemeClr val="bg2"/>
              </a:solidFill>
            </a:endParaRPr>
          </a:p>
        </p:txBody>
      </p:sp>
      <p:pic>
        <p:nvPicPr>
          <p:cNvPr id="16" name="Picture 15">
            <a:extLst>
              <a:ext uri="{FF2B5EF4-FFF2-40B4-BE49-F238E27FC236}">
                <a16:creationId xmlns:a16="http://schemas.microsoft.com/office/drawing/2014/main" id="{DDD0CAC2-87D1-2904-82EA-789E1C2475F3}"/>
              </a:ext>
            </a:extLst>
          </p:cNvPr>
          <p:cNvPicPr>
            <a:picLocks noChangeAspect="1"/>
          </p:cNvPicPr>
          <p:nvPr/>
        </p:nvPicPr>
        <p:blipFill>
          <a:blip r:embed="rId6"/>
          <a:stretch>
            <a:fillRect/>
          </a:stretch>
        </p:blipFill>
        <p:spPr>
          <a:xfrm>
            <a:off x="3394423" y="1984615"/>
            <a:ext cx="6939064" cy="3784587"/>
          </a:xfrm>
          <a:prstGeom prst="rect">
            <a:avLst/>
          </a:prstGeom>
          <a:ln>
            <a:solidFill>
              <a:schemeClr val="bg2"/>
            </a:solidFill>
          </a:ln>
        </p:spPr>
      </p:pic>
      <p:sp>
        <p:nvSpPr>
          <p:cNvPr id="17" name="TextBox 16">
            <a:extLst>
              <a:ext uri="{FF2B5EF4-FFF2-40B4-BE49-F238E27FC236}">
                <a16:creationId xmlns:a16="http://schemas.microsoft.com/office/drawing/2014/main" id="{1547CE59-F8AF-D460-C48A-BF8857673361}"/>
              </a:ext>
            </a:extLst>
          </p:cNvPr>
          <p:cNvSpPr txBox="1"/>
          <p:nvPr/>
        </p:nvSpPr>
        <p:spPr>
          <a:xfrm>
            <a:off x="7163418" y="2141176"/>
            <a:ext cx="3898034" cy="707886"/>
          </a:xfrm>
          <a:prstGeom prst="rect">
            <a:avLst/>
          </a:prstGeom>
          <a:noFill/>
        </p:spPr>
        <p:txBody>
          <a:bodyPr wrap="square">
            <a:spAutoFit/>
          </a:bodyPr>
          <a:lstStyle/>
          <a:p>
            <a:r>
              <a:rPr lang="en-CA" sz="2000" dirty="0">
                <a:solidFill>
                  <a:srgbClr val="022911"/>
                </a:solidFill>
                <a:hlinkClick r:id="rId7">
                  <a:extLst>
                    <a:ext uri="{A12FA001-AC4F-418D-AE19-62706E023703}">
                      <ahyp:hlinkClr xmlns:ahyp="http://schemas.microsoft.com/office/drawing/2018/hyperlinkcolor" val="tx"/>
                    </a:ext>
                  </a:extLst>
                </a:hlinkClick>
              </a:rPr>
              <a:t>https://www.skillhub.club/</a:t>
            </a:r>
            <a:endParaRPr lang="en-CA" sz="2000" dirty="0">
              <a:solidFill>
                <a:srgbClr val="022911"/>
              </a:solidFill>
            </a:endParaRPr>
          </a:p>
          <a:p>
            <a:endParaRPr lang="en-CA" sz="2000" dirty="0">
              <a:solidFill>
                <a:srgbClr val="022911"/>
              </a:solidFill>
            </a:endParaRPr>
          </a:p>
        </p:txBody>
      </p:sp>
      <p:pic>
        <p:nvPicPr>
          <p:cNvPr id="18" name="Picture 17">
            <a:extLst>
              <a:ext uri="{FF2B5EF4-FFF2-40B4-BE49-F238E27FC236}">
                <a16:creationId xmlns:a16="http://schemas.microsoft.com/office/drawing/2014/main" id="{174F1B2F-B662-83BD-A3BC-175C44CC4D09}"/>
              </a:ext>
            </a:extLst>
          </p:cNvPr>
          <p:cNvPicPr>
            <a:picLocks noChangeAspect="1"/>
          </p:cNvPicPr>
          <p:nvPr/>
        </p:nvPicPr>
        <p:blipFill>
          <a:blip r:embed="rId8"/>
          <a:stretch>
            <a:fillRect/>
          </a:stretch>
        </p:blipFill>
        <p:spPr>
          <a:xfrm>
            <a:off x="5381732" y="3463088"/>
            <a:ext cx="6269291" cy="3236655"/>
          </a:xfrm>
          <a:prstGeom prst="rect">
            <a:avLst/>
          </a:prstGeom>
          <a:ln>
            <a:solidFill>
              <a:schemeClr val="bg2"/>
            </a:solidFill>
          </a:ln>
        </p:spPr>
      </p:pic>
      <p:sp>
        <p:nvSpPr>
          <p:cNvPr id="19" name="TextBox 18">
            <a:extLst>
              <a:ext uri="{FF2B5EF4-FFF2-40B4-BE49-F238E27FC236}">
                <a16:creationId xmlns:a16="http://schemas.microsoft.com/office/drawing/2014/main" id="{33C1F8D8-DB43-1328-83F9-9A08668A2981}"/>
              </a:ext>
            </a:extLst>
          </p:cNvPr>
          <p:cNvSpPr txBox="1"/>
          <p:nvPr/>
        </p:nvSpPr>
        <p:spPr>
          <a:xfrm>
            <a:off x="8665224" y="3653701"/>
            <a:ext cx="2930396" cy="707886"/>
          </a:xfrm>
          <a:prstGeom prst="rect">
            <a:avLst/>
          </a:prstGeom>
          <a:noFill/>
        </p:spPr>
        <p:txBody>
          <a:bodyPr wrap="square">
            <a:spAutoFit/>
          </a:bodyPr>
          <a:lstStyle/>
          <a:p>
            <a:r>
              <a:rPr lang="en-CA" sz="2000" dirty="0">
                <a:solidFill>
                  <a:srgbClr val="022911"/>
                </a:solidFill>
                <a:hlinkClick r:id="rId9">
                  <a:extLst>
                    <a:ext uri="{A12FA001-AC4F-418D-AE19-62706E023703}">
                      <ahyp:hlinkClr xmlns:ahyp="http://schemas.microsoft.com/office/drawing/2018/hyperlinkcolor" val="tx"/>
                    </a:ext>
                  </a:extLst>
                </a:hlinkClick>
              </a:rPr>
              <a:t>https://skillsmp.com/</a:t>
            </a:r>
            <a:endParaRPr lang="en-CA" sz="2000" dirty="0">
              <a:solidFill>
                <a:srgbClr val="022911"/>
              </a:solidFill>
            </a:endParaRPr>
          </a:p>
          <a:p>
            <a:endParaRPr lang="en-CA" sz="2000" dirty="0"/>
          </a:p>
        </p:txBody>
      </p:sp>
      <p:sp>
        <p:nvSpPr>
          <p:cNvPr id="20" name="Rectangle 19">
            <a:extLst>
              <a:ext uri="{FF2B5EF4-FFF2-40B4-BE49-F238E27FC236}">
                <a16:creationId xmlns:a16="http://schemas.microsoft.com/office/drawing/2014/main" id="{7E7EBC53-5776-8E5D-4A76-03F5BB74F43C}"/>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Tree>
    <p:extLst>
      <p:ext uri="{BB962C8B-B14F-4D97-AF65-F5344CB8AC3E}">
        <p14:creationId xmlns:p14="http://schemas.microsoft.com/office/powerpoint/2010/main" val="730861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par>
                                <p:cTn id="16" presetID="10"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00"/>
                                        <p:tgtEl>
                                          <p:spTgt spid="19"/>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P spid="1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31561-4E21-7671-C40D-BF707908583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0ED2304-6C1B-B7C4-4C44-7BFE2A8A17D0}"/>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56A0A2EB-6C96-B07F-05AD-357EBFB3FE57}"/>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828E3EF-5B57-9E97-1212-0AB9F9B6DE50}"/>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Claude Agent Skills</a:t>
            </a:r>
          </a:p>
        </p:txBody>
      </p:sp>
      <p:sp>
        <p:nvSpPr>
          <p:cNvPr id="9" name="TextBox 8">
            <a:extLst>
              <a:ext uri="{FF2B5EF4-FFF2-40B4-BE49-F238E27FC236}">
                <a16:creationId xmlns:a16="http://schemas.microsoft.com/office/drawing/2014/main" id="{68A0087B-697B-453A-4420-BCB5948CBB82}"/>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0" name="Rectangle 19">
            <a:extLst>
              <a:ext uri="{FF2B5EF4-FFF2-40B4-BE49-F238E27FC236}">
                <a16:creationId xmlns:a16="http://schemas.microsoft.com/office/drawing/2014/main" id="{7C5BA997-4AE3-9B50-3632-52D0115B1A5C}"/>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
        <p:nvSpPr>
          <p:cNvPr id="21" name="TextBox 20">
            <a:extLst>
              <a:ext uri="{FF2B5EF4-FFF2-40B4-BE49-F238E27FC236}">
                <a16:creationId xmlns:a16="http://schemas.microsoft.com/office/drawing/2014/main" id="{1D72868F-1A4B-93A3-3FFA-65D9EB4B9D55}"/>
              </a:ext>
            </a:extLst>
          </p:cNvPr>
          <p:cNvSpPr txBox="1"/>
          <p:nvPr/>
        </p:nvSpPr>
        <p:spPr>
          <a:xfrm>
            <a:off x="139689" y="869700"/>
            <a:ext cx="11749731" cy="1291293"/>
          </a:xfrm>
          <a:prstGeom prst="rect">
            <a:avLst/>
          </a:prstGeom>
        </p:spPr>
        <p:txBody>
          <a:bodyPr vert="horz" lIns="91440" tIns="45720" rIns="91440" bIns="45720" rtlCol="0">
            <a:normAutofit/>
          </a:bodyPr>
          <a:lstStyle>
            <a:defPPr marR="0" lvl="0" algn="l" rtl="0">
              <a:lnSpc>
                <a:spcPct val="100000"/>
              </a:lnSpc>
              <a:spcBef>
                <a:spcPts val="0"/>
              </a:spcBef>
              <a:spcAft>
                <a:spcPts val="0"/>
              </a:spcAft>
            </a:defPPr>
            <a:lvl1pPr marL="228600" indent="-228600">
              <a:lnSpc>
                <a:spcPct val="90000"/>
              </a:lnSpc>
              <a:spcBef>
                <a:spcPts val="1000"/>
              </a:spcBef>
              <a:buClr>
                <a:srgbClr val="1BBFD1"/>
              </a:buClr>
              <a:buFont typeface="Arial" panose="020B0604020202020204" pitchFamily="34" charset="0"/>
              <a:buChar char="•"/>
              <a:defRPr sz="1350">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a:buClrTx/>
            </a:pPr>
            <a:endParaRPr lang="en-US" sz="1800" dirty="0"/>
          </a:p>
        </p:txBody>
      </p:sp>
      <p:sp>
        <p:nvSpPr>
          <p:cNvPr id="3" name="Text 3">
            <a:extLst>
              <a:ext uri="{FF2B5EF4-FFF2-40B4-BE49-F238E27FC236}">
                <a16:creationId xmlns:a16="http://schemas.microsoft.com/office/drawing/2014/main" id="{18F464A2-FDBC-BEB3-1E50-7DD0280BA9FF}"/>
              </a:ext>
            </a:extLst>
          </p:cNvPr>
          <p:cNvSpPr/>
          <p:nvPr/>
        </p:nvSpPr>
        <p:spPr>
          <a:xfrm>
            <a:off x="1665083" y="1661972"/>
            <a:ext cx="7315200" cy="685800"/>
          </a:xfrm>
          <a:prstGeom prst="rect">
            <a:avLst/>
          </a:prstGeom>
          <a:noFill/>
          <a:ln/>
        </p:spPr>
        <p:txBody>
          <a:bodyPr wrap="square" rtlCol="0" anchor="ctr"/>
          <a:lstStyle/>
          <a:p>
            <a:pPr marL="0" indent="0">
              <a:buNone/>
            </a:pPr>
            <a:endParaRPr lang="en-US" sz="1500" dirty="0"/>
          </a:p>
        </p:txBody>
      </p:sp>
      <p:sp>
        <p:nvSpPr>
          <p:cNvPr id="4" name="Shape 4">
            <a:extLst>
              <a:ext uri="{FF2B5EF4-FFF2-40B4-BE49-F238E27FC236}">
                <a16:creationId xmlns:a16="http://schemas.microsoft.com/office/drawing/2014/main" id="{A8CA9CA5-D555-1745-B51C-ADDCFADCFD33}"/>
              </a:ext>
            </a:extLst>
          </p:cNvPr>
          <p:cNvSpPr/>
          <p:nvPr/>
        </p:nvSpPr>
        <p:spPr>
          <a:xfrm>
            <a:off x="725283" y="1674600"/>
            <a:ext cx="3180080" cy="33249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sp>
        <p:nvSpPr>
          <p:cNvPr id="11" name="Text 6">
            <a:extLst>
              <a:ext uri="{FF2B5EF4-FFF2-40B4-BE49-F238E27FC236}">
                <a16:creationId xmlns:a16="http://schemas.microsoft.com/office/drawing/2014/main" id="{7EEBBA0D-FF8A-589D-B427-09A7CF9E5935}"/>
              </a:ext>
            </a:extLst>
          </p:cNvPr>
          <p:cNvSpPr/>
          <p:nvPr/>
        </p:nvSpPr>
        <p:spPr>
          <a:xfrm>
            <a:off x="1230260" y="2820906"/>
            <a:ext cx="2459990"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Built-in Skills</a:t>
            </a:r>
            <a:endParaRPr lang="en-US" sz="2800" dirty="0">
              <a:solidFill>
                <a:srgbClr val="0C1752"/>
              </a:solidFill>
              <a:latin typeface="Montserrat" panose="00000500000000000000" pitchFamily="2" charset="0"/>
            </a:endParaRPr>
          </a:p>
        </p:txBody>
      </p:sp>
      <p:sp>
        <p:nvSpPr>
          <p:cNvPr id="13" name="Text 7">
            <a:extLst>
              <a:ext uri="{FF2B5EF4-FFF2-40B4-BE49-F238E27FC236}">
                <a16:creationId xmlns:a16="http://schemas.microsoft.com/office/drawing/2014/main" id="{4DA697C0-01D9-550F-2F2A-A073C2F25B52}"/>
              </a:ext>
            </a:extLst>
          </p:cNvPr>
          <p:cNvSpPr/>
          <p:nvPr/>
        </p:nvSpPr>
        <p:spPr>
          <a:xfrm>
            <a:off x="1734910" y="4930326"/>
            <a:ext cx="2540332" cy="370629"/>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3" name="Text 8">
            <a:extLst>
              <a:ext uri="{FF2B5EF4-FFF2-40B4-BE49-F238E27FC236}">
                <a16:creationId xmlns:a16="http://schemas.microsoft.com/office/drawing/2014/main" id="{1795A8E8-7CF5-85A2-EF97-A14F7B3568D4}"/>
              </a:ext>
            </a:extLst>
          </p:cNvPr>
          <p:cNvSpPr/>
          <p:nvPr/>
        </p:nvSpPr>
        <p:spPr>
          <a:xfrm>
            <a:off x="1734910" y="520464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5" name="Text 9">
            <a:extLst>
              <a:ext uri="{FF2B5EF4-FFF2-40B4-BE49-F238E27FC236}">
                <a16:creationId xmlns:a16="http://schemas.microsoft.com/office/drawing/2014/main" id="{86963715-C719-669B-1CF5-8E0736AE51F1}"/>
              </a:ext>
            </a:extLst>
          </p:cNvPr>
          <p:cNvSpPr/>
          <p:nvPr/>
        </p:nvSpPr>
        <p:spPr>
          <a:xfrm>
            <a:off x="1734910" y="547896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7" name="Text 10">
            <a:extLst>
              <a:ext uri="{FF2B5EF4-FFF2-40B4-BE49-F238E27FC236}">
                <a16:creationId xmlns:a16="http://schemas.microsoft.com/office/drawing/2014/main" id="{6A33FC2B-E594-E535-8581-61EC8BEFF5F8}"/>
              </a:ext>
            </a:extLst>
          </p:cNvPr>
          <p:cNvSpPr/>
          <p:nvPr/>
        </p:nvSpPr>
        <p:spPr>
          <a:xfrm>
            <a:off x="1952288" y="528724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28" name="Shape 11">
            <a:extLst>
              <a:ext uri="{FF2B5EF4-FFF2-40B4-BE49-F238E27FC236}">
                <a16:creationId xmlns:a16="http://schemas.microsoft.com/office/drawing/2014/main" id="{34609753-E064-D65F-C2FE-6BB28056A4CD}"/>
              </a:ext>
            </a:extLst>
          </p:cNvPr>
          <p:cNvSpPr/>
          <p:nvPr/>
        </p:nvSpPr>
        <p:spPr>
          <a:xfrm>
            <a:off x="4225403" y="1674600"/>
            <a:ext cx="3017520" cy="3324932"/>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30" name="Image 5" descr="preencoded.png">
            <a:extLst>
              <a:ext uri="{FF2B5EF4-FFF2-40B4-BE49-F238E27FC236}">
                <a16:creationId xmlns:a16="http://schemas.microsoft.com/office/drawing/2014/main" id="{AE58A96D-5A3C-A4AC-320B-68EAB2162551}"/>
              </a:ext>
            </a:extLst>
          </p:cNvPr>
          <p:cNvPicPr>
            <a:picLocks noChangeAspect="1"/>
          </p:cNvPicPr>
          <p:nvPr/>
        </p:nvPicPr>
        <p:blipFill>
          <a:blip r:embed="rId4"/>
          <a:stretch>
            <a:fillRect/>
          </a:stretch>
        </p:blipFill>
        <p:spPr>
          <a:xfrm>
            <a:off x="5454774" y="1845827"/>
            <a:ext cx="719348" cy="719348"/>
          </a:xfrm>
          <a:prstGeom prst="rect">
            <a:avLst/>
          </a:prstGeom>
        </p:spPr>
      </p:pic>
      <p:sp>
        <p:nvSpPr>
          <p:cNvPr id="31" name="Text 13">
            <a:extLst>
              <a:ext uri="{FF2B5EF4-FFF2-40B4-BE49-F238E27FC236}">
                <a16:creationId xmlns:a16="http://schemas.microsoft.com/office/drawing/2014/main" id="{075BF071-C585-74FF-20FC-C76901D07C8E}"/>
              </a:ext>
            </a:extLst>
          </p:cNvPr>
          <p:cNvSpPr/>
          <p:nvPr/>
        </p:nvSpPr>
        <p:spPr>
          <a:xfrm>
            <a:off x="4522454" y="2835461"/>
            <a:ext cx="2713658"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Custom Skills</a:t>
            </a:r>
            <a:endParaRPr lang="en-US" sz="2800" dirty="0">
              <a:solidFill>
                <a:srgbClr val="0C1752"/>
              </a:solidFill>
              <a:latin typeface="Montserrat" panose="00000500000000000000" pitchFamily="2" charset="0"/>
            </a:endParaRPr>
          </a:p>
        </p:txBody>
      </p:sp>
      <p:sp>
        <p:nvSpPr>
          <p:cNvPr id="33" name="Text 14">
            <a:extLst>
              <a:ext uri="{FF2B5EF4-FFF2-40B4-BE49-F238E27FC236}">
                <a16:creationId xmlns:a16="http://schemas.microsoft.com/office/drawing/2014/main" id="{CD6E3011-100B-043A-6D8C-3BAA1598FE29}"/>
              </a:ext>
            </a:extLst>
          </p:cNvPr>
          <p:cNvSpPr/>
          <p:nvPr/>
        </p:nvSpPr>
        <p:spPr>
          <a:xfrm>
            <a:off x="5241380" y="5113206"/>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5" name="Text 15">
            <a:extLst>
              <a:ext uri="{FF2B5EF4-FFF2-40B4-BE49-F238E27FC236}">
                <a16:creationId xmlns:a16="http://schemas.microsoft.com/office/drawing/2014/main" id="{ABF711D3-0C32-605D-3455-9027A0E694FD}"/>
              </a:ext>
            </a:extLst>
          </p:cNvPr>
          <p:cNvSpPr/>
          <p:nvPr/>
        </p:nvSpPr>
        <p:spPr>
          <a:xfrm>
            <a:off x="5241380" y="5433246"/>
            <a:ext cx="2268220" cy="18288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7" name="Text 16">
            <a:extLst>
              <a:ext uri="{FF2B5EF4-FFF2-40B4-BE49-F238E27FC236}">
                <a16:creationId xmlns:a16="http://schemas.microsoft.com/office/drawing/2014/main" id="{B5A5C218-902E-D69E-3DCB-7D3FD0C4CA1B}"/>
              </a:ext>
            </a:extLst>
          </p:cNvPr>
          <p:cNvSpPr/>
          <p:nvPr/>
        </p:nvSpPr>
        <p:spPr>
          <a:xfrm>
            <a:off x="5458758" y="519580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39" name="Text 17">
            <a:extLst>
              <a:ext uri="{FF2B5EF4-FFF2-40B4-BE49-F238E27FC236}">
                <a16:creationId xmlns:a16="http://schemas.microsoft.com/office/drawing/2014/main" id="{D009A1F5-88A8-592D-8276-466666C13F90}"/>
              </a:ext>
            </a:extLst>
          </p:cNvPr>
          <p:cNvSpPr/>
          <p:nvPr/>
        </p:nvSpPr>
        <p:spPr>
          <a:xfrm>
            <a:off x="5458758" y="5470128"/>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0" name="Shape 18">
            <a:extLst>
              <a:ext uri="{FF2B5EF4-FFF2-40B4-BE49-F238E27FC236}">
                <a16:creationId xmlns:a16="http://schemas.microsoft.com/office/drawing/2014/main" id="{5C422014-F574-6D0A-3ABF-4198CC3F7FC1}"/>
              </a:ext>
            </a:extLst>
          </p:cNvPr>
          <p:cNvSpPr/>
          <p:nvPr/>
        </p:nvSpPr>
        <p:spPr>
          <a:xfrm>
            <a:off x="8019107" y="1690723"/>
            <a:ext cx="3206216" cy="3349973"/>
          </a:xfrm>
          <a:prstGeom prst="rect">
            <a:avLst/>
          </a:prstGeom>
          <a:solidFill>
            <a:srgbClr val="FFFFFF"/>
          </a:solidFill>
          <a:ln/>
          <a:effectLst>
            <a:outerShdw blurRad="101600" dist="38100" dir="8100000" algn="bl" rotWithShape="0">
              <a:srgbClr val="000000">
                <a:alpha val="12000"/>
              </a:srgbClr>
            </a:outerShdw>
          </a:effectLst>
        </p:spPr>
        <p:txBody>
          <a:bodyPr/>
          <a:lstStyle/>
          <a:p>
            <a:endParaRPr lang="en-CA"/>
          </a:p>
        </p:txBody>
      </p:sp>
      <p:pic>
        <p:nvPicPr>
          <p:cNvPr id="42" name="Image 10" descr="preencoded.png">
            <a:extLst>
              <a:ext uri="{FF2B5EF4-FFF2-40B4-BE49-F238E27FC236}">
                <a16:creationId xmlns:a16="http://schemas.microsoft.com/office/drawing/2014/main" id="{F957300C-1323-E965-818B-EBA8B842F021}"/>
              </a:ext>
            </a:extLst>
          </p:cNvPr>
          <p:cNvPicPr>
            <a:picLocks noChangeAspect="1"/>
          </p:cNvPicPr>
          <p:nvPr/>
        </p:nvPicPr>
        <p:blipFill>
          <a:blip r:embed="rId5">
            <a:duotone>
              <a:schemeClr val="accent3">
                <a:shade val="45000"/>
                <a:satMod val="135000"/>
              </a:schemeClr>
              <a:prstClr val="white"/>
            </a:duotone>
          </a:blip>
          <a:stretch>
            <a:fillRect/>
          </a:stretch>
        </p:blipFill>
        <p:spPr>
          <a:xfrm>
            <a:off x="9435103" y="1768289"/>
            <a:ext cx="827720" cy="827720"/>
          </a:xfrm>
          <a:prstGeom prst="rect">
            <a:avLst/>
          </a:prstGeom>
        </p:spPr>
      </p:pic>
      <p:sp>
        <p:nvSpPr>
          <p:cNvPr id="43" name="Text 20">
            <a:extLst>
              <a:ext uri="{FF2B5EF4-FFF2-40B4-BE49-F238E27FC236}">
                <a16:creationId xmlns:a16="http://schemas.microsoft.com/office/drawing/2014/main" id="{DB07499C-2414-2F42-F18A-EB42331376CD}"/>
              </a:ext>
            </a:extLst>
          </p:cNvPr>
          <p:cNvSpPr/>
          <p:nvPr/>
        </p:nvSpPr>
        <p:spPr>
          <a:xfrm>
            <a:off x="8345616" y="2835461"/>
            <a:ext cx="2683771" cy="320040"/>
          </a:xfrm>
          <a:prstGeom prst="rect">
            <a:avLst/>
          </a:prstGeom>
          <a:noFill/>
          <a:ln/>
        </p:spPr>
        <p:txBody>
          <a:bodyPr wrap="square" lIns="0" tIns="0" rIns="0" bIns="0" rtlCol="0" anchor="ctr"/>
          <a:lstStyle/>
          <a:p>
            <a:pPr marL="0" indent="0" algn="ctr">
              <a:buNone/>
            </a:pPr>
            <a:r>
              <a:rPr lang="en-US" sz="2800" b="1" dirty="0">
                <a:solidFill>
                  <a:srgbClr val="0C1752"/>
                </a:solidFill>
                <a:latin typeface="Montserrat" panose="00000500000000000000" pitchFamily="2" charset="0"/>
                <a:ea typeface="Trebuchet MS" pitchFamily="34" charset="-122"/>
                <a:cs typeface="Trebuchet MS" pitchFamily="34" charset="-120"/>
              </a:rPr>
              <a:t>Partner Skills</a:t>
            </a:r>
            <a:endParaRPr lang="en-US" sz="2800" dirty="0">
              <a:solidFill>
                <a:srgbClr val="0C1752"/>
              </a:solidFill>
              <a:latin typeface="Montserrat" panose="00000500000000000000" pitchFamily="2" charset="0"/>
            </a:endParaRPr>
          </a:p>
        </p:txBody>
      </p:sp>
      <p:sp>
        <p:nvSpPr>
          <p:cNvPr id="45" name="Text 21">
            <a:extLst>
              <a:ext uri="{FF2B5EF4-FFF2-40B4-BE49-F238E27FC236}">
                <a16:creationId xmlns:a16="http://schemas.microsoft.com/office/drawing/2014/main" id="{FD650153-311D-8BEA-6FF0-AE08629CCA13}"/>
              </a:ext>
            </a:extLst>
          </p:cNvPr>
          <p:cNvSpPr/>
          <p:nvPr/>
        </p:nvSpPr>
        <p:spPr>
          <a:xfrm>
            <a:off x="9154464" y="5011623"/>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7" name="Text 22">
            <a:extLst>
              <a:ext uri="{FF2B5EF4-FFF2-40B4-BE49-F238E27FC236}">
                <a16:creationId xmlns:a16="http://schemas.microsoft.com/office/drawing/2014/main" id="{6343F9C0-68FB-8A27-AC94-DA5910F00C2F}"/>
              </a:ext>
            </a:extLst>
          </p:cNvPr>
          <p:cNvSpPr/>
          <p:nvPr/>
        </p:nvSpPr>
        <p:spPr>
          <a:xfrm>
            <a:off x="9154464" y="5285943"/>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49" name="Text 23">
            <a:extLst>
              <a:ext uri="{FF2B5EF4-FFF2-40B4-BE49-F238E27FC236}">
                <a16:creationId xmlns:a16="http://schemas.microsoft.com/office/drawing/2014/main" id="{48B4B910-D9C4-DE77-C3E6-31578C4DEF3B}"/>
              </a:ext>
            </a:extLst>
          </p:cNvPr>
          <p:cNvSpPr/>
          <p:nvPr/>
        </p:nvSpPr>
        <p:spPr>
          <a:xfrm>
            <a:off x="9371842" y="5094225"/>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51" name="Text 24">
            <a:extLst>
              <a:ext uri="{FF2B5EF4-FFF2-40B4-BE49-F238E27FC236}">
                <a16:creationId xmlns:a16="http://schemas.microsoft.com/office/drawing/2014/main" id="{D94167A7-BC55-FDD6-D057-410922DF5EE2}"/>
              </a:ext>
            </a:extLst>
          </p:cNvPr>
          <p:cNvSpPr/>
          <p:nvPr/>
        </p:nvSpPr>
        <p:spPr>
          <a:xfrm>
            <a:off x="9371842" y="5368545"/>
            <a:ext cx="1691640" cy="228600"/>
          </a:xfrm>
          <a:prstGeom prst="rect">
            <a:avLst/>
          </a:prstGeom>
          <a:noFill/>
          <a:ln/>
        </p:spPr>
        <p:txBody>
          <a:bodyPr wrap="square" lIns="0" tIns="0" rIns="0" bIns="0" rtlCol="0" anchor="ctr"/>
          <a:lstStyle/>
          <a:p>
            <a:pPr marL="0" indent="0">
              <a:buNone/>
            </a:pPr>
            <a:endParaRPr lang="en-US" sz="1400" dirty="0">
              <a:latin typeface="Montserrat" panose="00000500000000000000" pitchFamily="2" charset="0"/>
            </a:endParaRPr>
          </a:p>
        </p:txBody>
      </p:sp>
      <p:sp>
        <p:nvSpPr>
          <p:cNvPr id="54" name="Text 6">
            <a:extLst>
              <a:ext uri="{FF2B5EF4-FFF2-40B4-BE49-F238E27FC236}">
                <a16:creationId xmlns:a16="http://schemas.microsoft.com/office/drawing/2014/main" id="{EC1566D7-1B8F-71B6-863D-D852394E12F3}"/>
              </a:ext>
            </a:extLst>
          </p:cNvPr>
          <p:cNvSpPr/>
          <p:nvPr/>
        </p:nvSpPr>
        <p:spPr>
          <a:xfrm>
            <a:off x="1125333" y="3541483"/>
            <a:ext cx="2876550"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Excel spreadsheets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Word documents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PowerPoint decks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PDF processing</a:t>
            </a:r>
            <a:endParaRPr lang="en-US" dirty="0">
              <a:latin typeface="Montserrat" panose="00000500000000000000" pitchFamily="2" charset="0"/>
            </a:endParaRPr>
          </a:p>
          <a:p>
            <a:pPr marL="285750" indent="-285750">
              <a:buFont typeface="Arial" panose="020B0604020202020204" pitchFamily="34" charset="0"/>
              <a:buChar char="•"/>
            </a:pPr>
            <a:endParaRPr lang="en-US" dirty="0">
              <a:latin typeface="Montserrat" panose="00000500000000000000" pitchFamily="2" charset="0"/>
            </a:endParaRPr>
          </a:p>
          <a:p>
            <a:pPr marL="285750" indent="-285750">
              <a:buFont typeface="Arial" panose="020B0604020202020204" pitchFamily="34" charset="0"/>
              <a:buChar char="•"/>
            </a:pPr>
            <a:endParaRPr lang="en-US" dirty="0">
              <a:latin typeface="Montserrat" panose="00000500000000000000" pitchFamily="2" charset="0"/>
            </a:endParaRPr>
          </a:p>
        </p:txBody>
      </p:sp>
      <p:sp>
        <p:nvSpPr>
          <p:cNvPr id="55" name="Text 6">
            <a:extLst>
              <a:ext uri="{FF2B5EF4-FFF2-40B4-BE49-F238E27FC236}">
                <a16:creationId xmlns:a16="http://schemas.microsoft.com/office/drawing/2014/main" id="{50300769-83CC-2150-E870-5803F5FB7649}"/>
              </a:ext>
            </a:extLst>
          </p:cNvPr>
          <p:cNvSpPr/>
          <p:nvPr/>
        </p:nvSpPr>
        <p:spPr>
          <a:xfrm>
            <a:off x="4405012" y="3285422"/>
            <a:ext cx="2876550"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Create your own</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Upload via Customize</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Tailored to your needs</a:t>
            </a:r>
            <a:endParaRPr lang="en-US" dirty="0">
              <a:latin typeface="Montserrat" panose="00000500000000000000" pitchFamily="2" charset="0"/>
            </a:endParaRPr>
          </a:p>
        </p:txBody>
      </p:sp>
      <p:sp>
        <p:nvSpPr>
          <p:cNvPr id="56" name="Text 6">
            <a:extLst>
              <a:ext uri="{FF2B5EF4-FFF2-40B4-BE49-F238E27FC236}">
                <a16:creationId xmlns:a16="http://schemas.microsoft.com/office/drawing/2014/main" id="{AB71B90E-E6EF-E75A-6953-C385F6D4B30A}"/>
              </a:ext>
            </a:extLst>
          </p:cNvPr>
          <p:cNvSpPr/>
          <p:nvPr/>
        </p:nvSpPr>
        <p:spPr>
          <a:xfrm>
            <a:off x="8212468" y="3752856"/>
            <a:ext cx="3206215" cy="1338043"/>
          </a:xfrm>
          <a:prstGeom prst="rect">
            <a:avLst/>
          </a:prstGeom>
          <a:noFill/>
          <a:ln/>
        </p:spPr>
        <p:txBody>
          <a:bodyPr wrap="square" lIns="0" tIns="0" rIns="0" bIns="0" rtlCol="0" anchor="ctr"/>
          <a:lstStyle/>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Notion, Figma, Atlassian</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Work with MCP connectors</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Professionally built</a:t>
            </a:r>
          </a:p>
          <a:p>
            <a:pPr marL="285750" indent="-285750">
              <a:buFont typeface="Arial" panose="020B0604020202020204" pitchFamily="34" charset="0"/>
              <a:buChar char="•"/>
            </a:pPr>
            <a:r>
              <a:rPr lang="en-US" dirty="0">
                <a:latin typeface="Montserrat" panose="00000500000000000000" pitchFamily="2" charset="0"/>
                <a:ea typeface="Calibri" pitchFamily="34" charset="-122"/>
                <a:cs typeface="Calibri" pitchFamily="34" charset="-120"/>
              </a:rPr>
              <a:t>Skills Directory</a:t>
            </a:r>
            <a:endParaRPr lang="en-US" dirty="0">
              <a:latin typeface="Montserrat" panose="00000500000000000000" pitchFamily="2" charset="0"/>
            </a:endParaRPr>
          </a:p>
          <a:p>
            <a:endParaRPr lang="en-US" dirty="0">
              <a:latin typeface="Montserrat" panose="00000500000000000000" pitchFamily="2" charset="0"/>
            </a:endParaRPr>
          </a:p>
          <a:p>
            <a:endParaRPr lang="en-US" dirty="0">
              <a:latin typeface="Montserrat" panose="00000500000000000000" pitchFamily="2" charset="0"/>
            </a:endParaRPr>
          </a:p>
          <a:p>
            <a:endParaRPr lang="en-US" dirty="0">
              <a:latin typeface="Montserrat" panose="00000500000000000000" pitchFamily="2" charset="0"/>
            </a:endParaRPr>
          </a:p>
        </p:txBody>
      </p:sp>
      <p:pic>
        <p:nvPicPr>
          <p:cNvPr id="57" name="Image 4" descr="preencoded.png">
            <a:extLst>
              <a:ext uri="{FF2B5EF4-FFF2-40B4-BE49-F238E27FC236}">
                <a16:creationId xmlns:a16="http://schemas.microsoft.com/office/drawing/2014/main" id="{549EF195-6400-84B4-8869-6D2B023C3CBA}"/>
              </a:ext>
            </a:extLst>
          </p:cNvPr>
          <p:cNvPicPr>
            <a:picLocks noChangeAspect="1"/>
          </p:cNvPicPr>
          <p:nvPr/>
        </p:nvPicPr>
        <p:blipFill>
          <a:blip r:embed="rId6">
            <a:duotone>
              <a:prstClr val="black"/>
              <a:schemeClr val="accent1">
                <a:tint val="45000"/>
                <a:satMod val="400000"/>
              </a:schemeClr>
            </a:duotone>
          </a:blip>
          <a:stretch>
            <a:fillRect/>
          </a:stretch>
        </p:blipFill>
        <p:spPr>
          <a:xfrm>
            <a:off x="1881143" y="1753500"/>
            <a:ext cx="812640" cy="812640"/>
          </a:xfrm>
          <a:prstGeom prst="rect">
            <a:avLst/>
          </a:prstGeom>
        </p:spPr>
      </p:pic>
      <p:sp>
        <p:nvSpPr>
          <p:cNvPr id="58" name="TextBox 57">
            <a:extLst>
              <a:ext uri="{FF2B5EF4-FFF2-40B4-BE49-F238E27FC236}">
                <a16:creationId xmlns:a16="http://schemas.microsoft.com/office/drawing/2014/main" id="{695E6806-2886-386F-2198-434BE0C21CA0}"/>
              </a:ext>
            </a:extLst>
          </p:cNvPr>
          <p:cNvSpPr txBox="1"/>
          <p:nvPr/>
        </p:nvSpPr>
        <p:spPr>
          <a:xfrm>
            <a:off x="261009" y="1021846"/>
            <a:ext cx="11387469" cy="1291293"/>
          </a:xfrm>
          <a:prstGeom prst="rect">
            <a:avLst/>
          </a:prstGeom>
        </p:spPr>
        <p:txBody>
          <a:bodyPr vert="horz" lIns="91440" tIns="45720" rIns="91440" bIns="45720" rtlCol="0">
            <a:normAutofit/>
          </a:bodyPr>
          <a:lstStyle>
            <a:defPPr marR="0" lvl="0" algn="l" rtl="0">
              <a:lnSpc>
                <a:spcPct val="100000"/>
              </a:lnSpc>
              <a:spcBef>
                <a:spcPts val="0"/>
              </a:spcBef>
              <a:spcAft>
                <a:spcPts val="0"/>
              </a:spcAft>
            </a:defPPr>
            <a:lvl1pPr marL="228600" indent="-228600">
              <a:lnSpc>
                <a:spcPct val="90000"/>
              </a:lnSpc>
              <a:spcBef>
                <a:spcPts val="1000"/>
              </a:spcBef>
              <a:buClr>
                <a:srgbClr val="1BBFD1"/>
              </a:buClr>
              <a:buFont typeface="Arial" panose="020B0604020202020204" pitchFamily="34" charset="0"/>
              <a:buChar char="•"/>
              <a:defRPr sz="1350">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a:buClrTx/>
            </a:pPr>
            <a:endParaRPr lang="en-US" sz="1800" dirty="0"/>
          </a:p>
        </p:txBody>
      </p:sp>
    </p:spTree>
    <p:extLst>
      <p:ext uri="{BB962C8B-B14F-4D97-AF65-F5344CB8AC3E}">
        <p14:creationId xmlns:p14="http://schemas.microsoft.com/office/powerpoint/2010/main" val="78464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50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4"/>
                                        </p:tgtEl>
                                        <p:attrNameLst>
                                          <p:attrName>style.visibility</p:attrName>
                                        </p:attrNameLst>
                                      </p:cBhvr>
                                      <p:to>
                                        <p:strVal val="visible"/>
                                      </p:to>
                                    </p:set>
                                    <p:animEffect transition="in" filter="fade">
                                      <p:cBhvr>
                                        <p:cTn id="16" dur="500"/>
                                        <p:tgtEl>
                                          <p:spTgt spid="54"/>
                                        </p:tgtEl>
                                      </p:cBhvr>
                                    </p:animEffect>
                                  </p:childTnLst>
                                </p:cTn>
                              </p:par>
                              <p:par>
                                <p:cTn id="17" presetID="10" presetClass="entr" presetSubtype="0" fill="hold" nodeType="withEffect">
                                  <p:stCondLst>
                                    <p:cond delay="0"/>
                                  </p:stCondLst>
                                  <p:childTnLst>
                                    <p:set>
                                      <p:cBhvr>
                                        <p:cTn id="18" dur="1" fill="hold">
                                          <p:stCondLst>
                                            <p:cond delay="0"/>
                                          </p:stCondLst>
                                        </p:cTn>
                                        <p:tgtEl>
                                          <p:spTgt spid="57"/>
                                        </p:tgtEl>
                                        <p:attrNameLst>
                                          <p:attrName>style.visibility</p:attrName>
                                        </p:attrNameLst>
                                      </p:cBhvr>
                                      <p:to>
                                        <p:strVal val="visible"/>
                                      </p:to>
                                    </p:set>
                                    <p:animEffect transition="in" filter="fade">
                                      <p:cBhvr>
                                        <p:cTn id="19" dur="500"/>
                                        <p:tgtEl>
                                          <p:spTgt spid="5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500"/>
                                        <p:tgtEl>
                                          <p:spTgt spid="28"/>
                                        </p:tgtEl>
                                      </p:cBhvr>
                                    </p:animEffect>
                                  </p:childTnLst>
                                </p:cTn>
                              </p:par>
                              <p:par>
                                <p:cTn id="25" presetID="10"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tgtEl>
                                          <p:spTgt spid="3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fade">
                                      <p:cBhvr>
                                        <p:cTn id="33" dur="500"/>
                                        <p:tgtEl>
                                          <p:spTgt spid="3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Effect transition="in" filter="fade">
                                      <p:cBhvr>
                                        <p:cTn id="36" dur="500"/>
                                        <p:tgtEl>
                                          <p:spTgt spid="3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Effect transition="in" filter="fade">
                                      <p:cBhvr>
                                        <p:cTn id="39" dur="500"/>
                                        <p:tgtEl>
                                          <p:spTgt spid="5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fade">
                                      <p:cBhvr>
                                        <p:cTn id="44" dur="500"/>
                                        <p:tgtEl>
                                          <p:spTgt spid="40"/>
                                        </p:tgtEl>
                                      </p:cBhvr>
                                    </p:animEffect>
                                  </p:childTnLst>
                                </p:cTn>
                              </p:par>
                              <p:par>
                                <p:cTn id="45" presetID="10" presetClass="entr" presetSubtype="0" fill="hold" nodeType="withEffect">
                                  <p:stCondLst>
                                    <p:cond delay="0"/>
                                  </p:stCondLst>
                                  <p:childTnLst>
                                    <p:set>
                                      <p:cBhvr>
                                        <p:cTn id="46" dur="1" fill="hold">
                                          <p:stCondLst>
                                            <p:cond delay="0"/>
                                          </p:stCondLst>
                                        </p:cTn>
                                        <p:tgtEl>
                                          <p:spTgt spid="42"/>
                                        </p:tgtEl>
                                        <p:attrNameLst>
                                          <p:attrName>style.visibility</p:attrName>
                                        </p:attrNameLst>
                                      </p:cBhvr>
                                      <p:to>
                                        <p:strVal val="visible"/>
                                      </p:to>
                                    </p:set>
                                    <p:animEffect transition="in" filter="fade">
                                      <p:cBhvr>
                                        <p:cTn id="47" dur="500"/>
                                        <p:tgtEl>
                                          <p:spTgt spid="4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3"/>
                                        </p:tgtEl>
                                        <p:attrNameLst>
                                          <p:attrName>style.visibility</p:attrName>
                                        </p:attrNameLst>
                                      </p:cBhvr>
                                      <p:to>
                                        <p:strVal val="visible"/>
                                      </p:to>
                                    </p:set>
                                    <p:animEffect transition="in" filter="fade">
                                      <p:cBhvr>
                                        <p:cTn id="50" dur="500"/>
                                        <p:tgtEl>
                                          <p:spTgt spid="4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fade">
                                      <p:cBhvr>
                                        <p:cTn id="53" dur="500"/>
                                        <p:tgtEl>
                                          <p:spTgt spid="4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7"/>
                                        </p:tgtEl>
                                        <p:attrNameLst>
                                          <p:attrName>style.visibility</p:attrName>
                                        </p:attrNameLst>
                                      </p:cBhvr>
                                      <p:to>
                                        <p:strVal val="visible"/>
                                      </p:to>
                                    </p:set>
                                    <p:animEffect transition="in" filter="fade">
                                      <p:cBhvr>
                                        <p:cTn id="56" dur="500"/>
                                        <p:tgtEl>
                                          <p:spTgt spid="4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fade">
                                      <p:cBhvr>
                                        <p:cTn id="5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23" grpId="0" animBg="1"/>
      <p:bldP spid="28" grpId="0" animBg="1"/>
      <p:bldP spid="31" grpId="0" animBg="1"/>
      <p:bldP spid="33" grpId="0" animBg="1"/>
      <p:bldP spid="35" grpId="0" animBg="1"/>
      <p:bldP spid="40" grpId="0" animBg="1"/>
      <p:bldP spid="43" grpId="0" animBg="1"/>
      <p:bldP spid="45" grpId="0" animBg="1"/>
      <p:bldP spid="47" grpId="0" animBg="1"/>
      <p:bldP spid="54" grpId="0" animBg="1"/>
      <p:bldP spid="55" grpId="0" animBg="1"/>
      <p:bldP spid="5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89B43-64B3-EF3F-19A4-65623C3C164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5C27C2C-303F-4984-6D14-D06C6DAA681A}"/>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E855E9A2-A459-FF45-BFA5-B0619B7AA3F0}"/>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636F913-5476-E9A3-AE58-6DA04C9BFD3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Example: Loading PDF Skill</a:t>
            </a:r>
          </a:p>
        </p:txBody>
      </p:sp>
      <p:sp>
        <p:nvSpPr>
          <p:cNvPr id="9" name="TextBox 8">
            <a:extLst>
              <a:ext uri="{FF2B5EF4-FFF2-40B4-BE49-F238E27FC236}">
                <a16:creationId xmlns:a16="http://schemas.microsoft.com/office/drawing/2014/main" id="{C1F31908-84CB-3DCD-98FC-8EA0470FFA0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4" name="TextBox 3">
            <a:extLst>
              <a:ext uri="{FF2B5EF4-FFF2-40B4-BE49-F238E27FC236}">
                <a16:creationId xmlns:a16="http://schemas.microsoft.com/office/drawing/2014/main" id="{199BAA6A-5D61-8776-4756-4857B2C369E2}"/>
              </a:ext>
            </a:extLst>
          </p:cNvPr>
          <p:cNvSpPr txBox="1"/>
          <p:nvPr/>
        </p:nvSpPr>
        <p:spPr>
          <a:xfrm>
            <a:off x="307133" y="745993"/>
            <a:ext cx="11751564" cy="2308324"/>
          </a:xfrm>
          <a:prstGeom prst="rect">
            <a:avLst/>
          </a:prstGeom>
          <a:noFill/>
        </p:spPr>
        <p:txBody>
          <a:bodyPr wrap="square">
            <a:spAutoFit/>
          </a:bodyPr>
          <a:lstStyle/>
          <a:p>
            <a:pPr algn="l">
              <a:buNone/>
            </a:pPr>
            <a:r>
              <a:rPr lang="en-US" sz="1600" b="0" i="0" dirty="0">
                <a:solidFill>
                  <a:srgbClr val="3D3D3A"/>
                </a:solidFill>
                <a:effectLst/>
                <a:latin typeface="Montserrat" panose="00000500000000000000" pitchFamily="2" charset="0"/>
              </a:rPr>
              <a:t>Here's how Claude loads and uses a PDF processing skill:</a:t>
            </a:r>
          </a:p>
          <a:p>
            <a:pPr marL="800100" lvl="1" indent="-342900">
              <a:buFont typeface="+mj-lt"/>
              <a:buAutoNum type="arabicPeriod"/>
            </a:pPr>
            <a:r>
              <a:rPr lang="en-US" sz="1600" b="1" i="0" dirty="0">
                <a:solidFill>
                  <a:srgbClr val="3D3D3A"/>
                </a:solidFill>
                <a:effectLst/>
                <a:latin typeface="Montserrat" panose="00000500000000000000" pitchFamily="2" charset="0"/>
              </a:rPr>
              <a:t>Startup</a:t>
            </a:r>
            <a:r>
              <a:rPr lang="en-US" sz="1600" b="0" i="0" dirty="0">
                <a:solidFill>
                  <a:srgbClr val="3D3D3A"/>
                </a:solidFill>
                <a:effectLst/>
                <a:latin typeface="Montserrat" panose="00000500000000000000" pitchFamily="2" charset="0"/>
              </a:rPr>
              <a:t>: System prompt includes: PDF Processing - Extract text and tables from PDF files, fill forms, merge documents</a:t>
            </a:r>
          </a:p>
          <a:p>
            <a:pPr marL="800100" lvl="1" indent="-342900">
              <a:buFont typeface="+mj-lt"/>
              <a:buAutoNum type="arabicPeriod"/>
            </a:pPr>
            <a:r>
              <a:rPr lang="en-US" sz="1600" b="1" i="0" dirty="0">
                <a:solidFill>
                  <a:srgbClr val="3D3D3A"/>
                </a:solidFill>
                <a:effectLst/>
                <a:latin typeface="Montserrat" panose="00000500000000000000" pitchFamily="2" charset="0"/>
              </a:rPr>
              <a:t>User request</a:t>
            </a:r>
            <a:r>
              <a:rPr lang="en-US" sz="1600" b="0" i="0" dirty="0">
                <a:solidFill>
                  <a:srgbClr val="3D3D3A"/>
                </a:solidFill>
                <a:effectLst/>
                <a:latin typeface="Montserrat" panose="00000500000000000000" pitchFamily="2" charset="0"/>
              </a:rPr>
              <a:t>: "Extract the text from this PDF and summarize it"</a:t>
            </a:r>
          </a:p>
          <a:p>
            <a:pPr marL="800100" lvl="1" indent="-342900">
              <a:buFont typeface="+mj-lt"/>
              <a:buAutoNum type="arabicPeriod"/>
            </a:pPr>
            <a:r>
              <a:rPr lang="en-US" sz="1600" b="1" i="0" dirty="0">
                <a:solidFill>
                  <a:srgbClr val="3D3D3A"/>
                </a:solidFill>
                <a:effectLst/>
                <a:latin typeface="Montserrat" panose="00000500000000000000" pitchFamily="2" charset="0"/>
              </a:rPr>
              <a:t>Claude invokes</a:t>
            </a:r>
            <a:r>
              <a:rPr lang="en-US" sz="1600" b="0" i="0" dirty="0">
                <a:solidFill>
                  <a:srgbClr val="3D3D3A"/>
                </a:solidFill>
                <a:effectLst/>
                <a:latin typeface="Montserrat" panose="00000500000000000000" pitchFamily="2" charset="0"/>
              </a:rPr>
              <a:t>: bash: read pdf-skill/SKILL.md → Instructions loaded into context</a:t>
            </a:r>
          </a:p>
          <a:p>
            <a:pPr marL="800100" lvl="1" indent="-342900">
              <a:buFont typeface="+mj-lt"/>
              <a:buAutoNum type="arabicPeriod"/>
            </a:pPr>
            <a:r>
              <a:rPr lang="en-US" sz="1600" b="1" i="0" dirty="0">
                <a:solidFill>
                  <a:srgbClr val="3D3D3A"/>
                </a:solidFill>
                <a:effectLst/>
                <a:latin typeface="Montserrat" panose="00000500000000000000" pitchFamily="2" charset="0"/>
              </a:rPr>
              <a:t>Claude determines</a:t>
            </a:r>
            <a:r>
              <a:rPr lang="en-US" sz="1600" b="0" i="0" dirty="0">
                <a:solidFill>
                  <a:srgbClr val="3D3D3A"/>
                </a:solidFill>
                <a:effectLst/>
                <a:latin typeface="Montserrat" panose="00000500000000000000" pitchFamily="2" charset="0"/>
              </a:rPr>
              <a:t>: Form filling is not needed, so FORMS.md is not read</a:t>
            </a:r>
          </a:p>
          <a:p>
            <a:pPr marL="800100" lvl="1" indent="-342900">
              <a:buFont typeface="+mj-lt"/>
              <a:buAutoNum type="arabicPeriod"/>
            </a:pPr>
            <a:r>
              <a:rPr lang="en-US" sz="1600" b="1" i="0" dirty="0">
                <a:solidFill>
                  <a:srgbClr val="3D3D3A"/>
                </a:solidFill>
                <a:effectLst/>
                <a:latin typeface="Montserrat" panose="00000500000000000000" pitchFamily="2" charset="0"/>
              </a:rPr>
              <a:t>Claude executes</a:t>
            </a:r>
            <a:r>
              <a:rPr lang="en-US" sz="1600" b="0" i="0" dirty="0">
                <a:solidFill>
                  <a:srgbClr val="3D3D3A"/>
                </a:solidFill>
                <a:effectLst/>
                <a:latin typeface="Montserrat" panose="00000500000000000000" pitchFamily="2" charset="0"/>
              </a:rPr>
              <a:t>: Uses instructions from SKILL.md to complete the task</a:t>
            </a:r>
          </a:p>
          <a:p>
            <a:pPr>
              <a:buNone/>
            </a:pPr>
            <a:br>
              <a:rPr lang="en-US" sz="1600" dirty="0">
                <a:latin typeface="Montserrat" panose="00000500000000000000" pitchFamily="2" charset="0"/>
              </a:rPr>
            </a:br>
            <a:endParaRPr lang="en-CA" sz="1600" dirty="0">
              <a:latin typeface="Montserrat" panose="00000500000000000000" pitchFamily="2" charset="0"/>
            </a:endParaRPr>
          </a:p>
        </p:txBody>
      </p:sp>
      <p:pic>
        <p:nvPicPr>
          <p:cNvPr id="1026" name="Picture 2" descr="Skills loading into context window - showing the progressive loading of skill metadata and content">
            <a:extLst>
              <a:ext uri="{FF2B5EF4-FFF2-40B4-BE49-F238E27FC236}">
                <a16:creationId xmlns:a16="http://schemas.microsoft.com/office/drawing/2014/main" id="{8C0CA890-DF4D-A290-E49E-35E7BF82E1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545" y="2619876"/>
            <a:ext cx="4146359" cy="233628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B260DFA1-B65E-9AA5-BEE0-5DF124DEF430}"/>
              </a:ext>
            </a:extLst>
          </p:cNvPr>
          <p:cNvSpPr txBox="1"/>
          <p:nvPr/>
        </p:nvSpPr>
        <p:spPr>
          <a:xfrm>
            <a:off x="521904" y="5018690"/>
            <a:ext cx="10977372" cy="1569660"/>
          </a:xfrm>
          <a:prstGeom prst="rect">
            <a:avLst/>
          </a:prstGeom>
          <a:noFill/>
        </p:spPr>
        <p:txBody>
          <a:bodyPr wrap="square">
            <a:spAutoFit/>
          </a:bodyPr>
          <a:lstStyle/>
          <a:p>
            <a:pPr algn="l">
              <a:buNone/>
            </a:pPr>
            <a:r>
              <a:rPr lang="en-US" sz="1600" b="0" i="0" dirty="0">
                <a:solidFill>
                  <a:srgbClr val="3D3D3A"/>
                </a:solidFill>
                <a:effectLst/>
                <a:latin typeface="Montserrat" panose="00000500000000000000" pitchFamily="2" charset="0"/>
              </a:rPr>
              <a:t>The diagram shows:</a:t>
            </a:r>
          </a:p>
          <a:p>
            <a:pPr marL="800100" lvl="1" indent="-342900">
              <a:buFont typeface="+mj-lt"/>
              <a:buAutoNum type="arabicPeriod"/>
            </a:pPr>
            <a:r>
              <a:rPr lang="en-US" sz="1600" b="0" i="0" dirty="0">
                <a:solidFill>
                  <a:srgbClr val="3D3D3A"/>
                </a:solidFill>
                <a:effectLst/>
                <a:latin typeface="Montserrat" panose="00000500000000000000" pitchFamily="2" charset="0"/>
              </a:rPr>
              <a:t>Default state with system prompt and skill metadata pre-loaded</a:t>
            </a:r>
          </a:p>
          <a:p>
            <a:pPr marL="800100" lvl="1" indent="-342900">
              <a:buFont typeface="+mj-lt"/>
              <a:buAutoNum type="arabicPeriod"/>
            </a:pPr>
            <a:r>
              <a:rPr lang="en-US" sz="1600" b="0" i="0" dirty="0">
                <a:solidFill>
                  <a:srgbClr val="3D3D3A"/>
                </a:solidFill>
                <a:effectLst/>
                <a:latin typeface="Montserrat" panose="00000500000000000000" pitchFamily="2" charset="0"/>
              </a:rPr>
              <a:t>Claude triggers the skill by reading SKILL.md via bash</a:t>
            </a:r>
          </a:p>
          <a:p>
            <a:pPr marL="800100" lvl="1" indent="-342900">
              <a:buFont typeface="+mj-lt"/>
              <a:buAutoNum type="arabicPeriod"/>
            </a:pPr>
            <a:r>
              <a:rPr lang="en-US" sz="1600" b="0" i="0" dirty="0">
                <a:solidFill>
                  <a:srgbClr val="3D3D3A"/>
                </a:solidFill>
                <a:effectLst/>
                <a:latin typeface="Montserrat" panose="00000500000000000000" pitchFamily="2" charset="0"/>
              </a:rPr>
              <a:t>Claude optionally reads additional bundled files like FORMS.md as needed</a:t>
            </a:r>
          </a:p>
          <a:p>
            <a:pPr marL="800100" lvl="1" indent="-342900">
              <a:buFont typeface="+mj-lt"/>
              <a:buAutoNum type="arabicPeriod"/>
            </a:pPr>
            <a:r>
              <a:rPr lang="en-US" sz="1600" b="0" i="0" dirty="0">
                <a:solidFill>
                  <a:srgbClr val="3D3D3A"/>
                </a:solidFill>
                <a:effectLst/>
                <a:latin typeface="Montserrat" panose="00000500000000000000" pitchFamily="2" charset="0"/>
              </a:rPr>
              <a:t>Claude proceeds with the task</a:t>
            </a:r>
          </a:p>
          <a:p>
            <a:pPr marL="800100" lvl="1" indent="-342900">
              <a:buFont typeface="+mj-lt"/>
              <a:buAutoNum type="arabicPeriod"/>
            </a:pPr>
            <a:r>
              <a:rPr lang="en-US" sz="1600" b="0" i="0" dirty="0">
                <a:solidFill>
                  <a:srgbClr val="3D3D3A"/>
                </a:solidFill>
                <a:effectLst/>
                <a:latin typeface="Montserrat" panose="00000500000000000000" pitchFamily="2" charset="0"/>
              </a:rPr>
              <a:t>This dynamic loading ensures only relevant skill content occupies the context window.</a:t>
            </a:r>
          </a:p>
        </p:txBody>
      </p:sp>
    </p:spTree>
    <p:extLst>
      <p:ext uri="{BB962C8B-B14F-4D97-AF65-F5344CB8AC3E}">
        <p14:creationId xmlns:p14="http://schemas.microsoft.com/office/powerpoint/2010/main" val="382021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FD6D9-5648-41BB-506F-65875C1735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B07C64-21D5-A76C-E338-92320630D727}"/>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5F0937E-E9B3-FC27-98E9-A1A7C565EBB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D7D6982F-BDC9-E708-E413-D7FD1A0C853A}"/>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LIVE DEMOS</a:t>
            </a:r>
          </a:p>
        </p:txBody>
      </p:sp>
      <p:pic>
        <p:nvPicPr>
          <p:cNvPr id="5" name="Picture 4">
            <a:extLst>
              <a:ext uri="{FF2B5EF4-FFF2-40B4-BE49-F238E27FC236}">
                <a16:creationId xmlns:a16="http://schemas.microsoft.com/office/drawing/2014/main" id="{AB93AEE5-197D-D8D5-75DC-15352980170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3808999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15F33-5EFE-9A0C-5EFA-1B5D4DC2375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9F652E4-A7C9-9FCF-36EC-D4D0E6E5F0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C88CE58B-68C1-45FC-959F-62A7776B2E98}"/>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CA2C291-26D8-91D4-2226-7F43A3D2C8FE}"/>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7400AFE9-D6BC-75A9-B390-8A9A10A090E8}"/>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279490C3-1033-A2E1-6926-5D38FE9CC137}"/>
              </a:ext>
            </a:extLst>
          </p:cNvPr>
          <p:cNvPicPr>
            <a:picLocks noChangeAspect="1"/>
          </p:cNvPicPr>
          <p:nvPr/>
        </p:nvPicPr>
        <p:blipFill>
          <a:blip r:embed="rId4"/>
          <a:stretch>
            <a:fillRect/>
          </a:stretch>
        </p:blipFill>
        <p:spPr>
          <a:xfrm>
            <a:off x="2186722" y="1322104"/>
            <a:ext cx="8252678" cy="4277271"/>
          </a:xfrm>
          <a:prstGeom prst="rect">
            <a:avLst/>
          </a:prstGeom>
        </p:spPr>
      </p:pic>
    </p:spTree>
    <p:extLst>
      <p:ext uri="{BB962C8B-B14F-4D97-AF65-F5344CB8AC3E}">
        <p14:creationId xmlns:p14="http://schemas.microsoft.com/office/powerpoint/2010/main" val="35553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9E7D7-63C1-9DCA-A7B1-B839D11993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8E5D3B3-D609-13E4-7779-7BD5E01D752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EAFBCD09-E6FA-3444-F259-4E7BB002ADF5}"/>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070C1981-F860-AA8F-3C01-BBEDA3F9F5A3}"/>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CLAUDE PLUG-INS</a:t>
            </a:r>
          </a:p>
        </p:txBody>
      </p:sp>
      <p:pic>
        <p:nvPicPr>
          <p:cNvPr id="5" name="Picture 4">
            <a:extLst>
              <a:ext uri="{FF2B5EF4-FFF2-40B4-BE49-F238E27FC236}">
                <a16:creationId xmlns:a16="http://schemas.microsoft.com/office/drawing/2014/main" id="{92F03F10-BEF5-2DCF-ABA8-DFA305019B89}"/>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0284156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B60EC-0163-2103-5D90-09CB50DB6F9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C0C45C4-6C58-C9A0-6021-D2A51D5BAF4D}"/>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90FC2007-BFB1-3F3D-1F7D-9D9821F5F49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4C965D83-3C7F-0875-8ECA-3FB5EE28AE6D}"/>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Plugins</a:t>
            </a:r>
          </a:p>
        </p:txBody>
      </p:sp>
      <p:sp>
        <p:nvSpPr>
          <p:cNvPr id="9" name="TextBox 8">
            <a:extLst>
              <a:ext uri="{FF2B5EF4-FFF2-40B4-BE49-F238E27FC236}">
                <a16:creationId xmlns:a16="http://schemas.microsoft.com/office/drawing/2014/main" id="{68048C52-D724-B852-B30D-0F0B802B7B71}"/>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20" name="Rectangle 19">
            <a:extLst>
              <a:ext uri="{FF2B5EF4-FFF2-40B4-BE49-F238E27FC236}">
                <a16:creationId xmlns:a16="http://schemas.microsoft.com/office/drawing/2014/main" id="{05374863-6FC5-EFD8-EBF2-D4040E6F9CBF}"/>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sp>
        <p:nvSpPr>
          <p:cNvPr id="3" name="TextBox 2">
            <a:extLst>
              <a:ext uri="{FF2B5EF4-FFF2-40B4-BE49-F238E27FC236}">
                <a16:creationId xmlns:a16="http://schemas.microsoft.com/office/drawing/2014/main" id="{27343430-9F44-FCBE-61EC-22F14C7BC4F6}"/>
              </a:ext>
            </a:extLst>
          </p:cNvPr>
          <p:cNvSpPr txBox="1"/>
          <p:nvPr/>
        </p:nvSpPr>
        <p:spPr>
          <a:xfrm>
            <a:off x="214711" y="907391"/>
            <a:ext cx="11215289" cy="646331"/>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Montserrat" panose="00000500000000000000" pitchFamily="2" charset="0"/>
                <a:ea typeface="Calibri" pitchFamily="34" charset="-122"/>
                <a:cs typeface="Calibri" pitchFamily="34" charset="-120"/>
              </a:rPr>
              <a:t>Plugins bundle skills, connectors, slash commands &amp; sub-agents into one package for a specific job function. No technical knowledge required to create them.</a:t>
            </a:r>
            <a:endParaRPr lang="en-US" sz="1800" dirty="0">
              <a:latin typeface="Montserrat" panose="00000500000000000000" pitchFamily="2" charset="0"/>
            </a:endParaRPr>
          </a:p>
        </p:txBody>
      </p:sp>
      <p:sp>
        <p:nvSpPr>
          <p:cNvPr id="28" name="Text 4">
            <a:extLst>
              <a:ext uri="{FF2B5EF4-FFF2-40B4-BE49-F238E27FC236}">
                <a16:creationId xmlns:a16="http://schemas.microsoft.com/office/drawing/2014/main" id="{A57E931C-83DF-347A-1869-DE53CDFC1FAC}"/>
              </a:ext>
            </a:extLst>
          </p:cNvPr>
          <p:cNvSpPr/>
          <p:nvPr/>
        </p:nvSpPr>
        <p:spPr>
          <a:xfrm>
            <a:off x="688548" y="1892400"/>
            <a:ext cx="5120640" cy="487680"/>
          </a:xfrm>
          <a:prstGeom prst="rect">
            <a:avLst/>
          </a:prstGeom>
          <a:noFill/>
          <a:ln/>
        </p:spPr>
        <p:txBody>
          <a:bodyPr wrap="square" lIns="0" tIns="0" rIns="0" bIns="0" rtlCol="0" anchor="ctr"/>
          <a:lstStyle/>
          <a:p>
            <a:pPr defTabSz="1219170"/>
            <a:r>
              <a:rPr lang="en-US" sz="2400" b="1" dirty="0">
                <a:solidFill>
                  <a:srgbClr val="0F172A"/>
                </a:solidFill>
                <a:latin typeface="Montserrat" panose="00000500000000000000" pitchFamily="2" charset="0"/>
                <a:ea typeface="Trebuchet MS" pitchFamily="34" charset="-122"/>
                <a:cs typeface="Trebuchet MS" pitchFamily="34" charset="-120"/>
              </a:rPr>
              <a:t>What's Inside a Plugin</a:t>
            </a:r>
            <a:endParaRPr lang="en-US" sz="2400" dirty="0">
              <a:solidFill>
                <a:prstClr val="black"/>
              </a:solidFill>
              <a:latin typeface="Montserrat" panose="00000500000000000000" pitchFamily="2" charset="0"/>
            </a:endParaRPr>
          </a:p>
        </p:txBody>
      </p:sp>
      <p:sp>
        <p:nvSpPr>
          <p:cNvPr id="29" name="Shape 5">
            <a:extLst>
              <a:ext uri="{FF2B5EF4-FFF2-40B4-BE49-F238E27FC236}">
                <a16:creationId xmlns:a16="http://schemas.microsoft.com/office/drawing/2014/main" id="{4A5908F8-50E7-B624-4809-6652C8BC633E}"/>
              </a:ext>
            </a:extLst>
          </p:cNvPr>
          <p:cNvSpPr/>
          <p:nvPr/>
        </p:nvSpPr>
        <p:spPr>
          <a:xfrm>
            <a:off x="688548" y="2441040"/>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0" name="Image 0" descr="preencoded.png">
            <a:extLst>
              <a:ext uri="{FF2B5EF4-FFF2-40B4-BE49-F238E27FC236}">
                <a16:creationId xmlns:a16="http://schemas.microsoft.com/office/drawing/2014/main" id="{FB64E94E-323E-433D-961B-1EE72B5F1261}"/>
              </a:ext>
            </a:extLst>
          </p:cNvPr>
          <p:cNvPicPr>
            <a:picLocks noChangeAspect="1"/>
          </p:cNvPicPr>
          <p:nvPr/>
        </p:nvPicPr>
        <p:blipFill>
          <a:blip r:embed="rId4">
            <a:duotone>
              <a:prstClr val="black"/>
              <a:schemeClr val="accent1">
                <a:tint val="45000"/>
                <a:satMod val="400000"/>
              </a:schemeClr>
            </a:duotone>
          </a:blip>
          <a:stretch>
            <a:fillRect/>
          </a:stretch>
        </p:blipFill>
        <p:spPr>
          <a:xfrm>
            <a:off x="871428" y="2526384"/>
            <a:ext cx="414528" cy="414528"/>
          </a:xfrm>
          <a:prstGeom prst="rect">
            <a:avLst/>
          </a:prstGeom>
        </p:spPr>
      </p:pic>
      <p:sp>
        <p:nvSpPr>
          <p:cNvPr id="31" name="Text 6">
            <a:extLst>
              <a:ext uri="{FF2B5EF4-FFF2-40B4-BE49-F238E27FC236}">
                <a16:creationId xmlns:a16="http://schemas.microsoft.com/office/drawing/2014/main" id="{6016D5B4-7FC2-52A8-DF6B-C2EC2E4CFF3E}"/>
              </a:ext>
            </a:extLst>
          </p:cNvPr>
          <p:cNvSpPr/>
          <p:nvPr/>
        </p:nvSpPr>
        <p:spPr>
          <a:xfrm>
            <a:off x="1481028" y="2465424"/>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Skills</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Specialized knowledge &amp; workflows</a:t>
            </a:r>
            <a:endParaRPr lang="en-US" sz="1600" dirty="0">
              <a:solidFill>
                <a:srgbClr val="0C1752"/>
              </a:solidFill>
              <a:latin typeface="Montserrat" panose="00000500000000000000" pitchFamily="2" charset="0"/>
            </a:endParaRPr>
          </a:p>
        </p:txBody>
      </p:sp>
      <p:sp>
        <p:nvSpPr>
          <p:cNvPr id="32" name="Shape 7">
            <a:extLst>
              <a:ext uri="{FF2B5EF4-FFF2-40B4-BE49-F238E27FC236}">
                <a16:creationId xmlns:a16="http://schemas.microsoft.com/office/drawing/2014/main" id="{95E86DF4-58A8-4BEB-EC88-0894B987AE46}"/>
              </a:ext>
            </a:extLst>
          </p:cNvPr>
          <p:cNvSpPr/>
          <p:nvPr/>
        </p:nvSpPr>
        <p:spPr>
          <a:xfrm>
            <a:off x="688548" y="3148176"/>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3" name="Image 1" descr="preencoded.png">
            <a:extLst>
              <a:ext uri="{FF2B5EF4-FFF2-40B4-BE49-F238E27FC236}">
                <a16:creationId xmlns:a16="http://schemas.microsoft.com/office/drawing/2014/main" id="{2F43BA4C-F2A6-BE0D-611B-48A5CB353882}"/>
              </a:ext>
            </a:extLst>
          </p:cNvPr>
          <p:cNvPicPr>
            <a:picLocks noChangeAspect="1"/>
          </p:cNvPicPr>
          <p:nvPr/>
        </p:nvPicPr>
        <p:blipFill>
          <a:blip r:embed="rId5"/>
          <a:stretch>
            <a:fillRect/>
          </a:stretch>
        </p:blipFill>
        <p:spPr>
          <a:xfrm>
            <a:off x="871428" y="3233520"/>
            <a:ext cx="414528" cy="414528"/>
          </a:xfrm>
          <a:prstGeom prst="rect">
            <a:avLst/>
          </a:prstGeom>
        </p:spPr>
      </p:pic>
      <p:sp>
        <p:nvSpPr>
          <p:cNvPr id="34" name="Text 8">
            <a:extLst>
              <a:ext uri="{FF2B5EF4-FFF2-40B4-BE49-F238E27FC236}">
                <a16:creationId xmlns:a16="http://schemas.microsoft.com/office/drawing/2014/main" id="{97AD8013-1BA0-161C-955C-C59CA7C76F0B}"/>
              </a:ext>
            </a:extLst>
          </p:cNvPr>
          <p:cNvSpPr/>
          <p:nvPr/>
        </p:nvSpPr>
        <p:spPr>
          <a:xfrm>
            <a:off x="1481028" y="3172560"/>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Connectors (MCP)</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Link to Google Drive, Slack, etc.</a:t>
            </a:r>
            <a:endParaRPr lang="en-US" sz="1600" dirty="0">
              <a:solidFill>
                <a:srgbClr val="0C1752"/>
              </a:solidFill>
              <a:latin typeface="Montserrat" panose="00000500000000000000" pitchFamily="2" charset="0"/>
            </a:endParaRPr>
          </a:p>
        </p:txBody>
      </p:sp>
      <p:sp>
        <p:nvSpPr>
          <p:cNvPr id="35" name="Shape 9">
            <a:extLst>
              <a:ext uri="{FF2B5EF4-FFF2-40B4-BE49-F238E27FC236}">
                <a16:creationId xmlns:a16="http://schemas.microsoft.com/office/drawing/2014/main" id="{F208EBE6-8227-8B1C-834A-32034879C016}"/>
              </a:ext>
            </a:extLst>
          </p:cNvPr>
          <p:cNvSpPr/>
          <p:nvPr/>
        </p:nvSpPr>
        <p:spPr>
          <a:xfrm>
            <a:off x="688548" y="3855312"/>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6" name="Image 2" descr="preencoded.png">
            <a:extLst>
              <a:ext uri="{FF2B5EF4-FFF2-40B4-BE49-F238E27FC236}">
                <a16:creationId xmlns:a16="http://schemas.microsoft.com/office/drawing/2014/main" id="{85718FE5-AF0E-E4CB-9BD5-8555B7F243FF}"/>
              </a:ext>
            </a:extLst>
          </p:cNvPr>
          <p:cNvPicPr>
            <a:picLocks noChangeAspect="1"/>
          </p:cNvPicPr>
          <p:nvPr/>
        </p:nvPicPr>
        <p:blipFill>
          <a:blip r:embed="rId6">
            <a:duotone>
              <a:prstClr val="black"/>
              <a:schemeClr val="tx2">
                <a:tint val="45000"/>
                <a:satMod val="400000"/>
              </a:schemeClr>
            </a:duotone>
          </a:blip>
          <a:stretch>
            <a:fillRect/>
          </a:stretch>
        </p:blipFill>
        <p:spPr>
          <a:xfrm>
            <a:off x="871428" y="3940656"/>
            <a:ext cx="414528" cy="414528"/>
          </a:xfrm>
          <a:prstGeom prst="rect">
            <a:avLst/>
          </a:prstGeom>
        </p:spPr>
      </p:pic>
      <p:sp>
        <p:nvSpPr>
          <p:cNvPr id="37" name="Text 10">
            <a:extLst>
              <a:ext uri="{FF2B5EF4-FFF2-40B4-BE49-F238E27FC236}">
                <a16:creationId xmlns:a16="http://schemas.microsoft.com/office/drawing/2014/main" id="{41AE5B17-42B6-7108-298F-4999EC7551FD}"/>
              </a:ext>
            </a:extLst>
          </p:cNvPr>
          <p:cNvSpPr/>
          <p:nvPr/>
        </p:nvSpPr>
        <p:spPr>
          <a:xfrm>
            <a:off x="1481028" y="3879696"/>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Slash Commands</a:t>
            </a:r>
            <a:r>
              <a:rPr lang="en-US" sz="1467" b="1" dirty="0">
                <a:solidFill>
                  <a:srgbClr val="0C1752"/>
                </a:solidFill>
                <a:latin typeface="Montserrat" panose="00000500000000000000" pitchFamily="2" charset="0"/>
                <a:ea typeface="Calibri" pitchFamily="34" charset="-122"/>
                <a:cs typeface="Calibri" pitchFamily="34" charset="-120"/>
              </a:rPr>
              <a:t>:</a:t>
            </a:r>
            <a:r>
              <a:rPr lang="en-US" sz="1467" dirty="0">
                <a:solidFill>
                  <a:srgbClr val="0C1752"/>
                </a:solidFill>
                <a:latin typeface="Montserrat" panose="00000500000000000000" pitchFamily="2" charset="0"/>
                <a:ea typeface="Calibri" pitchFamily="34" charset="-122"/>
                <a:cs typeface="Calibri" pitchFamily="34" charset="-120"/>
              </a:rPr>
              <a:t>  Quick-launch structured workflows</a:t>
            </a:r>
            <a:endParaRPr lang="en-US" sz="1600" dirty="0">
              <a:solidFill>
                <a:srgbClr val="0C1752"/>
              </a:solidFill>
              <a:latin typeface="Montserrat" panose="00000500000000000000" pitchFamily="2" charset="0"/>
            </a:endParaRPr>
          </a:p>
        </p:txBody>
      </p:sp>
      <p:sp>
        <p:nvSpPr>
          <p:cNvPr id="38" name="Shape 11">
            <a:extLst>
              <a:ext uri="{FF2B5EF4-FFF2-40B4-BE49-F238E27FC236}">
                <a16:creationId xmlns:a16="http://schemas.microsoft.com/office/drawing/2014/main" id="{3E57111C-CF49-5576-0D75-B6ACDAED8B33}"/>
              </a:ext>
            </a:extLst>
          </p:cNvPr>
          <p:cNvSpPr/>
          <p:nvPr/>
        </p:nvSpPr>
        <p:spPr>
          <a:xfrm>
            <a:off x="688548" y="4562448"/>
            <a:ext cx="5120640" cy="585216"/>
          </a:xfrm>
          <a:prstGeom prst="rect">
            <a:avLst/>
          </a:prstGeom>
          <a:solidFill>
            <a:srgbClr val="FFFFFF"/>
          </a:solidFill>
          <a:ln/>
          <a:effectLst>
            <a:outerShdw blurRad="101600" dist="38100" dir="8100000" algn="bl" rotWithShape="0">
              <a:srgbClr val="000000">
                <a:alpha val="12000"/>
              </a:srgbClr>
            </a:outerShdw>
          </a:effectLst>
        </p:spPr>
        <p:txBody>
          <a:bodyPr/>
          <a:lstStyle/>
          <a:p>
            <a:pPr defTabSz="1219170"/>
            <a:endParaRPr lang="en-CA" sz="2400">
              <a:solidFill>
                <a:prstClr val="black"/>
              </a:solidFill>
              <a:latin typeface="Montserrat" panose="00000500000000000000" pitchFamily="2" charset="0"/>
            </a:endParaRPr>
          </a:p>
        </p:txBody>
      </p:sp>
      <p:pic>
        <p:nvPicPr>
          <p:cNvPr id="39" name="Image 3" descr="preencoded.png">
            <a:extLst>
              <a:ext uri="{FF2B5EF4-FFF2-40B4-BE49-F238E27FC236}">
                <a16:creationId xmlns:a16="http://schemas.microsoft.com/office/drawing/2014/main" id="{0A3FDFB5-7DC5-2259-D49E-9CC934C643AE}"/>
              </a:ext>
            </a:extLst>
          </p:cNvPr>
          <p:cNvPicPr>
            <a:picLocks noChangeAspect="1"/>
          </p:cNvPicPr>
          <p:nvPr/>
        </p:nvPicPr>
        <p:blipFill>
          <a:blip r:embed="rId7"/>
          <a:stretch>
            <a:fillRect/>
          </a:stretch>
        </p:blipFill>
        <p:spPr>
          <a:xfrm>
            <a:off x="871428" y="4647792"/>
            <a:ext cx="414528" cy="414528"/>
          </a:xfrm>
          <a:prstGeom prst="rect">
            <a:avLst/>
          </a:prstGeom>
        </p:spPr>
      </p:pic>
      <p:sp>
        <p:nvSpPr>
          <p:cNvPr id="40" name="Text 12">
            <a:extLst>
              <a:ext uri="{FF2B5EF4-FFF2-40B4-BE49-F238E27FC236}">
                <a16:creationId xmlns:a16="http://schemas.microsoft.com/office/drawing/2014/main" id="{D663544D-8D44-D0F3-60C1-7C857446DA78}"/>
              </a:ext>
            </a:extLst>
          </p:cNvPr>
          <p:cNvSpPr/>
          <p:nvPr/>
        </p:nvSpPr>
        <p:spPr>
          <a:xfrm>
            <a:off x="1481028" y="4586832"/>
            <a:ext cx="4145280" cy="536448"/>
          </a:xfrm>
          <a:prstGeom prst="rect">
            <a:avLst/>
          </a:prstGeom>
          <a:noFill/>
          <a:ln/>
        </p:spPr>
        <p:txBody>
          <a:bodyPr wrap="square" lIns="0" tIns="0" rIns="0" bIns="0" rtlCol="0" anchor="ctr"/>
          <a:lstStyle/>
          <a:p>
            <a:pPr defTabSz="1219170"/>
            <a:r>
              <a:rPr lang="en-US" sz="1600" b="1" dirty="0">
                <a:solidFill>
                  <a:srgbClr val="0C1752"/>
                </a:solidFill>
                <a:latin typeface="Montserrat" panose="00000500000000000000" pitchFamily="2" charset="0"/>
                <a:ea typeface="Trebuchet MS" pitchFamily="34" charset="-122"/>
                <a:cs typeface="Trebuchet MS" pitchFamily="34" charset="-120"/>
              </a:rPr>
              <a:t>Sub-Agents</a:t>
            </a:r>
            <a:r>
              <a:rPr lang="en-US" sz="1467" b="1" dirty="0">
                <a:solidFill>
                  <a:srgbClr val="0C1752"/>
                </a:solidFill>
                <a:latin typeface="Montserrat" panose="00000500000000000000" pitchFamily="2" charset="0"/>
                <a:ea typeface="Calibri" pitchFamily="34" charset="-122"/>
                <a:cs typeface="Calibri" pitchFamily="34" charset="-120"/>
              </a:rPr>
              <a:t>: </a:t>
            </a:r>
            <a:r>
              <a:rPr lang="en-US" sz="1467" dirty="0">
                <a:solidFill>
                  <a:srgbClr val="0C1752"/>
                </a:solidFill>
                <a:latin typeface="Montserrat" panose="00000500000000000000" pitchFamily="2" charset="0"/>
                <a:ea typeface="Calibri" pitchFamily="34" charset="-122"/>
                <a:cs typeface="Calibri" pitchFamily="34" charset="-120"/>
              </a:rPr>
              <a:t>Specialized task executors</a:t>
            </a:r>
            <a:endParaRPr lang="en-US" sz="1600" dirty="0">
              <a:solidFill>
                <a:srgbClr val="0C1752"/>
              </a:solidFill>
              <a:latin typeface="Montserrat" panose="00000500000000000000" pitchFamily="2" charset="0"/>
            </a:endParaRPr>
          </a:p>
        </p:txBody>
      </p:sp>
      <p:sp>
        <p:nvSpPr>
          <p:cNvPr id="41" name="Text 13">
            <a:extLst>
              <a:ext uri="{FF2B5EF4-FFF2-40B4-BE49-F238E27FC236}">
                <a16:creationId xmlns:a16="http://schemas.microsoft.com/office/drawing/2014/main" id="{EEE0F908-8006-45F5-32C3-386841C3AA31}"/>
              </a:ext>
            </a:extLst>
          </p:cNvPr>
          <p:cNvSpPr/>
          <p:nvPr/>
        </p:nvSpPr>
        <p:spPr>
          <a:xfrm>
            <a:off x="6868534" y="1892400"/>
            <a:ext cx="5120640" cy="487680"/>
          </a:xfrm>
          <a:prstGeom prst="rect">
            <a:avLst/>
          </a:prstGeom>
          <a:noFill/>
          <a:ln/>
        </p:spPr>
        <p:txBody>
          <a:bodyPr wrap="square" lIns="0" tIns="0" rIns="0" bIns="0" rtlCol="0" anchor="ctr"/>
          <a:lstStyle/>
          <a:p>
            <a:pPr defTabSz="1219170"/>
            <a:r>
              <a:rPr lang="en-US" sz="2400" b="1" dirty="0">
                <a:solidFill>
                  <a:srgbClr val="0F172A"/>
                </a:solidFill>
                <a:latin typeface="Montserrat" panose="00000500000000000000" pitchFamily="2" charset="0"/>
                <a:ea typeface="Trebuchet MS" pitchFamily="34" charset="-122"/>
                <a:cs typeface="Trebuchet MS" pitchFamily="34" charset="-120"/>
              </a:rPr>
              <a:t>Pre-Built Plugins</a:t>
            </a:r>
            <a:endParaRPr lang="en-US" sz="2400" dirty="0">
              <a:solidFill>
                <a:prstClr val="black"/>
              </a:solidFill>
              <a:latin typeface="Montserrat" panose="00000500000000000000" pitchFamily="2" charset="0"/>
            </a:endParaRPr>
          </a:p>
        </p:txBody>
      </p:sp>
      <p:pic>
        <p:nvPicPr>
          <p:cNvPr id="42" name="Image 4" descr="preencoded.png">
            <a:extLst>
              <a:ext uri="{FF2B5EF4-FFF2-40B4-BE49-F238E27FC236}">
                <a16:creationId xmlns:a16="http://schemas.microsoft.com/office/drawing/2014/main" id="{71A37600-892E-8960-E4E6-60E96A82819E}"/>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2599536"/>
            <a:ext cx="304800" cy="304800"/>
          </a:xfrm>
          <a:prstGeom prst="rect">
            <a:avLst/>
          </a:prstGeom>
        </p:spPr>
      </p:pic>
      <p:sp>
        <p:nvSpPr>
          <p:cNvPr id="43" name="Text 14">
            <a:extLst>
              <a:ext uri="{FF2B5EF4-FFF2-40B4-BE49-F238E27FC236}">
                <a16:creationId xmlns:a16="http://schemas.microsoft.com/office/drawing/2014/main" id="{5572ED2E-F677-AC53-14C2-5BF122B3CCBE}"/>
              </a:ext>
            </a:extLst>
          </p:cNvPr>
          <p:cNvSpPr/>
          <p:nvPr/>
        </p:nvSpPr>
        <p:spPr>
          <a:xfrm>
            <a:off x="7478134" y="2562960"/>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HR: People operations &amp; lifecycle</a:t>
            </a:r>
            <a:endParaRPr lang="en-US" sz="1600" dirty="0">
              <a:solidFill>
                <a:prstClr val="black"/>
              </a:solidFill>
              <a:latin typeface="Montserrat" panose="00000500000000000000" pitchFamily="2" charset="0"/>
            </a:endParaRPr>
          </a:p>
        </p:txBody>
      </p:sp>
      <p:pic>
        <p:nvPicPr>
          <p:cNvPr id="44" name="Image 5" descr="preencoded.png">
            <a:extLst>
              <a:ext uri="{FF2B5EF4-FFF2-40B4-BE49-F238E27FC236}">
                <a16:creationId xmlns:a16="http://schemas.microsoft.com/office/drawing/2014/main" id="{D6AAB6AC-931E-6827-2A69-6F38AF34E340}"/>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3111600"/>
            <a:ext cx="304800" cy="304800"/>
          </a:xfrm>
          <a:prstGeom prst="rect">
            <a:avLst/>
          </a:prstGeom>
        </p:spPr>
      </p:pic>
      <p:sp>
        <p:nvSpPr>
          <p:cNvPr id="45" name="Text 15">
            <a:extLst>
              <a:ext uri="{FF2B5EF4-FFF2-40B4-BE49-F238E27FC236}">
                <a16:creationId xmlns:a16="http://schemas.microsoft.com/office/drawing/2014/main" id="{CBD7CA9D-9235-C37D-CACC-6386432E7D1C}"/>
              </a:ext>
            </a:extLst>
          </p:cNvPr>
          <p:cNvSpPr/>
          <p:nvPr/>
        </p:nvSpPr>
        <p:spPr>
          <a:xfrm>
            <a:off x="7478134" y="3075024"/>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Design: UX, accessibility, critiques</a:t>
            </a:r>
            <a:endParaRPr lang="en-US" sz="1600" dirty="0">
              <a:solidFill>
                <a:prstClr val="black"/>
              </a:solidFill>
              <a:latin typeface="Montserrat" panose="00000500000000000000" pitchFamily="2" charset="0"/>
            </a:endParaRPr>
          </a:p>
        </p:txBody>
      </p:sp>
      <p:pic>
        <p:nvPicPr>
          <p:cNvPr id="46" name="Image 6" descr="preencoded.png">
            <a:extLst>
              <a:ext uri="{FF2B5EF4-FFF2-40B4-BE49-F238E27FC236}">
                <a16:creationId xmlns:a16="http://schemas.microsoft.com/office/drawing/2014/main" id="{788FB0BF-17CA-5E68-D24A-E50339002218}"/>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3623664"/>
            <a:ext cx="304800" cy="304800"/>
          </a:xfrm>
          <a:prstGeom prst="rect">
            <a:avLst/>
          </a:prstGeom>
        </p:spPr>
      </p:pic>
      <p:sp>
        <p:nvSpPr>
          <p:cNvPr id="47" name="Text 16">
            <a:extLst>
              <a:ext uri="{FF2B5EF4-FFF2-40B4-BE49-F238E27FC236}">
                <a16:creationId xmlns:a16="http://schemas.microsoft.com/office/drawing/2014/main" id="{1A30E9F9-43FD-38A1-6FF1-5BE2ED760169}"/>
              </a:ext>
            </a:extLst>
          </p:cNvPr>
          <p:cNvSpPr/>
          <p:nvPr/>
        </p:nvSpPr>
        <p:spPr>
          <a:xfrm>
            <a:off x="7478134" y="3587088"/>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Engineering: Standups, deploys, incidents</a:t>
            </a:r>
            <a:endParaRPr lang="en-US" sz="1600" dirty="0">
              <a:solidFill>
                <a:prstClr val="black"/>
              </a:solidFill>
              <a:latin typeface="Montserrat" panose="00000500000000000000" pitchFamily="2" charset="0"/>
            </a:endParaRPr>
          </a:p>
        </p:txBody>
      </p:sp>
      <p:pic>
        <p:nvPicPr>
          <p:cNvPr id="48" name="Image 7" descr="preencoded.png">
            <a:extLst>
              <a:ext uri="{FF2B5EF4-FFF2-40B4-BE49-F238E27FC236}">
                <a16:creationId xmlns:a16="http://schemas.microsoft.com/office/drawing/2014/main" id="{3631AB11-0AC8-8A76-0DF5-D0F9AACF5F7B}"/>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4135728"/>
            <a:ext cx="304800" cy="304800"/>
          </a:xfrm>
          <a:prstGeom prst="rect">
            <a:avLst/>
          </a:prstGeom>
        </p:spPr>
      </p:pic>
      <p:sp>
        <p:nvSpPr>
          <p:cNvPr id="49" name="Text 17">
            <a:extLst>
              <a:ext uri="{FF2B5EF4-FFF2-40B4-BE49-F238E27FC236}">
                <a16:creationId xmlns:a16="http://schemas.microsoft.com/office/drawing/2014/main" id="{E38D4818-4252-BB46-784A-EBD53A11736C}"/>
              </a:ext>
            </a:extLst>
          </p:cNvPr>
          <p:cNvSpPr/>
          <p:nvPr/>
        </p:nvSpPr>
        <p:spPr>
          <a:xfrm>
            <a:off x="7478134" y="4099152"/>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Operations: Runbooks, vendor evals</a:t>
            </a:r>
            <a:endParaRPr lang="en-US" sz="1600" dirty="0">
              <a:solidFill>
                <a:prstClr val="black"/>
              </a:solidFill>
              <a:latin typeface="Montserrat" panose="00000500000000000000" pitchFamily="2" charset="0"/>
            </a:endParaRPr>
          </a:p>
        </p:txBody>
      </p:sp>
      <p:pic>
        <p:nvPicPr>
          <p:cNvPr id="50" name="Image 8" descr="preencoded.png">
            <a:extLst>
              <a:ext uri="{FF2B5EF4-FFF2-40B4-BE49-F238E27FC236}">
                <a16:creationId xmlns:a16="http://schemas.microsoft.com/office/drawing/2014/main" id="{3C1B99E3-288E-821F-1378-E63AAD814AE1}"/>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4647792"/>
            <a:ext cx="304800" cy="304800"/>
          </a:xfrm>
          <a:prstGeom prst="rect">
            <a:avLst/>
          </a:prstGeom>
        </p:spPr>
      </p:pic>
      <p:sp>
        <p:nvSpPr>
          <p:cNvPr id="51" name="Text 18">
            <a:extLst>
              <a:ext uri="{FF2B5EF4-FFF2-40B4-BE49-F238E27FC236}">
                <a16:creationId xmlns:a16="http://schemas.microsoft.com/office/drawing/2014/main" id="{6B4DB5B4-4BFA-8AAF-7041-84A7EAB4E264}"/>
              </a:ext>
            </a:extLst>
          </p:cNvPr>
          <p:cNvSpPr/>
          <p:nvPr/>
        </p:nvSpPr>
        <p:spPr>
          <a:xfrm>
            <a:off x="7478134" y="4611216"/>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Finance: FP&amp;A, variance analysis</a:t>
            </a:r>
            <a:endParaRPr lang="en-US" sz="1600" dirty="0">
              <a:solidFill>
                <a:prstClr val="black"/>
              </a:solidFill>
              <a:latin typeface="Montserrat" panose="00000500000000000000" pitchFamily="2" charset="0"/>
            </a:endParaRPr>
          </a:p>
        </p:txBody>
      </p:sp>
      <p:pic>
        <p:nvPicPr>
          <p:cNvPr id="52" name="Image 9" descr="preencoded.png">
            <a:extLst>
              <a:ext uri="{FF2B5EF4-FFF2-40B4-BE49-F238E27FC236}">
                <a16:creationId xmlns:a16="http://schemas.microsoft.com/office/drawing/2014/main" id="{8C8B6F39-45B9-CCA8-D242-4D5FBEF587A9}"/>
              </a:ext>
            </a:extLst>
          </p:cNvPr>
          <p:cNvPicPr>
            <a:picLocks noChangeAspect="1"/>
          </p:cNvPicPr>
          <p:nvPr/>
        </p:nvPicPr>
        <p:blipFill>
          <a:blip r:embed="rId8">
            <a:duotone>
              <a:prstClr val="black"/>
              <a:schemeClr val="accent1">
                <a:tint val="45000"/>
                <a:satMod val="400000"/>
              </a:schemeClr>
            </a:duotone>
          </a:blip>
          <a:stretch>
            <a:fillRect/>
          </a:stretch>
        </p:blipFill>
        <p:spPr>
          <a:xfrm>
            <a:off x="6990454" y="5159856"/>
            <a:ext cx="304800" cy="304800"/>
          </a:xfrm>
          <a:prstGeom prst="rect">
            <a:avLst/>
          </a:prstGeom>
        </p:spPr>
      </p:pic>
      <p:sp>
        <p:nvSpPr>
          <p:cNvPr id="53" name="Text 19">
            <a:extLst>
              <a:ext uri="{FF2B5EF4-FFF2-40B4-BE49-F238E27FC236}">
                <a16:creationId xmlns:a16="http://schemas.microsoft.com/office/drawing/2014/main" id="{3505D79B-D18D-713D-DB4B-310B46A78948}"/>
              </a:ext>
            </a:extLst>
          </p:cNvPr>
          <p:cNvSpPr/>
          <p:nvPr/>
        </p:nvSpPr>
        <p:spPr>
          <a:xfrm>
            <a:off x="7478134" y="5123280"/>
            <a:ext cx="4511040" cy="426720"/>
          </a:xfrm>
          <a:prstGeom prst="rect">
            <a:avLst/>
          </a:prstGeom>
          <a:noFill/>
          <a:ln/>
        </p:spPr>
        <p:txBody>
          <a:bodyPr wrap="square" lIns="0" tIns="0" rIns="0" bIns="0" rtlCol="0" anchor="ctr"/>
          <a:lstStyle/>
          <a:p>
            <a:pPr defTabSz="1219170"/>
            <a:r>
              <a:rPr lang="en-US" sz="1600" dirty="0">
                <a:solidFill>
                  <a:srgbClr val="334155"/>
                </a:solidFill>
                <a:latin typeface="Montserrat" panose="00000500000000000000" pitchFamily="2" charset="0"/>
                <a:ea typeface="Calibri" pitchFamily="34" charset="-122"/>
                <a:cs typeface="Calibri" pitchFamily="34" charset="-120"/>
              </a:rPr>
              <a:t>Sales: Outreach, research, CRM</a:t>
            </a:r>
            <a:endParaRPr lang="en-US" sz="1600" dirty="0">
              <a:solidFill>
                <a:prstClr val="black"/>
              </a:solidFill>
              <a:latin typeface="Montserrat" panose="00000500000000000000" pitchFamily="2" charset="0"/>
            </a:endParaRPr>
          </a:p>
        </p:txBody>
      </p:sp>
    </p:spTree>
    <p:extLst>
      <p:ext uri="{BB962C8B-B14F-4D97-AF65-F5344CB8AC3E}">
        <p14:creationId xmlns:p14="http://schemas.microsoft.com/office/powerpoint/2010/main" val="373103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par>
                                <p:cTn id="11" presetID="10"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fade">
                                      <p:cBhvr>
                                        <p:cTn id="16" dur="500"/>
                                        <p:tgtEl>
                                          <p:spTgt spid="3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fade">
                                      <p:cBhvr>
                                        <p:cTn id="21" dur="500"/>
                                        <p:tgtEl>
                                          <p:spTgt spid="32"/>
                                        </p:tgtEl>
                                      </p:cBhvr>
                                    </p:animEffect>
                                  </p:childTnLst>
                                </p:cTn>
                              </p:par>
                              <p:par>
                                <p:cTn id="22" presetID="10" presetClass="entr" presetSubtype="0" fill="hold"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10" presetClass="entr" presetSubtype="0" fill="hold" nodeType="with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fade">
                                      <p:cBhvr>
                                        <p:cTn id="35" dur="500"/>
                                        <p:tgtEl>
                                          <p:spTgt spid="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500"/>
                                        <p:tgtEl>
                                          <p:spTgt spid="38"/>
                                        </p:tgtEl>
                                      </p:cBhvr>
                                    </p:animEffect>
                                  </p:childTnLst>
                                </p:cTn>
                              </p:par>
                              <p:par>
                                <p:cTn id="44" presetID="10" presetClass="entr" presetSubtype="0" fill="hold"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5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10"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par>
                                <p:cTn id="61" presetID="10" presetClass="entr" presetSubtype="0" fill="hold"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500"/>
                                        <p:tgtEl>
                                          <p:spTgt spid="45"/>
                                        </p:tgtEl>
                                      </p:cBhvr>
                                    </p:animEffect>
                                  </p:childTnLst>
                                </p:cTn>
                              </p:par>
                              <p:par>
                                <p:cTn id="67" presetID="10"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par>
                                <p:cTn id="73" presetID="10" presetClass="entr" presetSubtype="0"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500"/>
                                        <p:tgtEl>
                                          <p:spTgt spid="48"/>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49"/>
                                        </p:tgtEl>
                                        <p:attrNameLst>
                                          <p:attrName>style.visibility</p:attrName>
                                        </p:attrNameLst>
                                      </p:cBhvr>
                                      <p:to>
                                        <p:strVal val="visible"/>
                                      </p:to>
                                    </p:set>
                                    <p:animEffect transition="in" filter="fade">
                                      <p:cBhvr>
                                        <p:cTn id="78" dur="500"/>
                                        <p:tgtEl>
                                          <p:spTgt spid="49"/>
                                        </p:tgtEl>
                                      </p:cBhvr>
                                    </p:animEffect>
                                  </p:childTnLst>
                                </p:cTn>
                              </p:par>
                              <p:par>
                                <p:cTn id="79" presetID="10" presetClass="entr" presetSubtype="0" fill="hold" nodeType="with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fade">
                                      <p:cBhvr>
                                        <p:cTn id="81" dur="500"/>
                                        <p:tgtEl>
                                          <p:spTgt spid="50"/>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nodeType="with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53"/>
                                        </p:tgtEl>
                                        <p:attrNameLst>
                                          <p:attrName>style.visibility</p:attrName>
                                        </p:attrNameLst>
                                      </p:cBhvr>
                                      <p:to>
                                        <p:strVal val="visible"/>
                                      </p:to>
                                    </p:set>
                                    <p:animEffect transition="in" filter="fade">
                                      <p:cBhvr>
                                        <p:cTn id="90"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1" grpId="0" animBg="1"/>
      <p:bldP spid="32" grpId="0" animBg="1"/>
      <p:bldP spid="34" grpId="0" animBg="1"/>
      <p:bldP spid="35" grpId="0" animBg="1"/>
      <p:bldP spid="37" grpId="0" animBg="1"/>
      <p:bldP spid="38" grpId="0" animBg="1"/>
      <p:bldP spid="40" grpId="0" animBg="1"/>
      <p:bldP spid="41" grpId="0" animBg="1"/>
      <p:bldP spid="43" grpId="0" animBg="1"/>
      <p:bldP spid="45" grpId="0" animBg="1"/>
      <p:bldP spid="47" grpId="0" animBg="1"/>
      <p:bldP spid="49" grpId="0" animBg="1"/>
      <p:bldP spid="51" grpId="0" animBg="1"/>
      <p:bldP spid="5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DD842-F390-2AC5-FE71-52B49413064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312D07-3E1F-5992-40C3-B485390BB192}"/>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AD352691-848D-7E58-E313-08614C657AB3}"/>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87B0968-8CFF-E32C-5D71-AFBC258A7949}"/>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Available Claude Plugins</a:t>
            </a:r>
          </a:p>
        </p:txBody>
      </p:sp>
      <p:sp>
        <p:nvSpPr>
          <p:cNvPr id="9" name="TextBox 8">
            <a:extLst>
              <a:ext uri="{FF2B5EF4-FFF2-40B4-BE49-F238E27FC236}">
                <a16:creationId xmlns:a16="http://schemas.microsoft.com/office/drawing/2014/main" id="{51F0EF8B-0E7C-2C27-7326-659B2A726A8E}"/>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20" name="Rectangle 19">
            <a:extLst>
              <a:ext uri="{FF2B5EF4-FFF2-40B4-BE49-F238E27FC236}">
                <a16:creationId xmlns:a16="http://schemas.microsoft.com/office/drawing/2014/main" id="{163026E2-2336-5BD1-7DE7-1AC75F625C27}"/>
              </a:ext>
            </a:extLst>
          </p:cNvPr>
          <p:cNvSpPr>
            <a:spLocks noChangeArrowheads="1"/>
          </p:cNvSpPr>
          <p:nvPr/>
        </p:nvSpPr>
        <p:spPr bwMode="auto">
          <a:xfrm>
            <a:off x="214711" y="803151"/>
            <a:ext cx="11480067" cy="792696"/>
          </a:xfrm>
          <a:prstGeom prst="rect">
            <a:avLst/>
          </a:prstGeom>
        </p:spPr>
        <p:txBody>
          <a:bodyPr vert="horz" lIns="91440" tIns="45720" rIns="91440" bIns="45720" rtlCol="0">
            <a:normAutofit/>
          </a:bodyPr>
          <a:lstStyle/>
          <a:p>
            <a:pPr marL="304792" indent="-304792">
              <a:lnSpc>
                <a:spcPct val="90000"/>
              </a:lnSpc>
              <a:spcBef>
                <a:spcPts val="1333"/>
              </a:spcBef>
              <a:buClr>
                <a:srgbClr val="1BBFD1"/>
              </a:buClr>
              <a:buFont typeface="Arial" panose="020B0604020202020204" pitchFamily="34" charset="0"/>
              <a:buChar char="•"/>
            </a:pPr>
            <a:endParaRPr lang="en-US" altLang="en-US" dirty="0">
              <a:latin typeface="Montserrat" panose="00000500000000000000" pitchFamily="2" charset="0"/>
            </a:endParaRPr>
          </a:p>
        </p:txBody>
      </p:sp>
      <p:pic>
        <p:nvPicPr>
          <p:cNvPr id="4" name="Picture 3">
            <a:extLst>
              <a:ext uri="{FF2B5EF4-FFF2-40B4-BE49-F238E27FC236}">
                <a16:creationId xmlns:a16="http://schemas.microsoft.com/office/drawing/2014/main" id="{DA7B0AE5-C6C4-9446-ED94-403104115A41}"/>
              </a:ext>
            </a:extLst>
          </p:cNvPr>
          <p:cNvPicPr>
            <a:picLocks noChangeAspect="1"/>
          </p:cNvPicPr>
          <p:nvPr/>
        </p:nvPicPr>
        <p:blipFill>
          <a:blip r:embed="rId4">
            <a:clrChange>
              <a:clrFrom>
                <a:srgbClr val="5E5E5C"/>
              </a:clrFrom>
              <a:clrTo>
                <a:srgbClr val="5E5E5C">
                  <a:alpha val="0"/>
                </a:srgbClr>
              </a:clrTo>
            </a:clrChange>
          </a:blip>
          <a:srcRect l="16813" t="13412" r="14554" b="12503"/>
          <a:stretch>
            <a:fillRect/>
          </a:stretch>
        </p:blipFill>
        <p:spPr>
          <a:xfrm>
            <a:off x="2139355" y="1393018"/>
            <a:ext cx="6934200" cy="4624117"/>
          </a:xfrm>
          <a:prstGeom prst="rect">
            <a:avLst/>
          </a:prstGeom>
        </p:spPr>
      </p:pic>
    </p:spTree>
    <p:extLst>
      <p:ext uri="{BB962C8B-B14F-4D97-AF65-F5344CB8AC3E}">
        <p14:creationId xmlns:p14="http://schemas.microsoft.com/office/powerpoint/2010/main" val="16769513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48263-6A00-BB12-7797-44895FE4D85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10FFEE-A75F-0DA7-7B6C-775172EC258A}"/>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E72402F-9D1A-A8F4-D7B1-AE719FA558D5}"/>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EE43A8F6-6F79-B676-0D9A-28394F28BACC}"/>
              </a:ext>
            </a:extLst>
          </p:cNvPr>
          <p:cNvSpPr/>
          <p:nvPr/>
        </p:nvSpPr>
        <p:spPr>
          <a:xfrm>
            <a:off x="293914" y="793804"/>
            <a:ext cx="5578566" cy="2554545"/>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PRACTICAL DEMO: DATA ANALSYIS USING DATA PLUGIN</a:t>
            </a:r>
          </a:p>
        </p:txBody>
      </p:sp>
      <p:pic>
        <p:nvPicPr>
          <p:cNvPr id="5" name="Picture 4">
            <a:extLst>
              <a:ext uri="{FF2B5EF4-FFF2-40B4-BE49-F238E27FC236}">
                <a16:creationId xmlns:a16="http://schemas.microsoft.com/office/drawing/2014/main" id="{8B2A6781-A2B0-F324-46F7-E111CD3F42D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513012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4481-687F-7C60-4AD2-5A0F3C84112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F2961A7-ED74-0A2C-C48F-27BA84BCADB6}"/>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960A9F9-B1E8-6B63-FDAE-30403620FD31}"/>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0C82BC4F-9DFD-EE69-0BDB-53EC7803A22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Dataset Overview</a:t>
            </a:r>
          </a:p>
        </p:txBody>
      </p:sp>
      <p:sp>
        <p:nvSpPr>
          <p:cNvPr id="9" name="TextBox 8">
            <a:extLst>
              <a:ext uri="{FF2B5EF4-FFF2-40B4-BE49-F238E27FC236}">
                <a16:creationId xmlns:a16="http://schemas.microsoft.com/office/drawing/2014/main" id="{C5691A8B-E0BF-02DC-9855-AE7FA2EEADA1}"/>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5" name="Picture 34">
            <a:extLst>
              <a:ext uri="{FF2B5EF4-FFF2-40B4-BE49-F238E27FC236}">
                <a16:creationId xmlns:a16="http://schemas.microsoft.com/office/drawing/2014/main" id="{8245CA20-ECED-A8B7-48CA-ADB269A72B6B}"/>
              </a:ext>
            </a:extLst>
          </p:cNvPr>
          <p:cNvPicPr>
            <a:picLocks noChangeAspect="1"/>
          </p:cNvPicPr>
          <p:nvPr/>
        </p:nvPicPr>
        <p:blipFill>
          <a:blip r:embed="rId4"/>
          <a:stretch>
            <a:fillRect/>
          </a:stretch>
        </p:blipFill>
        <p:spPr>
          <a:xfrm>
            <a:off x="886140" y="2414599"/>
            <a:ext cx="5209860" cy="4337466"/>
          </a:xfrm>
          <a:prstGeom prst="rect">
            <a:avLst/>
          </a:prstGeom>
        </p:spPr>
      </p:pic>
      <p:pic>
        <p:nvPicPr>
          <p:cNvPr id="31" name="Picture 30">
            <a:extLst>
              <a:ext uri="{FF2B5EF4-FFF2-40B4-BE49-F238E27FC236}">
                <a16:creationId xmlns:a16="http://schemas.microsoft.com/office/drawing/2014/main" id="{87D4222A-3D9F-5B26-3F3D-C4AD3C3B9F42}"/>
              </a:ext>
            </a:extLst>
          </p:cNvPr>
          <p:cNvPicPr>
            <a:picLocks noChangeAspect="1"/>
          </p:cNvPicPr>
          <p:nvPr/>
        </p:nvPicPr>
        <p:blipFill>
          <a:blip r:embed="rId5"/>
          <a:stretch>
            <a:fillRect/>
          </a:stretch>
        </p:blipFill>
        <p:spPr>
          <a:xfrm>
            <a:off x="3971439" y="2751501"/>
            <a:ext cx="5040953" cy="3948003"/>
          </a:xfrm>
          <a:prstGeom prst="rect">
            <a:avLst/>
          </a:prstGeom>
        </p:spPr>
      </p:pic>
      <p:pic>
        <p:nvPicPr>
          <p:cNvPr id="37" name="Picture 36">
            <a:extLst>
              <a:ext uri="{FF2B5EF4-FFF2-40B4-BE49-F238E27FC236}">
                <a16:creationId xmlns:a16="http://schemas.microsoft.com/office/drawing/2014/main" id="{C9EC72EA-997A-58CA-E422-57092CEE70B1}"/>
              </a:ext>
            </a:extLst>
          </p:cNvPr>
          <p:cNvPicPr>
            <a:picLocks noChangeAspect="1"/>
          </p:cNvPicPr>
          <p:nvPr/>
        </p:nvPicPr>
        <p:blipFill>
          <a:blip r:embed="rId6"/>
          <a:stretch>
            <a:fillRect/>
          </a:stretch>
        </p:blipFill>
        <p:spPr>
          <a:xfrm>
            <a:off x="5415406" y="3358970"/>
            <a:ext cx="5760911" cy="3393095"/>
          </a:xfrm>
          <a:prstGeom prst="rect">
            <a:avLst/>
          </a:prstGeom>
        </p:spPr>
      </p:pic>
      <p:sp>
        <p:nvSpPr>
          <p:cNvPr id="39" name="TextBox 38">
            <a:extLst>
              <a:ext uri="{FF2B5EF4-FFF2-40B4-BE49-F238E27FC236}">
                <a16:creationId xmlns:a16="http://schemas.microsoft.com/office/drawing/2014/main" id="{23E12434-F657-BCE8-A5F9-9A65E7F6F865}"/>
              </a:ext>
            </a:extLst>
          </p:cNvPr>
          <p:cNvSpPr txBox="1"/>
          <p:nvPr/>
        </p:nvSpPr>
        <p:spPr>
          <a:xfrm>
            <a:off x="154722" y="739004"/>
            <a:ext cx="11245596" cy="1569660"/>
          </a:xfrm>
          <a:prstGeom prst="rect">
            <a:avLst/>
          </a:prstGeom>
          <a:noFill/>
        </p:spPr>
        <p:txBody>
          <a:bodyPr wrap="square">
            <a:spAutoFit/>
          </a:bodyPr>
          <a:lstStyle/>
          <a:p>
            <a:pPr>
              <a:buNone/>
            </a:pPr>
            <a:r>
              <a:rPr lang="en-US" sz="1600" b="1" dirty="0">
                <a:latin typeface="Montserrat" panose="00000500000000000000" pitchFamily="2" charset="0"/>
              </a:rPr>
              <a:t>Using data plugin, these Commands are readily available:</a:t>
            </a:r>
          </a:p>
          <a:p>
            <a:pPr marL="285750" indent="-285750">
              <a:buFont typeface="Arial" panose="020B0604020202020204" pitchFamily="34" charset="0"/>
              <a:buChar char="•"/>
            </a:pPr>
            <a:r>
              <a:rPr lang="en-US" sz="1600" b="1" dirty="0">
                <a:latin typeface="Montserrat" panose="00000500000000000000" pitchFamily="2" charset="0"/>
              </a:rPr>
              <a:t>/explore-data</a:t>
            </a:r>
            <a:r>
              <a:rPr lang="en-US" sz="1600" dirty="0">
                <a:latin typeface="Montserrat" panose="00000500000000000000" pitchFamily="2" charset="0"/>
              </a:rPr>
              <a:t> – Used with Sales_data.xlsx to understand the dataset structure.</a:t>
            </a:r>
          </a:p>
          <a:p>
            <a:pPr marL="285750" indent="-285750">
              <a:buFont typeface="Arial" panose="020B0604020202020204" pitchFamily="34" charset="0"/>
              <a:buChar char="•"/>
            </a:pPr>
            <a:r>
              <a:rPr lang="en-US" sz="1600" b="1" dirty="0">
                <a:latin typeface="Montserrat" panose="00000500000000000000" pitchFamily="2" charset="0"/>
              </a:rPr>
              <a:t>/validate</a:t>
            </a:r>
            <a:r>
              <a:rPr lang="en-US" sz="1600" dirty="0">
                <a:latin typeface="Montserrat" panose="00000500000000000000" pitchFamily="2" charset="0"/>
              </a:rPr>
              <a:t> – To check for errors or inconsistencies.</a:t>
            </a:r>
          </a:p>
          <a:p>
            <a:pPr marL="285750" indent="-285750">
              <a:buFont typeface="Arial" panose="020B0604020202020204" pitchFamily="34" charset="0"/>
              <a:buChar char="•"/>
            </a:pPr>
            <a:r>
              <a:rPr lang="en-US" sz="1600" b="1" dirty="0">
                <a:latin typeface="Montserrat" panose="00000500000000000000" pitchFamily="2" charset="0"/>
              </a:rPr>
              <a:t>/build-dashboard</a:t>
            </a:r>
            <a:r>
              <a:rPr lang="en-US" sz="1600" dirty="0">
                <a:latin typeface="Montserrat" panose="00000500000000000000" pitchFamily="2" charset="0"/>
              </a:rPr>
              <a:t> – To generate a high-level overview of the data.</a:t>
            </a:r>
          </a:p>
          <a:p>
            <a:pPr marL="285750" indent="-285750">
              <a:buFont typeface="Arial" panose="020B0604020202020204" pitchFamily="34" charset="0"/>
              <a:buChar char="•"/>
            </a:pPr>
            <a:r>
              <a:rPr lang="en-US" sz="1600" b="1" dirty="0">
                <a:latin typeface="Montserrat" panose="00000500000000000000" pitchFamily="2" charset="0"/>
              </a:rPr>
              <a:t>/create-viz</a:t>
            </a:r>
            <a:r>
              <a:rPr lang="en-US" sz="1600" dirty="0">
                <a:latin typeface="Montserrat" panose="00000500000000000000" pitchFamily="2" charset="0"/>
              </a:rPr>
              <a:t> – To generate specific charts and visual representations.</a:t>
            </a:r>
          </a:p>
          <a:p>
            <a:pPr marL="285750" indent="-285750">
              <a:buFont typeface="Arial" panose="020B0604020202020204" pitchFamily="34" charset="0"/>
              <a:buChar char="•"/>
            </a:pPr>
            <a:r>
              <a:rPr lang="en-US" sz="1600" b="1" dirty="0">
                <a:latin typeface="Montserrat" panose="00000500000000000000" pitchFamily="2" charset="0"/>
              </a:rPr>
              <a:t>/statistical-analysis</a:t>
            </a:r>
            <a:r>
              <a:rPr lang="en-US" sz="1600" dirty="0">
                <a:latin typeface="Montserrat" panose="00000500000000000000" pitchFamily="2" charset="0"/>
              </a:rPr>
              <a:t> – To extract deeper mathematical insights and trends.</a:t>
            </a:r>
          </a:p>
        </p:txBody>
      </p:sp>
    </p:spTree>
    <p:extLst>
      <p:ext uri="{BB962C8B-B14F-4D97-AF65-F5344CB8AC3E}">
        <p14:creationId xmlns:p14="http://schemas.microsoft.com/office/powerpoint/2010/main" val="3854040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F462-09E4-FC28-0869-9AE517F2C90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57129A7-2F27-7938-91F5-D7C4D4E5C8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21D2732A-65FB-01E6-38E3-1F34BB94DEDB}"/>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B6366885-BF1B-7746-2F38-1485BD19F57B}"/>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Practical Demo</a:t>
            </a:r>
          </a:p>
        </p:txBody>
      </p:sp>
      <p:sp>
        <p:nvSpPr>
          <p:cNvPr id="9" name="TextBox 8">
            <a:extLst>
              <a:ext uri="{FF2B5EF4-FFF2-40B4-BE49-F238E27FC236}">
                <a16:creationId xmlns:a16="http://schemas.microsoft.com/office/drawing/2014/main" id="{63A3D5DA-E9BB-504B-19FF-B32D4990636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pic>
        <p:nvPicPr>
          <p:cNvPr id="3" name="Picture 2">
            <a:extLst>
              <a:ext uri="{FF2B5EF4-FFF2-40B4-BE49-F238E27FC236}">
                <a16:creationId xmlns:a16="http://schemas.microsoft.com/office/drawing/2014/main" id="{B539C5A1-A229-1DBD-02B9-572DA39FF21B}"/>
              </a:ext>
            </a:extLst>
          </p:cNvPr>
          <p:cNvPicPr>
            <a:picLocks noChangeAspect="1"/>
          </p:cNvPicPr>
          <p:nvPr/>
        </p:nvPicPr>
        <p:blipFill>
          <a:blip r:embed="rId4"/>
          <a:stretch>
            <a:fillRect/>
          </a:stretch>
        </p:blipFill>
        <p:spPr>
          <a:xfrm>
            <a:off x="2186722" y="1322104"/>
            <a:ext cx="8252678" cy="4277271"/>
          </a:xfrm>
          <a:prstGeom prst="rect">
            <a:avLst/>
          </a:prstGeom>
        </p:spPr>
      </p:pic>
    </p:spTree>
    <p:extLst>
      <p:ext uri="{BB962C8B-B14F-4D97-AF65-F5344CB8AC3E}">
        <p14:creationId xmlns:p14="http://schemas.microsoft.com/office/powerpoint/2010/main" val="2248210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AE2FF-4D12-4AB1-15B0-8A29A91DED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525B21C-D142-6C03-A874-B625D81DE3EB}"/>
              </a:ext>
            </a:extLst>
          </p:cNvPr>
          <p:cNvPicPr>
            <a:picLocks noChangeAspect="1"/>
          </p:cNvPicPr>
          <p:nvPr/>
        </p:nvPicPr>
        <p:blipFill>
          <a:blip r:embed="rId2"/>
          <a:stretch>
            <a:fillRect/>
          </a:stretch>
        </p:blipFill>
        <p:spPr>
          <a:xfrm>
            <a:off x="-32773" y="0"/>
            <a:ext cx="12224773" cy="6858000"/>
          </a:xfrm>
          <a:prstGeom prst="rect">
            <a:avLst/>
          </a:prstGeom>
        </p:spPr>
      </p:pic>
      <p:pic>
        <p:nvPicPr>
          <p:cNvPr id="6" name="Picture 5">
            <a:extLst>
              <a:ext uri="{FF2B5EF4-FFF2-40B4-BE49-F238E27FC236}">
                <a16:creationId xmlns:a16="http://schemas.microsoft.com/office/drawing/2014/main" id="{56AFCD39-ED58-E3C5-7A44-D7E72D79F9A9}"/>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F35A18A5-C4F6-75C9-5311-82839B798735}"/>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a:t>
            </a:r>
          </a:p>
        </p:txBody>
      </p:sp>
      <p:sp>
        <p:nvSpPr>
          <p:cNvPr id="9" name="TextBox 8">
            <a:extLst>
              <a:ext uri="{FF2B5EF4-FFF2-40B4-BE49-F238E27FC236}">
                <a16:creationId xmlns:a16="http://schemas.microsoft.com/office/drawing/2014/main" id="{F3E02713-A81E-E51E-4CB0-5F44106D663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15" name="TextBox 14">
            <a:extLst>
              <a:ext uri="{FF2B5EF4-FFF2-40B4-BE49-F238E27FC236}">
                <a16:creationId xmlns:a16="http://schemas.microsoft.com/office/drawing/2014/main" id="{F4D57A0B-6730-2D3A-4A99-C7668329DA13}"/>
              </a:ext>
            </a:extLst>
          </p:cNvPr>
          <p:cNvSpPr txBox="1"/>
          <p:nvPr/>
        </p:nvSpPr>
        <p:spPr>
          <a:xfrm>
            <a:off x="189384" y="871861"/>
            <a:ext cx="11780457" cy="6495097"/>
          </a:xfrm>
          <a:prstGeom prst="rect">
            <a:avLst/>
          </a:prstGeom>
        </p:spPr>
        <p:txBody>
          <a:bodyPr vert="horz" lIns="91440" tIns="45720" rIns="91440" bIns="45720" rtlCol="0">
            <a:noAutofit/>
          </a:bodyPr>
          <a:lstStyle>
            <a:defPPr>
              <a:defRPr lang="en-US"/>
            </a:defPPr>
            <a:lvl1pPr marL="228600" indent="-228600">
              <a:lnSpc>
                <a:spcPct val="90000"/>
              </a:lnSpc>
              <a:spcBef>
                <a:spcPts val="1000"/>
              </a:spcBef>
              <a:buClr>
                <a:srgbClr val="1BBFD1"/>
              </a:buClr>
              <a:buFont typeface="Arial" panose="020B0604020202020204" pitchFamily="34" charset="0"/>
              <a:buChar char="•"/>
              <a:defRPr>
                <a:latin typeface="Montserrat" panose="00000500000000000000" pitchFamily="2" charset="0"/>
              </a:defRPr>
            </a:lvl1pPr>
            <a:lvl2pPr marL="742987" indent="-285764"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2pPr>
            <a:lvl3pPr marL="1143057" indent="-228611" defTabSz="914446">
              <a:lnSpc>
                <a:spcPct val="120000"/>
              </a:lnSpc>
              <a:spcBef>
                <a:spcPts val="333"/>
              </a:spcBef>
              <a:spcAft>
                <a:spcPts val="333"/>
              </a:spcAft>
              <a:buClr>
                <a:srgbClr val="0B8ECC"/>
              </a:buClr>
              <a:buSzPct val="100000"/>
              <a:buFont typeface="Arial" panose="020B0604020202020204" pitchFamily="34" charset="0"/>
              <a:buChar char="•"/>
              <a:defRPr sz="2000">
                <a:ea typeface="Tahoma" panose="020B0604030504040204" pitchFamily="34" charset="0"/>
                <a:cs typeface="Tahoma" panose="020B0604030504040204" pitchFamily="34" charset="0"/>
              </a:defRPr>
            </a:lvl3pPr>
            <a:lvl4pPr marL="1600280"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4pPr>
            <a:lvl5pPr marL="2057503" indent="-228611" defTabSz="914446">
              <a:lnSpc>
                <a:spcPct val="120000"/>
              </a:lnSpc>
              <a:spcBef>
                <a:spcPts val="333"/>
              </a:spcBef>
              <a:spcAft>
                <a:spcPts val="333"/>
              </a:spcAft>
              <a:buClr>
                <a:srgbClr val="0B8ECC"/>
              </a:buClr>
              <a:buFont typeface="Arial" panose="020B0604020202020204" pitchFamily="34" charset="0"/>
              <a:buChar char="•"/>
              <a:defRPr sz="2000">
                <a:ea typeface="Tahoma" panose="020B0604030504040204" pitchFamily="34" charset="0"/>
                <a:cs typeface="Tahoma" panose="020B0604030504040204" pitchFamily="34" charset="0"/>
              </a:defRPr>
            </a:lvl5pPr>
            <a:lvl6pPr marL="2514726" indent="-228611" defTabSz="914446">
              <a:lnSpc>
                <a:spcPct val="90000"/>
              </a:lnSpc>
              <a:spcBef>
                <a:spcPts val="500"/>
              </a:spcBef>
              <a:buFont typeface="Arial" panose="020B0604020202020204" pitchFamily="34" charset="0"/>
              <a:buChar char="•"/>
            </a:lvl6pPr>
            <a:lvl7pPr marL="2971949" indent="-228611" defTabSz="914446">
              <a:lnSpc>
                <a:spcPct val="90000"/>
              </a:lnSpc>
              <a:spcBef>
                <a:spcPts val="500"/>
              </a:spcBef>
              <a:buFont typeface="Arial" panose="020B0604020202020204" pitchFamily="34" charset="0"/>
              <a:buChar char="•"/>
            </a:lvl7pPr>
            <a:lvl8pPr marL="3429171" indent="-228611" defTabSz="914446">
              <a:lnSpc>
                <a:spcPct val="90000"/>
              </a:lnSpc>
              <a:spcBef>
                <a:spcPts val="500"/>
              </a:spcBef>
              <a:buFont typeface="Arial" panose="020B0604020202020204" pitchFamily="34" charset="0"/>
              <a:buChar char="•"/>
            </a:lvl8pPr>
            <a:lvl9pPr marL="3886394" indent="-228611" defTabSz="914446">
              <a:lnSpc>
                <a:spcPct val="90000"/>
              </a:lnSpc>
              <a:spcBef>
                <a:spcPts val="500"/>
              </a:spcBef>
              <a:buFont typeface="Arial" panose="020B0604020202020204" pitchFamily="34" charset="0"/>
              <a:buChar char="•"/>
            </a:lvl9pPr>
          </a:lstStyle>
          <a:p>
            <a:pPr lvl="1"/>
            <a:endParaRPr lang="en-US" sz="1600" dirty="0"/>
          </a:p>
          <a:p>
            <a:endParaRPr lang="en-US" sz="1400" dirty="0"/>
          </a:p>
        </p:txBody>
      </p:sp>
      <p:sp>
        <p:nvSpPr>
          <p:cNvPr id="20" name="Rectangle 2">
            <a:extLst>
              <a:ext uri="{FF2B5EF4-FFF2-40B4-BE49-F238E27FC236}">
                <a16:creationId xmlns:a16="http://schemas.microsoft.com/office/drawing/2014/main" id="{6849106E-94D0-A5D7-DCD2-89478663F491}"/>
              </a:ext>
            </a:extLst>
          </p:cNvPr>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3" name="TextBox 2">
            <a:extLst>
              <a:ext uri="{FF2B5EF4-FFF2-40B4-BE49-F238E27FC236}">
                <a16:creationId xmlns:a16="http://schemas.microsoft.com/office/drawing/2014/main" id="{077EFFCC-8FDE-188B-11B7-E6FF17D59EAF}"/>
              </a:ext>
            </a:extLst>
          </p:cNvPr>
          <p:cNvSpPr txBox="1"/>
          <p:nvPr/>
        </p:nvSpPr>
        <p:spPr>
          <a:xfrm>
            <a:off x="153409" y="907669"/>
            <a:ext cx="8905799" cy="830997"/>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ontserrat" panose="00000500000000000000" pitchFamily="2" charset="0"/>
              </a:rPr>
              <a:t>Using the data plugin in Claude Cowork, perform data visualization on the sales_data.xlsx</a:t>
            </a:r>
          </a:p>
          <a:p>
            <a:pPr marL="285750" indent="-285750">
              <a:buFont typeface="Arial" panose="020B0604020202020204" pitchFamily="34" charset="0"/>
              <a:buChar char="•"/>
            </a:pPr>
            <a:r>
              <a:rPr lang="en-US" sz="1600" dirty="0">
                <a:latin typeface="Montserrat" panose="00000500000000000000" pitchFamily="2" charset="0"/>
              </a:rPr>
              <a:t>Analyze the results and perform a sanity check</a:t>
            </a:r>
            <a:endParaRPr lang="en-US" sz="1400" dirty="0">
              <a:latin typeface="Montserrat" panose="00000500000000000000" pitchFamily="2" charset="0"/>
            </a:endParaRPr>
          </a:p>
        </p:txBody>
      </p:sp>
      <p:pic>
        <p:nvPicPr>
          <p:cNvPr id="2" name="Picture 1">
            <a:extLst>
              <a:ext uri="{FF2B5EF4-FFF2-40B4-BE49-F238E27FC236}">
                <a16:creationId xmlns:a16="http://schemas.microsoft.com/office/drawing/2014/main" id="{ADC4654B-1C83-9908-9DE5-0BFEBA41709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8998545" y="747334"/>
            <a:ext cx="3060152" cy="2421464"/>
          </a:xfrm>
          <a:prstGeom prst="rect">
            <a:avLst/>
          </a:prstGeom>
        </p:spPr>
      </p:pic>
    </p:spTree>
    <p:extLst>
      <p:ext uri="{BB962C8B-B14F-4D97-AF65-F5344CB8AC3E}">
        <p14:creationId xmlns:p14="http://schemas.microsoft.com/office/powerpoint/2010/main" val="38192317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83F7F-D3C9-8D1B-3465-F4C6EBBD99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04F9E8-EBB5-6BF0-72C8-1DE9C8F8DD05}"/>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3C6079C-84D8-4A84-14D8-28557400FC12}"/>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634119B6-C96C-1DDA-EFAA-1B3118CB0FE5}"/>
              </a:ext>
            </a:extLst>
          </p:cNvPr>
          <p:cNvSpPr/>
          <p:nvPr/>
        </p:nvSpPr>
        <p:spPr>
          <a:xfrm>
            <a:off x="293914" y="793804"/>
            <a:ext cx="5578566" cy="1323439"/>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PRACTICE OPPORTUNITY</a:t>
            </a:r>
          </a:p>
        </p:txBody>
      </p:sp>
      <p:pic>
        <p:nvPicPr>
          <p:cNvPr id="5" name="Picture 4">
            <a:extLst>
              <a:ext uri="{FF2B5EF4-FFF2-40B4-BE49-F238E27FC236}">
                <a16:creationId xmlns:a16="http://schemas.microsoft.com/office/drawing/2014/main" id="{8D25CA05-A14C-07BB-785F-02746E24C23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5761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0FAD-A298-6B51-81EB-E470178251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E2E8FE7-37DD-B634-9309-E70C5ECCD9D5}"/>
              </a:ext>
            </a:extLst>
          </p:cNvPr>
          <p:cNvPicPr>
            <a:picLocks noChangeAspect="1"/>
          </p:cNvPicPr>
          <p:nvPr/>
        </p:nvPicPr>
        <p:blipFill>
          <a:blip r:embed="rId2"/>
          <a:stretch>
            <a:fillRect/>
          </a:stretch>
        </p:blipFill>
        <p:spPr>
          <a:xfrm>
            <a:off x="0" y="0"/>
            <a:ext cx="12224773" cy="6858000"/>
          </a:xfrm>
          <a:prstGeom prst="rect">
            <a:avLst/>
          </a:prstGeom>
        </p:spPr>
      </p:pic>
      <p:pic>
        <p:nvPicPr>
          <p:cNvPr id="6" name="Picture 5">
            <a:extLst>
              <a:ext uri="{FF2B5EF4-FFF2-40B4-BE49-F238E27FC236}">
                <a16:creationId xmlns:a16="http://schemas.microsoft.com/office/drawing/2014/main" id="{8F5E8570-8935-0EEA-C40B-14749CFBEBBE}"/>
              </a:ext>
            </a:extLst>
          </p:cNvPr>
          <p:cNvPicPr>
            <a:picLocks noChangeAspect="1"/>
          </p:cNvPicPr>
          <p:nvPr/>
        </p:nvPicPr>
        <p:blipFill>
          <a:blip r:embed="rId3"/>
          <a:srcRect l="2731" t="18967" r="5594" b="23672"/>
          <a:stretch/>
        </p:blipFill>
        <p:spPr>
          <a:xfrm>
            <a:off x="9428854" y="90489"/>
            <a:ext cx="2763146" cy="477788"/>
          </a:xfrm>
          <a:prstGeom prst="rect">
            <a:avLst/>
          </a:prstGeom>
        </p:spPr>
      </p:pic>
      <p:sp>
        <p:nvSpPr>
          <p:cNvPr id="7" name="Прямоугольник 9">
            <a:extLst>
              <a:ext uri="{FF2B5EF4-FFF2-40B4-BE49-F238E27FC236}">
                <a16:creationId xmlns:a16="http://schemas.microsoft.com/office/drawing/2014/main" id="{5FEC936C-257A-8EA3-F9B1-EEC1E13E206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Practice Opportunity: Claude Data Plugin</a:t>
            </a:r>
          </a:p>
        </p:txBody>
      </p:sp>
      <p:sp>
        <p:nvSpPr>
          <p:cNvPr id="9" name="TextBox 8">
            <a:extLst>
              <a:ext uri="{FF2B5EF4-FFF2-40B4-BE49-F238E27FC236}">
                <a16:creationId xmlns:a16="http://schemas.microsoft.com/office/drawing/2014/main" id="{B3C814A0-2851-0248-A8E6-1EAC997C0C27}"/>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2" name="TextBox 1">
            <a:extLst>
              <a:ext uri="{FF2B5EF4-FFF2-40B4-BE49-F238E27FC236}">
                <a16:creationId xmlns:a16="http://schemas.microsoft.com/office/drawing/2014/main" id="{A6A1CFB5-DE0B-5646-4735-FB683E79F6B6}"/>
              </a:ext>
            </a:extLst>
          </p:cNvPr>
          <p:cNvSpPr txBox="1"/>
          <p:nvPr/>
        </p:nvSpPr>
        <p:spPr>
          <a:xfrm>
            <a:off x="154723" y="1065829"/>
            <a:ext cx="9539535" cy="2862322"/>
          </a:xfrm>
          <a:prstGeom prst="rect">
            <a:avLst/>
          </a:prstGeom>
          <a:noFill/>
        </p:spPr>
        <p:txBody>
          <a:bodyPr wrap="square">
            <a:spAutoFit/>
          </a:bodyPr>
          <a:lstStyle/>
          <a:p>
            <a:r>
              <a:rPr lang="en-US" b="1" dirty="0"/>
              <a:t>Scenario:</a:t>
            </a:r>
            <a:r>
              <a:rPr lang="en-US" dirty="0"/>
              <a:t> You are a Data Analyst for a tech brand. Use the </a:t>
            </a:r>
            <a:r>
              <a:rPr lang="en-US" b="1" dirty="0"/>
              <a:t>Data plugin</a:t>
            </a:r>
            <a:r>
              <a:rPr lang="en-US" dirty="0"/>
              <a:t> to analyze “</a:t>
            </a:r>
            <a:r>
              <a:rPr lang="en-US" i="1" dirty="0"/>
              <a:t>reviews.xlsx</a:t>
            </a:r>
            <a:r>
              <a:rPr lang="en-US" dirty="0"/>
              <a:t>” and present your findings to the product team.</a:t>
            </a:r>
          </a:p>
          <a:p>
            <a:endParaRPr lang="en-US" dirty="0"/>
          </a:p>
          <a:p>
            <a:r>
              <a:rPr lang="en-US" b="1" dirty="0"/>
              <a:t>Tasks</a:t>
            </a:r>
          </a:p>
          <a:p>
            <a:pPr marL="285750" indent="-285750">
              <a:buFont typeface="Arial" panose="020B0604020202020204" pitchFamily="34" charset="0"/>
              <a:buChar char="•"/>
            </a:pPr>
            <a:r>
              <a:rPr lang="en-US" b="1" dirty="0"/>
              <a:t>Exploratory Analysis:</a:t>
            </a:r>
            <a:r>
              <a:rPr lang="en-US" dirty="0"/>
              <a:t> Visualize the distribution of star ratings and generate a statistical summary (mean, median, outliers).</a:t>
            </a:r>
          </a:p>
          <a:p>
            <a:pPr marL="285750" indent="-285750">
              <a:buFont typeface="Arial" panose="020B0604020202020204" pitchFamily="34" charset="0"/>
              <a:buChar char="•"/>
            </a:pPr>
            <a:r>
              <a:rPr lang="en-US" b="1" dirty="0"/>
              <a:t>Dashboarding:</a:t>
            </a:r>
            <a:r>
              <a:rPr lang="en-US" dirty="0"/>
              <a:t> Create a single-page dashboard showing review volume and average sentiment.</a:t>
            </a:r>
          </a:p>
          <a:p>
            <a:pPr marL="285750" indent="-285750">
              <a:buFont typeface="Arial" panose="020B0604020202020204" pitchFamily="34" charset="0"/>
              <a:buChar char="•"/>
            </a:pPr>
            <a:r>
              <a:rPr lang="en-US" b="1" dirty="0"/>
              <a:t>Text Mining:</a:t>
            </a:r>
            <a:r>
              <a:rPr lang="en-US" dirty="0"/>
              <a:t> Clean the </a:t>
            </a:r>
            <a:r>
              <a:rPr lang="en-US" dirty="0" err="1"/>
              <a:t>Verified_reviews</a:t>
            </a:r>
            <a:r>
              <a:rPr lang="en-US" dirty="0"/>
              <a:t> column and plot a </a:t>
            </a:r>
            <a:r>
              <a:rPr lang="en-US" b="1" dirty="0"/>
              <a:t>Word Cloud</a:t>
            </a:r>
            <a:r>
              <a:rPr lang="en-US" dirty="0"/>
              <a:t> to identify the most frequent customer feedback themes.</a:t>
            </a:r>
          </a:p>
          <a:p>
            <a:pPr marL="285750" indent="-285750">
              <a:buFont typeface="Arial" panose="020B0604020202020204" pitchFamily="34" charset="0"/>
              <a:buChar char="•"/>
            </a:pPr>
            <a:r>
              <a:rPr lang="en-US" b="1" dirty="0"/>
              <a:t>Reporting:</a:t>
            </a:r>
            <a:r>
              <a:rPr lang="en-US" dirty="0"/>
              <a:t> Generate a 3-slide PowerPoint summary</a:t>
            </a:r>
          </a:p>
        </p:txBody>
      </p:sp>
      <p:pic>
        <p:nvPicPr>
          <p:cNvPr id="1028" name="Picture 4" descr="Logos Download | Claude">
            <a:extLst>
              <a:ext uri="{FF2B5EF4-FFF2-40B4-BE49-F238E27FC236}">
                <a16:creationId xmlns:a16="http://schemas.microsoft.com/office/drawing/2014/main" id="{FD73799B-A86B-EDC2-1B91-38162AFF97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5009" y="5108969"/>
            <a:ext cx="4727211" cy="101499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D2CD9E5-90E7-8EF5-2146-345629808DE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503534" y="1066488"/>
            <a:ext cx="2613785" cy="2068258"/>
          </a:xfrm>
          <a:prstGeom prst="rect">
            <a:avLst/>
          </a:prstGeom>
        </p:spPr>
      </p:pic>
    </p:spTree>
    <p:extLst>
      <p:ext uri="{BB962C8B-B14F-4D97-AF65-F5344CB8AC3E}">
        <p14:creationId xmlns:p14="http://schemas.microsoft.com/office/powerpoint/2010/main" val="2614454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5373</TotalTime>
  <Words>2052</Words>
  <Application>Microsoft Office PowerPoint</Application>
  <PresentationFormat>Widescreen</PresentationFormat>
  <Paragraphs>262</Paragraphs>
  <Slides>39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Montserrat</vt:lpstr>
      <vt:lpstr>Arial</vt:lpstr>
      <vt:lpstr>Calibri</vt:lpstr>
      <vt:lpstr>Calibri Light</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Chris Tseng</cp:lastModifiedBy>
  <cp:revision>485</cp:revision>
  <dcterms:created xsi:type="dcterms:W3CDTF">2019-11-18T17:58:36Z</dcterms:created>
  <dcterms:modified xsi:type="dcterms:W3CDTF">2026-03-26T09:21:39Z</dcterms:modified>
</cp:coreProperties>
</file>