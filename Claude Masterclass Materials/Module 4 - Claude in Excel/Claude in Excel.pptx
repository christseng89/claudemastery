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565" r:id="rId2"/>
    <p:sldId id="4203" r:id="rId3"/>
    <p:sldId id="569" r:id="rId4"/>
    <p:sldId id="4207" r:id="rId5"/>
    <p:sldId id="4208" r:id="rId6"/>
    <p:sldId id="4205" r:id="rId7"/>
    <p:sldId id="4190" r:id="rId8"/>
    <p:sldId id="4212" r:id="rId9"/>
    <p:sldId id="4221" r:id="rId10"/>
    <p:sldId id="4229" r:id="rId11"/>
    <p:sldId id="4230" r:id="rId12"/>
    <p:sldId id="4231" r:id="rId13"/>
    <p:sldId id="4248" r:id="rId14"/>
    <p:sldId id="4245" r:id="rId15"/>
    <p:sldId id="4236" r:id="rId16"/>
    <p:sldId id="4237" r:id="rId17"/>
    <p:sldId id="4209" r:id="rId18"/>
    <p:sldId id="4210" r:id="rId19"/>
    <p:sldId id="27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1CCDD"/>
    <a:srgbClr val="F9F9F9"/>
    <a:srgbClr val="1BBFD1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721"/>
  </p:normalViewPr>
  <p:slideViewPr>
    <p:cSldViewPr snapToGrid="0" snapToObjects="1">
      <p:cViewPr varScale="1">
        <p:scale>
          <a:sx n="157" d="100"/>
          <a:sy n="157" d="100"/>
        </p:scale>
        <p:origin x="259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BB715B-7861-4623-B455-2278A068250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2A9716-2D36-4014-A8C2-FF36D65F6A3A}">
      <dgm:prSet/>
      <dgm:spPr>
        <a:solidFill>
          <a:srgbClr val="D56E48"/>
        </a:solidFill>
      </dgm:spPr>
      <dgm:t>
        <a:bodyPr/>
        <a:lstStyle/>
        <a:p>
          <a:r>
            <a:rPr lang="en-US" dirty="0">
              <a:latin typeface="Montserrat" panose="00000500000000000000" pitchFamily="2" charset="0"/>
            </a:rPr>
            <a:t>Natural Language Queries: Ask questions in plain language and get answers.</a:t>
          </a:r>
        </a:p>
      </dgm:t>
    </dgm:pt>
    <dgm:pt modelId="{F3E44732-967A-4CA8-A058-E341C3D8C6F2}" type="parTrans" cxnId="{4B3700A1-BE53-4515-B265-515332529F01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E1A0FA61-C9F4-489B-818B-AB751FC62C9D}" type="sibTrans" cxnId="{4B3700A1-BE53-4515-B265-515332529F01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B7D2E101-F533-425B-A931-A51614455D31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>
              <a:latin typeface="Montserrat" panose="00000500000000000000" pitchFamily="2" charset="0"/>
            </a:rPr>
            <a:t>Data Insights: Quickly analyze trends and patterns.</a:t>
          </a:r>
        </a:p>
      </dgm:t>
    </dgm:pt>
    <dgm:pt modelId="{E6DFBFA8-4906-4429-93D5-40D2DD376CC5}" type="parTrans" cxnId="{3C778021-4FEA-4857-B7B1-BFF0AFA13919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1E28699C-36C5-4950-B180-82627C8231FA}" type="sibTrans" cxnId="{3C778021-4FEA-4857-B7B1-BFF0AFA13919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30024DBD-0C4F-421B-B483-CF853B2F1FD9}">
      <dgm:prSet/>
      <dgm:spPr>
        <a:solidFill>
          <a:srgbClr val="11CCDD"/>
        </a:solidFill>
      </dgm:spPr>
      <dgm:t>
        <a:bodyPr/>
        <a:lstStyle/>
        <a:p>
          <a:r>
            <a:rPr lang="en-US" dirty="0">
              <a:latin typeface="Montserrat" panose="00000500000000000000" pitchFamily="2" charset="0"/>
            </a:rPr>
            <a:t>Formula Assistance: Suggests and creates formulas.</a:t>
          </a:r>
        </a:p>
      </dgm:t>
    </dgm:pt>
    <dgm:pt modelId="{628331DF-ADAF-4C44-9172-1BD860AF2E34}" type="parTrans" cxnId="{92D52A28-E00A-4104-9BEB-89C25B177BD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BA7313C8-A25B-4E8D-A9C1-FB8B98084C3D}" type="sibTrans" cxnId="{92D52A28-E00A-4104-9BEB-89C25B177BD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DE5891B4-941C-4EC9-BA35-01DE939F15B8}">
      <dgm:prSet/>
      <dgm:spPr>
        <a:solidFill>
          <a:srgbClr val="D56E48"/>
        </a:solidFill>
        <a:ln>
          <a:solidFill>
            <a:srgbClr val="D56E48"/>
          </a:solidFill>
        </a:ln>
      </dgm:spPr>
      <dgm:t>
        <a:bodyPr/>
        <a:lstStyle/>
        <a:p>
          <a:r>
            <a:rPr lang="en-US">
              <a:latin typeface="Montserrat" panose="00000500000000000000" pitchFamily="2" charset="0"/>
            </a:rPr>
            <a:t>Data Cleaning: Identifies errors and inconsistencies.</a:t>
          </a:r>
        </a:p>
      </dgm:t>
    </dgm:pt>
    <dgm:pt modelId="{56195220-2A3A-4022-9777-3348D1AF182F}" type="parTrans" cxnId="{5B788DAE-43AF-43C1-AB90-EE51C090A9E1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4FB83357-62A2-4444-BEE0-1B992C5934E4}" type="sibTrans" cxnId="{5B788DAE-43AF-43C1-AB90-EE51C090A9E1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B098D341-BBD2-4C60-B0A3-9843F1CD0A6F}">
      <dgm:prSet/>
      <dgm:spPr>
        <a:solidFill>
          <a:srgbClr val="0C1752"/>
        </a:solidFill>
      </dgm:spPr>
      <dgm:t>
        <a:bodyPr/>
        <a:lstStyle/>
        <a:p>
          <a:r>
            <a:rPr lang="en-US">
              <a:latin typeface="Montserrat" panose="00000500000000000000" pitchFamily="2" charset="0"/>
            </a:rPr>
            <a:t>Trend Identification: Highlights key data trends and suggests visualizations.</a:t>
          </a:r>
        </a:p>
      </dgm:t>
    </dgm:pt>
    <dgm:pt modelId="{25DFCC0B-29A0-4395-AD4D-7E2F6A3CE92C}" type="parTrans" cxnId="{8F5A6C0E-9BB7-4276-A394-F999BA1DD9CD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43900682-FD2B-4833-A8D1-3D82609CD460}" type="sibTrans" cxnId="{8F5A6C0E-9BB7-4276-A394-F999BA1DD9CD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2404F8C5-752B-40D3-AD73-4DC251CBE123}">
      <dgm:prSet/>
      <dgm:spPr>
        <a:solidFill>
          <a:srgbClr val="11CCDD"/>
        </a:solidFill>
      </dgm:spPr>
      <dgm:t>
        <a:bodyPr/>
        <a:lstStyle/>
        <a:p>
          <a:r>
            <a:rPr lang="en-US" dirty="0">
              <a:latin typeface="Montserrat" panose="00000500000000000000" pitchFamily="2" charset="0"/>
            </a:rPr>
            <a:t>Task Automation: Automates repetitive tasks like formatting and calculations.</a:t>
          </a:r>
        </a:p>
      </dgm:t>
    </dgm:pt>
    <dgm:pt modelId="{FB26C6B0-4A17-41D6-A1C2-104C6CF71AD8}" type="parTrans" cxnId="{52D6A643-8A83-4B48-8B0B-34ECCE696B88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49A21291-0B8D-4274-9A65-84F124A4E6CD}" type="sibTrans" cxnId="{52D6A643-8A83-4B48-8B0B-34ECCE696B88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5D326A74-CC13-4F05-BBD2-34891C626E24}">
      <dgm:prSet/>
      <dgm:spPr>
        <a:solidFill>
          <a:srgbClr val="0C1752"/>
        </a:solidFill>
      </dgm:spPr>
      <dgm:t>
        <a:bodyPr/>
        <a:lstStyle/>
        <a:p>
          <a:r>
            <a:rPr lang="en-US" dirty="0">
              <a:latin typeface="Montserrat" panose="00000500000000000000" pitchFamily="2" charset="0"/>
            </a:rPr>
            <a:t>Building advanced Financial Models</a:t>
          </a:r>
        </a:p>
      </dgm:t>
    </dgm:pt>
    <dgm:pt modelId="{97289F2C-CD7F-48B8-AD88-237932D1D483}" type="parTrans" cxnId="{3C444F63-9538-4916-822B-E02B0DDBFD76}">
      <dgm:prSet/>
      <dgm:spPr/>
      <dgm:t>
        <a:bodyPr/>
        <a:lstStyle/>
        <a:p>
          <a:endParaRPr lang="en-CA"/>
        </a:p>
      </dgm:t>
    </dgm:pt>
    <dgm:pt modelId="{0B493FFC-DBCF-457E-9DEA-872DFB181F87}" type="sibTrans" cxnId="{3C444F63-9538-4916-822B-E02B0DDBFD76}">
      <dgm:prSet/>
      <dgm:spPr/>
      <dgm:t>
        <a:bodyPr/>
        <a:lstStyle/>
        <a:p>
          <a:endParaRPr lang="en-CA"/>
        </a:p>
      </dgm:t>
    </dgm:pt>
    <dgm:pt modelId="{CEAD2C59-DB1F-4C40-829D-B35E0712E01F}">
      <dgm:prSet/>
      <dgm:spPr>
        <a:solidFill>
          <a:srgbClr val="0C1752"/>
        </a:solidFill>
      </dgm:spPr>
      <dgm:t>
        <a:bodyPr/>
        <a:lstStyle/>
        <a:p>
          <a:r>
            <a:rPr lang="en-US" dirty="0">
              <a:latin typeface="Montserrat" panose="00000500000000000000" pitchFamily="2" charset="0"/>
            </a:rPr>
            <a:t>Build predictive Models directly inside of Excel</a:t>
          </a:r>
        </a:p>
      </dgm:t>
    </dgm:pt>
    <dgm:pt modelId="{3A211DD0-E7DE-4EE3-9C68-31380F415008}" type="parTrans" cxnId="{09ECF04E-C653-4A5B-BA38-A4175735AEBF}">
      <dgm:prSet/>
      <dgm:spPr/>
      <dgm:t>
        <a:bodyPr/>
        <a:lstStyle/>
        <a:p>
          <a:endParaRPr lang="en-CA"/>
        </a:p>
      </dgm:t>
    </dgm:pt>
    <dgm:pt modelId="{EA051974-25FC-41A7-8667-89CBB5B1AFC1}" type="sibTrans" cxnId="{09ECF04E-C653-4A5B-BA38-A4175735AEBF}">
      <dgm:prSet/>
      <dgm:spPr/>
      <dgm:t>
        <a:bodyPr/>
        <a:lstStyle/>
        <a:p>
          <a:endParaRPr lang="en-CA"/>
        </a:p>
      </dgm:t>
    </dgm:pt>
    <dgm:pt modelId="{A3C8DA71-1FBA-4D51-933F-DA890777F95A}" type="pres">
      <dgm:prSet presAssocID="{21BB715B-7861-4623-B455-2278A068250D}" presName="diagram" presStyleCnt="0">
        <dgm:presLayoutVars>
          <dgm:dir/>
          <dgm:resizeHandles val="exact"/>
        </dgm:presLayoutVars>
      </dgm:prSet>
      <dgm:spPr/>
    </dgm:pt>
    <dgm:pt modelId="{A4611CAE-9CFE-42EA-B392-65050BF9F890}" type="pres">
      <dgm:prSet presAssocID="{872A9716-2D36-4014-A8C2-FF36D65F6A3A}" presName="node" presStyleLbl="node1" presStyleIdx="0" presStyleCnt="8">
        <dgm:presLayoutVars>
          <dgm:bulletEnabled val="1"/>
        </dgm:presLayoutVars>
      </dgm:prSet>
      <dgm:spPr/>
    </dgm:pt>
    <dgm:pt modelId="{B0D714AE-B47D-430D-A1CF-D164528207B4}" type="pres">
      <dgm:prSet presAssocID="{E1A0FA61-C9F4-489B-818B-AB751FC62C9D}" presName="sibTrans" presStyleCnt="0"/>
      <dgm:spPr/>
    </dgm:pt>
    <dgm:pt modelId="{6A1D0C22-2068-4BEF-BCEB-7C28AD716EAD}" type="pres">
      <dgm:prSet presAssocID="{5D326A74-CC13-4F05-BBD2-34891C626E24}" presName="node" presStyleLbl="node1" presStyleIdx="1" presStyleCnt="8">
        <dgm:presLayoutVars>
          <dgm:bulletEnabled val="1"/>
        </dgm:presLayoutVars>
      </dgm:prSet>
      <dgm:spPr/>
    </dgm:pt>
    <dgm:pt modelId="{09788F53-7084-4C85-9B77-A7D7C98F89CB}" type="pres">
      <dgm:prSet presAssocID="{0B493FFC-DBCF-457E-9DEA-872DFB181F87}" presName="sibTrans" presStyleCnt="0"/>
      <dgm:spPr/>
    </dgm:pt>
    <dgm:pt modelId="{0E297865-EB48-4D6C-A6EE-B9EE7BA8920F}" type="pres">
      <dgm:prSet presAssocID="{B7D2E101-F533-425B-A931-A51614455D31}" presName="node" presStyleLbl="node1" presStyleIdx="2" presStyleCnt="8">
        <dgm:presLayoutVars>
          <dgm:bulletEnabled val="1"/>
        </dgm:presLayoutVars>
      </dgm:prSet>
      <dgm:spPr/>
    </dgm:pt>
    <dgm:pt modelId="{B2806143-4DD3-42EC-889E-35A04E45F178}" type="pres">
      <dgm:prSet presAssocID="{1E28699C-36C5-4950-B180-82627C8231FA}" presName="sibTrans" presStyleCnt="0"/>
      <dgm:spPr/>
    </dgm:pt>
    <dgm:pt modelId="{B6D3EEA8-B02D-482F-8BB0-5292BAB9D317}" type="pres">
      <dgm:prSet presAssocID="{30024DBD-0C4F-421B-B483-CF853B2F1FD9}" presName="node" presStyleLbl="node1" presStyleIdx="3" presStyleCnt="8">
        <dgm:presLayoutVars>
          <dgm:bulletEnabled val="1"/>
        </dgm:presLayoutVars>
      </dgm:prSet>
      <dgm:spPr/>
    </dgm:pt>
    <dgm:pt modelId="{2FB6AC3D-B156-4505-A391-025FC3FCF3F9}" type="pres">
      <dgm:prSet presAssocID="{BA7313C8-A25B-4E8D-A9C1-FB8B98084C3D}" presName="sibTrans" presStyleCnt="0"/>
      <dgm:spPr/>
    </dgm:pt>
    <dgm:pt modelId="{65732F32-5644-4340-B533-FBE54E1DA622}" type="pres">
      <dgm:prSet presAssocID="{DE5891B4-941C-4EC9-BA35-01DE939F15B8}" presName="node" presStyleLbl="node1" presStyleIdx="4" presStyleCnt="8">
        <dgm:presLayoutVars>
          <dgm:bulletEnabled val="1"/>
        </dgm:presLayoutVars>
      </dgm:prSet>
      <dgm:spPr/>
    </dgm:pt>
    <dgm:pt modelId="{532AE77A-0FA6-411D-969E-B76E5362E15E}" type="pres">
      <dgm:prSet presAssocID="{4FB83357-62A2-4444-BEE0-1B992C5934E4}" presName="sibTrans" presStyleCnt="0"/>
      <dgm:spPr/>
    </dgm:pt>
    <dgm:pt modelId="{F6A76462-569C-454E-82DE-F260C846C8EC}" type="pres">
      <dgm:prSet presAssocID="{B098D341-BBD2-4C60-B0A3-9843F1CD0A6F}" presName="node" presStyleLbl="node1" presStyleIdx="5" presStyleCnt="8">
        <dgm:presLayoutVars>
          <dgm:bulletEnabled val="1"/>
        </dgm:presLayoutVars>
      </dgm:prSet>
      <dgm:spPr/>
    </dgm:pt>
    <dgm:pt modelId="{323F3944-4256-4C36-A7D9-726BF0D2A716}" type="pres">
      <dgm:prSet presAssocID="{43900682-FD2B-4833-A8D1-3D82609CD460}" presName="sibTrans" presStyleCnt="0"/>
      <dgm:spPr/>
    </dgm:pt>
    <dgm:pt modelId="{B0C64C9B-D0B3-40BD-959E-BE77FF0F5724}" type="pres">
      <dgm:prSet presAssocID="{2404F8C5-752B-40D3-AD73-4DC251CBE123}" presName="node" presStyleLbl="node1" presStyleIdx="6" presStyleCnt="8">
        <dgm:presLayoutVars>
          <dgm:bulletEnabled val="1"/>
        </dgm:presLayoutVars>
      </dgm:prSet>
      <dgm:spPr/>
    </dgm:pt>
    <dgm:pt modelId="{3CFAE9E4-4559-4C4D-8130-92D94334A4E0}" type="pres">
      <dgm:prSet presAssocID="{49A21291-0B8D-4274-9A65-84F124A4E6CD}" presName="sibTrans" presStyleCnt="0"/>
      <dgm:spPr/>
    </dgm:pt>
    <dgm:pt modelId="{D0FF6ACB-8F90-4CC0-A38F-6EB85BA99C05}" type="pres">
      <dgm:prSet presAssocID="{CEAD2C59-DB1F-4C40-829D-B35E0712E01F}" presName="node" presStyleLbl="node1" presStyleIdx="7" presStyleCnt="8">
        <dgm:presLayoutVars>
          <dgm:bulletEnabled val="1"/>
        </dgm:presLayoutVars>
      </dgm:prSet>
      <dgm:spPr/>
    </dgm:pt>
  </dgm:ptLst>
  <dgm:cxnLst>
    <dgm:cxn modelId="{54716502-D653-45A0-B602-27DDE272BCD1}" type="presOf" srcId="{DE5891B4-941C-4EC9-BA35-01DE939F15B8}" destId="{65732F32-5644-4340-B533-FBE54E1DA622}" srcOrd="0" destOrd="0" presId="urn:microsoft.com/office/officeart/2005/8/layout/default"/>
    <dgm:cxn modelId="{94C1F404-B358-4333-B048-03A20D2B93E5}" type="presOf" srcId="{21BB715B-7861-4623-B455-2278A068250D}" destId="{A3C8DA71-1FBA-4D51-933F-DA890777F95A}" srcOrd="0" destOrd="0" presId="urn:microsoft.com/office/officeart/2005/8/layout/default"/>
    <dgm:cxn modelId="{8F5A6C0E-9BB7-4276-A394-F999BA1DD9CD}" srcId="{21BB715B-7861-4623-B455-2278A068250D}" destId="{B098D341-BBD2-4C60-B0A3-9843F1CD0A6F}" srcOrd="5" destOrd="0" parTransId="{25DFCC0B-29A0-4395-AD4D-7E2F6A3CE92C}" sibTransId="{43900682-FD2B-4833-A8D1-3D82609CD460}"/>
    <dgm:cxn modelId="{24CDCE20-8AFE-402F-B1B1-A8FBE6D708F9}" type="presOf" srcId="{CEAD2C59-DB1F-4C40-829D-B35E0712E01F}" destId="{D0FF6ACB-8F90-4CC0-A38F-6EB85BA99C05}" srcOrd="0" destOrd="0" presId="urn:microsoft.com/office/officeart/2005/8/layout/default"/>
    <dgm:cxn modelId="{3C778021-4FEA-4857-B7B1-BFF0AFA13919}" srcId="{21BB715B-7861-4623-B455-2278A068250D}" destId="{B7D2E101-F533-425B-A931-A51614455D31}" srcOrd="2" destOrd="0" parTransId="{E6DFBFA8-4906-4429-93D5-40D2DD376CC5}" sibTransId="{1E28699C-36C5-4950-B180-82627C8231FA}"/>
    <dgm:cxn modelId="{155BEA27-29B6-48CC-8B7D-42C7510A9A50}" type="presOf" srcId="{872A9716-2D36-4014-A8C2-FF36D65F6A3A}" destId="{A4611CAE-9CFE-42EA-B392-65050BF9F890}" srcOrd="0" destOrd="0" presId="urn:microsoft.com/office/officeart/2005/8/layout/default"/>
    <dgm:cxn modelId="{92D52A28-E00A-4104-9BEB-89C25B177BD6}" srcId="{21BB715B-7861-4623-B455-2278A068250D}" destId="{30024DBD-0C4F-421B-B483-CF853B2F1FD9}" srcOrd="3" destOrd="0" parTransId="{628331DF-ADAF-4C44-9172-1BD860AF2E34}" sibTransId="{BA7313C8-A25B-4E8D-A9C1-FB8B98084C3D}"/>
    <dgm:cxn modelId="{3C444F63-9538-4916-822B-E02B0DDBFD76}" srcId="{21BB715B-7861-4623-B455-2278A068250D}" destId="{5D326A74-CC13-4F05-BBD2-34891C626E24}" srcOrd="1" destOrd="0" parTransId="{97289F2C-CD7F-48B8-AD88-237932D1D483}" sibTransId="{0B493FFC-DBCF-457E-9DEA-872DFB181F87}"/>
    <dgm:cxn modelId="{52D6A643-8A83-4B48-8B0B-34ECCE696B88}" srcId="{21BB715B-7861-4623-B455-2278A068250D}" destId="{2404F8C5-752B-40D3-AD73-4DC251CBE123}" srcOrd="6" destOrd="0" parTransId="{FB26C6B0-4A17-41D6-A1C2-104C6CF71AD8}" sibTransId="{49A21291-0B8D-4274-9A65-84F124A4E6CD}"/>
    <dgm:cxn modelId="{09ECF04E-C653-4A5B-BA38-A4175735AEBF}" srcId="{21BB715B-7861-4623-B455-2278A068250D}" destId="{CEAD2C59-DB1F-4C40-829D-B35E0712E01F}" srcOrd="7" destOrd="0" parTransId="{3A211DD0-E7DE-4EE3-9C68-31380F415008}" sibTransId="{EA051974-25FC-41A7-8667-89CBB5B1AFC1}"/>
    <dgm:cxn modelId="{4B3700A1-BE53-4515-B265-515332529F01}" srcId="{21BB715B-7861-4623-B455-2278A068250D}" destId="{872A9716-2D36-4014-A8C2-FF36D65F6A3A}" srcOrd="0" destOrd="0" parTransId="{F3E44732-967A-4CA8-A058-E341C3D8C6F2}" sibTransId="{E1A0FA61-C9F4-489B-818B-AB751FC62C9D}"/>
    <dgm:cxn modelId="{FC9BC9A5-65BC-4AD8-B3A1-DFFD4873FD16}" type="presOf" srcId="{5D326A74-CC13-4F05-BBD2-34891C626E24}" destId="{6A1D0C22-2068-4BEF-BCEB-7C28AD716EAD}" srcOrd="0" destOrd="0" presId="urn:microsoft.com/office/officeart/2005/8/layout/default"/>
    <dgm:cxn modelId="{5B788DAE-43AF-43C1-AB90-EE51C090A9E1}" srcId="{21BB715B-7861-4623-B455-2278A068250D}" destId="{DE5891B4-941C-4EC9-BA35-01DE939F15B8}" srcOrd="4" destOrd="0" parTransId="{56195220-2A3A-4022-9777-3348D1AF182F}" sibTransId="{4FB83357-62A2-4444-BEE0-1B992C5934E4}"/>
    <dgm:cxn modelId="{255252BB-D1BC-4743-88C1-629A609E382A}" type="presOf" srcId="{B7D2E101-F533-425B-A931-A51614455D31}" destId="{0E297865-EB48-4D6C-A6EE-B9EE7BA8920F}" srcOrd="0" destOrd="0" presId="urn:microsoft.com/office/officeart/2005/8/layout/default"/>
    <dgm:cxn modelId="{9FA49ED2-39D7-454F-86EF-84D829E3A9A2}" type="presOf" srcId="{B098D341-BBD2-4C60-B0A3-9843F1CD0A6F}" destId="{F6A76462-569C-454E-82DE-F260C846C8EC}" srcOrd="0" destOrd="0" presId="urn:microsoft.com/office/officeart/2005/8/layout/default"/>
    <dgm:cxn modelId="{8C818FF0-0E29-42FE-AB93-97A67777DDE5}" type="presOf" srcId="{2404F8C5-752B-40D3-AD73-4DC251CBE123}" destId="{B0C64C9B-D0B3-40BD-959E-BE77FF0F5724}" srcOrd="0" destOrd="0" presId="urn:microsoft.com/office/officeart/2005/8/layout/default"/>
    <dgm:cxn modelId="{36B1CDFD-CD5A-47D2-B5C5-A7C51191E504}" type="presOf" srcId="{30024DBD-0C4F-421B-B483-CF853B2F1FD9}" destId="{B6D3EEA8-B02D-482F-8BB0-5292BAB9D317}" srcOrd="0" destOrd="0" presId="urn:microsoft.com/office/officeart/2005/8/layout/default"/>
    <dgm:cxn modelId="{8C56FCE3-9C09-4B7A-ABB8-AD7BC6CA5332}" type="presParOf" srcId="{A3C8DA71-1FBA-4D51-933F-DA890777F95A}" destId="{A4611CAE-9CFE-42EA-B392-65050BF9F890}" srcOrd="0" destOrd="0" presId="urn:microsoft.com/office/officeart/2005/8/layout/default"/>
    <dgm:cxn modelId="{8C60B64E-D1A0-4DCE-9E5C-2BE6F8F7CC2F}" type="presParOf" srcId="{A3C8DA71-1FBA-4D51-933F-DA890777F95A}" destId="{B0D714AE-B47D-430D-A1CF-D164528207B4}" srcOrd="1" destOrd="0" presId="urn:microsoft.com/office/officeart/2005/8/layout/default"/>
    <dgm:cxn modelId="{6B4C4F70-EC58-43AD-BED0-DC666FC3A642}" type="presParOf" srcId="{A3C8DA71-1FBA-4D51-933F-DA890777F95A}" destId="{6A1D0C22-2068-4BEF-BCEB-7C28AD716EAD}" srcOrd="2" destOrd="0" presId="urn:microsoft.com/office/officeart/2005/8/layout/default"/>
    <dgm:cxn modelId="{6C9D0D4B-0508-4609-906C-C8B7908DEEDD}" type="presParOf" srcId="{A3C8DA71-1FBA-4D51-933F-DA890777F95A}" destId="{09788F53-7084-4C85-9B77-A7D7C98F89CB}" srcOrd="3" destOrd="0" presId="urn:microsoft.com/office/officeart/2005/8/layout/default"/>
    <dgm:cxn modelId="{494DDD30-781F-4379-897B-FDB1D8A43984}" type="presParOf" srcId="{A3C8DA71-1FBA-4D51-933F-DA890777F95A}" destId="{0E297865-EB48-4D6C-A6EE-B9EE7BA8920F}" srcOrd="4" destOrd="0" presId="urn:microsoft.com/office/officeart/2005/8/layout/default"/>
    <dgm:cxn modelId="{0088E8D4-CED5-449D-9AC2-9A1758B953EE}" type="presParOf" srcId="{A3C8DA71-1FBA-4D51-933F-DA890777F95A}" destId="{B2806143-4DD3-42EC-889E-35A04E45F178}" srcOrd="5" destOrd="0" presId="urn:microsoft.com/office/officeart/2005/8/layout/default"/>
    <dgm:cxn modelId="{26780965-201E-44F5-A12F-F9A4728BF746}" type="presParOf" srcId="{A3C8DA71-1FBA-4D51-933F-DA890777F95A}" destId="{B6D3EEA8-B02D-482F-8BB0-5292BAB9D317}" srcOrd="6" destOrd="0" presId="urn:microsoft.com/office/officeart/2005/8/layout/default"/>
    <dgm:cxn modelId="{EFFF2356-9011-4F29-B45C-C299070A216C}" type="presParOf" srcId="{A3C8DA71-1FBA-4D51-933F-DA890777F95A}" destId="{2FB6AC3D-B156-4505-A391-025FC3FCF3F9}" srcOrd="7" destOrd="0" presId="urn:microsoft.com/office/officeart/2005/8/layout/default"/>
    <dgm:cxn modelId="{F2CC2EE2-C9A1-410D-AB28-F4EECF2536C7}" type="presParOf" srcId="{A3C8DA71-1FBA-4D51-933F-DA890777F95A}" destId="{65732F32-5644-4340-B533-FBE54E1DA622}" srcOrd="8" destOrd="0" presId="urn:microsoft.com/office/officeart/2005/8/layout/default"/>
    <dgm:cxn modelId="{4288D1E2-C36A-4233-8AEA-4C1049EBF1B8}" type="presParOf" srcId="{A3C8DA71-1FBA-4D51-933F-DA890777F95A}" destId="{532AE77A-0FA6-411D-969E-B76E5362E15E}" srcOrd="9" destOrd="0" presId="urn:microsoft.com/office/officeart/2005/8/layout/default"/>
    <dgm:cxn modelId="{DA8517EB-0E62-4F50-A19B-EB273836FBE1}" type="presParOf" srcId="{A3C8DA71-1FBA-4D51-933F-DA890777F95A}" destId="{F6A76462-569C-454E-82DE-F260C846C8EC}" srcOrd="10" destOrd="0" presId="urn:microsoft.com/office/officeart/2005/8/layout/default"/>
    <dgm:cxn modelId="{527B2DDE-D395-4A81-8A32-1549612FDE9C}" type="presParOf" srcId="{A3C8DA71-1FBA-4D51-933F-DA890777F95A}" destId="{323F3944-4256-4C36-A7D9-726BF0D2A716}" srcOrd="11" destOrd="0" presId="urn:microsoft.com/office/officeart/2005/8/layout/default"/>
    <dgm:cxn modelId="{C16A38B3-2568-45F7-836E-3C76E8AC55CF}" type="presParOf" srcId="{A3C8DA71-1FBA-4D51-933F-DA890777F95A}" destId="{B0C64C9B-D0B3-40BD-959E-BE77FF0F5724}" srcOrd="12" destOrd="0" presId="urn:microsoft.com/office/officeart/2005/8/layout/default"/>
    <dgm:cxn modelId="{408557D2-A191-47A5-914B-71B976DF6FA6}" type="presParOf" srcId="{A3C8DA71-1FBA-4D51-933F-DA890777F95A}" destId="{3CFAE9E4-4559-4C4D-8130-92D94334A4E0}" srcOrd="13" destOrd="0" presId="urn:microsoft.com/office/officeart/2005/8/layout/default"/>
    <dgm:cxn modelId="{F16E1BFB-EF40-4623-AFBE-F8917DF2CA25}" type="presParOf" srcId="{A3C8DA71-1FBA-4D51-933F-DA890777F95A}" destId="{D0FF6ACB-8F90-4CC0-A38F-6EB85BA99C05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E405EC-FC8A-4D1C-BA32-7F0FF8C0195F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9FD7C4B2-0993-4D6E-9BEF-A914B9512842}">
      <dgm:prSet phldrT="[Text]" custT="1"/>
      <dgm:spPr>
        <a:xfrm>
          <a:off x="8230" y="2399010"/>
          <a:ext cx="2551492" cy="5565541"/>
        </a:xfrm>
        <a:prstGeom prst="roundRect">
          <a:avLst>
            <a:gd name="adj" fmla="val 10000"/>
          </a:avLst>
        </a:prstGeom>
        <a:solidFill>
          <a:srgbClr val="D56E48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CA" sz="18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Identify a Target Company: An investor or a private equity firm finds a company they want to buy.</a:t>
          </a:r>
        </a:p>
      </dgm:t>
    </dgm:pt>
    <dgm:pt modelId="{D6FC878C-3C70-49DD-ACC0-A172C5BDF552}" type="parTrans" cxnId="{04E938F5-BCA9-440A-9181-D09D48E2CAA2}">
      <dgm:prSet/>
      <dgm:spPr/>
      <dgm:t>
        <a:bodyPr/>
        <a:lstStyle/>
        <a:p>
          <a:endParaRPr lang="en-CA" sz="3600"/>
        </a:p>
      </dgm:t>
    </dgm:pt>
    <dgm:pt modelId="{2C7EB64A-6E94-4AD0-831D-5602CF619754}" type="sibTrans" cxnId="{04E938F5-BCA9-440A-9181-D09D48E2CAA2}">
      <dgm:prSet custT="1"/>
      <dgm:spPr>
        <a:xfrm>
          <a:off x="2814872" y="4865396"/>
          <a:ext cx="540916" cy="632770"/>
        </a:xfrm>
        <a:prstGeom prst="rightArrow">
          <a:avLst>
            <a:gd name="adj1" fmla="val 60000"/>
            <a:gd name="adj2" fmla="val 50000"/>
          </a:avLst>
        </a:prstGeom>
        <a:solidFill>
          <a:srgbClr val="0C1752"/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CA" sz="2800">
            <a:solidFill>
              <a:srgbClr val="FFFFFF"/>
            </a:solidFill>
            <a:latin typeface="Cambria" panose="02040503050406030204"/>
            <a:ea typeface="+mn-ea"/>
            <a:cs typeface="+mn-cs"/>
          </a:endParaRPr>
        </a:p>
      </dgm:t>
    </dgm:pt>
    <dgm:pt modelId="{FFA58691-34DF-4646-A672-7357426B491B}">
      <dgm:prSet custT="1"/>
      <dgm:spPr>
        <a:xfrm>
          <a:off x="3580320" y="2399010"/>
          <a:ext cx="2551492" cy="5565541"/>
        </a:xfrm>
        <a:prstGeom prst="roundRect">
          <a:avLst>
            <a:gd name="adj" fmla="val 10000"/>
          </a:avLst>
        </a:prstGeom>
        <a:solidFill>
          <a:srgbClr val="0C1752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CA" sz="18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Secure Debt Financing: They borrow a significant portion of the purchase price from banks or bond markets.</a:t>
          </a:r>
        </a:p>
      </dgm:t>
    </dgm:pt>
    <dgm:pt modelId="{2B098AF0-BF58-4165-86A4-E42BBCE3C470}" type="parTrans" cxnId="{93149DE5-78CF-4D78-8923-81C1810179F0}">
      <dgm:prSet/>
      <dgm:spPr/>
      <dgm:t>
        <a:bodyPr/>
        <a:lstStyle/>
        <a:p>
          <a:endParaRPr lang="en-CA" sz="3600"/>
        </a:p>
      </dgm:t>
    </dgm:pt>
    <dgm:pt modelId="{623472BB-0F81-4E4D-B0F9-C993C34A4BB4}" type="sibTrans" cxnId="{93149DE5-78CF-4D78-8923-81C1810179F0}">
      <dgm:prSet custT="1"/>
      <dgm:spPr>
        <a:xfrm>
          <a:off x="6386963" y="4865396"/>
          <a:ext cx="540916" cy="632770"/>
        </a:xfrm>
        <a:prstGeom prst="rightArrow">
          <a:avLst>
            <a:gd name="adj1" fmla="val 60000"/>
            <a:gd name="adj2" fmla="val 50000"/>
          </a:avLst>
        </a:prstGeom>
        <a:solidFill>
          <a:srgbClr val="0C1752"/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CA" sz="2800">
            <a:solidFill>
              <a:srgbClr val="FFFFFF"/>
            </a:solidFill>
            <a:latin typeface="Cambria" panose="02040503050406030204"/>
            <a:ea typeface="+mn-ea"/>
            <a:cs typeface="+mn-cs"/>
          </a:endParaRPr>
        </a:p>
      </dgm:t>
    </dgm:pt>
    <dgm:pt modelId="{F753D95B-412D-4472-A9CB-42B321ED4361}">
      <dgm:prSet custT="1"/>
      <dgm:spPr>
        <a:xfrm>
          <a:off x="7152411" y="2399010"/>
          <a:ext cx="2551492" cy="5565541"/>
        </a:xfrm>
        <a:prstGeom prst="roundRect">
          <a:avLst>
            <a:gd name="adj" fmla="val 10000"/>
          </a:avLst>
        </a:prstGeom>
        <a:solidFill>
          <a:srgbClr val="1BBFD1"/>
        </a:solidFill>
        <a:ln w="12700" cap="flat" cmpd="sng" algn="ctr">
          <a:solidFill>
            <a:srgbClr val="1BBFD1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CA" sz="18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Put in Equity: The investor also invests some of their own money (but a smaller portion compared to the debt).</a:t>
          </a:r>
        </a:p>
      </dgm:t>
    </dgm:pt>
    <dgm:pt modelId="{72F31F1A-6116-4E72-B3C0-0306E01CF091}" type="parTrans" cxnId="{2DAF1E00-B1A4-469A-9A45-49006D776397}">
      <dgm:prSet/>
      <dgm:spPr/>
      <dgm:t>
        <a:bodyPr/>
        <a:lstStyle/>
        <a:p>
          <a:endParaRPr lang="en-CA" sz="3600"/>
        </a:p>
      </dgm:t>
    </dgm:pt>
    <dgm:pt modelId="{4F409416-9B14-4E16-87D2-8192B36C8A25}" type="sibTrans" cxnId="{2DAF1E00-B1A4-469A-9A45-49006D776397}">
      <dgm:prSet custT="1"/>
      <dgm:spPr>
        <a:xfrm>
          <a:off x="9959053" y="4865396"/>
          <a:ext cx="540916" cy="632770"/>
        </a:xfrm>
        <a:prstGeom prst="rightArrow">
          <a:avLst>
            <a:gd name="adj1" fmla="val 60000"/>
            <a:gd name="adj2" fmla="val 50000"/>
          </a:avLst>
        </a:prstGeom>
        <a:solidFill>
          <a:srgbClr val="0C1752"/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CA" sz="2800">
            <a:solidFill>
              <a:srgbClr val="FFFFFF"/>
            </a:solidFill>
            <a:latin typeface="Cambria" panose="02040503050406030204"/>
            <a:ea typeface="+mn-ea"/>
            <a:cs typeface="+mn-cs"/>
          </a:endParaRPr>
        </a:p>
      </dgm:t>
    </dgm:pt>
    <dgm:pt modelId="{66C346E0-0C38-40DF-A35E-35EFFD3B1997}">
      <dgm:prSet custT="1"/>
      <dgm:spPr>
        <a:xfrm>
          <a:off x="10724501" y="2399010"/>
          <a:ext cx="2551492" cy="5565541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tx1">
              <a:lumMod val="50000"/>
              <a:lumOff val="50000"/>
            </a:scheme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CA" sz="180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Acquire the Company: Use both the debt and equity to purchase the target company.</a:t>
          </a:r>
        </a:p>
      </dgm:t>
    </dgm:pt>
    <dgm:pt modelId="{DB255EFD-CBC3-4BAF-8AF7-C62D59FECC48}" type="parTrans" cxnId="{0E2ADF32-FF40-459A-A730-C200ACDB311B}">
      <dgm:prSet/>
      <dgm:spPr/>
      <dgm:t>
        <a:bodyPr/>
        <a:lstStyle/>
        <a:p>
          <a:endParaRPr lang="en-CA" sz="3600"/>
        </a:p>
      </dgm:t>
    </dgm:pt>
    <dgm:pt modelId="{67F8D158-7D93-4605-AFF8-DFFC11245C26}" type="sibTrans" cxnId="{0E2ADF32-FF40-459A-A730-C200ACDB311B}">
      <dgm:prSet custT="1"/>
      <dgm:spPr>
        <a:xfrm>
          <a:off x="13531143" y="4865396"/>
          <a:ext cx="540916" cy="632770"/>
        </a:xfrm>
        <a:prstGeom prst="rightArrow">
          <a:avLst>
            <a:gd name="adj1" fmla="val 60000"/>
            <a:gd name="adj2" fmla="val 50000"/>
          </a:avLst>
        </a:prstGeom>
        <a:solidFill>
          <a:srgbClr val="0C1752"/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CA" sz="2800">
            <a:solidFill>
              <a:srgbClr val="FFFFFF"/>
            </a:solidFill>
            <a:latin typeface="Cambria" panose="02040503050406030204"/>
            <a:ea typeface="+mn-ea"/>
            <a:cs typeface="+mn-cs"/>
          </a:endParaRPr>
        </a:p>
      </dgm:t>
    </dgm:pt>
    <dgm:pt modelId="{70569433-55DA-4334-9E36-E5C46B3E95DA}">
      <dgm:prSet custT="1"/>
      <dgm:spPr>
        <a:xfrm>
          <a:off x="14296591" y="2399010"/>
          <a:ext cx="2551492" cy="5565541"/>
        </a:xfrm>
        <a:prstGeom prst="roundRect">
          <a:avLst>
            <a:gd name="adj" fmla="val 10000"/>
          </a:avLst>
        </a:prstGeom>
        <a:solidFill>
          <a:srgbClr val="0C1752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CA" sz="18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Repay Debt Over Time: The company’s future profits and cash flow are used to pay off the debt.</a:t>
          </a:r>
        </a:p>
      </dgm:t>
    </dgm:pt>
    <dgm:pt modelId="{B7B1291E-A72F-42CF-82D5-63360A779512}" type="parTrans" cxnId="{C620F8F3-5FCD-412C-98A3-017076FCB9DB}">
      <dgm:prSet/>
      <dgm:spPr/>
      <dgm:t>
        <a:bodyPr/>
        <a:lstStyle/>
        <a:p>
          <a:endParaRPr lang="en-CA" sz="3600"/>
        </a:p>
      </dgm:t>
    </dgm:pt>
    <dgm:pt modelId="{37B0F9A9-F78F-48C6-9789-3CE635DC7E9E}" type="sibTrans" cxnId="{C620F8F3-5FCD-412C-98A3-017076FCB9DB}">
      <dgm:prSet/>
      <dgm:spPr/>
      <dgm:t>
        <a:bodyPr/>
        <a:lstStyle/>
        <a:p>
          <a:endParaRPr lang="en-CA" sz="3600"/>
        </a:p>
      </dgm:t>
    </dgm:pt>
    <dgm:pt modelId="{0A16E4A5-81E0-4119-8165-61608ABD0639}" type="pres">
      <dgm:prSet presAssocID="{B4E405EC-FC8A-4D1C-BA32-7F0FF8C0195F}" presName="Name0" presStyleCnt="0">
        <dgm:presLayoutVars>
          <dgm:dir/>
          <dgm:resizeHandles val="exact"/>
        </dgm:presLayoutVars>
      </dgm:prSet>
      <dgm:spPr/>
    </dgm:pt>
    <dgm:pt modelId="{FAD59423-6AB8-4B46-966C-74D1B234C294}" type="pres">
      <dgm:prSet presAssocID="{9FD7C4B2-0993-4D6E-9BEF-A914B9512842}" presName="node" presStyleLbl="node1" presStyleIdx="0" presStyleCnt="5">
        <dgm:presLayoutVars>
          <dgm:bulletEnabled val="1"/>
        </dgm:presLayoutVars>
      </dgm:prSet>
      <dgm:spPr/>
    </dgm:pt>
    <dgm:pt modelId="{8D7A3391-6892-4422-95DF-7730845F1AE8}" type="pres">
      <dgm:prSet presAssocID="{2C7EB64A-6E94-4AD0-831D-5602CF619754}" presName="sibTrans" presStyleLbl="sibTrans2D1" presStyleIdx="0" presStyleCnt="4"/>
      <dgm:spPr/>
    </dgm:pt>
    <dgm:pt modelId="{D9789705-C718-4218-95DE-CE4E2D318029}" type="pres">
      <dgm:prSet presAssocID="{2C7EB64A-6E94-4AD0-831D-5602CF619754}" presName="connectorText" presStyleLbl="sibTrans2D1" presStyleIdx="0" presStyleCnt="4"/>
      <dgm:spPr/>
    </dgm:pt>
    <dgm:pt modelId="{7A7A4E07-05F9-439F-8CD3-83FF567FF934}" type="pres">
      <dgm:prSet presAssocID="{FFA58691-34DF-4646-A672-7357426B491B}" presName="node" presStyleLbl="node1" presStyleIdx="1" presStyleCnt="5">
        <dgm:presLayoutVars>
          <dgm:bulletEnabled val="1"/>
        </dgm:presLayoutVars>
      </dgm:prSet>
      <dgm:spPr/>
    </dgm:pt>
    <dgm:pt modelId="{7137998C-BDC3-445A-B02B-E6011D7EF3BB}" type="pres">
      <dgm:prSet presAssocID="{623472BB-0F81-4E4D-B0F9-C993C34A4BB4}" presName="sibTrans" presStyleLbl="sibTrans2D1" presStyleIdx="1" presStyleCnt="4"/>
      <dgm:spPr/>
    </dgm:pt>
    <dgm:pt modelId="{27B8DFBE-1587-4E85-BCC0-843C0D801571}" type="pres">
      <dgm:prSet presAssocID="{623472BB-0F81-4E4D-B0F9-C993C34A4BB4}" presName="connectorText" presStyleLbl="sibTrans2D1" presStyleIdx="1" presStyleCnt="4"/>
      <dgm:spPr/>
    </dgm:pt>
    <dgm:pt modelId="{5C5DABF2-44D6-4679-AB41-2884230B5F95}" type="pres">
      <dgm:prSet presAssocID="{F753D95B-412D-4472-A9CB-42B321ED4361}" presName="node" presStyleLbl="node1" presStyleIdx="2" presStyleCnt="5">
        <dgm:presLayoutVars>
          <dgm:bulletEnabled val="1"/>
        </dgm:presLayoutVars>
      </dgm:prSet>
      <dgm:spPr/>
    </dgm:pt>
    <dgm:pt modelId="{176E2B0E-604B-4F5E-AC99-FD139CDA672A}" type="pres">
      <dgm:prSet presAssocID="{4F409416-9B14-4E16-87D2-8192B36C8A25}" presName="sibTrans" presStyleLbl="sibTrans2D1" presStyleIdx="2" presStyleCnt="4"/>
      <dgm:spPr/>
    </dgm:pt>
    <dgm:pt modelId="{B067F237-1765-4FEE-83F6-446EEF343149}" type="pres">
      <dgm:prSet presAssocID="{4F409416-9B14-4E16-87D2-8192B36C8A25}" presName="connectorText" presStyleLbl="sibTrans2D1" presStyleIdx="2" presStyleCnt="4"/>
      <dgm:spPr/>
    </dgm:pt>
    <dgm:pt modelId="{91A2B145-C962-4C64-9015-2CB8B3519292}" type="pres">
      <dgm:prSet presAssocID="{66C346E0-0C38-40DF-A35E-35EFFD3B1997}" presName="node" presStyleLbl="node1" presStyleIdx="3" presStyleCnt="5">
        <dgm:presLayoutVars>
          <dgm:bulletEnabled val="1"/>
        </dgm:presLayoutVars>
      </dgm:prSet>
      <dgm:spPr/>
    </dgm:pt>
    <dgm:pt modelId="{5700CFAC-DE17-4FA3-86AC-0E0EC12D73C3}" type="pres">
      <dgm:prSet presAssocID="{67F8D158-7D93-4605-AFF8-DFFC11245C26}" presName="sibTrans" presStyleLbl="sibTrans2D1" presStyleIdx="3" presStyleCnt="4"/>
      <dgm:spPr/>
    </dgm:pt>
    <dgm:pt modelId="{97615E31-7452-4CBB-98E7-9608560104AB}" type="pres">
      <dgm:prSet presAssocID="{67F8D158-7D93-4605-AFF8-DFFC11245C26}" presName="connectorText" presStyleLbl="sibTrans2D1" presStyleIdx="3" presStyleCnt="4"/>
      <dgm:spPr/>
    </dgm:pt>
    <dgm:pt modelId="{ACCCB7B7-F474-4271-B7E5-2ABE2DC4AB3E}" type="pres">
      <dgm:prSet presAssocID="{70569433-55DA-4334-9E36-E5C46B3E95DA}" presName="node" presStyleLbl="node1" presStyleIdx="4" presStyleCnt="5">
        <dgm:presLayoutVars>
          <dgm:bulletEnabled val="1"/>
        </dgm:presLayoutVars>
      </dgm:prSet>
      <dgm:spPr/>
    </dgm:pt>
  </dgm:ptLst>
  <dgm:cxnLst>
    <dgm:cxn modelId="{2DAF1E00-B1A4-469A-9A45-49006D776397}" srcId="{B4E405EC-FC8A-4D1C-BA32-7F0FF8C0195F}" destId="{F753D95B-412D-4472-A9CB-42B321ED4361}" srcOrd="2" destOrd="0" parTransId="{72F31F1A-6116-4E72-B3C0-0306E01CF091}" sibTransId="{4F409416-9B14-4E16-87D2-8192B36C8A25}"/>
    <dgm:cxn modelId="{89D20103-70AB-4FAF-933B-4C7F062B733D}" type="presOf" srcId="{9FD7C4B2-0993-4D6E-9BEF-A914B9512842}" destId="{FAD59423-6AB8-4B46-966C-74D1B234C294}" srcOrd="0" destOrd="0" presId="urn:microsoft.com/office/officeart/2005/8/layout/process1"/>
    <dgm:cxn modelId="{0E2ADF32-FF40-459A-A730-C200ACDB311B}" srcId="{B4E405EC-FC8A-4D1C-BA32-7F0FF8C0195F}" destId="{66C346E0-0C38-40DF-A35E-35EFFD3B1997}" srcOrd="3" destOrd="0" parTransId="{DB255EFD-CBC3-4BAF-8AF7-C62D59FECC48}" sibTransId="{67F8D158-7D93-4605-AFF8-DFFC11245C26}"/>
    <dgm:cxn modelId="{163E1837-6638-4E14-9E94-D51D16DA3B14}" type="presOf" srcId="{623472BB-0F81-4E4D-B0F9-C993C34A4BB4}" destId="{7137998C-BDC3-445A-B02B-E6011D7EF3BB}" srcOrd="0" destOrd="0" presId="urn:microsoft.com/office/officeart/2005/8/layout/process1"/>
    <dgm:cxn modelId="{E08B4B39-8BBB-4A45-B10F-21E39D15FAA4}" type="presOf" srcId="{67F8D158-7D93-4605-AFF8-DFFC11245C26}" destId="{5700CFAC-DE17-4FA3-86AC-0E0EC12D73C3}" srcOrd="0" destOrd="0" presId="urn:microsoft.com/office/officeart/2005/8/layout/process1"/>
    <dgm:cxn modelId="{0663C04B-9F14-4662-B320-A99D6E9BBFE1}" type="presOf" srcId="{4F409416-9B14-4E16-87D2-8192B36C8A25}" destId="{176E2B0E-604B-4F5E-AC99-FD139CDA672A}" srcOrd="0" destOrd="0" presId="urn:microsoft.com/office/officeart/2005/8/layout/process1"/>
    <dgm:cxn modelId="{2CA0CB6F-A61D-450A-9BB1-023E3F064486}" type="presOf" srcId="{F753D95B-412D-4472-A9CB-42B321ED4361}" destId="{5C5DABF2-44D6-4679-AB41-2884230B5F95}" srcOrd="0" destOrd="0" presId="urn:microsoft.com/office/officeart/2005/8/layout/process1"/>
    <dgm:cxn modelId="{9A21D273-AC97-4309-A5E0-03B316ABFFAE}" type="presOf" srcId="{66C346E0-0C38-40DF-A35E-35EFFD3B1997}" destId="{91A2B145-C962-4C64-9015-2CB8B3519292}" srcOrd="0" destOrd="0" presId="urn:microsoft.com/office/officeart/2005/8/layout/process1"/>
    <dgm:cxn modelId="{F4598E81-C902-4127-B007-9566FBC616BE}" type="presOf" srcId="{4F409416-9B14-4E16-87D2-8192B36C8A25}" destId="{B067F237-1765-4FEE-83F6-446EEF343149}" srcOrd="1" destOrd="0" presId="urn:microsoft.com/office/officeart/2005/8/layout/process1"/>
    <dgm:cxn modelId="{39AFD587-A3B9-429C-ABF4-703A2C8E0C38}" type="presOf" srcId="{FFA58691-34DF-4646-A672-7357426B491B}" destId="{7A7A4E07-05F9-439F-8CD3-83FF567FF934}" srcOrd="0" destOrd="0" presId="urn:microsoft.com/office/officeart/2005/8/layout/process1"/>
    <dgm:cxn modelId="{71C81ABF-CD6C-43C4-A7D3-9909CF59EC05}" type="presOf" srcId="{70569433-55DA-4334-9E36-E5C46B3E95DA}" destId="{ACCCB7B7-F474-4271-B7E5-2ABE2DC4AB3E}" srcOrd="0" destOrd="0" presId="urn:microsoft.com/office/officeart/2005/8/layout/process1"/>
    <dgm:cxn modelId="{1628ABC2-92B0-4AFE-972C-E4D06C73A38F}" type="presOf" srcId="{67F8D158-7D93-4605-AFF8-DFFC11245C26}" destId="{97615E31-7452-4CBB-98E7-9608560104AB}" srcOrd="1" destOrd="0" presId="urn:microsoft.com/office/officeart/2005/8/layout/process1"/>
    <dgm:cxn modelId="{9964C1C8-BE63-40D1-923C-FC9844BFA22C}" type="presOf" srcId="{623472BB-0F81-4E4D-B0F9-C993C34A4BB4}" destId="{27B8DFBE-1587-4E85-BCC0-843C0D801571}" srcOrd="1" destOrd="0" presId="urn:microsoft.com/office/officeart/2005/8/layout/process1"/>
    <dgm:cxn modelId="{76BFD0CB-4ACD-4F55-BD07-823CB2C9B425}" type="presOf" srcId="{B4E405EC-FC8A-4D1C-BA32-7F0FF8C0195F}" destId="{0A16E4A5-81E0-4119-8165-61608ABD0639}" srcOrd="0" destOrd="0" presId="urn:microsoft.com/office/officeart/2005/8/layout/process1"/>
    <dgm:cxn modelId="{93149DE5-78CF-4D78-8923-81C1810179F0}" srcId="{B4E405EC-FC8A-4D1C-BA32-7F0FF8C0195F}" destId="{FFA58691-34DF-4646-A672-7357426B491B}" srcOrd="1" destOrd="0" parTransId="{2B098AF0-BF58-4165-86A4-E42BBCE3C470}" sibTransId="{623472BB-0F81-4E4D-B0F9-C993C34A4BB4}"/>
    <dgm:cxn modelId="{440D4AE6-062C-467C-A183-762720CA4FD6}" type="presOf" srcId="{2C7EB64A-6E94-4AD0-831D-5602CF619754}" destId="{D9789705-C718-4218-95DE-CE4E2D318029}" srcOrd="1" destOrd="0" presId="urn:microsoft.com/office/officeart/2005/8/layout/process1"/>
    <dgm:cxn modelId="{321D67ED-DDB3-4ACE-90CC-C781A35E1D03}" type="presOf" srcId="{2C7EB64A-6E94-4AD0-831D-5602CF619754}" destId="{8D7A3391-6892-4422-95DF-7730845F1AE8}" srcOrd="0" destOrd="0" presId="urn:microsoft.com/office/officeart/2005/8/layout/process1"/>
    <dgm:cxn modelId="{C620F8F3-5FCD-412C-98A3-017076FCB9DB}" srcId="{B4E405EC-FC8A-4D1C-BA32-7F0FF8C0195F}" destId="{70569433-55DA-4334-9E36-E5C46B3E95DA}" srcOrd="4" destOrd="0" parTransId="{B7B1291E-A72F-42CF-82D5-63360A779512}" sibTransId="{37B0F9A9-F78F-48C6-9789-3CE635DC7E9E}"/>
    <dgm:cxn modelId="{04E938F5-BCA9-440A-9181-D09D48E2CAA2}" srcId="{B4E405EC-FC8A-4D1C-BA32-7F0FF8C0195F}" destId="{9FD7C4B2-0993-4D6E-9BEF-A914B9512842}" srcOrd="0" destOrd="0" parTransId="{D6FC878C-3C70-49DD-ACC0-A172C5BDF552}" sibTransId="{2C7EB64A-6E94-4AD0-831D-5602CF619754}"/>
    <dgm:cxn modelId="{6CC0AAC6-2AD2-4B20-A10E-5AD1B863A574}" type="presParOf" srcId="{0A16E4A5-81E0-4119-8165-61608ABD0639}" destId="{FAD59423-6AB8-4B46-966C-74D1B234C294}" srcOrd="0" destOrd="0" presId="urn:microsoft.com/office/officeart/2005/8/layout/process1"/>
    <dgm:cxn modelId="{24C7C482-A0F3-40CC-8E4C-02E69903E55E}" type="presParOf" srcId="{0A16E4A5-81E0-4119-8165-61608ABD0639}" destId="{8D7A3391-6892-4422-95DF-7730845F1AE8}" srcOrd="1" destOrd="0" presId="urn:microsoft.com/office/officeart/2005/8/layout/process1"/>
    <dgm:cxn modelId="{C6DABCC5-DE50-4F5F-AA23-E0210A5E5B7F}" type="presParOf" srcId="{8D7A3391-6892-4422-95DF-7730845F1AE8}" destId="{D9789705-C718-4218-95DE-CE4E2D318029}" srcOrd="0" destOrd="0" presId="urn:microsoft.com/office/officeart/2005/8/layout/process1"/>
    <dgm:cxn modelId="{AC900114-B885-442D-A65C-5388C435CB4A}" type="presParOf" srcId="{0A16E4A5-81E0-4119-8165-61608ABD0639}" destId="{7A7A4E07-05F9-439F-8CD3-83FF567FF934}" srcOrd="2" destOrd="0" presId="urn:microsoft.com/office/officeart/2005/8/layout/process1"/>
    <dgm:cxn modelId="{FBEE7851-6A47-4D55-BC65-4B4666C46227}" type="presParOf" srcId="{0A16E4A5-81E0-4119-8165-61608ABD0639}" destId="{7137998C-BDC3-445A-B02B-E6011D7EF3BB}" srcOrd="3" destOrd="0" presId="urn:microsoft.com/office/officeart/2005/8/layout/process1"/>
    <dgm:cxn modelId="{3DCF3AFC-8DE1-43DC-8E85-FB489817E79B}" type="presParOf" srcId="{7137998C-BDC3-445A-B02B-E6011D7EF3BB}" destId="{27B8DFBE-1587-4E85-BCC0-843C0D801571}" srcOrd="0" destOrd="0" presId="urn:microsoft.com/office/officeart/2005/8/layout/process1"/>
    <dgm:cxn modelId="{54CF07FD-0743-4E79-B44C-84657B49F427}" type="presParOf" srcId="{0A16E4A5-81E0-4119-8165-61608ABD0639}" destId="{5C5DABF2-44D6-4679-AB41-2884230B5F95}" srcOrd="4" destOrd="0" presId="urn:microsoft.com/office/officeart/2005/8/layout/process1"/>
    <dgm:cxn modelId="{01AA8D51-618E-4C00-A8EF-0E778E486F60}" type="presParOf" srcId="{0A16E4A5-81E0-4119-8165-61608ABD0639}" destId="{176E2B0E-604B-4F5E-AC99-FD139CDA672A}" srcOrd="5" destOrd="0" presId="urn:microsoft.com/office/officeart/2005/8/layout/process1"/>
    <dgm:cxn modelId="{67408E09-BD7D-4641-AD28-562191F4C5A0}" type="presParOf" srcId="{176E2B0E-604B-4F5E-AC99-FD139CDA672A}" destId="{B067F237-1765-4FEE-83F6-446EEF343149}" srcOrd="0" destOrd="0" presId="urn:microsoft.com/office/officeart/2005/8/layout/process1"/>
    <dgm:cxn modelId="{0BE3D67F-A142-4CC1-94BC-D6DFF0863D68}" type="presParOf" srcId="{0A16E4A5-81E0-4119-8165-61608ABD0639}" destId="{91A2B145-C962-4C64-9015-2CB8B3519292}" srcOrd="6" destOrd="0" presId="urn:microsoft.com/office/officeart/2005/8/layout/process1"/>
    <dgm:cxn modelId="{D132B812-F79F-464B-8923-742FE526F606}" type="presParOf" srcId="{0A16E4A5-81E0-4119-8165-61608ABD0639}" destId="{5700CFAC-DE17-4FA3-86AC-0E0EC12D73C3}" srcOrd="7" destOrd="0" presId="urn:microsoft.com/office/officeart/2005/8/layout/process1"/>
    <dgm:cxn modelId="{470520A4-2250-4E97-9D10-589D6CE34518}" type="presParOf" srcId="{5700CFAC-DE17-4FA3-86AC-0E0EC12D73C3}" destId="{97615E31-7452-4CBB-98E7-9608560104AB}" srcOrd="0" destOrd="0" presId="urn:microsoft.com/office/officeart/2005/8/layout/process1"/>
    <dgm:cxn modelId="{67349091-F232-4038-8AAC-408E3CE56F54}" type="presParOf" srcId="{0A16E4A5-81E0-4119-8165-61608ABD0639}" destId="{ACCCB7B7-F474-4271-B7E5-2ABE2DC4AB3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11CAE-9CFE-42EA-B392-65050BF9F890}">
      <dsp:nvSpPr>
        <dsp:cNvPr id="0" name=""/>
        <dsp:cNvSpPr/>
      </dsp:nvSpPr>
      <dsp:spPr>
        <a:xfrm>
          <a:off x="1292062" y="1056"/>
          <a:ext cx="2708277" cy="1624966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Montserrat" panose="00000500000000000000" pitchFamily="2" charset="0"/>
            </a:rPr>
            <a:t>Natural Language Queries: Ask questions in plain language and get answers.</a:t>
          </a:r>
        </a:p>
      </dsp:txBody>
      <dsp:txXfrm>
        <a:off x="1292062" y="1056"/>
        <a:ext cx="2708277" cy="1624966"/>
      </dsp:txXfrm>
    </dsp:sp>
    <dsp:sp modelId="{6A1D0C22-2068-4BEF-BCEB-7C28AD716EAD}">
      <dsp:nvSpPr>
        <dsp:cNvPr id="0" name=""/>
        <dsp:cNvSpPr/>
      </dsp:nvSpPr>
      <dsp:spPr>
        <a:xfrm>
          <a:off x="4271167" y="1056"/>
          <a:ext cx="2708277" cy="1624966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Montserrat" panose="00000500000000000000" pitchFamily="2" charset="0"/>
            </a:rPr>
            <a:t>Building advanced Financial Models</a:t>
          </a:r>
        </a:p>
      </dsp:txBody>
      <dsp:txXfrm>
        <a:off x="4271167" y="1056"/>
        <a:ext cx="2708277" cy="1624966"/>
      </dsp:txXfrm>
    </dsp:sp>
    <dsp:sp modelId="{0E297865-EB48-4D6C-A6EE-B9EE7BA8920F}">
      <dsp:nvSpPr>
        <dsp:cNvPr id="0" name=""/>
        <dsp:cNvSpPr/>
      </dsp:nvSpPr>
      <dsp:spPr>
        <a:xfrm>
          <a:off x="7250272" y="1056"/>
          <a:ext cx="2708277" cy="1624966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Montserrat" panose="00000500000000000000" pitchFamily="2" charset="0"/>
            </a:rPr>
            <a:t>Data Insights: Quickly analyze trends and patterns.</a:t>
          </a:r>
        </a:p>
      </dsp:txBody>
      <dsp:txXfrm>
        <a:off x="7250272" y="1056"/>
        <a:ext cx="2708277" cy="1624966"/>
      </dsp:txXfrm>
    </dsp:sp>
    <dsp:sp modelId="{B6D3EEA8-B02D-482F-8BB0-5292BAB9D317}">
      <dsp:nvSpPr>
        <dsp:cNvPr id="0" name=""/>
        <dsp:cNvSpPr/>
      </dsp:nvSpPr>
      <dsp:spPr>
        <a:xfrm>
          <a:off x="1292062" y="1896850"/>
          <a:ext cx="2708277" cy="1624966"/>
        </a:xfrm>
        <a:prstGeom prst="rect">
          <a:avLst/>
        </a:prstGeom>
        <a:solidFill>
          <a:srgbClr val="11CCD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Montserrat" panose="00000500000000000000" pitchFamily="2" charset="0"/>
            </a:rPr>
            <a:t>Formula Assistance: Suggests and creates formulas.</a:t>
          </a:r>
        </a:p>
      </dsp:txBody>
      <dsp:txXfrm>
        <a:off x="1292062" y="1896850"/>
        <a:ext cx="2708277" cy="1624966"/>
      </dsp:txXfrm>
    </dsp:sp>
    <dsp:sp modelId="{65732F32-5644-4340-B533-FBE54E1DA622}">
      <dsp:nvSpPr>
        <dsp:cNvPr id="0" name=""/>
        <dsp:cNvSpPr/>
      </dsp:nvSpPr>
      <dsp:spPr>
        <a:xfrm>
          <a:off x="4271167" y="1896850"/>
          <a:ext cx="2708277" cy="1624966"/>
        </a:xfrm>
        <a:prstGeom prst="rect">
          <a:avLst/>
        </a:prstGeom>
        <a:solidFill>
          <a:srgbClr val="D56E48"/>
        </a:solidFill>
        <a:ln w="12700" cap="flat" cmpd="sng" algn="ctr">
          <a:solidFill>
            <a:srgbClr val="D56E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Montserrat" panose="00000500000000000000" pitchFamily="2" charset="0"/>
            </a:rPr>
            <a:t>Data Cleaning: Identifies errors and inconsistencies.</a:t>
          </a:r>
        </a:p>
      </dsp:txBody>
      <dsp:txXfrm>
        <a:off x="4271167" y="1896850"/>
        <a:ext cx="2708277" cy="1624966"/>
      </dsp:txXfrm>
    </dsp:sp>
    <dsp:sp modelId="{F6A76462-569C-454E-82DE-F260C846C8EC}">
      <dsp:nvSpPr>
        <dsp:cNvPr id="0" name=""/>
        <dsp:cNvSpPr/>
      </dsp:nvSpPr>
      <dsp:spPr>
        <a:xfrm>
          <a:off x="7250272" y="1896850"/>
          <a:ext cx="2708277" cy="1624966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Montserrat" panose="00000500000000000000" pitchFamily="2" charset="0"/>
            </a:rPr>
            <a:t>Trend Identification: Highlights key data trends and suggests visualizations.</a:t>
          </a:r>
        </a:p>
      </dsp:txBody>
      <dsp:txXfrm>
        <a:off x="7250272" y="1896850"/>
        <a:ext cx="2708277" cy="1624966"/>
      </dsp:txXfrm>
    </dsp:sp>
    <dsp:sp modelId="{B0C64C9B-D0B3-40BD-959E-BE77FF0F5724}">
      <dsp:nvSpPr>
        <dsp:cNvPr id="0" name=""/>
        <dsp:cNvSpPr/>
      </dsp:nvSpPr>
      <dsp:spPr>
        <a:xfrm>
          <a:off x="2781615" y="3792644"/>
          <a:ext cx="2708277" cy="1624966"/>
        </a:xfrm>
        <a:prstGeom prst="rect">
          <a:avLst/>
        </a:prstGeom>
        <a:solidFill>
          <a:srgbClr val="11CCD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Montserrat" panose="00000500000000000000" pitchFamily="2" charset="0"/>
            </a:rPr>
            <a:t>Task Automation: Automates repetitive tasks like formatting and calculations.</a:t>
          </a:r>
        </a:p>
      </dsp:txBody>
      <dsp:txXfrm>
        <a:off x="2781615" y="3792644"/>
        <a:ext cx="2708277" cy="1624966"/>
      </dsp:txXfrm>
    </dsp:sp>
    <dsp:sp modelId="{D0FF6ACB-8F90-4CC0-A38F-6EB85BA99C05}">
      <dsp:nvSpPr>
        <dsp:cNvPr id="0" name=""/>
        <dsp:cNvSpPr/>
      </dsp:nvSpPr>
      <dsp:spPr>
        <a:xfrm>
          <a:off x="5760720" y="3792644"/>
          <a:ext cx="2708277" cy="1624966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Montserrat" panose="00000500000000000000" pitchFamily="2" charset="0"/>
            </a:rPr>
            <a:t>Build predictive Models directly inside of Excel</a:t>
          </a:r>
        </a:p>
      </dsp:txBody>
      <dsp:txXfrm>
        <a:off x="5760720" y="3792644"/>
        <a:ext cx="2708277" cy="1624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59423-6AB8-4B46-966C-74D1B234C294}">
      <dsp:nvSpPr>
        <dsp:cNvPr id="0" name=""/>
        <dsp:cNvSpPr/>
      </dsp:nvSpPr>
      <dsp:spPr>
        <a:xfrm>
          <a:off x="5524" y="739130"/>
          <a:ext cx="1712736" cy="2998580"/>
        </a:xfrm>
        <a:prstGeom prst="roundRect">
          <a:avLst>
            <a:gd name="adj" fmla="val 10000"/>
          </a:avLst>
        </a:prstGeom>
        <a:solidFill>
          <a:srgbClr val="D56E48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Identify a Target Company: An investor or a private equity firm finds a company they want to buy.</a:t>
          </a:r>
        </a:p>
      </dsp:txBody>
      <dsp:txXfrm>
        <a:off x="55688" y="789294"/>
        <a:ext cx="1612408" cy="2898252"/>
      </dsp:txXfrm>
    </dsp:sp>
    <dsp:sp modelId="{8D7A3391-6892-4422-95DF-7730845F1AE8}">
      <dsp:nvSpPr>
        <dsp:cNvPr id="0" name=""/>
        <dsp:cNvSpPr/>
      </dsp:nvSpPr>
      <dsp:spPr>
        <a:xfrm>
          <a:off x="1889534" y="2026041"/>
          <a:ext cx="363100" cy="424758"/>
        </a:xfrm>
        <a:prstGeom prst="rightArrow">
          <a:avLst>
            <a:gd name="adj1" fmla="val 60000"/>
            <a:gd name="adj2" fmla="val 50000"/>
          </a:avLst>
        </a:prstGeom>
        <a:solidFill>
          <a:srgbClr val="0C175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800" kern="1200">
            <a:solidFill>
              <a:srgbClr val="FFFFFF"/>
            </a:solidFill>
            <a:latin typeface="Cambria" panose="02040503050406030204"/>
            <a:ea typeface="+mn-ea"/>
            <a:cs typeface="+mn-cs"/>
          </a:endParaRPr>
        </a:p>
      </dsp:txBody>
      <dsp:txXfrm>
        <a:off x="1889534" y="2110993"/>
        <a:ext cx="254170" cy="254854"/>
      </dsp:txXfrm>
    </dsp:sp>
    <dsp:sp modelId="{7A7A4E07-05F9-439F-8CD3-83FF567FF934}">
      <dsp:nvSpPr>
        <dsp:cNvPr id="0" name=""/>
        <dsp:cNvSpPr/>
      </dsp:nvSpPr>
      <dsp:spPr>
        <a:xfrm>
          <a:off x="2403355" y="739130"/>
          <a:ext cx="1712736" cy="2998580"/>
        </a:xfrm>
        <a:prstGeom prst="roundRect">
          <a:avLst>
            <a:gd name="adj" fmla="val 10000"/>
          </a:avLst>
        </a:prstGeom>
        <a:solidFill>
          <a:srgbClr val="0C1752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Secure Debt Financing: They borrow a significant portion of the purchase price from banks or bond markets.</a:t>
          </a:r>
        </a:p>
      </dsp:txBody>
      <dsp:txXfrm>
        <a:off x="2453519" y="789294"/>
        <a:ext cx="1612408" cy="2898252"/>
      </dsp:txXfrm>
    </dsp:sp>
    <dsp:sp modelId="{7137998C-BDC3-445A-B02B-E6011D7EF3BB}">
      <dsp:nvSpPr>
        <dsp:cNvPr id="0" name=""/>
        <dsp:cNvSpPr/>
      </dsp:nvSpPr>
      <dsp:spPr>
        <a:xfrm>
          <a:off x="4287365" y="2026041"/>
          <a:ext cx="363100" cy="424758"/>
        </a:xfrm>
        <a:prstGeom prst="rightArrow">
          <a:avLst>
            <a:gd name="adj1" fmla="val 60000"/>
            <a:gd name="adj2" fmla="val 50000"/>
          </a:avLst>
        </a:prstGeom>
        <a:solidFill>
          <a:srgbClr val="0C175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800" kern="1200">
            <a:solidFill>
              <a:srgbClr val="FFFFFF"/>
            </a:solidFill>
            <a:latin typeface="Cambria" panose="02040503050406030204"/>
            <a:ea typeface="+mn-ea"/>
            <a:cs typeface="+mn-cs"/>
          </a:endParaRPr>
        </a:p>
      </dsp:txBody>
      <dsp:txXfrm>
        <a:off x="4287365" y="2110993"/>
        <a:ext cx="254170" cy="254854"/>
      </dsp:txXfrm>
    </dsp:sp>
    <dsp:sp modelId="{5C5DABF2-44D6-4679-AB41-2884230B5F95}">
      <dsp:nvSpPr>
        <dsp:cNvPr id="0" name=""/>
        <dsp:cNvSpPr/>
      </dsp:nvSpPr>
      <dsp:spPr>
        <a:xfrm>
          <a:off x="4801186" y="739130"/>
          <a:ext cx="1712736" cy="2998580"/>
        </a:xfrm>
        <a:prstGeom prst="roundRect">
          <a:avLst>
            <a:gd name="adj" fmla="val 10000"/>
          </a:avLst>
        </a:prstGeom>
        <a:solidFill>
          <a:srgbClr val="1BBFD1"/>
        </a:solidFill>
        <a:ln w="12700" cap="flat" cmpd="sng" algn="ctr">
          <a:solidFill>
            <a:srgbClr val="1BBFD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Put in Equity: The investor also invests some of their own money (but a smaller portion compared to the debt).</a:t>
          </a:r>
        </a:p>
      </dsp:txBody>
      <dsp:txXfrm>
        <a:off x="4851350" y="789294"/>
        <a:ext cx="1612408" cy="2898252"/>
      </dsp:txXfrm>
    </dsp:sp>
    <dsp:sp modelId="{176E2B0E-604B-4F5E-AC99-FD139CDA672A}">
      <dsp:nvSpPr>
        <dsp:cNvPr id="0" name=""/>
        <dsp:cNvSpPr/>
      </dsp:nvSpPr>
      <dsp:spPr>
        <a:xfrm>
          <a:off x="6685196" y="2026041"/>
          <a:ext cx="363100" cy="424758"/>
        </a:xfrm>
        <a:prstGeom prst="rightArrow">
          <a:avLst>
            <a:gd name="adj1" fmla="val 60000"/>
            <a:gd name="adj2" fmla="val 50000"/>
          </a:avLst>
        </a:prstGeom>
        <a:solidFill>
          <a:srgbClr val="0C175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800" kern="1200">
            <a:solidFill>
              <a:srgbClr val="FFFFFF"/>
            </a:solidFill>
            <a:latin typeface="Cambria" panose="02040503050406030204"/>
            <a:ea typeface="+mn-ea"/>
            <a:cs typeface="+mn-cs"/>
          </a:endParaRPr>
        </a:p>
      </dsp:txBody>
      <dsp:txXfrm>
        <a:off x="6685196" y="2110993"/>
        <a:ext cx="254170" cy="254854"/>
      </dsp:txXfrm>
    </dsp:sp>
    <dsp:sp modelId="{91A2B145-C962-4C64-9015-2CB8B3519292}">
      <dsp:nvSpPr>
        <dsp:cNvPr id="0" name=""/>
        <dsp:cNvSpPr/>
      </dsp:nvSpPr>
      <dsp:spPr>
        <a:xfrm>
          <a:off x="7199017" y="739130"/>
          <a:ext cx="1712736" cy="2998580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tx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Acquire the Company: Use both the debt and equity to purchase the target company.</a:t>
          </a:r>
        </a:p>
      </dsp:txBody>
      <dsp:txXfrm>
        <a:off x="7249181" y="789294"/>
        <a:ext cx="1612408" cy="2898252"/>
      </dsp:txXfrm>
    </dsp:sp>
    <dsp:sp modelId="{5700CFAC-DE17-4FA3-86AC-0E0EC12D73C3}">
      <dsp:nvSpPr>
        <dsp:cNvPr id="0" name=""/>
        <dsp:cNvSpPr/>
      </dsp:nvSpPr>
      <dsp:spPr>
        <a:xfrm>
          <a:off x="9083027" y="2026041"/>
          <a:ext cx="363100" cy="424758"/>
        </a:xfrm>
        <a:prstGeom prst="rightArrow">
          <a:avLst>
            <a:gd name="adj1" fmla="val 60000"/>
            <a:gd name="adj2" fmla="val 50000"/>
          </a:avLst>
        </a:prstGeom>
        <a:solidFill>
          <a:srgbClr val="0C175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800" kern="1200">
            <a:solidFill>
              <a:srgbClr val="FFFFFF"/>
            </a:solidFill>
            <a:latin typeface="Cambria" panose="02040503050406030204"/>
            <a:ea typeface="+mn-ea"/>
            <a:cs typeface="+mn-cs"/>
          </a:endParaRPr>
        </a:p>
      </dsp:txBody>
      <dsp:txXfrm>
        <a:off x="9083027" y="2110993"/>
        <a:ext cx="254170" cy="254854"/>
      </dsp:txXfrm>
    </dsp:sp>
    <dsp:sp modelId="{ACCCB7B7-F474-4271-B7E5-2ABE2DC4AB3E}">
      <dsp:nvSpPr>
        <dsp:cNvPr id="0" name=""/>
        <dsp:cNvSpPr/>
      </dsp:nvSpPr>
      <dsp:spPr>
        <a:xfrm>
          <a:off x="9596848" y="739130"/>
          <a:ext cx="1712736" cy="2998580"/>
        </a:xfrm>
        <a:prstGeom prst="roundRect">
          <a:avLst>
            <a:gd name="adj" fmla="val 10000"/>
          </a:avLst>
        </a:prstGeom>
        <a:solidFill>
          <a:srgbClr val="0C1752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Repay Debt Over Time: The company’s future profits and cash flow are used to pay off the debt.</a:t>
          </a:r>
        </a:p>
      </dsp:txBody>
      <dsp:txXfrm>
        <a:off x="9647012" y="789294"/>
        <a:ext cx="1612408" cy="2898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claude.a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293915" y="489004"/>
            <a:ext cx="47434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&amp; MICROSOFT EXCEL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009C-BC70-F41E-E85C-AB4BA7B8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5FE73E-F233-502C-6C36-CEF10F073E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05584-537E-BC69-3A07-9397EB529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5C37C86-8CBB-1B82-88F6-EF3C1BBF5084}"/>
              </a:ext>
            </a:extLst>
          </p:cNvPr>
          <p:cNvSpPr/>
          <p:nvPr/>
        </p:nvSpPr>
        <p:spPr>
          <a:xfrm>
            <a:off x="293914" y="793804"/>
            <a:ext cx="5578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IN EXCEL CAPABILITIES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AF497-3078-1D39-5F4A-9D51BB2A9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2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655F7-D3CE-503A-06B0-415EBF4A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4BE74D-72DE-1ECA-0B68-A8F5C0DF6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8C15DF-79C1-8260-335D-38302FEC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F172E0F-F674-1396-8D50-B98BB01F267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Module Agenda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7468BAF-A973-AA5C-D975-66C02CF52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907669"/>
            <a:ext cx="10198759" cy="5228971"/>
          </a:xfrm>
        </p:spPr>
        <p:txBody>
          <a:bodyPr>
            <a:normAutofit/>
          </a:bodyPr>
          <a:lstStyle/>
          <a:p>
            <a:pPr>
              <a:buClr>
                <a:srgbClr val="1BBFD1"/>
              </a:buClr>
            </a:pPr>
            <a:r>
              <a:rPr lang="en-US" sz="1800" dirty="0">
                <a:latin typeface="Montserrat" panose="00000500000000000000" pitchFamily="2" charset="0"/>
              </a:rPr>
              <a:t>Perform Exploratory Data Analysis using Claude in Excel</a:t>
            </a:r>
          </a:p>
          <a:p>
            <a:pPr>
              <a:buClr>
                <a:srgbClr val="1BBFD1"/>
              </a:buClr>
            </a:pPr>
            <a:r>
              <a:rPr lang="en-US" sz="1800" dirty="0">
                <a:latin typeface="Montserrat" panose="00000500000000000000" pitchFamily="2" charset="0"/>
              </a:rPr>
              <a:t>Data Sorting with Claude in Excel</a:t>
            </a:r>
          </a:p>
          <a:p>
            <a:pPr>
              <a:buClr>
                <a:srgbClr val="1BBFD1"/>
              </a:buClr>
            </a:pPr>
            <a:r>
              <a:rPr lang="en-US" sz="1800" dirty="0">
                <a:latin typeface="Montserrat" panose="00000500000000000000" pitchFamily="2" charset="0"/>
              </a:rPr>
              <a:t>Data Filtering with Claude in Excel</a:t>
            </a:r>
          </a:p>
          <a:p>
            <a:pPr>
              <a:buClr>
                <a:srgbClr val="1BBFD1"/>
              </a:buClr>
            </a:pPr>
            <a:r>
              <a:rPr lang="en-US" sz="1800" dirty="0">
                <a:latin typeface="Montserrat" panose="00000500000000000000" pitchFamily="2" charset="0"/>
              </a:rPr>
              <a:t>Color Coding Cells based on Conditions</a:t>
            </a:r>
          </a:p>
          <a:p>
            <a:pPr>
              <a:buClr>
                <a:srgbClr val="1BBFD1"/>
              </a:buClr>
            </a:pPr>
            <a:r>
              <a:rPr lang="en-US" sz="1800" dirty="0">
                <a:latin typeface="Montserrat" panose="00000500000000000000" pitchFamily="2" charset="0"/>
              </a:rPr>
              <a:t>Handling Missing Values</a:t>
            </a:r>
          </a:p>
          <a:p>
            <a:pPr>
              <a:buClr>
                <a:srgbClr val="1BBFD1"/>
              </a:buClr>
            </a:pPr>
            <a:r>
              <a:rPr lang="en-US" sz="1800" dirty="0">
                <a:latin typeface="Montserrat" panose="00000500000000000000" pitchFamily="2" charset="0"/>
              </a:rPr>
              <a:t>Perform Data Visualization with Claude</a:t>
            </a:r>
          </a:p>
          <a:p>
            <a:pPr>
              <a:buClr>
                <a:srgbClr val="1BBFD1"/>
              </a:buClr>
            </a:pPr>
            <a:r>
              <a:rPr lang="en-US" sz="1800" dirty="0">
                <a:latin typeface="Montserrat" panose="00000500000000000000" pitchFamily="2" charset="0"/>
              </a:rPr>
              <a:t>Generate Synthetic Data Using Claude</a:t>
            </a:r>
          </a:p>
          <a:p>
            <a:pPr marL="0" indent="0">
              <a:buClr>
                <a:srgbClr val="1BBFD1"/>
              </a:buClr>
              <a:buNone/>
            </a:pP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68AC4-8901-A54A-0C5D-14603BCF598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</p:spTree>
    <p:extLst>
      <p:ext uri="{BB962C8B-B14F-4D97-AF65-F5344CB8AC3E}">
        <p14:creationId xmlns:p14="http://schemas.microsoft.com/office/powerpoint/2010/main" val="341950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4F133-1036-D0B1-AB6F-4C40E2561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551E04-458E-8699-0CB0-F6B3EDE16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641E44-5502-1415-180B-26EF305BA5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0CC13CA-97EC-FF68-B30D-7EDA126D317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Capabilities in Excel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2E9451-5EF1-0229-77F2-17E1FBBDD0B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CB4CB5A7-DA9F-25B8-A9F8-A4B4812F76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9781343"/>
              </p:ext>
            </p:extLst>
          </p:nvPr>
        </p:nvGraphicFramePr>
        <p:xfrm>
          <a:off x="419705" y="994536"/>
          <a:ext cx="1125061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7681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A4611CAE-9CFE-42EA-B392-65050BF9F8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graphicEl>
                                              <a:dgm id="{A4611CAE-9CFE-42EA-B392-65050BF9F8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6A1D0C22-2068-4BEF-BCEB-7C28AD716E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graphicEl>
                                              <a:dgm id="{6A1D0C22-2068-4BEF-BCEB-7C28AD716E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0E297865-EB48-4D6C-A6EE-B9EE7BA892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graphicEl>
                                              <a:dgm id="{0E297865-EB48-4D6C-A6EE-B9EE7BA892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6D3EEA8-B02D-482F-8BB0-5292BAB9D3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graphicEl>
                                              <a:dgm id="{B6D3EEA8-B02D-482F-8BB0-5292BAB9D3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65732F32-5644-4340-B533-FBE54E1DA6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graphicEl>
                                              <a:dgm id="{65732F32-5644-4340-B533-FBE54E1DA6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6A76462-569C-454E-82DE-F260C846C8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graphicEl>
                                              <a:dgm id="{F6A76462-569C-454E-82DE-F260C846C8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0C64C9B-D0B3-40BD-959E-BE77FF0F57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graphicEl>
                                              <a:dgm id="{B0C64C9B-D0B3-40BD-959E-BE77FF0F57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D0FF6ACB-8F90-4CC0-A38F-6EB85BA99C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graphicEl>
                                              <a:dgm id="{D0FF6ACB-8F90-4CC0-A38F-6EB85BA99C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2E2D-2254-DC1B-4796-38AB59152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7C31F6-B758-AA48-3940-36E4D7162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6BCFA7-4A76-43BD-C696-49F294BBA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1CD2CF7-0BB0-BFF7-71B7-EFAF81B5DD4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Capabilities in Excel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45E075-1030-5580-573B-B18A5D72D60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12928A-3CDA-4828-2FC4-B77CA3514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591" y="957252"/>
            <a:ext cx="8712067" cy="505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24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6A99B-E000-C47E-7D22-EDCD3495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ADAB07-70C0-FD62-6546-5C64B75E75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DFEAB-7356-2DB1-7A63-98B8A843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C8CE72-2F7F-648D-5757-2E5A93B13E61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LIVE 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2CE0C-917E-BF08-12B5-0455C84F7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65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93B0-B7A6-F7F7-2245-043E6D23C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6B3081-48CD-AA00-F377-97724B56F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56E6C0-AD73-D375-AEA8-31A58C7A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B13DC28-8935-6DEB-C9E9-FDD8D841C03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in Excel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584AE-D8B4-970A-865F-B0DBF838B72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0CFE5-B49F-E281-D2D6-0F2667D6B923}"/>
              </a:ext>
            </a:extLst>
          </p:cNvPr>
          <p:cNvSpPr txBox="1"/>
          <p:nvPr/>
        </p:nvSpPr>
        <p:spPr>
          <a:xfrm>
            <a:off x="3450749" y="975169"/>
            <a:ext cx="4341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dirty="0">
                <a:solidFill>
                  <a:srgbClr val="000000"/>
                </a:solidFill>
                <a:latin typeface="Cambria" panose="02040503050406030204"/>
              </a:rPr>
              <a:t>🔗 </a:t>
            </a:r>
            <a:r>
              <a:rPr lang="en-US" b="1" dirty="0">
                <a:solidFill>
                  <a:srgbClr val="000000"/>
                </a:solidFill>
                <a:latin typeface="Cambria" panose="02040503050406030204"/>
              </a:rPr>
              <a:t>Click here to explore Claude</a:t>
            </a:r>
            <a:br>
              <a:rPr lang="en-US" dirty="0">
                <a:solidFill>
                  <a:srgbClr val="000000"/>
                </a:solidFill>
                <a:latin typeface="Cambria" panose="02040503050406030204"/>
              </a:rPr>
            </a:br>
            <a:r>
              <a:rPr lang="en-US" dirty="0">
                <a:solidFill>
                  <a:srgbClr val="000000"/>
                </a:solidFill>
                <a:latin typeface="Cambria" panose="02040503050406030204"/>
              </a:rPr>
              <a:t>		</a:t>
            </a:r>
            <a:r>
              <a:rPr lang="en-US" dirty="0">
                <a:solidFill>
                  <a:srgbClr val="000000"/>
                </a:solidFill>
                <a:latin typeface="Cambria" panose="02040503050406030204"/>
                <a:hlinkClick r:id="rId4"/>
              </a:rPr>
              <a:t>Claude Signup</a:t>
            </a:r>
            <a:endParaRPr lang="en-US" dirty="0">
              <a:solidFill>
                <a:srgbClr val="000000"/>
              </a:solidFill>
              <a:latin typeface="Cambria" panose="02040503050406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1F4C1-6087-534D-A803-9DDB5E9E3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672" y="1621500"/>
            <a:ext cx="8215490" cy="481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76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069E-0476-8D03-F895-0FB86AB8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436D07-631D-4159-247D-BA8076F69C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2EB0CC-772A-99BA-2BD7-F38A1D9EE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F52CDF-83F7-79B0-A101-47CCD0966F0D}"/>
              </a:ext>
            </a:extLst>
          </p:cNvPr>
          <p:cNvSpPr/>
          <p:nvPr/>
        </p:nvSpPr>
        <p:spPr>
          <a:xfrm>
            <a:off x="293914" y="793804"/>
            <a:ext cx="557856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 FINANCIAL MODELS (DISCOUNTED CASHFLOW) IN EXCEL WITH CLAUDE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BDCDE-FBCF-2CC2-1B72-869EE023B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61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9B9B-E2B4-D0E3-4656-E6F70051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F0B83B-C5A8-E0C4-77C4-95EED0BD9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49A778-13FA-7646-FC26-7056909860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20B4547-76A8-D5C9-52EC-A0626E701E3B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Discounted Cashflow (DCF) Modeling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D56BF-CBDD-F0E2-1F12-7693390612A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CBDCE8-54B3-A7B8-91C2-00217FD0BD00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B2122B-C1AF-F037-61AC-012BD4934647}"/>
              </a:ext>
            </a:extLst>
          </p:cNvPr>
          <p:cNvSpPr txBox="1"/>
          <p:nvPr/>
        </p:nvSpPr>
        <p:spPr>
          <a:xfrm>
            <a:off x="182943" y="724168"/>
            <a:ext cx="11850906" cy="968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 DCF model is a valuation method used to estimate the value of an investment based on its expected future cash flows, adjusted (discounted) to present value using a discount rate.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1FDE25-1700-CE29-098F-BCE6FFDA62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880" b="14306"/>
          <a:stretch/>
        </p:blipFill>
        <p:spPr>
          <a:xfrm>
            <a:off x="3627640" y="3787395"/>
            <a:ext cx="5801214" cy="9758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C9BB6D-8C08-6E0E-39CF-77E89A759B61}"/>
              </a:ext>
            </a:extLst>
          </p:cNvPr>
          <p:cNvSpPr txBox="1"/>
          <p:nvPr/>
        </p:nvSpPr>
        <p:spPr>
          <a:xfrm>
            <a:off x="88677" y="4830857"/>
            <a:ext cx="10816490" cy="147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CA" sz="1600" i="1" dirty="0"/>
              <a:t>Forecast Free Cash Flows (FCF) over a period.</a:t>
            </a:r>
          </a:p>
          <a:p>
            <a:r>
              <a:rPr lang="en-CA" sz="1600" i="1" dirty="0"/>
              <a:t>Terminal Value (TV): value beyond the forecast period.</a:t>
            </a:r>
          </a:p>
          <a:p>
            <a:r>
              <a:rPr lang="en-CA" sz="1600" i="1" dirty="0"/>
              <a:t>Discount Rate (r): typically Weighted Average Cost of Capital (WACC).</a:t>
            </a:r>
          </a:p>
          <a:p>
            <a:r>
              <a:rPr lang="en-CA" sz="1600" i="1" dirty="0"/>
              <a:t>Present Value (PV): sum of discounted cash flows &amp; terminal value.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945796-2C6D-6033-3145-2C8CC15E3EC1}"/>
              </a:ext>
            </a:extLst>
          </p:cNvPr>
          <p:cNvSpPr/>
          <p:nvPr/>
        </p:nvSpPr>
        <p:spPr>
          <a:xfrm>
            <a:off x="3547740" y="2238783"/>
            <a:ext cx="857250" cy="32385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$ FCF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75998-5632-DF01-5BDE-83ECBC7C5958}"/>
              </a:ext>
            </a:extLst>
          </p:cNvPr>
          <p:cNvSpPr/>
          <p:nvPr/>
        </p:nvSpPr>
        <p:spPr>
          <a:xfrm>
            <a:off x="5025283" y="2238783"/>
            <a:ext cx="857250" cy="32385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$ FCF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997712-8D0E-74D1-EAB1-32E169C3A8E7}"/>
              </a:ext>
            </a:extLst>
          </p:cNvPr>
          <p:cNvSpPr/>
          <p:nvPr/>
        </p:nvSpPr>
        <p:spPr>
          <a:xfrm>
            <a:off x="6405607" y="2238783"/>
            <a:ext cx="857250" cy="32385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$ FCF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1E274E-DAD8-5B90-F378-CD3F28492239}"/>
              </a:ext>
            </a:extLst>
          </p:cNvPr>
          <p:cNvSpPr/>
          <p:nvPr/>
        </p:nvSpPr>
        <p:spPr>
          <a:xfrm>
            <a:off x="7994749" y="2238783"/>
            <a:ext cx="857250" cy="32385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$ FCF 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D94ABF-9131-C381-57D5-CC93FC4EA4CE}"/>
              </a:ext>
            </a:extLst>
          </p:cNvPr>
          <p:cNvCxnSpPr>
            <a:cxnSpLocks/>
          </p:cNvCxnSpPr>
          <p:nvPr/>
        </p:nvCxnSpPr>
        <p:spPr>
          <a:xfrm>
            <a:off x="1171331" y="1911397"/>
            <a:ext cx="10290039" cy="0"/>
          </a:xfrm>
          <a:prstGeom prst="straightConnector1">
            <a:avLst/>
          </a:prstGeom>
          <a:ln w="57150">
            <a:solidFill>
              <a:srgbClr val="D56E48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279342-D0AA-B1AD-9CDA-88089FBD1D4D}"/>
              </a:ext>
            </a:extLst>
          </p:cNvPr>
          <p:cNvSpPr txBox="1"/>
          <p:nvPr/>
        </p:nvSpPr>
        <p:spPr>
          <a:xfrm>
            <a:off x="9157534" y="1464728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Future Cashflows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384285-F836-A873-5209-361F6D82D065}"/>
              </a:ext>
            </a:extLst>
          </p:cNvPr>
          <p:cNvSpPr txBox="1"/>
          <p:nvPr/>
        </p:nvSpPr>
        <p:spPr>
          <a:xfrm>
            <a:off x="1042694" y="1496196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Today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6E65519-B653-2C47-E8F7-49EFE7837460}"/>
              </a:ext>
            </a:extLst>
          </p:cNvPr>
          <p:cNvCxnSpPr>
            <a:stCxn id="14" idx="2"/>
          </p:cNvCxnSpPr>
          <p:nvPr/>
        </p:nvCxnSpPr>
        <p:spPr>
          <a:xfrm rot="5400000" flipH="1">
            <a:off x="2831475" y="1417744"/>
            <a:ext cx="241661" cy="2048118"/>
          </a:xfrm>
          <a:prstGeom prst="bentConnector4">
            <a:avLst>
              <a:gd name="adj1" fmla="val -94595"/>
              <a:gd name="adj2" fmla="val 99994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94B124D-1C42-CC0A-D7CD-B4CBB01B02F5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 flipH="1">
            <a:off x="3463788" y="572514"/>
            <a:ext cx="222249" cy="3757990"/>
          </a:xfrm>
          <a:prstGeom prst="bentConnector4">
            <a:avLst>
              <a:gd name="adj1" fmla="val -167145"/>
              <a:gd name="adj2" fmla="val 100058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50860AC7-9A51-17FD-2E92-5A59CA28A62A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 flipH="1">
            <a:off x="4064146" y="-207452"/>
            <a:ext cx="208055" cy="5332116"/>
          </a:xfrm>
          <a:prstGeom prst="bentConnector4">
            <a:avLst>
              <a:gd name="adj1" fmla="val -270110"/>
              <a:gd name="adj2" fmla="val 99928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699AF10-A4D5-AB65-6C8D-CE37B1F4B2C3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 flipH="1">
            <a:off x="4744007" y="-1116733"/>
            <a:ext cx="208055" cy="7150678"/>
          </a:xfrm>
          <a:prstGeom prst="bentConnector4">
            <a:avLst>
              <a:gd name="adj1" fmla="val -407452"/>
              <a:gd name="adj2" fmla="val 100018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5799B4C-9A1B-9282-8766-89DEB374237C}"/>
              </a:ext>
            </a:extLst>
          </p:cNvPr>
          <p:cNvSpPr txBox="1"/>
          <p:nvPr/>
        </p:nvSpPr>
        <p:spPr>
          <a:xfrm>
            <a:off x="3498411" y="149619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Year 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632E84-8B65-16B6-C4EA-E6053BC1AFC5}"/>
              </a:ext>
            </a:extLst>
          </p:cNvPr>
          <p:cNvSpPr txBox="1"/>
          <p:nvPr/>
        </p:nvSpPr>
        <p:spPr>
          <a:xfrm>
            <a:off x="5031891" y="1512238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Year 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F6D9C4-57E5-ECB6-A451-7BACAC213797}"/>
              </a:ext>
            </a:extLst>
          </p:cNvPr>
          <p:cNvSpPr txBox="1"/>
          <p:nvPr/>
        </p:nvSpPr>
        <p:spPr>
          <a:xfrm>
            <a:off x="6379221" y="1521093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Year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F366B9-9CF8-5709-DC14-DE9B1CE41DD2}"/>
              </a:ext>
            </a:extLst>
          </p:cNvPr>
          <p:cNvSpPr txBox="1"/>
          <p:nvPr/>
        </p:nvSpPr>
        <p:spPr>
          <a:xfrm>
            <a:off x="7936254" y="1527152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C1752"/>
                </a:solidFill>
                <a:latin typeface="Montserrat" panose="00000500000000000000" pitchFamily="2" charset="0"/>
              </a:rPr>
              <a:t>Year 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BF2A78E-2B12-CCD3-383F-F5188AD71E5E}"/>
              </a:ext>
            </a:extLst>
          </p:cNvPr>
          <p:cNvSpPr/>
          <p:nvPr/>
        </p:nvSpPr>
        <p:spPr>
          <a:xfrm>
            <a:off x="10777261" y="2275387"/>
            <a:ext cx="857250" cy="32385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/>
              <a:t>$ TV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BBA2E8B7-5AED-A157-1E02-373910AF0A52}"/>
              </a:ext>
            </a:extLst>
          </p:cNvPr>
          <p:cNvCxnSpPr>
            <a:cxnSpLocks/>
            <a:stCxn id="56" idx="2"/>
          </p:cNvCxnSpPr>
          <p:nvPr/>
        </p:nvCxnSpPr>
        <p:spPr>
          <a:xfrm rot="5400000" flipH="1">
            <a:off x="5938579" y="-2668069"/>
            <a:ext cx="208055" cy="10326558"/>
          </a:xfrm>
          <a:prstGeom prst="bentConnector4">
            <a:avLst>
              <a:gd name="adj1" fmla="val -508172"/>
              <a:gd name="adj2" fmla="val 999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7EFCE5C8-A7D3-83D3-3026-A304EDD2EB37}"/>
              </a:ext>
            </a:extLst>
          </p:cNvPr>
          <p:cNvSpPr/>
          <p:nvPr/>
        </p:nvSpPr>
        <p:spPr>
          <a:xfrm>
            <a:off x="7181850" y="2895600"/>
            <a:ext cx="152400" cy="146817"/>
          </a:xfrm>
          <a:prstGeom prst="ellipse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2287CC5-70B3-10A7-37CB-D9A0F45EA5CD}"/>
              </a:ext>
            </a:extLst>
          </p:cNvPr>
          <p:cNvSpPr/>
          <p:nvPr/>
        </p:nvSpPr>
        <p:spPr>
          <a:xfrm>
            <a:off x="7486650" y="2895599"/>
            <a:ext cx="152400" cy="146817"/>
          </a:xfrm>
          <a:prstGeom prst="ellipse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C255127-3E2A-DD6D-1EB8-DC5E3FD0BAC5}"/>
              </a:ext>
            </a:extLst>
          </p:cNvPr>
          <p:cNvSpPr/>
          <p:nvPr/>
        </p:nvSpPr>
        <p:spPr>
          <a:xfrm>
            <a:off x="7791450" y="2901300"/>
            <a:ext cx="152400" cy="146817"/>
          </a:xfrm>
          <a:prstGeom prst="ellipse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145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8" grpId="0" animBg="1"/>
      <p:bldP spid="20" grpId="0" animBg="1"/>
      <p:bldP spid="21" grpId="0" animBg="1"/>
      <p:bldP spid="24" grpId="0"/>
      <p:bldP spid="26" grpId="0"/>
      <p:bldP spid="51" grpId="0"/>
      <p:bldP spid="52" grpId="0"/>
      <p:bldP spid="53" grpId="0"/>
      <p:bldP spid="54" grpId="0"/>
      <p:bldP spid="56" grpId="0" animBg="1"/>
      <p:bldP spid="62" grpId="0" animBg="1"/>
      <p:bldP spid="63" grpId="0" animBg="1"/>
      <p:bldP spid="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34EF-6306-36D3-AFC0-AF475410C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02CB62-756B-705B-7D03-174B4E862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B66321-B74A-9B2A-303D-894E8AB571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47AD0BCA-3C52-5E23-4DEA-A9280CE68B9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DCF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F04A7-3D5C-8C70-C22B-55FA829DE7F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B6664-DCE5-CCD4-1373-F0FE4303DE95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31F38-59D9-2121-280E-F8C5779DEF12}"/>
              </a:ext>
            </a:extLst>
          </p:cNvPr>
          <p:cNvSpPr txBox="1"/>
          <p:nvPr/>
        </p:nvSpPr>
        <p:spPr>
          <a:xfrm>
            <a:off x="182943" y="724168"/>
            <a:ext cx="11850906" cy="1777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Blackstone is evaluating the potential acquisition of </a:t>
            </a:r>
            <a:r>
              <a:rPr lang="en-CA" dirty="0"/>
              <a:t>Cardinal Health, </a:t>
            </a:r>
            <a:r>
              <a:rPr lang="en-US" dirty="0"/>
              <a:t>a global healthcare services company,</a:t>
            </a:r>
            <a:r>
              <a:rPr lang="en-CA" dirty="0"/>
              <a:t> </a:t>
            </a:r>
            <a:r>
              <a:rPr lang="en-US" dirty="0"/>
              <a:t>and wants to use a Discounted Cash Flow model to assess the company's intrinsic value. </a:t>
            </a:r>
          </a:p>
          <a:p>
            <a:r>
              <a:rPr lang="en-US" dirty="0"/>
              <a:t>Key assumptions for the valuation include a Weighted Average Cost of Capital (WACC) of 10% and a terminal growth rate of 3%. The estimated future free cash flows are shown in the table below.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06A1C7-4D7F-8FC4-98EE-11529A097559}"/>
              </a:ext>
            </a:extLst>
          </p:cNvPr>
          <p:cNvGraphicFramePr>
            <a:graphicFrameLocks noGrp="1"/>
          </p:cNvGraphicFramePr>
          <p:nvPr/>
        </p:nvGraphicFramePr>
        <p:xfrm>
          <a:off x="3552236" y="3985932"/>
          <a:ext cx="3778431" cy="2220687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137084893"/>
                    </a:ext>
                  </a:extLst>
                </a:gridCol>
                <a:gridCol w="2724331">
                  <a:extLst>
                    <a:ext uri="{9D8B030D-6E8A-4147-A177-3AD203B41FA5}">
                      <a16:colId xmlns:a16="http://schemas.microsoft.com/office/drawing/2014/main" val="2001863830"/>
                    </a:ext>
                  </a:extLst>
                </a:gridCol>
              </a:tblGrid>
              <a:tr h="536177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1" u="none" strike="noStrike" dirty="0">
                          <a:effectLst/>
                          <a:latin typeface="Montserrat" panose="00000500000000000000" pitchFamily="2" charset="0"/>
                        </a:rPr>
                        <a:t>Year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1" u="none" strike="noStrike" dirty="0">
                          <a:effectLst/>
                          <a:latin typeface="Montserrat" panose="00000500000000000000" pitchFamily="2" charset="0"/>
                        </a:rPr>
                        <a:t>Free Cash Flow (FCF)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8712029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$15M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4689261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$18M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1887690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3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$22M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95363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>
                          <a:effectLst/>
                          <a:latin typeface="Montserrat" panose="00000500000000000000" pitchFamily="2" charset="0"/>
                        </a:rPr>
                        <a:t>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$23M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3213676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>
                          <a:effectLst/>
                          <a:latin typeface="Montserrat" panose="00000500000000000000" pitchFamily="2" charset="0"/>
                        </a:rPr>
                        <a:t>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$25M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454065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45ECD82-5161-8AB8-1DA4-97D4E08FC7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02" t="10726" r="9732" b="14718"/>
          <a:stretch/>
        </p:blipFill>
        <p:spPr>
          <a:xfrm>
            <a:off x="1270316" y="2332431"/>
            <a:ext cx="3002988" cy="1258680"/>
          </a:xfrm>
          <a:prstGeom prst="rect">
            <a:avLst/>
          </a:prstGeom>
        </p:spPr>
      </p:pic>
      <p:pic>
        <p:nvPicPr>
          <p:cNvPr id="1026" name="Picture 2" descr="Home | Cardinal Health Canada">
            <a:extLst>
              <a:ext uri="{FF2B5EF4-FFF2-40B4-BE49-F238E27FC236}">
                <a16:creationId xmlns:a16="http://schemas.microsoft.com/office/drawing/2014/main" id="{EF032E3C-E123-2C6D-8DD3-413681943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015" y="2349986"/>
            <a:ext cx="3631721" cy="116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E74D962D-13A4-DE97-9785-D4DE97F193E9}"/>
              </a:ext>
            </a:extLst>
          </p:cNvPr>
          <p:cNvSpPr/>
          <p:nvPr/>
        </p:nvSpPr>
        <p:spPr>
          <a:xfrm>
            <a:off x="4848999" y="2492723"/>
            <a:ext cx="1003300" cy="927102"/>
          </a:xfrm>
          <a:prstGeom prst="mathPlus">
            <a:avLst/>
          </a:prstGeom>
          <a:solidFill>
            <a:srgbClr val="D56E48"/>
          </a:solidFill>
          <a:ln>
            <a:solidFill>
              <a:srgbClr val="D56E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763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D211B-50A5-0C93-1B98-32913740E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E2275F-FF56-489C-687F-A8993AFF5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66C433-45F4-91A5-C970-126DAA8223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120E7EE-617A-1D3F-FC28-B706878EDA43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DCF Example: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92CE80-8E36-7B2E-8F38-8D3FD3EAF76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A2B9B9-F02C-CCF2-D44C-7BA818B70A6F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FD49A1-616C-7F58-CF12-F65FDA73EF9A}"/>
              </a:ext>
            </a:extLst>
          </p:cNvPr>
          <p:cNvGraphicFramePr>
            <a:graphicFrameLocks noGrp="1"/>
          </p:cNvGraphicFramePr>
          <p:nvPr/>
        </p:nvGraphicFramePr>
        <p:xfrm>
          <a:off x="7874000" y="886123"/>
          <a:ext cx="3778431" cy="2220687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137084893"/>
                    </a:ext>
                  </a:extLst>
                </a:gridCol>
                <a:gridCol w="2724331">
                  <a:extLst>
                    <a:ext uri="{9D8B030D-6E8A-4147-A177-3AD203B41FA5}">
                      <a16:colId xmlns:a16="http://schemas.microsoft.com/office/drawing/2014/main" val="2001863830"/>
                    </a:ext>
                  </a:extLst>
                </a:gridCol>
              </a:tblGrid>
              <a:tr h="536177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1" u="none" strike="noStrike" dirty="0">
                          <a:effectLst/>
                          <a:latin typeface="Montserrat" panose="00000500000000000000" pitchFamily="2" charset="0"/>
                        </a:rPr>
                        <a:t>Year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1" u="none" strike="noStrike" dirty="0">
                          <a:effectLst/>
                          <a:latin typeface="Montserrat" panose="00000500000000000000" pitchFamily="2" charset="0"/>
                        </a:rPr>
                        <a:t>Free Cash Flow (FCF)</a:t>
                      </a:r>
                      <a:endParaRPr lang="en-CA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8712029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$15M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4689261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$18M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1887690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3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$22M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95363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>
                          <a:effectLst/>
                          <a:latin typeface="Montserrat" panose="00000500000000000000" pitchFamily="2" charset="0"/>
                        </a:rPr>
                        <a:t>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$23M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3213676"/>
                  </a:ext>
                </a:extLst>
              </a:tr>
              <a:tr h="33690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>
                          <a:effectLst/>
                          <a:latin typeface="Montserrat" panose="00000500000000000000" pitchFamily="2" charset="0"/>
                        </a:rPr>
                        <a:t>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u="none" strike="noStrike" dirty="0">
                          <a:effectLst/>
                          <a:latin typeface="Montserrat" panose="00000500000000000000" pitchFamily="2" charset="0"/>
                        </a:rPr>
                        <a:t>$25M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454065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6D15377-A7A3-E73A-42D6-347568ADB9D3}"/>
              </a:ext>
            </a:extLst>
          </p:cNvPr>
          <p:cNvSpPr txBox="1"/>
          <p:nvPr/>
        </p:nvSpPr>
        <p:spPr>
          <a:xfrm>
            <a:off x="302581" y="767473"/>
            <a:ext cx="6140450" cy="147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b="1" dirty="0"/>
              <a:t>Assumptions:</a:t>
            </a:r>
          </a:p>
          <a:p>
            <a:r>
              <a:rPr lang="en-US" sz="1600" dirty="0"/>
              <a:t>WACC = 10%</a:t>
            </a:r>
          </a:p>
          <a:p>
            <a:r>
              <a:rPr lang="en-US" sz="1600" dirty="0"/>
              <a:t>Terminal Growth Rate = 3%</a:t>
            </a:r>
          </a:p>
          <a:p>
            <a:r>
              <a:rPr lang="en-US" sz="1600" dirty="0"/>
              <a:t>FCFs (in $M): 15, 18, 22, 23, 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03CBBD-2114-13E9-3DB4-003E7761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168" y="2931178"/>
            <a:ext cx="5144357" cy="2978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705051-722D-B680-F06E-50664C668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238" y="5847456"/>
            <a:ext cx="5973748" cy="8630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FF2939-FB20-D360-3145-70E9E8DC13BC}"/>
              </a:ext>
            </a:extLst>
          </p:cNvPr>
          <p:cNvSpPr txBox="1"/>
          <p:nvPr/>
        </p:nvSpPr>
        <p:spPr>
          <a:xfrm>
            <a:off x="393700" y="2565400"/>
            <a:ext cx="5144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u="sng" dirty="0">
                <a:latin typeface="Montserrat" panose="00000500000000000000" pitchFamily="2" charset="0"/>
              </a:rPr>
              <a:t>1. Present Value of Future Cashflows:</a:t>
            </a:r>
          </a:p>
        </p:txBody>
      </p:sp>
    </p:spTree>
    <p:extLst>
      <p:ext uri="{BB962C8B-B14F-4D97-AF65-F5344CB8AC3E}">
        <p14:creationId xmlns:p14="http://schemas.microsoft.com/office/powerpoint/2010/main" val="14729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5284-ADFE-F9A1-784A-D48AD3DA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3835A9-E51A-6A3C-A9BF-CCCB06EAB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E6F67D-08D7-4184-C491-ADA57D7618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DB23EF0-0E89-61F4-7FB5-3629529F30A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DCF Example: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4347-7C39-1DAB-C584-86ED3E2B6A4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23FEFE-54BE-4002-38BD-F0F803291FF1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DE7D3E-15AD-1F09-6CB8-5FF721DBD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882" y="1045707"/>
            <a:ext cx="7489606" cy="33384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DE88B9-0D07-C5D6-6CE3-E0BED6052E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683"/>
          <a:stretch/>
        </p:blipFill>
        <p:spPr>
          <a:xfrm>
            <a:off x="390526" y="5106321"/>
            <a:ext cx="8887670" cy="11598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219CD3-5389-5B22-C95E-A05A5D6C9843}"/>
              </a:ext>
            </a:extLst>
          </p:cNvPr>
          <p:cNvSpPr txBox="1"/>
          <p:nvPr/>
        </p:nvSpPr>
        <p:spPr>
          <a:xfrm>
            <a:off x="390526" y="676375"/>
            <a:ext cx="614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u="sng" dirty="0">
                <a:latin typeface="Montserrat" panose="00000500000000000000" pitchFamily="2" charset="0"/>
              </a:rPr>
              <a:t>2</a:t>
            </a:r>
            <a:r>
              <a:rPr lang="en-CA" sz="1800" b="1" u="sng" dirty="0">
                <a:latin typeface="Montserrat" panose="00000500000000000000" pitchFamily="2" charset="0"/>
              </a:rPr>
              <a:t>. Present Value of </a:t>
            </a:r>
            <a:r>
              <a:rPr lang="en-CA" b="1" u="sng" dirty="0">
                <a:latin typeface="Montserrat" panose="00000500000000000000" pitchFamily="2" charset="0"/>
              </a:rPr>
              <a:t>Terminal Value</a:t>
            </a:r>
            <a:r>
              <a:rPr lang="en-CA" sz="1800" b="1" u="sng" dirty="0">
                <a:latin typeface="Montserrat" panose="00000500000000000000" pitchFamily="2" charset="0"/>
              </a:rPr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D4D806-6C67-5F88-E83F-0D0B0CFE630C}"/>
              </a:ext>
            </a:extLst>
          </p:cNvPr>
          <p:cNvSpPr txBox="1"/>
          <p:nvPr/>
        </p:nvSpPr>
        <p:spPr>
          <a:xfrm>
            <a:off x="390526" y="4579922"/>
            <a:ext cx="614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u="sng" dirty="0">
                <a:latin typeface="Montserrat" panose="00000500000000000000" pitchFamily="2" charset="0"/>
              </a:rPr>
              <a:t>3</a:t>
            </a:r>
            <a:r>
              <a:rPr lang="en-CA" sz="1800" b="1" u="sng" dirty="0">
                <a:latin typeface="Montserrat" panose="00000500000000000000" pitchFamily="2" charset="0"/>
              </a:rPr>
              <a:t>. Calculating the Total Enterprise Value:</a:t>
            </a:r>
          </a:p>
        </p:txBody>
      </p:sp>
    </p:spTree>
    <p:extLst>
      <p:ext uri="{BB962C8B-B14F-4D97-AF65-F5344CB8AC3E}">
        <p14:creationId xmlns:p14="http://schemas.microsoft.com/office/powerpoint/2010/main" val="116312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55109-0A38-3991-5C93-539D66C7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BF3117-4021-7BCA-1FC2-509E8AE838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F25A72-D19D-3701-09F7-399D80C1F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0A38B6-E11B-7BD9-63F6-60589B0B8C7B}"/>
              </a:ext>
            </a:extLst>
          </p:cNvPr>
          <p:cNvSpPr/>
          <p:nvPr/>
        </p:nvSpPr>
        <p:spPr>
          <a:xfrm>
            <a:off x="293914" y="793804"/>
            <a:ext cx="557856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 FINANCIAL MODELS (LEVERAGED BUYOUT) IN EXCEL WITH CLAUDE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DBCDC-20C8-7635-866B-3C93B314E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32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51AD-963B-ABC2-D9FA-009B55A9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3609CE-16D9-7063-79CC-3F01A30CE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  <a:solidFill>
            <a:srgbClr val="0C1752"/>
          </a:solidFill>
          <a:ln w="15677" cap="flat">
            <a:noFill/>
            <a:prstDash val="solid"/>
            <a:miter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3844F9-E15C-3D04-3F2C-4D812F247E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991E95E-750A-084D-08BF-49F1A2CA1319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leveraged Buyout (LBO)?</a:t>
            </a:r>
            <a:endParaRPr lang="en-US" sz="24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AF5E9-824F-4C93-6EC3-D2D213AEA37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FE481F-228D-CB8B-BFE4-D3620E0AC7AE}"/>
              </a:ext>
            </a:extLst>
          </p:cNvPr>
          <p:cNvSpPr txBox="1"/>
          <p:nvPr/>
        </p:nvSpPr>
        <p:spPr>
          <a:xfrm>
            <a:off x="196669" y="831510"/>
            <a:ext cx="11959087" cy="146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indent="-457200"/>
            <a:r>
              <a:rPr lang="en-US" dirty="0"/>
              <a:t>A Leveraged Buyout (LBO) is when a company is purchased using a combination of equity (cash from investors) and a large amount of debt (borrowed money). </a:t>
            </a:r>
          </a:p>
          <a:p>
            <a:pPr marL="457200" indent="-457200"/>
            <a:r>
              <a:rPr lang="en-US" dirty="0"/>
              <a:t>The key idea is that the assets and cash flows of the company being acquired are often used as collateral to secure and repay the borrowed funds.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0F9B40-7AC5-00EA-E799-9F11DFE49014}"/>
              </a:ext>
            </a:extLst>
          </p:cNvPr>
          <p:cNvSpPr txBox="1"/>
          <p:nvPr/>
        </p:nvSpPr>
        <p:spPr>
          <a:xfrm>
            <a:off x="2431256" y="1589240"/>
            <a:ext cx="6138862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CA" dirty="0"/>
          </a:p>
        </p:txBody>
      </p:sp>
      <p:pic>
        <p:nvPicPr>
          <p:cNvPr id="10" name="Graphic 9" descr="Office worker male with solid fill">
            <a:extLst>
              <a:ext uri="{FF2B5EF4-FFF2-40B4-BE49-F238E27FC236}">
                <a16:creationId xmlns:a16="http://schemas.microsoft.com/office/drawing/2014/main" id="{2BC2623D-97F1-2020-D423-94438F08B2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146" y="1898269"/>
            <a:ext cx="1512498" cy="1512498"/>
          </a:xfrm>
          <a:prstGeom prst="rect">
            <a:avLst/>
          </a:prstGeom>
        </p:spPr>
      </p:pic>
      <p:pic>
        <p:nvPicPr>
          <p:cNvPr id="17" name="Graphic 16" descr="Bank with solid fill">
            <a:extLst>
              <a:ext uri="{FF2B5EF4-FFF2-40B4-BE49-F238E27FC236}">
                <a16:creationId xmlns:a16="http://schemas.microsoft.com/office/drawing/2014/main" id="{7BDADB56-5C67-6510-E05B-68177151AB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6331" y="4087251"/>
            <a:ext cx="1522069" cy="15220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81A4BE-ADC2-FFBA-4BF8-AD48C8D26E8F}"/>
              </a:ext>
            </a:extLst>
          </p:cNvPr>
          <p:cNvSpPr txBox="1"/>
          <p:nvPr/>
        </p:nvSpPr>
        <p:spPr>
          <a:xfrm>
            <a:off x="253289" y="3220098"/>
            <a:ext cx="2157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000" b="1" dirty="0">
                <a:solidFill>
                  <a:srgbClr val="0C1752"/>
                </a:solidFill>
                <a:latin typeface="Montserrat" panose="00000500000000000000" pitchFamily="2" charset="0"/>
              </a:rPr>
              <a:t>Buyer</a:t>
            </a:r>
          </a:p>
          <a:p>
            <a:pPr algn="ctr"/>
            <a:r>
              <a:rPr lang="en-CA" sz="2000" b="1" dirty="0">
                <a:solidFill>
                  <a:srgbClr val="0C1752"/>
                </a:solidFill>
                <a:latin typeface="Montserrat" panose="00000500000000000000" pitchFamily="2" charset="0"/>
              </a:rPr>
              <a:t>Ex: Blackstone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A15CA-A503-39B7-B03B-95FA9C63E79D}"/>
              </a:ext>
            </a:extLst>
          </p:cNvPr>
          <p:cNvSpPr txBox="1"/>
          <p:nvPr/>
        </p:nvSpPr>
        <p:spPr>
          <a:xfrm>
            <a:off x="2346412" y="5532969"/>
            <a:ext cx="29819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000" b="1" dirty="0">
                <a:solidFill>
                  <a:srgbClr val="0C1752"/>
                </a:solidFill>
                <a:latin typeface="Montserrat" panose="00000500000000000000" pitchFamily="2" charset="0"/>
              </a:rPr>
              <a:t>Bank (Lender)</a:t>
            </a:r>
          </a:p>
          <a:p>
            <a:pPr algn="ctr"/>
            <a:r>
              <a:rPr lang="en-CA" sz="2000" b="1" dirty="0">
                <a:solidFill>
                  <a:srgbClr val="0C1752"/>
                </a:solidFill>
                <a:latin typeface="Montserrat" panose="00000500000000000000" pitchFamily="2" charset="0"/>
              </a:rPr>
              <a:t>Ex: JP Morgan Chase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F75720-38BC-2558-4CAC-24797375F903}"/>
              </a:ext>
            </a:extLst>
          </p:cNvPr>
          <p:cNvSpPr txBox="1"/>
          <p:nvPr/>
        </p:nvSpPr>
        <p:spPr>
          <a:xfrm>
            <a:off x="6176212" y="3150708"/>
            <a:ext cx="27398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000" b="1" dirty="0">
                <a:solidFill>
                  <a:srgbClr val="0C1752"/>
                </a:solidFill>
                <a:latin typeface="Montserrat" panose="00000500000000000000" pitchFamily="2" charset="0"/>
              </a:rPr>
              <a:t>Target Company</a:t>
            </a:r>
          </a:p>
          <a:p>
            <a:pPr algn="ctr"/>
            <a:r>
              <a:rPr lang="en-CA" sz="2000" b="1" dirty="0">
                <a:solidFill>
                  <a:srgbClr val="0C1752"/>
                </a:solidFill>
                <a:latin typeface="Montserrat" panose="00000500000000000000" pitchFamily="2" charset="0"/>
              </a:rPr>
              <a:t>Ex: Cardinal Health</a:t>
            </a:r>
          </a:p>
        </p:txBody>
      </p:sp>
      <p:pic>
        <p:nvPicPr>
          <p:cNvPr id="16" name="Graphic 15" descr="Factory with solid fill">
            <a:extLst>
              <a:ext uri="{FF2B5EF4-FFF2-40B4-BE49-F238E27FC236}">
                <a16:creationId xmlns:a16="http://schemas.microsoft.com/office/drawing/2014/main" id="{87A5874D-8DF0-D01C-EAC6-E9DF3D1EE8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7561" y="1793185"/>
            <a:ext cx="1618826" cy="161882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781F89-68BD-06DA-7F81-48B7DDCB6D2C}"/>
              </a:ext>
            </a:extLst>
          </p:cNvPr>
          <p:cNvCxnSpPr>
            <a:cxnSpLocks/>
          </p:cNvCxnSpPr>
          <p:nvPr/>
        </p:nvCxnSpPr>
        <p:spPr>
          <a:xfrm flipH="1" flipV="1">
            <a:off x="1768582" y="4087251"/>
            <a:ext cx="1416828" cy="828573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3B964CB-3F8B-E8AC-718C-26263E233448}"/>
              </a:ext>
            </a:extLst>
          </p:cNvPr>
          <p:cNvSpPr txBox="1"/>
          <p:nvPr/>
        </p:nvSpPr>
        <p:spPr>
          <a:xfrm>
            <a:off x="370793" y="4661360"/>
            <a:ext cx="2540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i="1">
                <a:solidFill>
                  <a:srgbClr val="D56E48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CA" dirty="0"/>
              <a:t>The bank provides a loan to the buyer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C38EE8-3282-EFDA-6806-44264DA114E2}"/>
              </a:ext>
            </a:extLst>
          </p:cNvPr>
          <p:cNvCxnSpPr>
            <a:cxnSpLocks/>
          </p:cNvCxnSpPr>
          <p:nvPr/>
        </p:nvCxnSpPr>
        <p:spPr>
          <a:xfrm>
            <a:off x="1981948" y="3025488"/>
            <a:ext cx="4114052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2D99BF2-C1BE-D966-82CB-0C4E98B10295}"/>
              </a:ext>
            </a:extLst>
          </p:cNvPr>
          <p:cNvSpPr txBox="1"/>
          <p:nvPr/>
        </p:nvSpPr>
        <p:spPr>
          <a:xfrm>
            <a:off x="2057439" y="2239385"/>
            <a:ext cx="4957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b="1" i="1" dirty="0">
                <a:solidFill>
                  <a:srgbClr val="D56E48"/>
                </a:solidFill>
                <a:latin typeface="Montserrat" panose="00000500000000000000" pitchFamily="2" charset="0"/>
              </a:rPr>
              <a:t>The buyer uses debt and equity (own money) to acquire a target company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7DBBD48-38F2-936F-3618-73D6823683F7}"/>
              </a:ext>
            </a:extLst>
          </p:cNvPr>
          <p:cNvCxnSpPr>
            <a:cxnSpLocks/>
          </p:cNvCxnSpPr>
          <p:nvPr/>
        </p:nvCxnSpPr>
        <p:spPr>
          <a:xfrm flipH="1">
            <a:off x="4493159" y="3880631"/>
            <a:ext cx="2521695" cy="939255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AC1936-3923-73A9-B25F-A494BE67968F}"/>
              </a:ext>
            </a:extLst>
          </p:cNvPr>
          <p:cNvSpPr txBox="1"/>
          <p:nvPr/>
        </p:nvSpPr>
        <p:spPr>
          <a:xfrm>
            <a:off x="6808443" y="3916762"/>
            <a:ext cx="5028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b="1" i="1" dirty="0">
                <a:solidFill>
                  <a:srgbClr val="D56E48"/>
                </a:solidFill>
                <a:latin typeface="Montserrat" panose="00000500000000000000" pitchFamily="2" charset="0"/>
              </a:rPr>
              <a:t>The acquired company’s operating cashflow is used to partially service the debt.</a:t>
            </a:r>
          </a:p>
        </p:txBody>
      </p:sp>
    </p:spTree>
    <p:extLst>
      <p:ext uri="{BB962C8B-B14F-4D97-AF65-F5344CB8AC3E}">
        <p14:creationId xmlns:p14="http://schemas.microsoft.com/office/powerpoint/2010/main" val="291676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3" grpId="0"/>
      <p:bldP spid="22" grpId="0"/>
      <p:bldP spid="24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AD3A6-FA80-02BF-BF63-F0149D896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FC55A0-564D-D7D5-27E4-7BFBD816D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AA44B9-5001-460D-1FA9-B6D10B6700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46C02B8-5742-2EEE-2E38-7276E9A8FEE9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Leveraged Buyout Steps</a:t>
            </a:r>
            <a:endParaRPr lang="en-US" sz="24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3B7F9-ECBD-15CD-5236-B41B03D210B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6B9396-8357-39D6-1DC4-A11CDA388896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660FF0E-1BC9-437D-B776-F5B33686154D}"/>
              </a:ext>
            </a:extLst>
          </p:cNvPr>
          <p:cNvGraphicFramePr/>
          <p:nvPr/>
        </p:nvGraphicFramePr>
        <p:xfrm>
          <a:off x="154722" y="409484"/>
          <a:ext cx="11315110" cy="4476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1132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D59423-6AB8-4B46-966C-74D1B234C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AD59423-6AB8-4B46-966C-74D1B234C2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D7A3391-6892-4422-95DF-7730845F1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8D7A3391-6892-4422-95DF-7730845F1A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7A4E07-05F9-439F-8CD3-83FF567FF9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7A7A4E07-05F9-439F-8CD3-83FF567FF9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137998C-BDC3-445A-B02B-E6011D7EF3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7137998C-BDC3-445A-B02B-E6011D7EF3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C5DABF2-44D6-4679-AB41-2884230B5F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5C5DABF2-44D6-4679-AB41-2884230B5F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6E2B0E-604B-4F5E-AC99-FD139CDA67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176E2B0E-604B-4F5E-AC99-FD139CDA67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1A2B145-C962-4C64-9015-2CB8B35192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91A2B145-C962-4C64-9015-2CB8B35192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700CFAC-DE17-4FA3-86AC-0E0EC12D73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5700CFAC-DE17-4FA3-86AC-0E0EC12D73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CCCB7B7-F474-4271-B7E5-2ABE2DC4AB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ACCCB7B7-F474-4271-B7E5-2ABE2DC4AB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E693-92E6-CA95-9EFA-0D7AF523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8458EE-EC75-7B98-32FE-D2BBCB0A9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C43494-F977-6E50-4538-1C9BE28020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A8D6A36-7183-A617-887B-F7A659710A5C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LBO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7E22D-4128-48CB-497F-EDFE9B8E4FD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FAE62F-B167-0ED9-CDA9-6E8FA6FA9B9F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847C52-9479-AE27-6D39-BF7454EFEB94}"/>
              </a:ext>
            </a:extLst>
          </p:cNvPr>
          <p:cNvSpPr txBox="1"/>
          <p:nvPr/>
        </p:nvSpPr>
        <p:spPr>
          <a:xfrm>
            <a:off x="182943" y="724168"/>
            <a:ext cx="11850906" cy="1777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Blackstone is evaluating the potential leveraged buyout of Cardinal Health with financing support from JPMorgan Chase.</a:t>
            </a:r>
          </a:p>
          <a:p>
            <a:r>
              <a:rPr lang="en-US" dirty="0"/>
              <a:t>Blackstone plans to use a combination of debt and equity to acquire the company and estimate investor returns based on projected performance and an exit strategy after 5 years.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E54389-0968-4E45-2966-F1632B5997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02" t="10726" r="9732" b="14718"/>
          <a:stretch/>
        </p:blipFill>
        <p:spPr>
          <a:xfrm>
            <a:off x="634306" y="2173155"/>
            <a:ext cx="2337494" cy="979743"/>
          </a:xfrm>
          <a:prstGeom prst="rect">
            <a:avLst/>
          </a:prstGeom>
        </p:spPr>
      </p:pic>
      <p:pic>
        <p:nvPicPr>
          <p:cNvPr id="1026" name="Picture 2" descr="Home | Cardinal Health Canada">
            <a:extLst>
              <a:ext uri="{FF2B5EF4-FFF2-40B4-BE49-F238E27FC236}">
                <a16:creationId xmlns:a16="http://schemas.microsoft.com/office/drawing/2014/main" id="{E65ADBAA-82D7-9B30-6AE9-4A2319ECA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839" y="2099593"/>
            <a:ext cx="3051660" cy="97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4CC3AC85-1456-C064-C892-DEF8249A4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163" y="2300501"/>
            <a:ext cx="3631722" cy="77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2CAF5A-413B-C6FE-772D-63187E1D30A3}"/>
              </a:ext>
            </a:extLst>
          </p:cNvPr>
          <p:cNvSpPr txBox="1"/>
          <p:nvPr/>
        </p:nvSpPr>
        <p:spPr>
          <a:xfrm>
            <a:off x="722168" y="3548509"/>
            <a:ext cx="94696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>
                <a:latin typeface="Montserrat" panose="00000500000000000000" pitchFamily="2" charset="0"/>
              </a:rPr>
              <a:t>Deal Setup:</a:t>
            </a:r>
          </a:p>
          <a:p>
            <a:pPr marL="285750" indent="-285750">
              <a:buClr>
                <a:srgbClr val="1BBFD1"/>
              </a:buClr>
              <a:buFont typeface="Arial" panose="020B0604020202020204" pitchFamily="34" charset="0"/>
              <a:buChar char="•"/>
            </a:pPr>
            <a:r>
              <a:rPr lang="en-US" i="1" dirty="0">
                <a:latin typeface="Montserrat" panose="00000500000000000000" pitchFamily="2" charset="0"/>
              </a:rPr>
              <a:t>Purchase Price = $100M</a:t>
            </a:r>
          </a:p>
          <a:p>
            <a:pPr marL="285750" indent="-285750">
              <a:buClr>
                <a:srgbClr val="1BBFD1"/>
              </a:buClr>
              <a:buFont typeface="Arial" panose="020B0604020202020204" pitchFamily="34" charset="0"/>
              <a:buChar char="•"/>
            </a:pPr>
            <a:r>
              <a:rPr lang="en-US" i="1" dirty="0">
                <a:latin typeface="Montserrat" panose="00000500000000000000" pitchFamily="2" charset="0"/>
              </a:rPr>
              <a:t>Debt (Loan) = $70M (70%)</a:t>
            </a:r>
          </a:p>
          <a:p>
            <a:pPr marL="285750" indent="-285750">
              <a:buClr>
                <a:srgbClr val="1BBFD1"/>
              </a:buClr>
              <a:buFont typeface="Arial" panose="020B0604020202020204" pitchFamily="34" charset="0"/>
              <a:buChar char="•"/>
            </a:pPr>
            <a:r>
              <a:rPr lang="en-US" i="1" dirty="0">
                <a:latin typeface="Montserrat" panose="00000500000000000000" pitchFamily="2" charset="0"/>
              </a:rPr>
              <a:t>Equity (Investor’s money) = $30M (30%)</a:t>
            </a:r>
          </a:p>
          <a:p>
            <a:pPr marL="285750" indent="-285750">
              <a:buClr>
                <a:srgbClr val="1BBFD1"/>
              </a:buClr>
              <a:buFont typeface="Arial" panose="020B0604020202020204" pitchFamily="34" charset="0"/>
              <a:buChar char="•"/>
            </a:pPr>
            <a:r>
              <a:rPr lang="en-US" i="1" dirty="0">
                <a:latin typeface="Montserrat" panose="00000500000000000000" pitchFamily="2" charset="0"/>
              </a:rPr>
              <a:t>EBITDA at year 1 = $20M (grows by 2% every year)</a:t>
            </a:r>
          </a:p>
          <a:p>
            <a:pPr marL="285750" indent="-285750">
              <a:buClr>
                <a:srgbClr val="1BBFD1"/>
              </a:buClr>
              <a:buFont typeface="Arial" panose="020B0604020202020204" pitchFamily="34" charset="0"/>
              <a:buChar char="•"/>
            </a:pPr>
            <a:r>
              <a:rPr lang="en-US" i="1" dirty="0">
                <a:latin typeface="Montserrat" panose="00000500000000000000" pitchFamily="2" charset="0"/>
              </a:rPr>
              <a:t>Debt Interest Rate = 10%</a:t>
            </a:r>
          </a:p>
          <a:p>
            <a:pPr marL="285750" indent="-285750">
              <a:buClr>
                <a:srgbClr val="1BBFD1"/>
              </a:buClr>
              <a:buFont typeface="Arial" panose="020B0604020202020204" pitchFamily="34" charset="0"/>
              <a:buChar char="•"/>
            </a:pPr>
            <a:r>
              <a:rPr lang="en-US" i="1" dirty="0">
                <a:latin typeface="Montserrat" panose="00000500000000000000" pitchFamily="2" charset="0"/>
              </a:rPr>
              <a:t>Annual Debt Repayment = $10M</a:t>
            </a:r>
          </a:p>
          <a:p>
            <a:pPr marL="285750" indent="-285750">
              <a:buClr>
                <a:srgbClr val="1BBFD1"/>
              </a:buClr>
              <a:buFont typeface="Arial" panose="020B0604020202020204" pitchFamily="34" charset="0"/>
              <a:buChar char="•"/>
            </a:pPr>
            <a:r>
              <a:rPr lang="en-US" i="1" dirty="0">
                <a:latin typeface="Montserrat" panose="00000500000000000000" pitchFamily="2" charset="0"/>
              </a:rPr>
              <a:t>Exit EBITDA Multiple = 6x</a:t>
            </a:r>
          </a:p>
          <a:p>
            <a:pPr marL="285750" indent="-285750">
              <a:buClr>
                <a:srgbClr val="1BBFD1"/>
              </a:buClr>
              <a:buFont typeface="Arial" panose="020B0604020202020204" pitchFamily="34" charset="0"/>
              <a:buChar char="•"/>
            </a:pPr>
            <a:r>
              <a:rPr lang="en-US" i="1" dirty="0">
                <a:latin typeface="Montserrat" panose="00000500000000000000" pitchFamily="2" charset="0"/>
              </a:rPr>
              <a:t>Note: any excess cashflow will be paid as dividends to shareholders.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i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54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83F7F-D3C9-8D1B-3465-F4C6EBBD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04F9E8-EBB5-6BF0-72C8-1DE9C8F8DD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C6079C-84D8-4A84-14D8-28557400F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4119B6-C96C-1DDA-EFAA-1B3118CB0FE5}"/>
              </a:ext>
            </a:extLst>
          </p:cNvPr>
          <p:cNvSpPr/>
          <p:nvPr/>
        </p:nvSpPr>
        <p:spPr>
          <a:xfrm>
            <a:off x="293914" y="793804"/>
            <a:ext cx="5578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5CA05-A14C-07BB-785F-02746E24C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0FAD-A298-6B51-81EB-E4701782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2E8FE7-37DD-B634-9309-E70C5ECCD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5E8570-8935-0EEA-C40B-14749CFBEB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FEC936C-257A-8EA3-F9B1-EEC1E13E206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in Excel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814A0-2851-0248-A8E6-1EAC997C0C2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1CFB5-DE0B-5646-4735-FB683E79F6B6}"/>
              </a:ext>
            </a:extLst>
          </p:cNvPr>
          <p:cNvSpPr txBox="1"/>
          <p:nvPr/>
        </p:nvSpPr>
        <p:spPr>
          <a:xfrm>
            <a:off x="154723" y="1065829"/>
            <a:ext cx="95395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Using the Walmart weekly sales data, create a line chart showing revenue trends over time. Each store should be represented as a separate line. What patterns do you observe in seasonality or store performance?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Which store recorded the highest total annual revenue? Report the Store ID and the total revenue figure.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Generate a correlation heatmap for the dataset. What is the strength and direction of the correlation between weekly revenue and customer visits?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Analyze how weekly revenue changes with weather conditions (e.g., temperature, rainfall, or snow). Does the data suggest that extreme weather significantly impacts sales?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Create a bar chart of inventory turnover rates by store. Which store has the highest turnover rate, and which has the lowest?</a:t>
            </a:r>
          </a:p>
        </p:txBody>
      </p:sp>
      <p:pic>
        <p:nvPicPr>
          <p:cNvPr id="1026" name="Picture 2" descr="Walmart Logo and symbol, meaning, history, PNG, brand">
            <a:extLst>
              <a:ext uri="{FF2B5EF4-FFF2-40B4-BE49-F238E27FC236}">
                <a16:creationId xmlns:a16="http://schemas.microsoft.com/office/drawing/2014/main" id="{82629E85-2225-9235-CFE8-EBF29165E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1" y="3722104"/>
            <a:ext cx="5414056" cy="304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Download | Claude">
            <a:extLst>
              <a:ext uri="{FF2B5EF4-FFF2-40B4-BE49-F238E27FC236}">
                <a16:creationId xmlns:a16="http://schemas.microsoft.com/office/drawing/2014/main" id="{FD73799B-A86B-EDC2-1B91-38162AFF9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729" y="4718825"/>
            <a:ext cx="4727211" cy="101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2CD9E5-90E7-8EF5-2146-345629808DE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03534" y="1066488"/>
            <a:ext cx="2613785" cy="206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54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4696</TotalTime>
  <Words>1107</Words>
  <Application>Microsoft Office PowerPoint</Application>
  <PresentationFormat>Widescreen</PresentationFormat>
  <Paragraphs>128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424</cp:revision>
  <dcterms:created xsi:type="dcterms:W3CDTF">2019-11-18T17:58:36Z</dcterms:created>
  <dcterms:modified xsi:type="dcterms:W3CDTF">2026-03-03T06:25:43Z</dcterms:modified>
</cp:coreProperties>
</file>