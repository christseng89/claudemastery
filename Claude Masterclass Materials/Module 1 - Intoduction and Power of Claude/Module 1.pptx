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4241" r:id="rId2"/>
    <p:sldId id="568" r:id="rId3"/>
    <p:sldId id="570" r:id="rId4"/>
    <p:sldId id="4238" r:id="rId5"/>
    <p:sldId id="4243" r:id="rId6"/>
    <p:sldId id="4239" r:id="rId7"/>
    <p:sldId id="573" r:id="rId8"/>
    <p:sldId id="572" r:id="rId9"/>
    <p:sldId id="4242" r:id="rId10"/>
    <p:sldId id="574" r:id="rId11"/>
    <p:sldId id="575" r:id="rId12"/>
    <p:sldId id="578" r:id="rId13"/>
    <p:sldId id="576" r:id="rId14"/>
    <p:sldId id="424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6E48"/>
    <a:srgbClr val="0C1752"/>
    <a:srgbClr val="F9F9F9"/>
    <a:srgbClr val="11CCDD"/>
    <a:srgbClr val="1BBFD1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721"/>
  </p:normalViewPr>
  <p:slideViewPr>
    <p:cSldViewPr snapToGrid="0" snapToObjects="1">
      <p:cViewPr varScale="1">
        <p:scale>
          <a:sx n="118" d="100"/>
          <a:sy n="118" d="100"/>
        </p:scale>
        <p:origin x="9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5.png"/><Relationship Id="rId2" Type="http://schemas.openxmlformats.org/officeDocument/2006/relationships/image" Target="../media/image3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2.png"/><Relationship Id="rId10" Type="http://schemas.openxmlformats.org/officeDocument/2006/relationships/image" Target="../media/image18.jpe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dr-ryan-ahmed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134842" y="394332"/>
            <a:ext cx="48757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</a:rPr>
              <a:t>CLAUDE MASTERCLASS</a:t>
            </a:r>
            <a:endParaRPr lang="en-US" sz="4000" b="1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608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210BA7-83D5-BA28-4169-3E936CE31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5E0EF4-240B-8B5B-8335-CAC6327B8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BEFE33B-7EE9-7BFB-A39F-0F81915A5525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Instructor 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4BF6C-937D-3A93-9865-C5DE26F44C2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61" name="Google Shape;118;p3">
            <a:extLst>
              <a:ext uri="{FF2B5EF4-FFF2-40B4-BE49-F238E27FC236}">
                <a16:creationId xmlns:a16="http://schemas.microsoft.com/office/drawing/2014/main" id="{39877849-A867-54E4-6BC0-D81DC4FAE97C}"/>
              </a:ext>
            </a:extLst>
          </p:cNvPr>
          <p:cNvSpPr txBox="1"/>
          <p:nvPr/>
        </p:nvSpPr>
        <p:spPr>
          <a:xfrm>
            <a:off x="4241279" y="3428160"/>
            <a:ext cx="3231918" cy="869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5" rIns="0" bIns="60955" anchor="ctr" anchorCtr="0">
            <a:spAutoFit/>
          </a:bodyPr>
          <a:lstStyle/>
          <a:p>
            <a:pPr marL="0" lvl="4" algn="ctr" defTabSz="609630">
              <a:lnSpc>
                <a:spcPct val="130000"/>
              </a:lnSpc>
              <a:buClr>
                <a:srgbClr val="E7E6E6"/>
              </a:buClr>
              <a:buSzPts val="2700"/>
            </a:pPr>
            <a:r>
              <a:rPr lang="en-US" sz="2133" b="1" kern="0" dirty="0">
                <a:solidFill>
                  <a:srgbClr val="1E3D53"/>
                </a:solidFill>
                <a:latin typeface="Arial"/>
                <a:ea typeface="Arial"/>
                <a:cs typeface="Arial"/>
                <a:sym typeface="Arial"/>
              </a:rPr>
              <a:t>Dr. Ryan Ahmed</a:t>
            </a:r>
            <a:br>
              <a:rPr lang="en-US" sz="1200" b="1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kern="0" dirty="0">
                <a:solidFill>
                  <a:srgbClr val="0B8ECC"/>
                </a:solidFill>
                <a:latin typeface="Arial"/>
                <a:ea typeface="Arial"/>
                <a:cs typeface="Arial"/>
                <a:sym typeface="Arial"/>
              </a:rPr>
              <a:t>Professor &amp; Best-selling Instructor</a:t>
            </a: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65" name="Picture 2" descr="Online Courses - Learn Anything, On Your Schedule | Udemy">
            <a:extLst>
              <a:ext uri="{FF2B5EF4-FFF2-40B4-BE49-F238E27FC236}">
                <a16:creationId xmlns:a16="http://schemas.microsoft.com/office/drawing/2014/main" id="{E87A9148-1622-44BF-8503-E57923760E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96" b="24378"/>
          <a:stretch/>
        </p:blipFill>
        <p:spPr bwMode="auto">
          <a:xfrm>
            <a:off x="8928050" y="907669"/>
            <a:ext cx="2613324" cy="75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10" descr="CFA Institute">
            <a:extLst>
              <a:ext uri="{FF2B5EF4-FFF2-40B4-BE49-F238E27FC236}">
                <a16:creationId xmlns:a16="http://schemas.microsoft.com/office/drawing/2014/main" id="{B5A32AA5-345D-6257-1522-3807CFB77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966" y="3110926"/>
            <a:ext cx="2950917" cy="154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Google Shape;122;p3">
            <a:extLst>
              <a:ext uri="{FF2B5EF4-FFF2-40B4-BE49-F238E27FC236}">
                <a16:creationId xmlns:a16="http://schemas.microsoft.com/office/drawing/2014/main" id="{87D0E693-CDAE-A302-1BA0-07CDA1095081}"/>
              </a:ext>
            </a:extLst>
          </p:cNvPr>
          <p:cNvSpPr txBox="1"/>
          <p:nvPr/>
        </p:nvSpPr>
        <p:spPr>
          <a:xfrm>
            <a:off x="9199507" y="1890725"/>
            <a:ext cx="2428976" cy="4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8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US" sz="1867" dirty="0">
                <a:sym typeface="Arial"/>
              </a:rPr>
              <a:t>530,000+ Students</a:t>
            </a:r>
          </a:p>
        </p:txBody>
      </p:sp>
      <p:sp>
        <p:nvSpPr>
          <p:cNvPr id="68" name="Google Shape;122;p3">
            <a:extLst>
              <a:ext uri="{FF2B5EF4-FFF2-40B4-BE49-F238E27FC236}">
                <a16:creationId xmlns:a16="http://schemas.microsoft.com/office/drawing/2014/main" id="{80183A4A-F647-F343-6008-19727DBBB4E4}"/>
              </a:ext>
            </a:extLst>
          </p:cNvPr>
          <p:cNvSpPr txBox="1"/>
          <p:nvPr/>
        </p:nvSpPr>
        <p:spPr>
          <a:xfrm>
            <a:off x="8805206" y="2909542"/>
            <a:ext cx="2936865" cy="4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8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sz="1867" dirty="0">
                <a:sym typeface="Arial"/>
              </a:rPr>
              <a:t>260,000+ Subs, 3.5M views</a:t>
            </a:r>
          </a:p>
        </p:txBody>
      </p:sp>
      <p:pic>
        <p:nvPicPr>
          <p:cNvPr id="69" name="Picture 12" descr="The YouTube logo: a history | Creative Bloq">
            <a:extLst>
              <a:ext uri="{FF2B5EF4-FFF2-40B4-BE49-F238E27FC236}">
                <a16:creationId xmlns:a16="http://schemas.microsoft.com/office/drawing/2014/main" id="{CC958130-E2AC-1602-4EE2-971B655B3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5191" y="2109799"/>
            <a:ext cx="2243227" cy="1259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Google Shape;122;p3">
            <a:extLst>
              <a:ext uri="{FF2B5EF4-FFF2-40B4-BE49-F238E27FC236}">
                <a16:creationId xmlns:a16="http://schemas.microsoft.com/office/drawing/2014/main" id="{913555BD-4771-AA10-A092-6A07D3D37684}"/>
              </a:ext>
            </a:extLst>
          </p:cNvPr>
          <p:cNvSpPr txBox="1"/>
          <p:nvPr/>
        </p:nvSpPr>
        <p:spPr>
          <a:xfrm>
            <a:off x="8963134" y="4300845"/>
            <a:ext cx="2901722" cy="4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8" rIns="0" bIns="0" anchor="t" anchorCtr="0">
            <a:spAutoFit/>
          </a:bodyPr>
          <a:lstStyle/>
          <a:p>
            <a:pPr defTabSz="609630">
              <a:lnSpc>
                <a:spcPct val="130000"/>
              </a:lnSpc>
              <a:buClr>
                <a:srgbClr val="0B8ECC"/>
              </a:buClr>
              <a:buSzPts val="1600"/>
            </a:pPr>
            <a:r>
              <a:rPr lang="en-US" sz="1867" i="1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Taught L1 &amp; 2 Python &amp; AI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F3C4D6F9-84AF-81CE-464F-95921098EE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481" y="1269912"/>
            <a:ext cx="1881775" cy="1040511"/>
          </a:xfrm>
          <a:prstGeom prst="rect">
            <a:avLst/>
          </a:prstGeom>
        </p:spPr>
      </p:pic>
      <p:sp>
        <p:nvSpPr>
          <p:cNvPr id="72" name="Google Shape;122;p3">
            <a:extLst>
              <a:ext uri="{FF2B5EF4-FFF2-40B4-BE49-F238E27FC236}">
                <a16:creationId xmlns:a16="http://schemas.microsoft.com/office/drawing/2014/main" id="{AE7F32BA-4360-0626-E95A-0D7C95BD013C}"/>
              </a:ext>
            </a:extLst>
          </p:cNvPr>
          <p:cNvSpPr txBox="1"/>
          <p:nvPr/>
        </p:nvSpPr>
        <p:spPr>
          <a:xfrm>
            <a:off x="998672" y="2165873"/>
            <a:ext cx="2474384" cy="4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8" rIns="0" bIns="0" anchor="t" anchorCtr="0">
            <a:spAutoFit/>
          </a:bodyPr>
          <a:lstStyle/>
          <a:p>
            <a:pPr defTabSz="609630">
              <a:lnSpc>
                <a:spcPct val="130000"/>
              </a:lnSpc>
              <a:buClr>
                <a:srgbClr val="0B8ECC"/>
              </a:buClr>
              <a:buSzPts val="1600"/>
            </a:pPr>
            <a:r>
              <a:rPr lang="en-US" sz="1867" i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M.A.Sc., Ph.D., MBA</a:t>
            </a:r>
            <a:endParaRPr lang="en-US" sz="1867" i="1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Picture 16" descr="General Motors | Detroit MI">
            <a:extLst>
              <a:ext uri="{FF2B5EF4-FFF2-40B4-BE49-F238E27FC236}">
                <a16:creationId xmlns:a16="http://schemas.microsoft.com/office/drawing/2014/main" id="{01014111-1951-DC70-C40C-CB0F9EE6C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737" y="3001680"/>
            <a:ext cx="1031452" cy="1031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0" descr="Logo | Brand Identity | About Us | Samsung Canada">
            <a:extLst>
              <a:ext uri="{FF2B5EF4-FFF2-40B4-BE49-F238E27FC236}">
                <a16:creationId xmlns:a16="http://schemas.microsoft.com/office/drawing/2014/main" id="{9F4FE486-4BF9-75E8-CD51-BC88F1FBB2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83" b="29688"/>
          <a:stretch/>
        </p:blipFill>
        <p:spPr bwMode="auto">
          <a:xfrm>
            <a:off x="491297" y="3752685"/>
            <a:ext cx="2882335" cy="68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Google Shape;122;p3">
            <a:extLst>
              <a:ext uri="{FF2B5EF4-FFF2-40B4-BE49-F238E27FC236}">
                <a16:creationId xmlns:a16="http://schemas.microsoft.com/office/drawing/2014/main" id="{562261BF-772D-BAE6-DD07-DDF06E3169FB}"/>
              </a:ext>
            </a:extLst>
          </p:cNvPr>
          <p:cNvSpPr txBox="1"/>
          <p:nvPr/>
        </p:nvSpPr>
        <p:spPr>
          <a:xfrm>
            <a:off x="571906" y="4161337"/>
            <a:ext cx="2473681" cy="4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8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pPr algn="ctr"/>
            <a:r>
              <a:rPr lang="en-US" sz="1867" dirty="0">
                <a:sym typeface="Arial"/>
              </a:rPr>
              <a:t>AI &amp; EV/AV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46DE5C-E26F-0BE2-6157-31BE0FC1D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035" y="1680930"/>
            <a:ext cx="1651354" cy="233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5336DA-E533-78E9-7EDA-E16E1EEC0D8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8720" r="18720"/>
          <a:stretch>
            <a:fillRect/>
          </a:stretch>
        </p:blipFill>
        <p:spPr>
          <a:xfrm>
            <a:off x="4763346" y="1460457"/>
            <a:ext cx="1967703" cy="1967703"/>
          </a:xfrm>
          <a:prstGeom prst="ellipse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9392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2E93-9861-5016-B2FE-256197A8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464F2F-4754-148A-BA15-34C810142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ECB6BE-3177-BA84-AF4B-05BD8FD592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6CD8D652-313D-A482-C612-59A89001DE0F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Global Students Reach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C43CF5-A37F-272F-3259-DC568788C23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12DF05-0D4D-3DD7-65B0-1DFC4F0175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383"/>
          <a:stretch/>
        </p:blipFill>
        <p:spPr>
          <a:xfrm>
            <a:off x="3120610" y="674472"/>
            <a:ext cx="5558583" cy="2336729"/>
          </a:xfrm>
          <a:prstGeom prst="rect">
            <a:avLst/>
          </a:prstGeom>
        </p:spPr>
      </p:pic>
      <p:pic>
        <p:nvPicPr>
          <p:cNvPr id="13" name="Picture 2" descr="CF Markville | HSBC">
            <a:extLst>
              <a:ext uri="{FF2B5EF4-FFF2-40B4-BE49-F238E27FC236}">
                <a16:creationId xmlns:a16="http://schemas.microsoft.com/office/drawing/2014/main" id="{62314390-9293-C719-3834-91EE2836E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331" y="2862147"/>
            <a:ext cx="1254598" cy="70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Lazard Asset Management Canada Inc. | Sun Life Global Investments">
            <a:extLst>
              <a:ext uri="{FF2B5EF4-FFF2-40B4-BE49-F238E27FC236}">
                <a16:creationId xmlns:a16="http://schemas.microsoft.com/office/drawing/2014/main" id="{4C7B7DE3-A595-1C86-18AC-9DAACD95E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067" y="2775389"/>
            <a:ext cx="1751411" cy="91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RBC">
            <a:extLst>
              <a:ext uri="{FF2B5EF4-FFF2-40B4-BE49-F238E27FC236}">
                <a16:creationId xmlns:a16="http://schemas.microsoft.com/office/drawing/2014/main" id="{C5107936-1DDA-7036-9040-77B7FB587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706" y="2795337"/>
            <a:ext cx="917407" cy="917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Global, Multi-Strategy Investment Firm | Balyasny Asset Management">
            <a:extLst>
              <a:ext uri="{FF2B5EF4-FFF2-40B4-BE49-F238E27FC236}">
                <a16:creationId xmlns:a16="http://schemas.microsoft.com/office/drawing/2014/main" id="{463885C5-7694-1645-2489-D4029EC18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424" y="2862147"/>
            <a:ext cx="2133600" cy="67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Discover Bank Review">
            <a:extLst>
              <a:ext uri="{FF2B5EF4-FFF2-40B4-BE49-F238E27FC236}">
                <a16:creationId xmlns:a16="http://schemas.microsoft.com/office/drawing/2014/main" id="{3FE8ED91-E899-FACE-7B78-C2BA867CA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554" y="2686760"/>
            <a:ext cx="21336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Lowe's Home Improvement">
            <a:extLst>
              <a:ext uri="{FF2B5EF4-FFF2-40B4-BE49-F238E27FC236}">
                <a16:creationId xmlns:a16="http://schemas.microsoft.com/office/drawing/2014/main" id="{3AD74888-33F9-BCA9-F9B4-3754F2DC3F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30" r="18250"/>
          <a:stretch/>
        </p:blipFill>
        <p:spPr bwMode="auto">
          <a:xfrm>
            <a:off x="8570129" y="2508881"/>
            <a:ext cx="1525054" cy="125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bbyMap Barclays">
            <a:extLst>
              <a:ext uri="{FF2B5EF4-FFF2-40B4-BE49-F238E27FC236}">
                <a16:creationId xmlns:a16="http://schemas.microsoft.com/office/drawing/2014/main" id="{9277E952-4B37-A20B-BFE8-EA824D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99" y="3838540"/>
            <a:ext cx="2189955" cy="109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CFA Institute">
            <a:extLst>
              <a:ext uri="{FF2B5EF4-FFF2-40B4-BE49-F238E27FC236}">
                <a16:creationId xmlns:a16="http://schemas.microsoft.com/office/drawing/2014/main" id="{334D020D-8BB5-1BDE-A8DF-16A412C2F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016" y="3602866"/>
            <a:ext cx="2459816" cy="128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cotiabank Review 2024 - NerdWallet">
            <a:extLst>
              <a:ext uri="{FF2B5EF4-FFF2-40B4-BE49-F238E27FC236}">
                <a16:creationId xmlns:a16="http://schemas.microsoft.com/office/drawing/2014/main" id="{8FCFC09A-DAEB-06C5-3F99-4BA021AA0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540" y="3725184"/>
            <a:ext cx="1685800" cy="948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BA8BD38-FFDE-4ED0-0159-65EC4E6D76F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77108" y="3933474"/>
            <a:ext cx="2133600" cy="55647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6A52A63-2792-80E8-8AEC-18361856ACC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54268" y="3943597"/>
            <a:ext cx="2499177" cy="729849"/>
          </a:xfrm>
          <a:prstGeom prst="rect">
            <a:avLst/>
          </a:prstGeom>
        </p:spPr>
      </p:pic>
      <p:pic>
        <p:nvPicPr>
          <p:cNvPr id="1036" name="Picture 12" descr="ETF Company - Jefferies - ETF Stream">
            <a:extLst>
              <a:ext uri="{FF2B5EF4-FFF2-40B4-BE49-F238E27FC236}">
                <a16:creationId xmlns:a16="http://schemas.microsoft.com/office/drawing/2014/main" id="{1B7B9DE3-6225-707C-A3CA-375DC172A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955" y="2749579"/>
            <a:ext cx="1622029" cy="90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7689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2CFA2-BD2E-F57F-DD51-64E5B97F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925F58-B47E-35F2-1DBC-DFBA0F573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25897-584C-BF0A-E016-C5F9FC574E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918C1E-20E7-4595-F6EA-CD0425805354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7605B-DCA1-EE8B-9853-0A9AA10F57C4}"/>
              </a:ext>
            </a:extLst>
          </p:cNvPr>
          <p:cNvSpPr txBox="1"/>
          <p:nvPr/>
        </p:nvSpPr>
        <p:spPr>
          <a:xfrm>
            <a:off x="-103725" y="2534635"/>
            <a:ext cx="12331700" cy="804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 algn="ctr">
              <a:buClrTx/>
              <a:buNone/>
            </a:pPr>
            <a:r>
              <a:rPr lang="en-US" sz="2400" b="1" i="1" dirty="0"/>
              <a:t>“What if you could just... describe what you want and it happens?”</a:t>
            </a:r>
            <a:endParaRPr lang="en-CA" sz="2400" b="1" i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51D7F6F-2188-D8B3-A493-C1E31DA1F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2C9D64-FF9D-A220-3FB9-69CE02BB712C}"/>
              </a:ext>
            </a:extLst>
          </p:cNvPr>
          <p:cNvSpPr txBox="1"/>
          <p:nvPr/>
        </p:nvSpPr>
        <p:spPr>
          <a:xfrm>
            <a:off x="775302" y="3338863"/>
            <a:ext cx="9753600" cy="867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None/>
              <a:defRPr sz="2800" i="1"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2400" b="1" dirty="0"/>
              <a:t>"Book me a Hotel in Tokyo,” and AI agents just do it…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146533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DB71E-F69E-FF76-DF71-357697824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E1FF0E-86F3-D60E-3F72-2A6EE9771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D62995-03F5-D557-E1DD-6DA7797E03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6BF22448-2879-43AE-F62F-F9356B1260F8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Agents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AD6C6A-3BF7-E667-4370-25F86DD1507D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7A621A-60D0-C824-8D6F-FF2A2E89CEEC}"/>
              </a:ext>
            </a:extLst>
          </p:cNvPr>
          <p:cNvCxnSpPr>
            <a:cxnSpLocks/>
          </p:cNvCxnSpPr>
          <p:nvPr/>
        </p:nvCxnSpPr>
        <p:spPr>
          <a:xfrm>
            <a:off x="837069" y="3122216"/>
            <a:ext cx="621706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9436F0-14AB-E3A1-663D-C133B4F408A7}"/>
              </a:ext>
            </a:extLst>
          </p:cNvPr>
          <p:cNvSpPr txBox="1"/>
          <p:nvPr/>
        </p:nvSpPr>
        <p:spPr>
          <a:xfrm>
            <a:off x="19900" y="2186022"/>
            <a:ext cx="11058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i="1" dirty="0">
                <a:latin typeface="Montserrat" panose="00000500000000000000" pitchFamily="2" charset="0"/>
              </a:rPr>
              <a:t>Book a hotel in Tokyo from April 1</a:t>
            </a:r>
            <a:r>
              <a:rPr lang="en-CA" sz="1800" i="1" baseline="30000" dirty="0">
                <a:latin typeface="Montserrat" panose="00000500000000000000" pitchFamily="2" charset="0"/>
              </a:rPr>
              <a:t>st</a:t>
            </a:r>
            <a:r>
              <a:rPr lang="en-CA" sz="1800" i="1" dirty="0">
                <a:latin typeface="Montserrat" panose="00000500000000000000" pitchFamily="2" charset="0"/>
              </a:rPr>
              <a:t> to 4</a:t>
            </a:r>
            <a:r>
              <a:rPr lang="en-CA" sz="1800" i="1" baseline="30000" dirty="0">
                <a:latin typeface="Montserrat" panose="00000500000000000000" pitchFamily="2" charset="0"/>
              </a:rPr>
              <a:t>th</a:t>
            </a:r>
            <a:endParaRPr lang="en-CA" i="1" dirty="0"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0DF0B8-2D20-B432-C916-D08FDEBD7AD6}"/>
              </a:ext>
            </a:extLst>
          </p:cNvPr>
          <p:cNvSpPr txBox="1"/>
          <p:nvPr/>
        </p:nvSpPr>
        <p:spPr>
          <a:xfrm>
            <a:off x="1478847" y="3247015"/>
            <a:ext cx="1617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i="1" dirty="0">
                <a:latin typeface="Montserrat" panose="00000500000000000000" pitchFamily="2" charset="0"/>
              </a:rPr>
              <a:t>Planning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295C85-139B-6884-EC67-CD58B6AE1D1F}"/>
              </a:ext>
            </a:extLst>
          </p:cNvPr>
          <p:cNvSpPr txBox="1"/>
          <p:nvPr/>
        </p:nvSpPr>
        <p:spPr>
          <a:xfrm>
            <a:off x="3419885" y="3580001"/>
            <a:ext cx="1473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i="1" dirty="0">
                <a:latin typeface="Montserrat" panose="00000500000000000000" pitchFamily="2" charset="0"/>
              </a:rPr>
              <a:t>Memory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AD8B29B0-6298-BF08-5E1D-A95977C2BD5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84993" y="2343235"/>
            <a:ext cx="1834309" cy="995506"/>
          </a:xfrm>
          <a:prstGeom prst="curvedConnector2">
            <a:avLst/>
          </a:prstGeom>
          <a:ln w="57150">
            <a:solidFill>
              <a:srgbClr val="D56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B6973714-EBB9-A991-FF77-A7EC641547B8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20382" y="1570136"/>
            <a:ext cx="1226688" cy="2475960"/>
          </a:xfrm>
          <a:prstGeom prst="curvedConnector2">
            <a:avLst/>
          </a:prstGeom>
          <a:ln w="57150">
            <a:solidFill>
              <a:srgbClr val="D56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9495815-1E9B-2E4F-E7C0-D942E930146E}"/>
              </a:ext>
            </a:extLst>
          </p:cNvPr>
          <p:cNvCxnSpPr>
            <a:cxnSpLocks/>
          </p:cNvCxnSpPr>
          <p:nvPr/>
        </p:nvCxnSpPr>
        <p:spPr>
          <a:xfrm>
            <a:off x="4095052" y="2922846"/>
            <a:ext cx="0" cy="720919"/>
          </a:xfrm>
          <a:prstGeom prst="line">
            <a:avLst/>
          </a:prstGeom>
          <a:ln w="57150">
            <a:solidFill>
              <a:srgbClr val="D56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Generated image">
            <a:extLst>
              <a:ext uri="{FF2B5EF4-FFF2-40B4-BE49-F238E27FC236}">
                <a16:creationId xmlns:a16="http://schemas.microsoft.com/office/drawing/2014/main" id="{AE5453AA-D3B5-0D5D-5EAD-4C64177BD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DFDFB"/>
              </a:clrFrom>
              <a:clrTo>
                <a:srgbClr val="FD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642" y="3551128"/>
            <a:ext cx="1494841" cy="149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enerated image">
            <a:extLst>
              <a:ext uri="{FF2B5EF4-FFF2-40B4-BE49-F238E27FC236}">
                <a16:creationId xmlns:a16="http://schemas.microsoft.com/office/drawing/2014/main" id="{8CA58497-A311-83C4-29E3-3B05FFFBE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EFEFD"/>
              </a:clrFrom>
              <a:clrTo>
                <a:srgbClr val="FE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947" y="3718004"/>
            <a:ext cx="1611418" cy="161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331D67-207F-AAE7-1098-F74DBFF6C1F7}"/>
              </a:ext>
            </a:extLst>
          </p:cNvPr>
          <p:cNvSpPr/>
          <p:nvPr/>
        </p:nvSpPr>
        <p:spPr>
          <a:xfrm>
            <a:off x="2949172" y="2101120"/>
            <a:ext cx="2219851" cy="10571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3200" i="1" dirty="0">
              <a:latin typeface="Montserrat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7EE6C8-9AB6-1DA3-E5A5-CD2C6311C460}"/>
              </a:ext>
            </a:extLst>
          </p:cNvPr>
          <p:cNvSpPr txBox="1"/>
          <p:nvPr/>
        </p:nvSpPr>
        <p:spPr>
          <a:xfrm>
            <a:off x="5632990" y="3349168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i="1" dirty="0">
                <a:latin typeface="Montserrat" panose="00000500000000000000" pitchFamily="2" charset="0"/>
              </a:rPr>
              <a:t>Tools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D456A78-330E-763B-5DF8-9E1DD5F93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4FB45B85-B069-8BF8-E813-F71357956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322" y="3643765"/>
            <a:ext cx="1309568" cy="130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D11538A-2B18-4F67-66DF-2511623D94A8}"/>
              </a:ext>
            </a:extLst>
          </p:cNvPr>
          <p:cNvSpPr/>
          <p:nvPr/>
        </p:nvSpPr>
        <p:spPr>
          <a:xfrm>
            <a:off x="1468554" y="1340667"/>
            <a:ext cx="5384930" cy="4073656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37EE93-C5ED-15F1-15A9-190A4E077916}"/>
              </a:ext>
            </a:extLst>
          </p:cNvPr>
          <p:cNvSpPr txBox="1"/>
          <p:nvPr/>
        </p:nvSpPr>
        <p:spPr>
          <a:xfrm>
            <a:off x="1684612" y="1401423"/>
            <a:ext cx="3453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latin typeface="Montserrat" panose="00000500000000000000" pitchFamily="2" charset="0"/>
              </a:rPr>
              <a:t>AI Agent</a:t>
            </a:r>
            <a:endParaRPr lang="en-CA" b="1" dirty="0">
              <a:latin typeface="Montserrat" panose="00000500000000000000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5BF6F6B-480C-B5D6-9D5F-A162B8CDE8AD}"/>
              </a:ext>
            </a:extLst>
          </p:cNvPr>
          <p:cNvCxnSpPr>
            <a:cxnSpLocks/>
          </p:cNvCxnSpPr>
          <p:nvPr/>
        </p:nvCxnSpPr>
        <p:spPr>
          <a:xfrm>
            <a:off x="6951648" y="3122216"/>
            <a:ext cx="540151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laude Logo - PNG Logo Vector Brand Downloads (SVG, EPS)">
            <a:extLst>
              <a:ext uri="{FF2B5EF4-FFF2-40B4-BE49-F238E27FC236}">
                <a16:creationId xmlns:a16="http://schemas.microsoft.com/office/drawing/2014/main" id="{80DEF6CD-2547-24AD-D8E4-ECE343D51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647" y="2272724"/>
            <a:ext cx="2198517" cy="55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5D0F95-8A99-82F3-A0EA-DE0CAB14BC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963" y="1824693"/>
            <a:ext cx="4122208" cy="274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1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2" grpId="0" animBg="1"/>
      <p:bldP spid="15" grpId="0"/>
      <p:bldP spid="17" grpId="0" animBg="1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C216-1076-8B9E-4EBA-42983FA7B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6C403-6391-D567-C085-2CA37BCB5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56EB66-936B-8628-6C85-CBFD1CE65E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4B67642-69A2-E57E-DAB7-3B8A716F06D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Demo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90F6B9-BC69-8F9A-3181-2C17B0E264E6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ED04DDE-3319-801D-24D6-C7B470612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060F9E-BFA0-11CA-8F36-B0E4D0EB0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199" y="1603331"/>
            <a:ext cx="8902700" cy="458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533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17EF2-AB95-6FCA-3F07-F6B9D0D77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199AB7-5D37-A013-F362-D21E5698BD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875BA6-4FC4-9ACF-6E3E-193BEE24B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55F104-A74E-EAA9-DBF2-A0114B4EC8CF}"/>
              </a:ext>
            </a:extLst>
          </p:cNvPr>
          <p:cNvSpPr/>
          <p:nvPr/>
        </p:nvSpPr>
        <p:spPr>
          <a:xfrm>
            <a:off x="293914" y="793804"/>
            <a:ext cx="464754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COURSE OUTLINE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345EDB-BD4B-3CDE-13DF-350A72312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99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D41D7-3EF1-50A1-A652-23D8DC2CE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744090-3C16-2C90-8867-0A4213905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CA336A-354A-E28E-FB5B-2076E25D6C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181953F-319C-0E29-E556-AE29C18DA381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Course Outline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1BE923-81E9-2EA9-1E4C-CB63806F8A6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099C4A-27ED-51FB-57CF-DDA093DA1CE4}"/>
              </a:ext>
            </a:extLst>
          </p:cNvPr>
          <p:cNvSpPr txBox="1"/>
          <p:nvPr/>
        </p:nvSpPr>
        <p:spPr>
          <a:xfrm>
            <a:off x="1921714" y="806591"/>
            <a:ext cx="9192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Check out the course outline “</a:t>
            </a:r>
            <a:r>
              <a:rPr lang="en-US" b="1" i="1" dirty="0"/>
              <a:t>Claude Masterclass – Outline.xlsx</a:t>
            </a:r>
            <a:r>
              <a:rPr lang="en-US" b="1" dirty="0"/>
              <a:t>”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1C0B52-B23B-33EE-053B-1B0768394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1286" y="1781761"/>
            <a:ext cx="5506095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86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434C6-3773-6BB5-402E-82C6BED15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767654-D06D-22DE-9271-1B9D109A1C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F2CE0D-C09F-CBE9-478A-95CEBE4ED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925A66-BE68-12C2-079F-D989ECE0C6ED}"/>
              </a:ext>
            </a:extLst>
          </p:cNvPr>
          <p:cNvSpPr/>
          <p:nvPr/>
        </p:nvSpPr>
        <p:spPr>
          <a:xfrm>
            <a:off x="293914" y="793804"/>
            <a:ext cx="464754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COURSE KEY SUCCESS TIPS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19B39-3023-3DCE-DBA3-9D0260E72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12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18E27-A80D-818C-955E-A5A00A20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F2B9FF-24ED-DAAA-A36E-2BA7A95FB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780880-0DF2-FEE1-909F-F7F6513315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54D7286-0A87-4B7B-5516-986D35980AFF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Success Tips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5A659F-23B5-5FE0-6B6E-82FADE60CDFE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65FB9B-CB34-259C-4385-0D7A194617B8}"/>
              </a:ext>
            </a:extLst>
          </p:cNvPr>
          <p:cNvSpPr txBox="1"/>
          <p:nvPr/>
        </p:nvSpPr>
        <p:spPr>
          <a:xfrm>
            <a:off x="722168" y="692498"/>
            <a:ext cx="11167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18" name="Shape 288">
            <a:extLst>
              <a:ext uri="{FF2B5EF4-FFF2-40B4-BE49-F238E27FC236}">
                <a16:creationId xmlns:a16="http://schemas.microsoft.com/office/drawing/2014/main" id="{38C6C87D-6697-104A-7E1E-8BD1CCCDB9ED}"/>
              </a:ext>
            </a:extLst>
          </p:cNvPr>
          <p:cNvSpPr/>
          <p:nvPr/>
        </p:nvSpPr>
        <p:spPr>
          <a:xfrm>
            <a:off x="419587" y="835160"/>
            <a:ext cx="2743200" cy="2743200"/>
          </a:xfrm>
          <a:prstGeom prst="ellipse">
            <a:avLst/>
          </a:prstGeom>
          <a:solidFill>
            <a:srgbClr val="D56E48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marL="0" marR="0" lvl="0" indent="0" algn="ctr" defTabSz="171459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uLnTx/>
                <a:uFillTx/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Learn by Doing!</a:t>
            </a:r>
          </a:p>
        </p:txBody>
      </p:sp>
      <p:sp>
        <p:nvSpPr>
          <p:cNvPr id="19" name="Shape 288">
            <a:extLst>
              <a:ext uri="{FF2B5EF4-FFF2-40B4-BE49-F238E27FC236}">
                <a16:creationId xmlns:a16="http://schemas.microsoft.com/office/drawing/2014/main" id="{37D1F6F3-F113-7358-9AAC-6BC15EA0DAE1}"/>
              </a:ext>
            </a:extLst>
          </p:cNvPr>
          <p:cNvSpPr/>
          <p:nvPr/>
        </p:nvSpPr>
        <p:spPr>
          <a:xfrm>
            <a:off x="3134701" y="2156459"/>
            <a:ext cx="2743200" cy="2743200"/>
          </a:xfrm>
          <a:prstGeom prst="ellipse">
            <a:avLst/>
          </a:prstGeom>
          <a:solidFill>
            <a:srgbClr val="0C175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marL="0" marR="0" lvl="0" indent="0" algn="ctr" defTabSz="171459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uLnTx/>
                <a:uFillTx/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Solve Practice Opportunities</a:t>
            </a:r>
          </a:p>
        </p:txBody>
      </p:sp>
      <p:sp>
        <p:nvSpPr>
          <p:cNvPr id="20" name="Shape 288">
            <a:extLst>
              <a:ext uri="{FF2B5EF4-FFF2-40B4-BE49-F238E27FC236}">
                <a16:creationId xmlns:a16="http://schemas.microsoft.com/office/drawing/2014/main" id="{397AE90D-D0E2-12A6-2FA1-5A72AC921DA2}"/>
              </a:ext>
            </a:extLst>
          </p:cNvPr>
          <p:cNvSpPr/>
          <p:nvPr/>
        </p:nvSpPr>
        <p:spPr>
          <a:xfrm>
            <a:off x="5913876" y="984242"/>
            <a:ext cx="2743200" cy="2743200"/>
          </a:xfrm>
          <a:prstGeom prst="ellipse">
            <a:avLst/>
          </a:prstGeom>
          <a:solidFill>
            <a:srgbClr val="11CCDD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00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Build a Portfolio of Projects</a:t>
            </a:r>
          </a:p>
        </p:txBody>
      </p:sp>
      <p:sp>
        <p:nvSpPr>
          <p:cNvPr id="27" name="Shape 288">
            <a:extLst>
              <a:ext uri="{FF2B5EF4-FFF2-40B4-BE49-F238E27FC236}">
                <a16:creationId xmlns:a16="http://schemas.microsoft.com/office/drawing/2014/main" id="{294752F2-A63F-A72D-E1E8-1DEA8E26DD80}"/>
              </a:ext>
            </a:extLst>
          </p:cNvPr>
          <p:cNvSpPr/>
          <p:nvPr/>
        </p:nvSpPr>
        <p:spPr>
          <a:xfrm>
            <a:off x="8673558" y="2156459"/>
            <a:ext cx="2743200" cy="27432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00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Leverage LinkedIn to share your work &amp; maximize Reach!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5FAA30-814E-CF7B-013D-8FFC3E5541DC}"/>
              </a:ext>
            </a:extLst>
          </p:cNvPr>
          <p:cNvSpPr txBox="1"/>
          <p:nvPr/>
        </p:nvSpPr>
        <p:spPr>
          <a:xfrm>
            <a:off x="980746" y="5771480"/>
            <a:ext cx="8039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LinkedIn Link: </a:t>
            </a:r>
            <a:r>
              <a:rPr lang="en-CA" sz="2400" dirty="0">
                <a:hlinkClick r:id="rId4"/>
              </a:rPr>
              <a:t>https://www.linkedin.com/in/dr-ryan-ahmed/</a:t>
            </a:r>
            <a:endParaRPr lang="en-CA" sz="2400" dirty="0"/>
          </a:p>
          <a:p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651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7" grpId="0" animBg="1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247F0-3A3C-8B88-EA69-47D43DDC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DEF4C2-BB0F-AA88-0EE5-3FBD43DBB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36C8C8-2CAF-39FC-A646-319B421E24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7C074A5-6CBA-32CC-282E-07343ED3ACD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Change video Speeds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15D656-A283-9506-DF2A-EECF14A8028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065E5-E798-47DF-56D1-E83AD6398D16}"/>
              </a:ext>
            </a:extLst>
          </p:cNvPr>
          <p:cNvSpPr txBox="1"/>
          <p:nvPr/>
        </p:nvSpPr>
        <p:spPr>
          <a:xfrm>
            <a:off x="1291488" y="839101"/>
            <a:ext cx="10349952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2000" b="1">
                <a:solidFill>
                  <a:srgbClr val="9D399D"/>
                </a:solidFill>
              </a:defRPr>
            </a:lvl1pPr>
          </a:lstStyle>
          <a:p>
            <a:r>
              <a:rPr lang="en-CA" b="0" dirty="0">
                <a:solidFill>
                  <a:srgbClr val="D56E48"/>
                </a:solidFill>
              </a:rPr>
              <a:t>You have the option to play lectures at different speeds: (.5x, 1x, 1.25x, 1.5x or 2x)</a:t>
            </a:r>
          </a:p>
          <a:p>
            <a:r>
              <a:rPr lang="en-CA" b="0" dirty="0">
                <a:solidFill>
                  <a:srgbClr val="D56E48"/>
                </a:solidFill>
              </a:rPr>
              <a:t>In the bottom-left corner of the video, you can change the speed of the video.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A253D0-1120-DA01-9CE8-252E2288BD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55"/>
          <a:stretch>
            <a:fillRect/>
          </a:stretch>
        </p:blipFill>
        <p:spPr>
          <a:xfrm>
            <a:off x="836754" y="1625085"/>
            <a:ext cx="10183139" cy="4665037"/>
          </a:xfrm>
          <a:prstGeom prst="rect">
            <a:avLst/>
          </a:prstGeom>
        </p:spPr>
      </p:pic>
      <p:cxnSp>
        <p:nvCxnSpPr>
          <p:cNvPr id="8" name="Curved Connector 8">
            <a:extLst>
              <a:ext uri="{FF2B5EF4-FFF2-40B4-BE49-F238E27FC236}">
                <a16:creationId xmlns:a16="http://schemas.microsoft.com/office/drawing/2014/main" id="{E13A34B6-9750-54FA-378D-C2B635A4C722}"/>
              </a:ext>
            </a:extLst>
          </p:cNvPr>
          <p:cNvCxnSpPr>
            <a:cxnSpLocks/>
          </p:cNvCxnSpPr>
          <p:nvPr/>
        </p:nvCxnSpPr>
        <p:spPr>
          <a:xfrm flipV="1">
            <a:off x="1922667" y="1546987"/>
            <a:ext cx="2251812" cy="2183349"/>
          </a:xfrm>
          <a:prstGeom prst="curvedConnector3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70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1CAF0-E524-BE44-6F0C-BB3532458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DA5B17-813B-7008-BB93-CF6086A42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C39CA0-FBB5-64B2-2979-5AF7883BF4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398843D-DB65-9EDA-DBDA-A63BE70CE3AA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Change the video quality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B4BB8F-78F7-40F4-073E-668235B9E4A9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B0F9CB-C433-9EED-4959-2F620B8EC0C6}"/>
              </a:ext>
            </a:extLst>
          </p:cNvPr>
          <p:cNvSpPr txBox="1"/>
          <p:nvPr/>
        </p:nvSpPr>
        <p:spPr>
          <a:xfrm>
            <a:off x="1229989" y="692498"/>
            <a:ext cx="1065943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r>
              <a:rPr lang="en-CA" dirty="0"/>
              <a:t>Udemy automatically optimizes video resolution based on your internet connection speed. Alternatively, you can select 360p, 480p, and 720p resolutions for the video quality. </a:t>
            </a:r>
          </a:p>
          <a:p>
            <a:r>
              <a:rPr lang="en-CA" dirty="0"/>
              <a:t>All course lectures are filmed with HD quality 1080p.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DC2222-2F9C-2F9C-56D3-6350505E3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88" y="2131777"/>
            <a:ext cx="8439993" cy="4213237"/>
          </a:xfrm>
          <a:prstGeom prst="rect">
            <a:avLst/>
          </a:prstGeom>
        </p:spPr>
      </p:pic>
      <p:cxnSp>
        <p:nvCxnSpPr>
          <p:cNvPr id="13" name="Curved Connector 8">
            <a:extLst>
              <a:ext uri="{FF2B5EF4-FFF2-40B4-BE49-F238E27FC236}">
                <a16:creationId xmlns:a16="http://schemas.microsoft.com/office/drawing/2014/main" id="{BB915DB3-6BDE-F949-1E97-3F58A463ECE1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52055" y="1994816"/>
            <a:ext cx="2310628" cy="1587594"/>
          </a:xfrm>
          <a:prstGeom prst="curvedConnector3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341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32CA7-FB1E-E80C-23B3-C62B1622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919486-E985-D288-01CC-1A527B9B8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4EADD7-546E-E711-21BC-76554441EF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67EB65B-24C7-7964-AB41-10DE50C8823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How do you get the Certificate of Completion?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19189-F15B-42FC-A127-B732E92A48B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E343C2-8414-8CF9-304A-2DF3F4D960C5}"/>
              </a:ext>
            </a:extLst>
          </p:cNvPr>
          <p:cNvSpPr/>
          <p:nvPr/>
        </p:nvSpPr>
        <p:spPr>
          <a:xfrm>
            <a:off x="152399" y="798103"/>
            <a:ext cx="117745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tx1"/>
                </a:solidFill>
                <a:latin typeface="Montserrat" charset="0"/>
              </a:rPr>
              <a:t>When you complete all course modules, you will receive a certificate of completion.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C204A8-05E4-CA33-B11C-7FDE450366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444"/>
          <a:stretch/>
        </p:blipFill>
        <p:spPr>
          <a:xfrm>
            <a:off x="947751" y="1367112"/>
            <a:ext cx="4303733" cy="3185681"/>
          </a:xfrm>
          <a:prstGeom prst="rect">
            <a:avLst/>
          </a:prstGeom>
          <a:ln w="5715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2A5DF8-CC6D-F72D-3B19-80F8F9DE0D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50257"/>
            <a:ext cx="4303733" cy="3185681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3585115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F3812-74CF-3093-5ABB-250ECBD7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1AE6BA-536B-674B-EA93-F739814B94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24420-9B7D-E677-F3E7-0F96C1345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2BF2CC-E52B-C815-59A6-6EFABB503155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23249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5968</TotalTime>
  <Words>399</Words>
  <Application>Microsoft Office PowerPoint</Application>
  <PresentationFormat>Widescreen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496</cp:revision>
  <dcterms:created xsi:type="dcterms:W3CDTF">2019-11-18T17:58:36Z</dcterms:created>
  <dcterms:modified xsi:type="dcterms:W3CDTF">2026-03-14T19:08:39Z</dcterms:modified>
</cp:coreProperties>
</file>