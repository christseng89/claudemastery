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565" r:id="rId2"/>
    <p:sldId id="4241" r:id="rId3"/>
    <p:sldId id="4118" r:id="rId4"/>
    <p:sldId id="4249" r:id="rId5"/>
    <p:sldId id="4248" r:id="rId6"/>
    <p:sldId id="4250" r:id="rId7"/>
    <p:sldId id="4121" r:id="rId8"/>
    <p:sldId id="4122" r:id="rId9"/>
    <p:sldId id="4123" r:id="rId10"/>
    <p:sldId id="27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752"/>
    <a:srgbClr val="D56E48"/>
    <a:srgbClr val="1BBFD1"/>
    <a:srgbClr val="F9F9F9"/>
    <a:srgbClr val="11CCDD"/>
    <a:srgbClr val="E7C24C"/>
    <a:srgbClr val="FF0909"/>
    <a:srgbClr val="4472C4"/>
    <a:srgbClr val="D1C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60" autoAdjust="0"/>
    <p:restoredTop sz="94721"/>
  </p:normalViewPr>
  <p:slideViewPr>
    <p:cSldViewPr snapToGrid="0" snapToObjects="1">
      <p:cViewPr varScale="1">
        <p:scale>
          <a:sx n="119" d="100"/>
          <a:sy n="119" d="100"/>
        </p:scale>
        <p:origin x="150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E133A9-7D45-45CD-A3DC-2774D97681C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C377708F-9617-449E-9C75-F2E30BB25EF1}">
      <dgm:prSet phldrT="[Text]" custT="1"/>
      <dgm:spPr>
        <a:solidFill>
          <a:srgbClr val="0C1752"/>
        </a:solidFill>
      </dgm:spPr>
      <dgm:t>
        <a:bodyPr/>
        <a:lstStyle/>
        <a:p>
          <a:pPr>
            <a:buNone/>
          </a:pPr>
          <a:r>
            <a:rPr lang="en-CA" sz="1200" b="1" dirty="0">
              <a:latin typeface="Montserrat" panose="00000500000000000000" pitchFamily="2" charset="0"/>
            </a:rPr>
            <a:t>Guide behaviour with System Prompt </a:t>
          </a:r>
        </a:p>
        <a:p>
          <a:pPr>
            <a:buNone/>
          </a:pPr>
          <a:r>
            <a:rPr lang="en-CA" sz="1200" i="1" dirty="0">
              <a:latin typeface="Montserrat" panose="00000500000000000000" pitchFamily="2" charset="0"/>
            </a:rPr>
            <a:t>Set the persona, rules, constraints and output format</a:t>
          </a:r>
        </a:p>
      </dgm:t>
    </dgm:pt>
    <dgm:pt modelId="{38C8BA5D-BC51-4631-B9B9-45C1F475B179}" type="parTrans" cxnId="{DC6224D7-428A-4605-BDF5-F3D49FE16A9B}">
      <dgm:prSet/>
      <dgm:spPr/>
      <dgm:t>
        <a:bodyPr/>
        <a:lstStyle/>
        <a:p>
          <a:endParaRPr lang="en-CA" sz="1800"/>
        </a:p>
      </dgm:t>
    </dgm:pt>
    <dgm:pt modelId="{78D7DD6B-9583-455E-B820-160EF9925347}" type="sibTrans" cxnId="{DC6224D7-428A-4605-BDF5-F3D49FE16A9B}">
      <dgm:prSet/>
      <dgm:spPr/>
      <dgm:t>
        <a:bodyPr/>
        <a:lstStyle/>
        <a:p>
          <a:endParaRPr lang="en-CA" sz="1800"/>
        </a:p>
      </dgm:t>
    </dgm:pt>
    <dgm:pt modelId="{DFADFC1F-4DCE-48E0-8B20-B38798AEB70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pPr>
            <a:buNone/>
          </a:pPr>
          <a:r>
            <a:rPr lang="en-CA" sz="1200" b="1" dirty="0">
              <a:latin typeface="Montserrat" panose="00000500000000000000" pitchFamily="2" charset="0"/>
            </a:rPr>
            <a:t>Ask for reasoning (Chain of thought):</a:t>
          </a:r>
        </a:p>
        <a:p>
          <a:pPr>
            <a:buNone/>
          </a:pPr>
          <a:r>
            <a:rPr lang="en-CA" sz="1200" i="1" dirty="0">
              <a:latin typeface="Montserrat" panose="00000500000000000000" pitchFamily="2" charset="0"/>
            </a:rPr>
            <a:t>“explain your steps” or “show the calculation before the result” to build trust and transparency.</a:t>
          </a:r>
          <a:endParaRPr lang="en-CA" sz="1200" b="1" i="1" dirty="0">
            <a:latin typeface="Montserrat" panose="00000500000000000000" pitchFamily="2" charset="0"/>
          </a:endParaRPr>
        </a:p>
      </dgm:t>
    </dgm:pt>
    <dgm:pt modelId="{0E4A02D9-5C07-4C4B-81DB-BAD6CF75123C}" type="parTrans" cxnId="{8DFE8A23-4949-4D8E-8C9F-14DD6F33C9EB}">
      <dgm:prSet/>
      <dgm:spPr/>
      <dgm:t>
        <a:bodyPr/>
        <a:lstStyle/>
        <a:p>
          <a:endParaRPr lang="en-CA" sz="1800"/>
        </a:p>
      </dgm:t>
    </dgm:pt>
    <dgm:pt modelId="{106C6D3A-33A1-4913-976A-58B57DCC7952}" type="sibTrans" cxnId="{8DFE8A23-4949-4D8E-8C9F-14DD6F33C9EB}">
      <dgm:prSet/>
      <dgm:spPr/>
      <dgm:t>
        <a:bodyPr/>
        <a:lstStyle/>
        <a:p>
          <a:endParaRPr lang="en-CA" sz="1800"/>
        </a:p>
      </dgm:t>
    </dgm:pt>
    <dgm:pt modelId="{B91A964C-6172-485A-86B7-4B25EADEC528}">
      <dgm:prSet phldrT="[Text]" custT="1"/>
      <dgm:spPr>
        <a:solidFill>
          <a:srgbClr val="1BBFD1"/>
        </a:solidFill>
      </dgm:spPr>
      <dgm:t>
        <a:bodyPr/>
        <a:lstStyle/>
        <a:p>
          <a:pPr>
            <a:buNone/>
          </a:pPr>
          <a:r>
            <a:rPr lang="en-CA" sz="1200" b="1" dirty="0">
              <a:latin typeface="Montserrat" panose="00000500000000000000" pitchFamily="2" charset="0"/>
            </a:rPr>
            <a:t>Add constraints &amp; boundaries:</a:t>
          </a:r>
        </a:p>
        <a:p>
          <a:pPr>
            <a:buNone/>
          </a:pPr>
          <a:r>
            <a:rPr lang="en-CA" sz="1200" i="1" dirty="0">
              <a:latin typeface="Montserrat" panose="00000500000000000000" pitchFamily="2" charset="0"/>
            </a:rPr>
            <a:t>Word limits, style guides, or examples help the model aim correctly. “Explain in 3 bullet points, max 15 words each.”</a:t>
          </a:r>
        </a:p>
      </dgm:t>
    </dgm:pt>
    <dgm:pt modelId="{B1295144-BA29-4E62-828C-01C9F0C06B3A}" type="parTrans" cxnId="{BA57CB58-F18D-4AE8-AD4B-9E4278371107}">
      <dgm:prSet/>
      <dgm:spPr/>
      <dgm:t>
        <a:bodyPr/>
        <a:lstStyle/>
        <a:p>
          <a:endParaRPr lang="en-CA" sz="1800"/>
        </a:p>
      </dgm:t>
    </dgm:pt>
    <dgm:pt modelId="{930AD882-C193-468F-9041-E70A1E3D350F}" type="sibTrans" cxnId="{BA57CB58-F18D-4AE8-AD4B-9E4278371107}">
      <dgm:prSet/>
      <dgm:spPr/>
      <dgm:t>
        <a:bodyPr/>
        <a:lstStyle/>
        <a:p>
          <a:endParaRPr lang="en-CA" sz="1800"/>
        </a:p>
      </dgm:t>
    </dgm:pt>
    <dgm:pt modelId="{E255C582-217A-4F0E-BC96-74D1C2C63503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pPr>
            <a:buNone/>
          </a:pPr>
          <a:r>
            <a:rPr lang="en-CA" sz="1200" b="1" dirty="0">
              <a:latin typeface="Montserrat" panose="00000500000000000000" pitchFamily="2" charset="0"/>
            </a:rPr>
            <a:t>Iterate and refine</a:t>
          </a:r>
        </a:p>
        <a:p>
          <a:pPr>
            <a:buNone/>
          </a:pPr>
          <a:r>
            <a:rPr lang="en-CA" sz="1200" i="1" dirty="0">
              <a:latin typeface="Montserrat" panose="00000500000000000000" pitchFamily="2" charset="0"/>
            </a:rPr>
            <a:t>The first draft is rarely the final. Treat prompts like a conversation; tweak wording, add detail, narrow scope until the output clicks.</a:t>
          </a:r>
        </a:p>
      </dgm:t>
    </dgm:pt>
    <dgm:pt modelId="{9731069B-26F2-45D9-A531-87749F2925E9}" type="parTrans" cxnId="{BD866F3E-CD9D-4B46-9597-7DDA595D9029}">
      <dgm:prSet/>
      <dgm:spPr/>
      <dgm:t>
        <a:bodyPr/>
        <a:lstStyle/>
        <a:p>
          <a:endParaRPr lang="en-CA" sz="1800"/>
        </a:p>
      </dgm:t>
    </dgm:pt>
    <dgm:pt modelId="{EE7A146E-B8A7-4923-A9C6-812026F41285}" type="sibTrans" cxnId="{BD866F3E-CD9D-4B46-9597-7DDA595D9029}">
      <dgm:prSet/>
      <dgm:spPr/>
      <dgm:t>
        <a:bodyPr/>
        <a:lstStyle/>
        <a:p>
          <a:endParaRPr lang="en-CA" sz="1800"/>
        </a:p>
      </dgm:t>
    </dgm:pt>
    <dgm:pt modelId="{F70BCC85-1453-41C7-A706-BE87F4D7E851}">
      <dgm:prSet phldrT="[Text]" custT="1"/>
      <dgm:spPr>
        <a:solidFill>
          <a:srgbClr val="0C1752"/>
        </a:solidFill>
      </dgm:spPr>
      <dgm:t>
        <a:bodyPr/>
        <a:lstStyle/>
        <a:p>
          <a:pPr>
            <a:buNone/>
          </a:pPr>
          <a:r>
            <a:rPr lang="en-CA" sz="1200" b="1" dirty="0">
              <a:latin typeface="Montserrat" panose="00000500000000000000" pitchFamily="2" charset="0"/>
            </a:rPr>
            <a:t>Anchor with examples (Few Shot Prompting): </a:t>
          </a:r>
        </a:p>
        <a:p>
          <a:pPr>
            <a:buNone/>
          </a:pPr>
          <a:r>
            <a:rPr lang="en-CA" sz="1200" i="1" dirty="0">
              <a:latin typeface="Montserrat" panose="00000500000000000000" pitchFamily="2" charset="0"/>
            </a:rPr>
            <a:t>Show the AI what “good” looks like. A sample answer, tone, or structure is worth paragraphs of instructions.</a:t>
          </a:r>
        </a:p>
      </dgm:t>
    </dgm:pt>
    <dgm:pt modelId="{880C7D08-56C8-4EA7-BFCA-B5F6EC6E161E}" type="parTrans" cxnId="{329A5C90-7F6C-4A11-949A-E0320759C099}">
      <dgm:prSet/>
      <dgm:spPr/>
      <dgm:t>
        <a:bodyPr/>
        <a:lstStyle/>
        <a:p>
          <a:endParaRPr lang="en-CA" sz="1400"/>
        </a:p>
      </dgm:t>
    </dgm:pt>
    <dgm:pt modelId="{C6A798C3-4EE7-4A7E-93DA-8B281CE55C74}" type="sibTrans" cxnId="{329A5C90-7F6C-4A11-949A-E0320759C099}">
      <dgm:prSet/>
      <dgm:spPr/>
      <dgm:t>
        <a:bodyPr/>
        <a:lstStyle/>
        <a:p>
          <a:endParaRPr lang="en-CA" sz="1400"/>
        </a:p>
      </dgm:t>
    </dgm:pt>
    <dgm:pt modelId="{1906BCDF-CF9F-4BDC-A432-9E31F12DC198}">
      <dgm:prSet phldrT="[Text]" custT="1"/>
      <dgm:spPr>
        <a:solidFill>
          <a:srgbClr val="D56E48"/>
        </a:solidFill>
      </dgm:spPr>
      <dgm:t>
        <a:bodyPr/>
        <a:lstStyle/>
        <a:p>
          <a:pPr>
            <a:buNone/>
          </a:pPr>
          <a:r>
            <a:rPr lang="en-CA" sz="1200" b="1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Structured Output </a:t>
          </a:r>
        </a:p>
        <a:p>
          <a:pPr>
            <a:buNone/>
          </a:pPr>
          <a:r>
            <a:rPr lang="en-US" sz="1200" i="1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Request JSON, XML, or specific formats</a:t>
          </a:r>
          <a:endParaRPr lang="en-CA" sz="1200" i="1" kern="1200" dirty="0">
            <a:solidFill>
              <a:prstClr val="white"/>
            </a:solidFill>
            <a:latin typeface="Montserrat" panose="00000500000000000000" pitchFamily="2" charset="0"/>
            <a:ea typeface="+mn-ea"/>
            <a:cs typeface="+mn-cs"/>
          </a:endParaRPr>
        </a:p>
      </dgm:t>
    </dgm:pt>
    <dgm:pt modelId="{AFAE71FE-4603-4EE5-80AA-E8B20FE275EE}" type="parTrans" cxnId="{D8C6FBF2-E556-4885-A210-1C7F67D2D872}">
      <dgm:prSet/>
      <dgm:spPr/>
      <dgm:t>
        <a:bodyPr/>
        <a:lstStyle/>
        <a:p>
          <a:endParaRPr lang="en-CA" sz="1400"/>
        </a:p>
      </dgm:t>
    </dgm:pt>
    <dgm:pt modelId="{BA686162-0039-4DE0-967F-E3B87E90010A}" type="sibTrans" cxnId="{D8C6FBF2-E556-4885-A210-1C7F67D2D872}">
      <dgm:prSet/>
      <dgm:spPr/>
      <dgm:t>
        <a:bodyPr/>
        <a:lstStyle/>
        <a:p>
          <a:endParaRPr lang="en-CA" sz="1400"/>
        </a:p>
      </dgm:t>
    </dgm:pt>
    <dgm:pt modelId="{D49B722A-D75F-44E7-B776-BAD41CD30F3D}">
      <dgm:prSet phldrT="[Text]" custT="1"/>
      <dgm:spPr>
        <a:solidFill>
          <a:srgbClr val="D56E48"/>
        </a:solidFill>
      </dgm:spPr>
      <dgm:t>
        <a:bodyPr/>
        <a:lstStyle/>
        <a:p>
          <a:pPr>
            <a:buNone/>
          </a:pPr>
          <a:r>
            <a:rPr lang="en-CA" sz="1200" b="1" dirty="0">
              <a:latin typeface="Montserrat" panose="00000500000000000000" pitchFamily="2" charset="0"/>
            </a:rPr>
            <a:t>Force Model to Avoid Hallucination </a:t>
          </a:r>
        </a:p>
        <a:p>
          <a:pPr>
            <a:buNone/>
          </a:pPr>
          <a:r>
            <a:rPr lang="en-CA" sz="1200" dirty="0">
              <a:latin typeface="Montserrat" panose="00000500000000000000" pitchFamily="2" charset="0"/>
            </a:rPr>
            <a:t>“</a:t>
          </a:r>
          <a:r>
            <a:rPr lang="en-CA" sz="1200" i="1" dirty="0">
              <a:latin typeface="Montserrat" panose="00000500000000000000" pitchFamily="2" charset="0"/>
            </a:rPr>
            <a:t>Don’t hallucinate, ground your results in the provided data. If data is missing, say ‘not enough info’ instead of guessing</a:t>
          </a:r>
          <a:r>
            <a:rPr lang="en-CA" sz="1200" dirty="0">
              <a:latin typeface="Montserrat" panose="00000500000000000000" pitchFamily="2" charset="0"/>
            </a:rPr>
            <a:t>.”</a:t>
          </a:r>
        </a:p>
      </dgm:t>
    </dgm:pt>
    <dgm:pt modelId="{AD6B76DE-FEB8-4D99-8F2C-23A996809738}" type="parTrans" cxnId="{A68EFC81-83CC-4B78-A246-BD94857F31DD}">
      <dgm:prSet/>
      <dgm:spPr/>
      <dgm:t>
        <a:bodyPr/>
        <a:lstStyle/>
        <a:p>
          <a:endParaRPr lang="en-CA" sz="1400"/>
        </a:p>
      </dgm:t>
    </dgm:pt>
    <dgm:pt modelId="{051250BB-D059-4623-8530-0FF7916EDA37}" type="sibTrans" cxnId="{A68EFC81-83CC-4B78-A246-BD94857F31DD}">
      <dgm:prSet/>
      <dgm:spPr/>
      <dgm:t>
        <a:bodyPr/>
        <a:lstStyle/>
        <a:p>
          <a:endParaRPr lang="en-CA" sz="1400"/>
        </a:p>
      </dgm:t>
    </dgm:pt>
    <dgm:pt modelId="{359F2AF5-E699-404E-AC6A-F6650BFB7A36}" type="pres">
      <dgm:prSet presAssocID="{E9E133A9-7D45-45CD-A3DC-2774D97681C7}" presName="diagram" presStyleCnt="0">
        <dgm:presLayoutVars>
          <dgm:dir/>
          <dgm:resizeHandles val="exact"/>
        </dgm:presLayoutVars>
      </dgm:prSet>
      <dgm:spPr/>
    </dgm:pt>
    <dgm:pt modelId="{C990541E-9525-4B2C-8234-06662E7CEDC6}" type="pres">
      <dgm:prSet presAssocID="{C377708F-9617-449E-9C75-F2E30BB25EF1}" presName="node" presStyleLbl="node1" presStyleIdx="0" presStyleCnt="7">
        <dgm:presLayoutVars>
          <dgm:bulletEnabled val="1"/>
        </dgm:presLayoutVars>
      </dgm:prSet>
      <dgm:spPr/>
    </dgm:pt>
    <dgm:pt modelId="{DD84BE75-F9A2-4BF3-81E5-71C1E95A6B76}" type="pres">
      <dgm:prSet presAssocID="{78D7DD6B-9583-455E-B820-160EF9925347}" presName="sibTrans" presStyleCnt="0"/>
      <dgm:spPr/>
    </dgm:pt>
    <dgm:pt modelId="{657AFCB1-7251-4BA4-9D06-5F2257B5DE2A}" type="pres">
      <dgm:prSet presAssocID="{D49B722A-D75F-44E7-B776-BAD41CD30F3D}" presName="node" presStyleLbl="node1" presStyleIdx="1" presStyleCnt="7">
        <dgm:presLayoutVars>
          <dgm:bulletEnabled val="1"/>
        </dgm:presLayoutVars>
      </dgm:prSet>
      <dgm:spPr/>
    </dgm:pt>
    <dgm:pt modelId="{2F29E5DF-F65E-4A62-9FDF-CA43FF4931E8}" type="pres">
      <dgm:prSet presAssocID="{051250BB-D059-4623-8530-0FF7916EDA37}" presName="sibTrans" presStyleCnt="0"/>
      <dgm:spPr/>
    </dgm:pt>
    <dgm:pt modelId="{4992DE3B-5367-48F3-A222-767B0D598C85}" type="pres">
      <dgm:prSet presAssocID="{DFADFC1F-4DCE-48E0-8B20-B38798AEB70E}" presName="node" presStyleLbl="node1" presStyleIdx="2" presStyleCnt="7">
        <dgm:presLayoutVars>
          <dgm:bulletEnabled val="1"/>
        </dgm:presLayoutVars>
      </dgm:prSet>
      <dgm:spPr/>
    </dgm:pt>
    <dgm:pt modelId="{ACFE14F9-802B-44C6-BFAF-A395FE6A8896}" type="pres">
      <dgm:prSet presAssocID="{106C6D3A-33A1-4913-976A-58B57DCC7952}" presName="sibTrans" presStyleCnt="0"/>
      <dgm:spPr/>
    </dgm:pt>
    <dgm:pt modelId="{319D02D5-205D-48D9-91D0-F518019683EA}" type="pres">
      <dgm:prSet presAssocID="{B91A964C-6172-485A-86B7-4B25EADEC528}" presName="node" presStyleLbl="node1" presStyleIdx="3" presStyleCnt="7">
        <dgm:presLayoutVars>
          <dgm:bulletEnabled val="1"/>
        </dgm:presLayoutVars>
      </dgm:prSet>
      <dgm:spPr/>
    </dgm:pt>
    <dgm:pt modelId="{0885A1B5-08EE-4C66-807F-2D74C4B2870A}" type="pres">
      <dgm:prSet presAssocID="{930AD882-C193-468F-9041-E70A1E3D350F}" presName="sibTrans" presStyleCnt="0"/>
      <dgm:spPr/>
    </dgm:pt>
    <dgm:pt modelId="{70B3777D-9AB4-4C20-A928-FB7A9E2B8412}" type="pres">
      <dgm:prSet presAssocID="{E255C582-217A-4F0E-BC96-74D1C2C63503}" presName="node" presStyleLbl="node1" presStyleIdx="4" presStyleCnt="7">
        <dgm:presLayoutVars>
          <dgm:bulletEnabled val="1"/>
        </dgm:presLayoutVars>
      </dgm:prSet>
      <dgm:spPr/>
    </dgm:pt>
    <dgm:pt modelId="{61685C48-D859-48BE-9281-B243243DD422}" type="pres">
      <dgm:prSet presAssocID="{EE7A146E-B8A7-4923-A9C6-812026F41285}" presName="sibTrans" presStyleCnt="0"/>
      <dgm:spPr/>
    </dgm:pt>
    <dgm:pt modelId="{F9129A72-9A16-4BF9-8A53-1E4B13A9BCA3}" type="pres">
      <dgm:prSet presAssocID="{F70BCC85-1453-41C7-A706-BE87F4D7E851}" presName="node" presStyleLbl="node1" presStyleIdx="5" presStyleCnt="7">
        <dgm:presLayoutVars>
          <dgm:bulletEnabled val="1"/>
        </dgm:presLayoutVars>
      </dgm:prSet>
      <dgm:spPr/>
    </dgm:pt>
    <dgm:pt modelId="{4F8EE3A9-55D0-42DE-9CC2-D8C3FD878D1B}" type="pres">
      <dgm:prSet presAssocID="{C6A798C3-4EE7-4A7E-93DA-8B281CE55C74}" presName="sibTrans" presStyleCnt="0"/>
      <dgm:spPr/>
    </dgm:pt>
    <dgm:pt modelId="{6052F529-2232-4925-A816-29D992A53351}" type="pres">
      <dgm:prSet presAssocID="{1906BCDF-CF9F-4BDC-A432-9E31F12DC198}" presName="node" presStyleLbl="node1" presStyleIdx="6" presStyleCnt="7">
        <dgm:presLayoutVars>
          <dgm:bulletEnabled val="1"/>
        </dgm:presLayoutVars>
      </dgm:prSet>
      <dgm:spPr/>
    </dgm:pt>
  </dgm:ptLst>
  <dgm:cxnLst>
    <dgm:cxn modelId="{2C743A1B-2E1D-4539-89FC-002D7B269977}" type="presOf" srcId="{F70BCC85-1453-41C7-A706-BE87F4D7E851}" destId="{F9129A72-9A16-4BF9-8A53-1E4B13A9BCA3}" srcOrd="0" destOrd="0" presId="urn:microsoft.com/office/officeart/2005/8/layout/default"/>
    <dgm:cxn modelId="{8DFE8A23-4949-4D8E-8C9F-14DD6F33C9EB}" srcId="{E9E133A9-7D45-45CD-A3DC-2774D97681C7}" destId="{DFADFC1F-4DCE-48E0-8B20-B38798AEB70E}" srcOrd="2" destOrd="0" parTransId="{0E4A02D9-5C07-4C4B-81DB-BAD6CF75123C}" sibTransId="{106C6D3A-33A1-4913-976A-58B57DCC7952}"/>
    <dgm:cxn modelId="{BC23BA25-4B3F-443B-85CB-0215CCC86294}" type="presOf" srcId="{E255C582-217A-4F0E-BC96-74D1C2C63503}" destId="{70B3777D-9AB4-4C20-A928-FB7A9E2B8412}" srcOrd="0" destOrd="0" presId="urn:microsoft.com/office/officeart/2005/8/layout/default"/>
    <dgm:cxn modelId="{BD866F3E-CD9D-4B46-9597-7DDA595D9029}" srcId="{E9E133A9-7D45-45CD-A3DC-2774D97681C7}" destId="{E255C582-217A-4F0E-BC96-74D1C2C63503}" srcOrd="4" destOrd="0" parTransId="{9731069B-26F2-45D9-A531-87749F2925E9}" sibTransId="{EE7A146E-B8A7-4923-A9C6-812026F41285}"/>
    <dgm:cxn modelId="{42C02048-5B19-4FD4-8790-2E15CDAE90BA}" type="presOf" srcId="{DFADFC1F-4DCE-48E0-8B20-B38798AEB70E}" destId="{4992DE3B-5367-48F3-A222-767B0D598C85}" srcOrd="0" destOrd="0" presId="urn:microsoft.com/office/officeart/2005/8/layout/default"/>
    <dgm:cxn modelId="{19A7A578-50C6-4B6C-9D90-C6269743C64A}" type="presOf" srcId="{1906BCDF-CF9F-4BDC-A432-9E31F12DC198}" destId="{6052F529-2232-4925-A816-29D992A53351}" srcOrd="0" destOrd="0" presId="urn:microsoft.com/office/officeart/2005/8/layout/default"/>
    <dgm:cxn modelId="{BA57CB58-F18D-4AE8-AD4B-9E4278371107}" srcId="{E9E133A9-7D45-45CD-A3DC-2774D97681C7}" destId="{B91A964C-6172-485A-86B7-4B25EADEC528}" srcOrd="3" destOrd="0" parTransId="{B1295144-BA29-4E62-828C-01C9F0C06B3A}" sibTransId="{930AD882-C193-468F-9041-E70A1E3D350F}"/>
    <dgm:cxn modelId="{A68EFC81-83CC-4B78-A246-BD94857F31DD}" srcId="{E9E133A9-7D45-45CD-A3DC-2774D97681C7}" destId="{D49B722A-D75F-44E7-B776-BAD41CD30F3D}" srcOrd="1" destOrd="0" parTransId="{AD6B76DE-FEB8-4D99-8F2C-23A996809738}" sibTransId="{051250BB-D059-4623-8530-0FF7916EDA37}"/>
    <dgm:cxn modelId="{329A5C90-7F6C-4A11-949A-E0320759C099}" srcId="{E9E133A9-7D45-45CD-A3DC-2774D97681C7}" destId="{F70BCC85-1453-41C7-A706-BE87F4D7E851}" srcOrd="5" destOrd="0" parTransId="{880C7D08-56C8-4EA7-BFCA-B5F6EC6E161E}" sibTransId="{C6A798C3-4EE7-4A7E-93DA-8B281CE55C74}"/>
    <dgm:cxn modelId="{2C65C991-3D98-4821-81A0-90AA73D23A27}" type="presOf" srcId="{D49B722A-D75F-44E7-B776-BAD41CD30F3D}" destId="{657AFCB1-7251-4BA4-9D06-5F2257B5DE2A}" srcOrd="0" destOrd="0" presId="urn:microsoft.com/office/officeart/2005/8/layout/default"/>
    <dgm:cxn modelId="{EB387CBE-CA18-4740-8E93-F7BBB612CB41}" type="presOf" srcId="{C377708F-9617-449E-9C75-F2E30BB25EF1}" destId="{C990541E-9525-4B2C-8234-06662E7CEDC6}" srcOrd="0" destOrd="0" presId="urn:microsoft.com/office/officeart/2005/8/layout/default"/>
    <dgm:cxn modelId="{DC6224D7-428A-4605-BDF5-F3D49FE16A9B}" srcId="{E9E133A9-7D45-45CD-A3DC-2774D97681C7}" destId="{C377708F-9617-449E-9C75-F2E30BB25EF1}" srcOrd="0" destOrd="0" parTransId="{38C8BA5D-BC51-4631-B9B9-45C1F475B179}" sibTransId="{78D7DD6B-9583-455E-B820-160EF9925347}"/>
    <dgm:cxn modelId="{C761A5DC-6883-4BD8-AB52-86E1DB5CF425}" type="presOf" srcId="{B91A964C-6172-485A-86B7-4B25EADEC528}" destId="{319D02D5-205D-48D9-91D0-F518019683EA}" srcOrd="0" destOrd="0" presId="urn:microsoft.com/office/officeart/2005/8/layout/default"/>
    <dgm:cxn modelId="{D8C6FBF2-E556-4885-A210-1C7F67D2D872}" srcId="{E9E133A9-7D45-45CD-A3DC-2774D97681C7}" destId="{1906BCDF-CF9F-4BDC-A432-9E31F12DC198}" srcOrd="6" destOrd="0" parTransId="{AFAE71FE-4603-4EE5-80AA-E8B20FE275EE}" sibTransId="{BA686162-0039-4DE0-967F-E3B87E90010A}"/>
    <dgm:cxn modelId="{ED0109F3-CDB8-41C4-9FA7-34427C3B2956}" type="presOf" srcId="{E9E133A9-7D45-45CD-A3DC-2774D97681C7}" destId="{359F2AF5-E699-404E-AC6A-F6650BFB7A36}" srcOrd="0" destOrd="0" presId="urn:microsoft.com/office/officeart/2005/8/layout/default"/>
    <dgm:cxn modelId="{0D368FC0-26A3-43CC-8EFF-4DF1DFB80A71}" type="presParOf" srcId="{359F2AF5-E699-404E-AC6A-F6650BFB7A36}" destId="{C990541E-9525-4B2C-8234-06662E7CEDC6}" srcOrd="0" destOrd="0" presId="urn:microsoft.com/office/officeart/2005/8/layout/default"/>
    <dgm:cxn modelId="{BDD76070-5507-4FE8-A082-C46E2DED0A7D}" type="presParOf" srcId="{359F2AF5-E699-404E-AC6A-F6650BFB7A36}" destId="{DD84BE75-F9A2-4BF3-81E5-71C1E95A6B76}" srcOrd="1" destOrd="0" presId="urn:microsoft.com/office/officeart/2005/8/layout/default"/>
    <dgm:cxn modelId="{0CACE3D8-4554-49A3-A36D-697A5D955514}" type="presParOf" srcId="{359F2AF5-E699-404E-AC6A-F6650BFB7A36}" destId="{657AFCB1-7251-4BA4-9D06-5F2257B5DE2A}" srcOrd="2" destOrd="0" presId="urn:microsoft.com/office/officeart/2005/8/layout/default"/>
    <dgm:cxn modelId="{319646DF-C065-48D0-9789-C276FB797832}" type="presParOf" srcId="{359F2AF5-E699-404E-AC6A-F6650BFB7A36}" destId="{2F29E5DF-F65E-4A62-9FDF-CA43FF4931E8}" srcOrd="3" destOrd="0" presId="urn:microsoft.com/office/officeart/2005/8/layout/default"/>
    <dgm:cxn modelId="{D15B3FC6-5745-4567-B306-3F9510007D84}" type="presParOf" srcId="{359F2AF5-E699-404E-AC6A-F6650BFB7A36}" destId="{4992DE3B-5367-48F3-A222-767B0D598C85}" srcOrd="4" destOrd="0" presId="urn:microsoft.com/office/officeart/2005/8/layout/default"/>
    <dgm:cxn modelId="{F1103A5E-79D2-4B31-B698-237247AC294C}" type="presParOf" srcId="{359F2AF5-E699-404E-AC6A-F6650BFB7A36}" destId="{ACFE14F9-802B-44C6-BFAF-A395FE6A8896}" srcOrd="5" destOrd="0" presId="urn:microsoft.com/office/officeart/2005/8/layout/default"/>
    <dgm:cxn modelId="{4B1BB82F-2CD7-4F9E-9F60-55C2FA1D2986}" type="presParOf" srcId="{359F2AF5-E699-404E-AC6A-F6650BFB7A36}" destId="{319D02D5-205D-48D9-91D0-F518019683EA}" srcOrd="6" destOrd="0" presId="urn:microsoft.com/office/officeart/2005/8/layout/default"/>
    <dgm:cxn modelId="{39FA3CCD-06AD-4F03-8E1A-26C24CEFAA94}" type="presParOf" srcId="{359F2AF5-E699-404E-AC6A-F6650BFB7A36}" destId="{0885A1B5-08EE-4C66-807F-2D74C4B2870A}" srcOrd="7" destOrd="0" presId="urn:microsoft.com/office/officeart/2005/8/layout/default"/>
    <dgm:cxn modelId="{74E0E002-7C45-45F3-AF48-EFBD66451D7D}" type="presParOf" srcId="{359F2AF5-E699-404E-AC6A-F6650BFB7A36}" destId="{70B3777D-9AB4-4C20-A928-FB7A9E2B8412}" srcOrd="8" destOrd="0" presId="urn:microsoft.com/office/officeart/2005/8/layout/default"/>
    <dgm:cxn modelId="{A477B477-6F8D-499E-852A-07D24F7445CB}" type="presParOf" srcId="{359F2AF5-E699-404E-AC6A-F6650BFB7A36}" destId="{61685C48-D859-48BE-9281-B243243DD422}" srcOrd="9" destOrd="0" presId="urn:microsoft.com/office/officeart/2005/8/layout/default"/>
    <dgm:cxn modelId="{2CE5CB43-74E4-40E0-B134-34C7FE4B2FE6}" type="presParOf" srcId="{359F2AF5-E699-404E-AC6A-F6650BFB7A36}" destId="{F9129A72-9A16-4BF9-8A53-1E4B13A9BCA3}" srcOrd="10" destOrd="0" presId="urn:microsoft.com/office/officeart/2005/8/layout/default"/>
    <dgm:cxn modelId="{367FA12B-82AB-4850-B544-0552964F7D0A}" type="presParOf" srcId="{359F2AF5-E699-404E-AC6A-F6650BFB7A36}" destId="{4F8EE3A9-55D0-42DE-9CC2-D8C3FD878D1B}" srcOrd="11" destOrd="0" presId="urn:microsoft.com/office/officeart/2005/8/layout/default"/>
    <dgm:cxn modelId="{E9276B71-ED6E-41DF-914D-A7A60A77A852}" type="presParOf" srcId="{359F2AF5-E699-404E-AC6A-F6650BFB7A36}" destId="{6052F529-2232-4925-A816-29D992A53351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90541E-9525-4B2C-8234-06662E7CEDC6}">
      <dsp:nvSpPr>
        <dsp:cNvPr id="0" name=""/>
        <dsp:cNvSpPr/>
      </dsp:nvSpPr>
      <dsp:spPr>
        <a:xfrm>
          <a:off x="3539" y="977395"/>
          <a:ext cx="2807865" cy="1684719"/>
        </a:xfrm>
        <a:prstGeom prst="rect">
          <a:avLst/>
        </a:prstGeom>
        <a:solidFill>
          <a:srgbClr val="0C175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 dirty="0">
              <a:latin typeface="Montserrat" panose="00000500000000000000" pitchFamily="2" charset="0"/>
            </a:rPr>
            <a:t>Guide behaviour with System Prompt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i="1" kern="1200" dirty="0">
              <a:latin typeface="Montserrat" panose="00000500000000000000" pitchFamily="2" charset="0"/>
            </a:rPr>
            <a:t>Set the persona, rules, constraints and output format</a:t>
          </a:r>
        </a:p>
      </dsp:txBody>
      <dsp:txXfrm>
        <a:off x="3539" y="977395"/>
        <a:ext cx="2807865" cy="1684719"/>
      </dsp:txXfrm>
    </dsp:sp>
    <dsp:sp modelId="{657AFCB1-7251-4BA4-9D06-5F2257B5DE2A}">
      <dsp:nvSpPr>
        <dsp:cNvPr id="0" name=""/>
        <dsp:cNvSpPr/>
      </dsp:nvSpPr>
      <dsp:spPr>
        <a:xfrm>
          <a:off x="3092191" y="977395"/>
          <a:ext cx="2807865" cy="1684719"/>
        </a:xfrm>
        <a:prstGeom prst="rect">
          <a:avLst/>
        </a:prstGeom>
        <a:solidFill>
          <a:srgbClr val="D56E4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 dirty="0">
              <a:latin typeface="Montserrat" panose="00000500000000000000" pitchFamily="2" charset="0"/>
            </a:rPr>
            <a:t>Force Model to Avoid Hallucination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 dirty="0">
              <a:latin typeface="Montserrat" panose="00000500000000000000" pitchFamily="2" charset="0"/>
            </a:rPr>
            <a:t>“</a:t>
          </a:r>
          <a:r>
            <a:rPr lang="en-CA" sz="1200" i="1" kern="1200" dirty="0">
              <a:latin typeface="Montserrat" panose="00000500000000000000" pitchFamily="2" charset="0"/>
            </a:rPr>
            <a:t>Don’t hallucinate, ground your results in the provided data. If data is missing, say ‘not enough info’ instead of guessing</a:t>
          </a:r>
          <a:r>
            <a:rPr lang="en-CA" sz="1200" kern="1200" dirty="0">
              <a:latin typeface="Montserrat" panose="00000500000000000000" pitchFamily="2" charset="0"/>
            </a:rPr>
            <a:t>.”</a:t>
          </a:r>
        </a:p>
      </dsp:txBody>
      <dsp:txXfrm>
        <a:off x="3092191" y="977395"/>
        <a:ext cx="2807865" cy="1684719"/>
      </dsp:txXfrm>
    </dsp:sp>
    <dsp:sp modelId="{4992DE3B-5367-48F3-A222-767B0D598C85}">
      <dsp:nvSpPr>
        <dsp:cNvPr id="0" name=""/>
        <dsp:cNvSpPr/>
      </dsp:nvSpPr>
      <dsp:spPr>
        <a:xfrm>
          <a:off x="6180844" y="977395"/>
          <a:ext cx="2807865" cy="1684719"/>
        </a:xfrm>
        <a:prstGeom prst="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 dirty="0">
              <a:latin typeface="Montserrat" panose="00000500000000000000" pitchFamily="2" charset="0"/>
            </a:rPr>
            <a:t>Ask for reasoning (Chain of thought):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i="1" kern="1200" dirty="0">
              <a:latin typeface="Montserrat" panose="00000500000000000000" pitchFamily="2" charset="0"/>
            </a:rPr>
            <a:t>“explain your steps” or “show the calculation before the result” to build trust and transparency.</a:t>
          </a:r>
          <a:endParaRPr lang="en-CA" sz="1200" b="1" i="1" kern="1200" dirty="0">
            <a:latin typeface="Montserrat" panose="00000500000000000000" pitchFamily="2" charset="0"/>
          </a:endParaRPr>
        </a:p>
      </dsp:txBody>
      <dsp:txXfrm>
        <a:off x="6180844" y="977395"/>
        <a:ext cx="2807865" cy="1684719"/>
      </dsp:txXfrm>
    </dsp:sp>
    <dsp:sp modelId="{319D02D5-205D-48D9-91D0-F518019683EA}">
      <dsp:nvSpPr>
        <dsp:cNvPr id="0" name=""/>
        <dsp:cNvSpPr/>
      </dsp:nvSpPr>
      <dsp:spPr>
        <a:xfrm>
          <a:off x="9269496" y="977395"/>
          <a:ext cx="2807865" cy="1684719"/>
        </a:xfrm>
        <a:prstGeom prst="rect">
          <a:avLst/>
        </a:prstGeom>
        <a:solidFill>
          <a:srgbClr val="1BBFD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 dirty="0">
              <a:latin typeface="Montserrat" panose="00000500000000000000" pitchFamily="2" charset="0"/>
            </a:rPr>
            <a:t>Add constraints &amp; boundaries: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i="1" kern="1200" dirty="0">
              <a:latin typeface="Montserrat" panose="00000500000000000000" pitchFamily="2" charset="0"/>
            </a:rPr>
            <a:t>Word limits, style guides, or examples help the model aim correctly. “Explain in 3 bullet points, max 15 words each.”</a:t>
          </a:r>
        </a:p>
      </dsp:txBody>
      <dsp:txXfrm>
        <a:off x="9269496" y="977395"/>
        <a:ext cx="2807865" cy="1684719"/>
      </dsp:txXfrm>
    </dsp:sp>
    <dsp:sp modelId="{70B3777D-9AB4-4C20-A928-FB7A9E2B8412}">
      <dsp:nvSpPr>
        <dsp:cNvPr id="0" name=""/>
        <dsp:cNvSpPr/>
      </dsp:nvSpPr>
      <dsp:spPr>
        <a:xfrm>
          <a:off x="1547865" y="2942901"/>
          <a:ext cx="2807865" cy="1684719"/>
        </a:xfrm>
        <a:prstGeom prst="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 dirty="0">
              <a:latin typeface="Montserrat" panose="00000500000000000000" pitchFamily="2" charset="0"/>
            </a:rPr>
            <a:t>Iterate and refine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i="1" kern="1200" dirty="0">
              <a:latin typeface="Montserrat" panose="00000500000000000000" pitchFamily="2" charset="0"/>
            </a:rPr>
            <a:t>The first draft is rarely the final. Treat prompts like a conversation; tweak wording, add detail, narrow scope until the output clicks.</a:t>
          </a:r>
        </a:p>
      </dsp:txBody>
      <dsp:txXfrm>
        <a:off x="1547865" y="2942901"/>
        <a:ext cx="2807865" cy="1684719"/>
      </dsp:txXfrm>
    </dsp:sp>
    <dsp:sp modelId="{F9129A72-9A16-4BF9-8A53-1E4B13A9BCA3}">
      <dsp:nvSpPr>
        <dsp:cNvPr id="0" name=""/>
        <dsp:cNvSpPr/>
      </dsp:nvSpPr>
      <dsp:spPr>
        <a:xfrm>
          <a:off x="4636518" y="2942901"/>
          <a:ext cx="2807865" cy="1684719"/>
        </a:xfrm>
        <a:prstGeom prst="rect">
          <a:avLst/>
        </a:prstGeom>
        <a:solidFill>
          <a:srgbClr val="0C175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 dirty="0">
              <a:latin typeface="Montserrat" panose="00000500000000000000" pitchFamily="2" charset="0"/>
            </a:rPr>
            <a:t>Anchor with examples (Few Shot Prompting):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i="1" kern="1200" dirty="0">
              <a:latin typeface="Montserrat" panose="00000500000000000000" pitchFamily="2" charset="0"/>
            </a:rPr>
            <a:t>Show the AI what “good” looks like. A sample answer, tone, or structure is worth paragraphs of instructions.</a:t>
          </a:r>
        </a:p>
      </dsp:txBody>
      <dsp:txXfrm>
        <a:off x="4636518" y="2942901"/>
        <a:ext cx="2807865" cy="1684719"/>
      </dsp:txXfrm>
    </dsp:sp>
    <dsp:sp modelId="{6052F529-2232-4925-A816-29D992A53351}">
      <dsp:nvSpPr>
        <dsp:cNvPr id="0" name=""/>
        <dsp:cNvSpPr/>
      </dsp:nvSpPr>
      <dsp:spPr>
        <a:xfrm>
          <a:off x="7725170" y="2942901"/>
          <a:ext cx="2807865" cy="1684719"/>
        </a:xfrm>
        <a:prstGeom prst="rect">
          <a:avLst/>
        </a:prstGeom>
        <a:solidFill>
          <a:srgbClr val="D56E4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Structured Output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Request JSON, XML, or specific formats</a:t>
          </a:r>
          <a:endParaRPr lang="en-CA" sz="1200" i="1" kern="1200" dirty="0">
            <a:solidFill>
              <a:prstClr val="white"/>
            </a:solidFill>
            <a:latin typeface="Montserrat" panose="00000500000000000000" pitchFamily="2" charset="0"/>
            <a:ea typeface="+mn-ea"/>
            <a:cs typeface="+mn-cs"/>
          </a:endParaRPr>
        </a:p>
      </dsp:txBody>
      <dsp:txXfrm>
        <a:off x="7725170" y="2942901"/>
        <a:ext cx="2807865" cy="16847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1D1-6589-4D4A-810A-D1CB24D30600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34E27-21C0-AB42-9720-9468F68A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ED6F-859A-B746-837E-C5D978EC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AE93-A6A2-054F-8C31-54E8ABF6A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DB13-4A11-2643-B65C-065BE177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779B-2DF9-41ED-BDF6-094A96BB5831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8DD79-905B-054B-B597-6AB72529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4DF4-5AD9-8C41-9C38-63470B32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93AB-04A1-834E-A498-C252C1113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34D4-4817-FF44-8044-9A872518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C4A-8264-ED4C-B758-FA62E7CC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3053-3D74-4D22-89B3-9024BA4F287F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E0D2-BE66-FF45-B7B1-F69E22F0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4184-A60F-6246-8A9A-79DD6FEC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0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2D0B-A98C-6E4C-9A34-47981F0C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5EE8E-C392-5E47-ADCB-A446128CA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4B18-53C2-D548-8CFF-5D7097F0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BCF6-84B7-49AA-A69F-35D95B9487C2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654B-C8C3-F647-BDFC-BE54D2B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63980-622B-334C-9137-9A866151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2288-ED8B-E34E-BAB6-1D26157B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E68A-CA3F-9948-9F78-46C13FEE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E62E7-8BD2-264E-A470-F8E73C9D6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3621-D1A0-D241-B666-A457ACC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19D7-9FF6-460F-A484-0C02884C819E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9F7B-BD42-C44E-AA35-681E6A1C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368C-62E4-C243-98AE-B5BC9B4F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A85E-7345-A641-A78E-CFCE6B4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13C7-3C24-DC40-8DAD-E16482E60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0715-8982-4245-AC34-4AFC280B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CC337-7A68-B44F-A75F-2EAED4C8C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BF17B-E9E2-5A4F-9564-4E8671A7A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A4340-16C5-D64A-954E-D207165B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F2F9-9F59-4926-81E1-5AE7B5F13616}" type="datetime1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4C0C9-507A-DC40-9896-CAA4CCBF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C304-57C8-6848-8E40-051A6BFA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1005-2F0C-3F41-8F0D-B94FF1E8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EC46B-9591-7147-B23E-808DFCDB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E9FE-B00F-4787-941B-81F5C60BF956}" type="datetime1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8438C-4B28-CC47-9F0D-D243C059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64186-1092-3244-AA0C-4F8C98E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7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1ABCA-C9B4-2C4E-A11A-21473A2C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63A8-27AB-4485-9BAB-385A926DB554}" type="datetime1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8B611-5E83-0843-977C-16E1A2E8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3613-5124-BA4D-9CAB-52053A73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5775-3C65-984A-BA3D-74F6AA5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6B8A-7DF2-254A-A58A-3F781F1A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C9F2F-598A-9444-B48C-6BA9400EF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619B-B04E-A94F-B294-EE523AB8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E9DF-0ED6-4B61-A1FD-8DD75280FE01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8418F-6D05-564F-ACAC-0CE18B41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FA7B-E334-F841-9F55-8FE3994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9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20FD-C21B-F942-933E-C7F1539A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509F0-CB84-8346-88EC-B60FAB239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B07D7-B626-4245-8DB7-641F9BE45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92CF3-BF8E-CC45-AFD1-29BF7888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B4C01-5047-4D04-A79D-6D96B1DB76E2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EEA5E-B447-2945-A61F-23F43D1B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110A-1EF4-4E47-BC27-95CCC22D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4858-278B-D14B-9123-9451D8F7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8E07C-511F-3A43-84A6-10110129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7FEB-35FC-E245-9B8A-12B95965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BBC8-E478-43C9-A4F1-EDD4F72015DC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7081-9459-C64F-895D-A9A37C0D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1E24-D886-5444-8983-468379B7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08AD-56F2-8141-B3EC-B0792780C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A58ED-0A7F-F541-B86D-470505704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2861A-7351-3846-BCB0-C5618DA0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1BB6-29D9-437A-B4EB-C48447ACC5C8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FD98-D553-4C46-941B-9CF2C56A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D676D-8472-4F4A-A337-CF5E8C49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0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070BF-9A90-A245-B77A-28DCF3E4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F1332-889D-FA43-A51D-33C48B35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FC81-D9EE-0347-B9BA-8E603587A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9903-C382-4170-95C6-7F2CD4702B84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4954-DDAB-064F-B985-8986B113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476A-2C89-5D4A-A893-BDE076899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F529F-B86A-83C8-478E-307AC309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403872-6FAD-0F11-5844-575593A583D8}"/>
              </a:ext>
            </a:extLst>
          </p:cNvPr>
          <p:cNvSpPr/>
          <p:nvPr/>
        </p:nvSpPr>
        <p:spPr>
          <a:xfrm>
            <a:off x="134842" y="70651"/>
            <a:ext cx="48757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</a:rPr>
              <a:t>CLAUDE CHAT</a:t>
            </a:r>
            <a:endParaRPr lang="en-US" sz="4000" b="1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22CCA-AE82-A418-52D1-CBC82BEC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1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D8119-7316-DCCD-8529-89E696261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F8B20D-38DE-5853-3A46-478AAC00AA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590D81-BD50-189A-6CC1-2F60C37A7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B9C261F-2FE1-3933-13ED-22A8DEA29FED}"/>
              </a:ext>
            </a:extLst>
          </p:cNvPr>
          <p:cNvSpPr/>
          <p:nvPr/>
        </p:nvSpPr>
        <p:spPr>
          <a:xfrm>
            <a:off x="293914" y="793804"/>
            <a:ext cx="557856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PROMPT ENGINEERING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FF56D5-8E7B-B4BF-143C-DBAB3836B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868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A0AF0-F86C-94D4-AAA6-5E8436A22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B30408-F074-D832-A3A0-E25D3D34D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1935F2-0703-162F-14BA-812C942129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BE4C690D-E529-18C5-5690-87D18FE7142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What is Prompt Engineering?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4FB8CB-C147-4A2E-3D2C-9C3F6CCE7DA3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1796F8B-9DA9-613E-7780-54E66F3E50A9}"/>
              </a:ext>
            </a:extLst>
          </p:cNvPr>
          <p:cNvSpPr txBox="1">
            <a:spLocks/>
          </p:cNvSpPr>
          <p:nvPr/>
        </p:nvSpPr>
        <p:spPr>
          <a:xfrm>
            <a:off x="154722" y="843061"/>
            <a:ext cx="11926147" cy="1656067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defTabSz="914446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defRPr sz="2000">
                <a:solidFill>
                  <a:srgbClr val="00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40" lvl="1" indent="-342917" defTabSz="914446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buFont typeface="+mj-lt"/>
              <a:buAutoNum type="arabicPeriod"/>
              <a:defRPr sz="2000">
                <a:solidFill>
                  <a:srgbClr val="00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11CCDD"/>
              </a:buClr>
              <a:buFont typeface="Arial" panose="020B0604020202020204" pitchFamily="34" charset="0"/>
              <a:buChar char="•"/>
            </a:pPr>
            <a:r>
              <a:rPr lang="en-US" dirty="0"/>
              <a:t>Prompt engineering is the practice of designing and optimizing text input to generative AI models to obtain desired responses.</a:t>
            </a:r>
          </a:p>
          <a:p>
            <a:pPr marL="342900" indent="-342900">
              <a:buClr>
                <a:srgbClr val="11CCDD"/>
              </a:buClr>
              <a:buFont typeface="Arial" panose="020B0604020202020204" pitchFamily="34" charset="0"/>
              <a:buChar char="•"/>
            </a:pPr>
            <a:r>
              <a:rPr lang="en-US" dirty="0"/>
              <a:t>It is the art of communicating with a generative AI model.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81566C-5DE7-6203-E3A4-44648661F3FF}"/>
              </a:ext>
            </a:extLst>
          </p:cNvPr>
          <p:cNvSpPr txBox="1"/>
          <p:nvPr/>
        </p:nvSpPr>
        <p:spPr>
          <a:xfrm>
            <a:off x="3634989" y="2014200"/>
            <a:ext cx="58351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 i="0">
                <a:solidFill>
                  <a:srgbClr val="16191F"/>
                </a:solidFill>
                <a:effectLst/>
                <a:latin typeface="Montserrat" panose="00000500000000000000" pitchFamily="2" charset="0"/>
              </a:defRPr>
            </a:lvl1pPr>
          </a:lstStyle>
          <a:p>
            <a:pPr defTabSz="914446"/>
            <a:endParaRPr lang="en-US" sz="2400" i="1" dirty="0">
              <a:solidFill>
                <a:srgbClr val="0C1752"/>
              </a:solidFill>
              <a:latin typeface="Cambria" panose="02040503050406030204"/>
            </a:endParaRPr>
          </a:p>
          <a:p>
            <a:pPr defTabSz="914446"/>
            <a:r>
              <a:rPr lang="en-US" sz="2400" i="1" dirty="0">
                <a:solidFill>
                  <a:srgbClr val="0C1752"/>
                </a:solidFill>
                <a:latin typeface="Cambria" panose="02040503050406030204"/>
              </a:rPr>
              <a:t>“Recommend a book.”</a:t>
            </a:r>
          </a:p>
          <a:p>
            <a:pPr defTabSz="914446"/>
            <a:endParaRPr lang="en-US" sz="2400" i="1" dirty="0">
              <a:solidFill>
                <a:srgbClr val="0C1752"/>
              </a:solidFill>
              <a:latin typeface="Cambria" panose="02040503050406030204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0BDB679-5B33-11DC-645E-A1D5C8331D51}"/>
              </a:ext>
            </a:extLst>
          </p:cNvPr>
          <p:cNvCxnSpPr>
            <a:cxnSpLocks/>
          </p:cNvCxnSpPr>
          <p:nvPr/>
        </p:nvCxnSpPr>
        <p:spPr>
          <a:xfrm>
            <a:off x="3437938" y="2435839"/>
            <a:ext cx="0" cy="2189480"/>
          </a:xfrm>
          <a:prstGeom prst="straightConnector1">
            <a:avLst/>
          </a:prstGeom>
          <a:ln w="76200">
            <a:solidFill>
              <a:srgbClr val="11CCD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3EF05BC-C16E-D505-C9E5-58DB52BB443C}"/>
              </a:ext>
            </a:extLst>
          </p:cNvPr>
          <p:cNvSpPr txBox="1"/>
          <p:nvPr/>
        </p:nvSpPr>
        <p:spPr>
          <a:xfrm>
            <a:off x="307900" y="2492773"/>
            <a:ext cx="29329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6"/>
            <a:r>
              <a:rPr lang="en-US" sz="2400" dirty="0">
                <a:solidFill>
                  <a:srgbClr val="D56E48"/>
                </a:solidFill>
                <a:latin typeface="Cambria" panose="02040503050406030204"/>
              </a:rPr>
              <a:t>High-quality prompts guide the AI model to generate better outputs.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608CE1-C802-3AD4-9BD3-5EF82ABC1F39}"/>
              </a:ext>
            </a:extLst>
          </p:cNvPr>
          <p:cNvSpPr txBox="1"/>
          <p:nvPr/>
        </p:nvSpPr>
        <p:spPr>
          <a:xfrm>
            <a:off x="3634989" y="3258204"/>
            <a:ext cx="42679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600" b="1" i="1">
                <a:solidFill>
                  <a:srgbClr val="16191F"/>
                </a:solidFill>
                <a:effectLst/>
                <a:latin typeface="+mj-lt"/>
              </a:defRPr>
            </a:lvl1pPr>
          </a:lstStyle>
          <a:p>
            <a:pPr defTabSz="914446"/>
            <a:r>
              <a:rPr lang="en-US" sz="2400" dirty="0">
                <a:solidFill>
                  <a:srgbClr val="0C1752"/>
                </a:solidFill>
                <a:latin typeface="Cambria" panose="02040503050406030204"/>
              </a:rPr>
              <a:t>“Recommend a fiction book.”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F17129-31C3-811D-9CED-725667C877AE}"/>
              </a:ext>
            </a:extLst>
          </p:cNvPr>
          <p:cNvSpPr txBox="1"/>
          <p:nvPr/>
        </p:nvSpPr>
        <p:spPr>
          <a:xfrm>
            <a:off x="3634989" y="4194432"/>
            <a:ext cx="84343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600" b="1" i="1">
                <a:solidFill>
                  <a:srgbClr val="16191F"/>
                </a:solidFill>
                <a:effectLst/>
                <a:latin typeface="+mj-lt"/>
              </a:defRPr>
            </a:lvl1pPr>
          </a:lstStyle>
          <a:p>
            <a:pPr defTabSz="914446"/>
            <a:r>
              <a:rPr lang="en-US" sz="2400" dirty="0">
                <a:solidFill>
                  <a:srgbClr val="0C1752"/>
                </a:solidFill>
                <a:latin typeface="Cambria" panose="02040503050406030204"/>
              </a:rPr>
              <a:t>“Recommend a historical fiction book set in World War II.” </a:t>
            </a:r>
          </a:p>
        </p:txBody>
      </p:sp>
    </p:spTree>
    <p:extLst>
      <p:ext uri="{BB962C8B-B14F-4D97-AF65-F5344CB8AC3E}">
        <p14:creationId xmlns:p14="http://schemas.microsoft.com/office/powerpoint/2010/main" val="1329889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D6971-7BD5-6E22-DF3D-E7EDCCF0D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831AE2-B350-CC8D-E298-1AAA611C5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F8267A-B817-F697-7E5E-229925F7BC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5C517F12-E9DE-419F-4FC4-2B20CE54B453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Prompt Components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456E24-AAF7-E9CF-040B-E405D8ED1616}"/>
              </a:ext>
            </a:extLst>
          </p:cNvPr>
          <p:cNvSpPr txBox="1"/>
          <p:nvPr/>
        </p:nvSpPr>
        <p:spPr>
          <a:xfrm rot="5400000">
            <a:off x="9505627" y="3450945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9EBC69-DF22-0171-2DC8-CE15CA8C7CF2}"/>
              </a:ext>
            </a:extLst>
          </p:cNvPr>
          <p:cNvSpPr txBox="1"/>
          <p:nvPr/>
        </p:nvSpPr>
        <p:spPr>
          <a:xfrm>
            <a:off x="5578437" y="843386"/>
            <a:ext cx="6391313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46"/>
            <a:r>
              <a:rPr lang="en-US" sz="1700" b="1" dirty="0">
                <a:solidFill>
                  <a:srgbClr val="0C1752"/>
                </a:solidFill>
                <a:latin typeface="Montserrat" panose="00000500000000000000" pitchFamily="2" charset="0"/>
              </a:rPr>
              <a:t>Context: </a:t>
            </a:r>
          </a:p>
          <a:p>
            <a:pPr defTabSz="914446"/>
            <a:r>
              <a:rPr lang="en-US" sz="1700" dirty="0">
                <a:solidFill>
                  <a:srgbClr val="0C1752"/>
                </a:solidFill>
                <a:latin typeface="Montserrat" panose="00000500000000000000" pitchFamily="2" charset="0"/>
              </a:rPr>
              <a:t>You are a Smart Home Energy Advisor who helps homeowners reduce energy use.</a:t>
            </a: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r>
              <a:rPr lang="en-US" sz="1700" b="1" dirty="0">
                <a:solidFill>
                  <a:srgbClr val="0C1752"/>
                </a:solidFill>
                <a:latin typeface="Montserrat" panose="00000500000000000000" pitchFamily="2" charset="0"/>
              </a:rPr>
              <a:t>Instruction: </a:t>
            </a:r>
            <a:r>
              <a:rPr lang="en-US" sz="1700" dirty="0">
                <a:solidFill>
                  <a:srgbClr val="0C1752"/>
                </a:solidFill>
                <a:latin typeface="Montserrat" panose="00000500000000000000" pitchFamily="2" charset="0"/>
              </a:rPr>
              <a:t>When given a household prompt, provide practical, prioritized advice.</a:t>
            </a: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r>
              <a:rPr lang="en-US" sz="1700" b="1" dirty="0">
                <a:solidFill>
                  <a:srgbClr val="0C1752"/>
                </a:solidFill>
                <a:latin typeface="Montserrat" panose="00000500000000000000" pitchFamily="2" charset="0"/>
              </a:rPr>
              <a:t>Input: </a:t>
            </a:r>
            <a:r>
              <a:rPr lang="en-US" sz="1700" dirty="0">
                <a:solidFill>
                  <a:srgbClr val="0C1752"/>
                </a:solidFill>
                <a:latin typeface="Montserrat" panose="00000500000000000000" pitchFamily="2" charset="0"/>
              </a:rPr>
              <a:t>You will receive a question about energy usage or device efficiency.</a:t>
            </a: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r>
              <a:rPr lang="en-US" sz="1700" b="1" dirty="0">
                <a:solidFill>
                  <a:srgbClr val="0C1752"/>
                </a:solidFill>
                <a:latin typeface="Montserrat" panose="00000500000000000000" pitchFamily="2" charset="0"/>
              </a:rPr>
              <a:t>Output: </a:t>
            </a:r>
            <a:r>
              <a:rPr lang="en-US" sz="1700" dirty="0">
                <a:solidFill>
                  <a:srgbClr val="0C1752"/>
                </a:solidFill>
                <a:latin typeface="Montserrat" panose="00000500000000000000" pitchFamily="2" charset="0"/>
              </a:rPr>
              <a:t>Respond with (1) A short, clear recommendation list (2-4 bullets), (2) One quick win that can be done today</a:t>
            </a: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r>
              <a:rPr lang="en-US" sz="1700" b="1" dirty="0">
                <a:solidFill>
                  <a:srgbClr val="0C1752"/>
                </a:solidFill>
                <a:latin typeface="Montserrat" panose="00000500000000000000" pitchFamily="2" charset="0"/>
              </a:rPr>
              <a:t> </a:t>
            </a:r>
          </a:p>
          <a:p>
            <a:pPr defTabSz="914446"/>
            <a:endParaRPr lang="en-US" sz="17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9BB976-F224-F9BD-464A-597AA196D487}"/>
              </a:ext>
            </a:extLst>
          </p:cNvPr>
          <p:cNvSpPr txBox="1"/>
          <p:nvPr/>
        </p:nvSpPr>
        <p:spPr>
          <a:xfrm>
            <a:off x="7342667" y="2744777"/>
            <a:ext cx="4446811" cy="47192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indent="0" algn="ctr" defTabSz="609585">
              <a:spcBef>
                <a:spcPct val="20000"/>
              </a:spcBef>
              <a:buFont typeface="Arial"/>
              <a:buNone/>
              <a:defRPr sz="1600" b="1">
                <a:solidFill>
                  <a:srgbClr val="062E6D"/>
                </a:solidFill>
                <a:latin typeface="Cambria Math" panose="02040503050406030204" pitchFamily="18" charset="0"/>
              </a:defRPr>
            </a:lvl1pPr>
            <a:lvl2pPr marL="990575" indent="-380990" defTabSz="609585">
              <a:spcBef>
                <a:spcPct val="20000"/>
              </a:spcBef>
              <a:buFont typeface="Arial"/>
              <a:buChar char="–"/>
              <a:defRPr sz="2133"/>
            </a:lvl2pPr>
            <a:lvl3pPr marL="1523962" indent="-304792" defTabSz="609585">
              <a:spcBef>
                <a:spcPct val="20000"/>
              </a:spcBef>
              <a:buFont typeface="Arial"/>
              <a:buChar char="•"/>
              <a:defRPr sz="2133"/>
            </a:lvl3pPr>
            <a:lvl4pPr marL="2133547" indent="-304792" defTabSz="609585">
              <a:spcBef>
                <a:spcPct val="20000"/>
              </a:spcBef>
              <a:buFont typeface="Arial"/>
              <a:buChar char="–"/>
              <a:defRPr sz="2133"/>
            </a:lvl4pPr>
            <a:lvl5pPr marL="2743131" indent="-304792" defTabSz="609585">
              <a:spcBef>
                <a:spcPct val="20000"/>
              </a:spcBef>
              <a:buFont typeface="Arial"/>
              <a:buChar char="»"/>
              <a:defRPr sz="2133"/>
            </a:lvl5pPr>
            <a:lvl6pPr marL="3352716" indent="-304792" defTabSz="609585">
              <a:spcBef>
                <a:spcPct val="20000"/>
              </a:spcBef>
              <a:buFont typeface="Arial"/>
              <a:buChar char="•"/>
              <a:defRPr sz="2667"/>
            </a:lvl6pPr>
            <a:lvl7pPr marL="3962301" indent="-304792" defTabSz="609585">
              <a:spcBef>
                <a:spcPct val="20000"/>
              </a:spcBef>
              <a:buFont typeface="Arial"/>
              <a:buChar char="•"/>
              <a:defRPr sz="2667"/>
            </a:lvl7pPr>
            <a:lvl8pPr marL="4571886" indent="-304792" defTabSz="609585">
              <a:spcBef>
                <a:spcPct val="20000"/>
              </a:spcBef>
              <a:buFont typeface="Arial"/>
              <a:buChar char="•"/>
              <a:defRPr sz="2667"/>
            </a:lvl8pPr>
            <a:lvl9pPr marL="5181470" indent="-304792" defTabSz="609585">
              <a:spcBef>
                <a:spcPct val="20000"/>
              </a:spcBef>
              <a:buFont typeface="Arial"/>
              <a:buChar char="•"/>
              <a:defRPr sz="2667"/>
            </a:lvl9pPr>
          </a:lstStyle>
          <a:p>
            <a:pPr defTabSz="406410"/>
            <a:endParaRPr lang="en-US" dirty="0">
              <a:solidFill>
                <a:srgbClr val="017ACD"/>
              </a:solidFill>
              <a:latin typeface="Montserrat" panose="000005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922287-A721-7CA9-BA44-C8D32C8A4CD6}"/>
              </a:ext>
            </a:extLst>
          </p:cNvPr>
          <p:cNvSpPr txBox="1"/>
          <p:nvPr/>
        </p:nvSpPr>
        <p:spPr>
          <a:xfrm>
            <a:off x="8845364" y="1831736"/>
            <a:ext cx="113685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46"/>
            <a:r>
              <a:rPr lang="en-US" sz="1867" i="1" dirty="0">
                <a:solidFill>
                  <a:srgbClr val="D56E48"/>
                </a:solidFill>
                <a:latin typeface="Montserrat" panose="00000500000000000000" pitchFamily="2" charset="0"/>
              </a:rPr>
              <a:t>Context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5F6A14-67E8-65F2-5116-71FCFB5B8971}"/>
              </a:ext>
            </a:extLst>
          </p:cNvPr>
          <p:cNvSpPr txBox="1"/>
          <p:nvPr/>
        </p:nvSpPr>
        <p:spPr>
          <a:xfrm>
            <a:off x="7121189" y="2917181"/>
            <a:ext cx="1500732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46"/>
            <a:r>
              <a:rPr lang="en-US" sz="1867" i="1" dirty="0">
                <a:solidFill>
                  <a:srgbClr val="D56E48"/>
                </a:solidFill>
                <a:latin typeface="Montserrat" panose="00000500000000000000" pitchFamily="2" charset="0"/>
              </a:rPr>
              <a:t>Instruction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29A758-964D-6060-8C21-9CB048C9D375}"/>
              </a:ext>
            </a:extLst>
          </p:cNvPr>
          <p:cNvSpPr txBox="1"/>
          <p:nvPr/>
        </p:nvSpPr>
        <p:spPr>
          <a:xfrm>
            <a:off x="8865744" y="4256228"/>
            <a:ext cx="152157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46"/>
            <a:r>
              <a:rPr lang="en-US" sz="1867" i="1" dirty="0">
                <a:solidFill>
                  <a:srgbClr val="D56E48"/>
                </a:solidFill>
                <a:latin typeface="Montserrat" panose="00000500000000000000" pitchFamily="2" charset="0"/>
              </a:rPr>
              <a:t>Input Data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104FBC-2960-2EAC-66A7-ACE43CD75800}"/>
              </a:ext>
            </a:extLst>
          </p:cNvPr>
          <p:cNvSpPr txBox="1"/>
          <p:nvPr/>
        </p:nvSpPr>
        <p:spPr>
          <a:xfrm>
            <a:off x="7198756" y="5813289"/>
            <a:ext cx="2230098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46"/>
            <a:r>
              <a:rPr lang="en-US" sz="1867" i="1" dirty="0">
                <a:solidFill>
                  <a:srgbClr val="D56E48"/>
                </a:solidFill>
                <a:latin typeface="Montserrat" panose="00000500000000000000" pitchFamily="2" charset="0"/>
              </a:rPr>
              <a:t>Output Indicator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FD92B5FB-3D78-856A-A558-416DA8F1866A}"/>
              </a:ext>
            </a:extLst>
          </p:cNvPr>
          <p:cNvSpPr txBox="1">
            <a:spLocks/>
          </p:cNvSpPr>
          <p:nvPr/>
        </p:nvSpPr>
        <p:spPr>
          <a:xfrm>
            <a:off x="96074" y="844237"/>
            <a:ext cx="4891221" cy="126367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glow rad="50800">
              <a:schemeClr val="tx1">
                <a:alpha val="5000"/>
              </a:schemeClr>
            </a:glow>
            <a:innerShdw dist="50800" dir="10800000">
              <a:schemeClr val="accent2"/>
            </a:innerShdw>
          </a:effectLst>
        </p:spPr>
        <p:txBody>
          <a:bodyPr vert="horz" wrap="square" lIns="365760" tIns="274320" rIns="182880" bIns="2743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09630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anose="00000500000000000000" pitchFamily="2" charset="0"/>
              </a:rPr>
              <a:t>Context: </a:t>
            </a:r>
            <a:r>
              <a:rPr lang="en-US" sz="2000" dirty="0">
                <a:solidFill>
                  <a:srgbClr val="000000"/>
                </a:solidFill>
                <a:latin typeface="Montserrat" panose="00000500000000000000" pitchFamily="2" charset="0"/>
              </a:rPr>
              <a:t> Set the scene, who is the AI, what's the situation?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5A657087-C8C0-0CD7-73B2-9CB892A1121E}"/>
              </a:ext>
            </a:extLst>
          </p:cNvPr>
          <p:cNvSpPr txBox="1">
            <a:spLocks/>
          </p:cNvSpPr>
          <p:nvPr/>
        </p:nvSpPr>
        <p:spPr>
          <a:xfrm>
            <a:off x="94700" y="1918567"/>
            <a:ext cx="4891221" cy="116955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glow rad="50800">
              <a:schemeClr val="tx1">
                <a:alpha val="5000"/>
              </a:schemeClr>
            </a:glow>
            <a:innerShdw dist="50800" dir="10800000">
              <a:schemeClr val="accent3"/>
            </a:innerShdw>
          </a:effectLst>
        </p:spPr>
        <p:txBody>
          <a:bodyPr vert="horz" wrap="square" lIns="365760" tIns="274320" rIns="182880" bIns="2743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09630">
              <a:spcBef>
                <a:spcPts val="267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anose="00000500000000000000" pitchFamily="2" charset="0"/>
              </a:rPr>
              <a:t>Instruction: </a:t>
            </a:r>
            <a:r>
              <a:rPr lang="en-US" sz="2000" dirty="0">
                <a:solidFill>
                  <a:srgbClr val="000000"/>
                </a:solidFill>
                <a:latin typeface="Montserrat" panose="00000500000000000000" pitchFamily="2" charset="0"/>
              </a:rPr>
              <a:t>A clear statement of the desired goal.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5ABA1B7-19E2-A145-44A4-3D6EC9C7D3C4}"/>
              </a:ext>
            </a:extLst>
          </p:cNvPr>
          <p:cNvSpPr txBox="1">
            <a:spLocks/>
          </p:cNvSpPr>
          <p:nvPr/>
        </p:nvSpPr>
        <p:spPr>
          <a:xfrm>
            <a:off x="92402" y="2987818"/>
            <a:ext cx="4891221" cy="126367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glow rad="50800">
              <a:schemeClr val="tx1">
                <a:alpha val="5000"/>
              </a:schemeClr>
            </a:glow>
            <a:innerShdw dist="50800" dir="10800000">
              <a:schemeClr val="accent4"/>
            </a:innerShdw>
          </a:effectLst>
        </p:spPr>
        <p:txBody>
          <a:bodyPr vert="horz" wrap="square" lIns="365760" tIns="274320" rIns="182880" bIns="2743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09630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anose="00000500000000000000" pitchFamily="2" charset="0"/>
              </a:rPr>
              <a:t>Input Data: </a:t>
            </a:r>
            <a:r>
              <a:rPr lang="en-US" sz="2000" dirty="0">
                <a:solidFill>
                  <a:srgbClr val="000000"/>
                </a:solidFill>
                <a:latin typeface="Montserrat" panose="00000500000000000000" pitchFamily="2" charset="0"/>
              </a:rPr>
              <a:t>The data or content to analyze.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979358D0-B32D-3DD2-9EA1-5051625EDE8B}"/>
              </a:ext>
            </a:extLst>
          </p:cNvPr>
          <p:cNvSpPr txBox="1">
            <a:spLocks/>
          </p:cNvSpPr>
          <p:nvPr/>
        </p:nvSpPr>
        <p:spPr>
          <a:xfrm>
            <a:off x="92401" y="4057069"/>
            <a:ext cx="4891221" cy="125867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glow rad="50800">
              <a:schemeClr val="tx1">
                <a:alpha val="5000"/>
              </a:schemeClr>
            </a:glow>
            <a:innerShdw dist="50800" dir="10800000">
              <a:schemeClr val="tx2"/>
            </a:innerShdw>
          </a:effectLst>
        </p:spPr>
        <p:txBody>
          <a:bodyPr vert="horz" wrap="square" lIns="365760" tIns="274320" rIns="182880" bIns="2743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09630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anose="00000500000000000000" pitchFamily="2" charset="0"/>
              </a:rPr>
              <a:t>Output Indicator: </a:t>
            </a:r>
            <a:r>
              <a:rPr lang="en-US" sz="2000" dirty="0">
                <a:solidFill>
                  <a:srgbClr val="000000"/>
                </a:solidFill>
                <a:latin typeface="Montserrat" panose="00000500000000000000" pitchFamily="2" charset="0"/>
              </a:rPr>
              <a:t>Define the expected format and structure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A0058166-79A5-51DC-4F51-3F82CFA43ACE}"/>
              </a:ext>
            </a:extLst>
          </p:cNvPr>
          <p:cNvCxnSpPr>
            <a:cxnSpLocks/>
          </p:cNvCxnSpPr>
          <p:nvPr/>
        </p:nvCxnSpPr>
        <p:spPr>
          <a:xfrm>
            <a:off x="7785207" y="1666866"/>
            <a:ext cx="1052655" cy="373985"/>
          </a:xfrm>
          <a:prstGeom prst="bentConnector3">
            <a:avLst>
              <a:gd name="adj1" fmla="val -2046"/>
            </a:avLst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BF0B8A4A-5B47-ABC6-BEAF-79FE88CB4CAC}"/>
              </a:ext>
            </a:extLst>
          </p:cNvPr>
          <p:cNvCxnSpPr>
            <a:cxnSpLocks/>
          </p:cNvCxnSpPr>
          <p:nvPr/>
        </p:nvCxnSpPr>
        <p:spPr>
          <a:xfrm>
            <a:off x="6068534" y="2746285"/>
            <a:ext cx="1052655" cy="373985"/>
          </a:xfrm>
          <a:prstGeom prst="bentConnector3">
            <a:avLst>
              <a:gd name="adj1" fmla="val -2046"/>
            </a:avLst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C3E79204-107F-82A3-F613-43058C365F48}"/>
              </a:ext>
            </a:extLst>
          </p:cNvPr>
          <p:cNvCxnSpPr>
            <a:cxnSpLocks/>
          </p:cNvCxnSpPr>
          <p:nvPr/>
        </p:nvCxnSpPr>
        <p:spPr>
          <a:xfrm>
            <a:off x="7813089" y="4079946"/>
            <a:ext cx="1052655" cy="373985"/>
          </a:xfrm>
          <a:prstGeom prst="bentConnector3">
            <a:avLst>
              <a:gd name="adj1" fmla="val -2046"/>
            </a:avLst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C7FA7A86-41AF-DCE4-29F3-E6B74EBEC148}"/>
              </a:ext>
            </a:extLst>
          </p:cNvPr>
          <p:cNvCxnSpPr>
            <a:cxnSpLocks/>
          </p:cNvCxnSpPr>
          <p:nvPr/>
        </p:nvCxnSpPr>
        <p:spPr>
          <a:xfrm>
            <a:off x="6098188" y="5640629"/>
            <a:ext cx="1052655" cy="373985"/>
          </a:xfrm>
          <a:prstGeom prst="bentConnector3">
            <a:avLst>
              <a:gd name="adj1" fmla="val -2046"/>
            </a:avLst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80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  <p:bldP spid="38" grpId="0" animBg="1"/>
      <p:bldP spid="39" grpId="0" animBg="1"/>
      <p:bldP spid="40" grpId="0" animBg="1"/>
      <p:bldP spid="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C2E2C-FE04-E3F8-B8AA-50762A958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A43217-E728-83F0-1A2D-36544F900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21EE94-A89E-B6AF-ED8F-C008F0A339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30A7BB07-E7C1-6A4B-400D-354DCFA9092D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Prompting Essentials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01F1F-FBAF-2487-4897-3A7668F989B4}"/>
              </a:ext>
            </a:extLst>
          </p:cNvPr>
          <p:cNvSpPr txBox="1"/>
          <p:nvPr/>
        </p:nvSpPr>
        <p:spPr>
          <a:xfrm rot="5400000">
            <a:off x="9505627" y="3450945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DB2E059-44E8-0568-E24E-877B7B8393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5131035"/>
              </p:ext>
            </p:extLst>
          </p:nvPr>
        </p:nvGraphicFramePr>
        <p:xfrm>
          <a:off x="55549" y="474092"/>
          <a:ext cx="12080902" cy="56050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7513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990541E-9525-4B2C-8234-06662E7CED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C990541E-9525-4B2C-8234-06662E7CED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57AFCB1-7251-4BA4-9D06-5F2257B5DE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graphicEl>
                                              <a:dgm id="{657AFCB1-7251-4BA4-9D06-5F2257B5DE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992DE3B-5367-48F3-A222-767B0D598C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graphicEl>
                                              <a:dgm id="{4992DE3B-5367-48F3-A222-767B0D598C8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19D02D5-205D-48D9-91D0-F518019683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graphicEl>
                                              <a:dgm id="{319D02D5-205D-48D9-91D0-F518019683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0B3777D-9AB4-4C20-A928-FB7A9E2B84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graphicEl>
                                              <a:dgm id="{70B3777D-9AB4-4C20-A928-FB7A9E2B841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9129A72-9A16-4BF9-8A53-1E4B13A9BC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graphicEl>
                                              <a:dgm id="{F9129A72-9A16-4BF9-8A53-1E4B13A9BCA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052F529-2232-4925-A816-29D992A533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graphicEl>
                                              <a:dgm id="{6052F529-2232-4925-A816-29D992A533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D23E3-6DF3-7F15-789B-1EB799016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9D3361-77E9-6052-758B-8844E9B7CE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0ABD8A-D3AB-99CC-FA6B-A25761D40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DCF11DF-3B1C-E84B-8367-6D4A14EB1FFB}"/>
              </a:ext>
            </a:extLst>
          </p:cNvPr>
          <p:cNvSpPr/>
          <p:nvPr/>
        </p:nvSpPr>
        <p:spPr>
          <a:xfrm>
            <a:off x="293914" y="793804"/>
            <a:ext cx="55785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PROMPT ENGINEERING TECHNIQUES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246A81-EECD-08C4-8156-AE90D4093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058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194D2-5952-405A-2A68-9821FF5F9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628F88-E3BB-7197-D425-61C7EF080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61B388-0C07-604F-6EE7-CDD62DECBC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302F81CA-ED81-97AB-4302-AD173CD0809C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Prompt Engineering Techniques: Zero-Shot Prompting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889F7E-5203-0721-8B20-1FB9823D3683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F70B963-FC2D-A549-F643-4B24C5CE41F4}"/>
              </a:ext>
            </a:extLst>
          </p:cNvPr>
          <p:cNvSpPr txBox="1">
            <a:spLocks/>
          </p:cNvSpPr>
          <p:nvPr/>
        </p:nvSpPr>
        <p:spPr>
          <a:xfrm>
            <a:off x="192213" y="821544"/>
            <a:ext cx="11840155" cy="1656067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marL="342900" indent="-342900" defTabSz="914446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buClr>
                <a:srgbClr val="11CCDD"/>
              </a:buClr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40" lvl="1" indent="-342917" defTabSz="914446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buFont typeface="+mj-lt"/>
              <a:buAutoNum type="arabicPeriod"/>
              <a:defRPr sz="2000">
                <a:solidFill>
                  <a:srgbClr val="00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Zero-shot prompting refers to the ability of a generative AI model to generate responses without being provided with any prior examples.</a:t>
            </a:r>
          </a:p>
          <a:p>
            <a:r>
              <a:rPr lang="en-US" sz="1800" dirty="0"/>
              <a:t>The model relies on its broad general knowledge learned from its training data to complete the task.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BCD39-729B-3442-716D-DDF2773AC26C}"/>
              </a:ext>
            </a:extLst>
          </p:cNvPr>
          <p:cNvSpPr txBox="1"/>
          <p:nvPr/>
        </p:nvSpPr>
        <p:spPr>
          <a:xfrm>
            <a:off x="229677" y="2581475"/>
            <a:ext cx="456654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6"/>
            <a:r>
              <a:rPr lang="en-US" b="1" dirty="0">
                <a:solidFill>
                  <a:srgbClr val="0C1752"/>
                </a:solidFill>
                <a:latin typeface="Montserrat" panose="00000500000000000000" pitchFamily="2" charset="0"/>
              </a:rPr>
              <a:t>User prompt:</a:t>
            </a:r>
            <a:r>
              <a:rPr lang="en-US" dirty="0">
                <a:solidFill>
                  <a:srgbClr val="0C1752"/>
                </a:solidFill>
                <a:latin typeface="Montserrat" panose="00000500000000000000" pitchFamily="2" charset="0"/>
              </a:rPr>
              <a:t> </a:t>
            </a:r>
          </a:p>
          <a:p>
            <a:pPr defTabSz="914446"/>
            <a:r>
              <a:rPr lang="en-US" i="1" dirty="0">
                <a:solidFill>
                  <a:srgbClr val="0C1752"/>
                </a:solidFill>
                <a:latin typeface="Montserrat" panose="00000500000000000000" pitchFamily="2" charset="0"/>
              </a:rPr>
              <a:t>“Tell me the sentiment of the following headline and categorize it as either positive, negative or neutral: </a:t>
            </a:r>
          </a:p>
          <a:p>
            <a:pPr defTabSz="914446"/>
            <a:endParaRPr lang="en-US" i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r>
              <a:rPr lang="en-US" i="1" dirty="0">
                <a:solidFill>
                  <a:srgbClr val="0C1752"/>
                </a:solidFill>
                <a:latin typeface="Montserrat" panose="00000500000000000000" pitchFamily="2" charset="0"/>
              </a:rPr>
              <a:t>New airline between Seattle and San Francisco offers a great opportunity for both passengers and investors.”</a:t>
            </a:r>
            <a:endParaRPr lang="en-US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351059D-1571-B7B5-6E00-21740757C332}"/>
              </a:ext>
            </a:extLst>
          </p:cNvPr>
          <p:cNvSpPr/>
          <p:nvPr/>
        </p:nvSpPr>
        <p:spPr>
          <a:xfrm>
            <a:off x="5805555" y="3343652"/>
            <a:ext cx="2073713" cy="771331"/>
          </a:xfrm>
          <a:prstGeom prst="roundRect">
            <a:avLst/>
          </a:prstGeom>
          <a:solidFill>
            <a:srgbClr val="D56E48"/>
          </a:solidFill>
          <a:ln>
            <a:solidFill>
              <a:srgbClr val="D56E48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r>
              <a:rPr lang="en-US" b="1" dirty="0">
                <a:solidFill>
                  <a:srgbClr val="FFFFFF"/>
                </a:solidFill>
                <a:latin typeface="Montserrat" panose="00000500000000000000" pitchFamily="2" charset="0"/>
              </a:rPr>
              <a:t>Generative AI model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2B6A8C-33C0-BA9C-0651-43A37D802FAF}"/>
              </a:ext>
            </a:extLst>
          </p:cNvPr>
          <p:cNvCxnSpPr>
            <a:cxnSpLocks/>
          </p:cNvCxnSpPr>
          <p:nvPr/>
        </p:nvCxnSpPr>
        <p:spPr>
          <a:xfrm>
            <a:off x="4984461" y="3729317"/>
            <a:ext cx="6904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BB1FD4C-C843-BE2F-F6B9-8DBFC0179D63}"/>
              </a:ext>
            </a:extLst>
          </p:cNvPr>
          <p:cNvCxnSpPr>
            <a:cxnSpLocks/>
          </p:cNvCxnSpPr>
          <p:nvPr/>
        </p:nvCxnSpPr>
        <p:spPr>
          <a:xfrm>
            <a:off x="8038051" y="3701623"/>
            <a:ext cx="6904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46FC2E8-F1B2-2CA9-6A40-1CEC62240C28}"/>
              </a:ext>
            </a:extLst>
          </p:cNvPr>
          <p:cNvSpPr txBox="1"/>
          <p:nvPr/>
        </p:nvSpPr>
        <p:spPr>
          <a:xfrm>
            <a:off x="8887299" y="3378458"/>
            <a:ext cx="1461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 i="0">
                <a:solidFill>
                  <a:srgbClr val="16191F"/>
                </a:solidFill>
                <a:effectLst/>
                <a:latin typeface="Montserrat" panose="00000500000000000000" pitchFamily="2" charset="0"/>
              </a:defRPr>
            </a:lvl1pPr>
          </a:lstStyle>
          <a:p>
            <a:pPr defTabSz="914446"/>
            <a:r>
              <a:rPr lang="en-US" dirty="0">
                <a:solidFill>
                  <a:srgbClr val="0C1752"/>
                </a:solidFill>
              </a:rPr>
              <a:t>Output: </a:t>
            </a:r>
          </a:p>
          <a:p>
            <a:pPr defTabSz="914446"/>
            <a:r>
              <a:rPr lang="en-US" b="0" dirty="0">
                <a:solidFill>
                  <a:srgbClr val="0C1752"/>
                </a:solidFill>
              </a:rPr>
              <a:t>Positive</a:t>
            </a:r>
          </a:p>
        </p:txBody>
      </p:sp>
      <p:pic>
        <p:nvPicPr>
          <p:cNvPr id="12" name="Picture 4" descr="ChatGPT Logo and symbol, meaning, history, PNG, brand">
            <a:extLst>
              <a:ext uri="{FF2B5EF4-FFF2-40B4-BE49-F238E27FC236}">
                <a16:creationId xmlns:a16="http://schemas.microsoft.com/office/drawing/2014/main" id="{24C2DFF3-7C38-90C0-0A90-0A2F650C4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453" y="2336220"/>
            <a:ext cx="1466086" cy="824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6019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85B9B-C69E-EC81-21F0-BD6F14E1C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BA4C29-8FD4-9752-13F1-D2FE9F011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E6E1FD-6E83-567E-6663-3FB84CE5B5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546ADABE-386B-C801-2305-AE4B91CFC52E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Prompt Engineering Techniques: Few-Shot Prompting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4BA370-2D50-4936-695E-502493768142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8BD57C7-BF25-88B8-F523-FAD0CE3B2B88}"/>
              </a:ext>
            </a:extLst>
          </p:cNvPr>
          <p:cNvSpPr txBox="1">
            <a:spLocks/>
          </p:cNvSpPr>
          <p:nvPr/>
        </p:nvSpPr>
        <p:spPr>
          <a:xfrm>
            <a:off x="177495" y="728764"/>
            <a:ext cx="11355493" cy="1656067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marL="342900" indent="-342900" defTabSz="914446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buClr>
                <a:srgbClr val="11CCDD"/>
              </a:buClr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40" lvl="1" indent="-342917" defTabSz="914446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buFont typeface="+mj-lt"/>
              <a:buAutoNum type="arabicPeriod"/>
              <a:defRPr sz="2000">
                <a:solidFill>
                  <a:srgbClr val="00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Few-shot prompting (in-context learning) involves providing a few example pairs of input and desired output to the generative AI model to guide its responses.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B7FFA6-A895-BA82-E61B-0EB1C652997B}"/>
              </a:ext>
            </a:extLst>
          </p:cNvPr>
          <p:cNvSpPr txBox="1"/>
          <p:nvPr/>
        </p:nvSpPr>
        <p:spPr>
          <a:xfrm>
            <a:off x="9173460" y="3091928"/>
            <a:ext cx="1461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 i="0">
                <a:solidFill>
                  <a:srgbClr val="16191F"/>
                </a:solidFill>
                <a:effectLst/>
                <a:latin typeface="Montserrat" panose="00000500000000000000" pitchFamily="2" charset="0"/>
              </a:defRPr>
            </a:lvl1pPr>
          </a:lstStyle>
          <a:p>
            <a:pPr defTabSz="914446"/>
            <a:r>
              <a:rPr lang="en-US" dirty="0">
                <a:solidFill>
                  <a:srgbClr val="0C1752"/>
                </a:solidFill>
              </a:rPr>
              <a:t>Output: </a:t>
            </a:r>
          </a:p>
          <a:p>
            <a:pPr defTabSz="914446"/>
            <a:r>
              <a:rPr lang="en-US" b="0" dirty="0">
                <a:solidFill>
                  <a:srgbClr val="0C1752"/>
                </a:solidFill>
              </a:rPr>
              <a:t>Positive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14E518-8894-ADB7-7FFB-8721EC4CFE2A}"/>
              </a:ext>
            </a:extLst>
          </p:cNvPr>
          <p:cNvSpPr txBox="1"/>
          <p:nvPr/>
        </p:nvSpPr>
        <p:spPr>
          <a:xfrm>
            <a:off x="573413" y="1743451"/>
            <a:ext cx="558257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 i="0">
                <a:solidFill>
                  <a:srgbClr val="16191F"/>
                </a:solidFill>
                <a:effectLst/>
                <a:latin typeface="Montserrat" panose="00000500000000000000" pitchFamily="2" charset="0"/>
              </a:defRPr>
            </a:lvl1pPr>
          </a:lstStyle>
          <a:p>
            <a:pPr defTabSz="914446"/>
            <a:r>
              <a:rPr lang="en-US" dirty="0">
                <a:solidFill>
                  <a:srgbClr val="0C1752"/>
                </a:solidFill>
              </a:rPr>
              <a:t>User prompt: </a:t>
            </a:r>
          </a:p>
          <a:p>
            <a:pPr defTabSz="914446"/>
            <a:r>
              <a:rPr lang="en-US" b="0" i="1" dirty="0">
                <a:solidFill>
                  <a:srgbClr val="0C1752"/>
                </a:solidFill>
              </a:rPr>
              <a:t>“Tell me the sentiment of the following. Here are some examples: </a:t>
            </a:r>
          </a:p>
          <a:p>
            <a:pPr defTabSz="914446"/>
            <a:endParaRPr lang="en-US" b="0" i="1" dirty="0">
              <a:solidFill>
                <a:srgbClr val="0C1752"/>
              </a:solidFill>
            </a:endParaRPr>
          </a:p>
          <a:p>
            <a:pPr defTabSz="914446"/>
            <a:r>
              <a:rPr lang="en-US" b="0" i="1" dirty="0">
                <a:solidFill>
                  <a:srgbClr val="0C1752"/>
                </a:solidFill>
              </a:rPr>
              <a:t>Apple stock declined 2% today</a:t>
            </a:r>
          </a:p>
          <a:p>
            <a:pPr defTabSz="914446"/>
            <a:r>
              <a:rPr lang="en-US" b="0" i="1" dirty="0">
                <a:solidFill>
                  <a:srgbClr val="0C1752"/>
                </a:solidFill>
              </a:rPr>
              <a:t>Answer: Negative </a:t>
            </a:r>
          </a:p>
          <a:p>
            <a:pPr defTabSz="914446"/>
            <a:endParaRPr lang="en-US" b="0" i="1" dirty="0">
              <a:solidFill>
                <a:srgbClr val="0C1752"/>
              </a:solidFill>
            </a:endParaRPr>
          </a:p>
          <a:p>
            <a:pPr defTabSz="914446"/>
            <a:r>
              <a:rPr lang="en-US" b="0" i="1" dirty="0">
                <a:solidFill>
                  <a:srgbClr val="0C1752"/>
                </a:solidFill>
              </a:rPr>
              <a:t>Tesla stock gained 5% after successful self-driving demo</a:t>
            </a:r>
          </a:p>
          <a:p>
            <a:pPr defTabSz="914446"/>
            <a:r>
              <a:rPr lang="en-US" b="0" i="1" dirty="0">
                <a:solidFill>
                  <a:srgbClr val="0C1752"/>
                </a:solidFill>
              </a:rPr>
              <a:t>Answer: Positive </a:t>
            </a:r>
          </a:p>
          <a:p>
            <a:pPr defTabSz="914446"/>
            <a:endParaRPr lang="en-US" b="0" i="1" dirty="0">
              <a:solidFill>
                <a:srgbClr val="0C1752"/>
              </a:solidFill>
            </a:endParaRPr>
          </a:p>
          <a:p>
            <a:pPr defTabSz="914446"/>
            <a:r>
              <a:rPr lang="en-US" b="0" i="1" dirty="0">
                <a:solidFill>
                  <a:srgbClr val="0C1752"/>
                </a:solidFill>
              </a:rPr>
              <a:t>OpenAI expanded its userbase to 100 million</a:t>
            </a:r>
          </a:p>
          <a:p>
            <a:pPr defTabSz="914446"/>
            <a:r>
              <a:rPr lang="en-US" b="0" i="1" dirty="0">
                <a:solidFill>
                  <a:srgbClr val="0C1752"/>
                </a:solidFill>
              </a:rPr>
              <a:t>Answer:”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480CDF9-B37F-5615-2098-0FB8D8BB33FC}"/>
              </a:ext>
            </a:extLst>
          </p:cNvPr>
          <p:cNvSpPr/>
          <p:nvPr/>
        </p:nvSpPr>
        <p:spPr>
          <a:xfrm>
            <a:off x="5985871" y="3043334"/>
            <a:ext cx="2073713" cy="771331"/>
          </a:xfrm>
          <a:prstGeom prst="roundRect">
            <a:avLst/>
          </a:prstGeom>
          <a:solidFill>
            <a:srgbClr val="D56E48"/>
          </a:solidFill>
          <a:ln>
            <a:solidFill>
              <a:srgbClr val="D56E48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r>
              <a:rPr lang="en-US" b="1" dirty="0">
                <a:solidFill>
                  <a:srgbClr val="FFFFFF"/>
                </a:solidFill>
                <a:latin typeface="Montserrat" panose="00000500000000000000" pitchFamily="2" charset="0"/>
              </a:rPr>
              <a:t>Generative AI model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DE06DB-19F2-9724-8B06-2A0B502B62EA}"/>
              </a:ext>
            </a:extLst>
          </p:cNvPr>
          <p:cNvCxnSpPr>
            <a:cxnSpLocks/>
          </p:cNvCxnSpPr>
          <p:nvPr/>
        </p:nvCxnSpPr>
        <p:spPr>
          <a:xfrm>
            <a:off x="5164777" y="3428999"/>
            <a:ext cx="6904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8696446-02BD-E5AF-C94A-C280697C3E97}"/>
              </a:ext>
            </a:extLst>
          </p:cNvPr>
          <p:cNvCxnSpPr>
            <a:cxnSpLocks/>
          </p:cNvCxnSpPr>
          <p:nvPr/>
        </p:nvCxnSpPr>
        <p:spPr>
          <a:xfrm>
            <a:off x="8218367" y="3401305"/>
            <a:ext cx="6904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4" descr="ChatGPT Logo and symbol, meaning, history, PNG, brand">
            <a:extLst>
              <a:ext uri="{FF2B5EF4-FFF2-40B4-BE49-F238E27FC236}">
                <a16:creationId xmlns:a16="http://schemas.microsoft.com/office/drawing/2014/main" id="{5330302F-9DFA-0296-58FB-AD5DBF89D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4769" y="2035902"/>
            <a:ext cx="1466086" cy="824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71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392DA-C36F-C8F9-9CB9-7DDC62745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06B050-BF30-BC5C-6469-2F7DA84AB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9CEF9D-70DA-43B9-85CB-3E96A9EF81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31495ACA-26D1-3853-51A3-9BAD879B86B9}"/>
              </a:ext>
            </a:extLst>
          </p:cNvPr>
          <p:cNvSpPr/>
          <p:nvPr/>
        </p:nvSpPr>
        <p:spPr>
          <a:xfrm>
            <a:off x="154721" y="90489"/>
            <a:ext cx="103898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Prompt Engineering Techniques: Chain-of-Thought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97DFF2-67A1-1ED8-7FCE-A63A757349F7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252E9F1-26E6-DA5A-75BA-8CA39DACA1E9}"/>
              </a:ext>
            </a:extLst>
          </p:cNvPr>
          <p:cNvSpPr txBox="1">
            <a:spLocks/>
          </p:cNvSpPr>
          <p:nvPr/>
        </p:nvSpPr>
        <p:spPr>
          <a:xfrm>
            <a:off x="154721" y="915489"/>
            <a:ext cx="11622456" cy="1656067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marL="342900" indent="-342900" defTabSz="914446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buClr>
                <a:srgbClr val="11CCDD"/>
              </a:buClr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40" lvl="1" indent="-342917" defTabSz="914446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buFont typeface="+mj-lt"/>
              <a:buAutoNum type="arabicPeriod"/>
              <a:defRPr sz="2000">
                <a:solidFill>
                  <a:srgbClr val="00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Chain-of-thought prompting is a technique that improves the reasoning abilities of AI  models by breaking down complex questions or tasks into smaller manageable steps. </a:t>
            </a:r>
          </a:p>
          <a:p>
            <a:r>
              <a:rPr lang="en-US" sz="1600" dirty="0"/>
              <a:t>It mimics how humans' reason and solve problems by systematically breaking down the decision-making process.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F272F2-BE06-B8FE-BACC-114351C812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55" t="12399" r="4292"/>
          <a:stretch/>
        </p:blipFill>
        <p:spPr>
          <a:xfrm>
            <a:off x="617090" y="3645431"/>
            <a:ext cx="5117548" cy="22699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D4C3A0-3C15-F7E8-FBD7-7BF367A6EAD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468"/>
          <a:stretch/>
        </p:blipFill>
        <p:spPr>
          <a:xfrm>
            <a:off x="6157405" y="3590205"/>
            <a:ext cx="4972665" cy="22491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AFBAC3-2688-2E88-3385-7ED75BE80DBC}"/>
              </a:ext>
            </a:extLst>
          </p:cNvPr>
          <p:cNvSpPr txBox="1"/>
          <p:nvPr/>
        </p:nvSpPr>
        <p:spPr>
          <a:xfrm>
            <a:off x="1054051" y="3057513"/>
            <a:ext cx="3303065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6"/>
            <a:r>
              <a:rPr lang="en-US" sz="2133" b="1" dirty="0">
                <a:solidFill>
                  <a:srgbClr val="0C1752"/>
                </a:solidFill>
                <a:latin typeface="Montserrat" panose="00000500000000000000" pitchFamily="2" charset="0"/>
              </a:rPr>
              <a:t>Standard Prompting</a:t>
            </a:r>
            <a:endParaRPr lang="en-US" sz="2133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5B8907-C961-B1E4-1E9B-7664078A8B98}"/>
              </a:ext>
            </a:extLst>
          </p:cNvPr>
          <p:cNvSpPr txBox="1"/>
          <p:nvPr/>
        </p:nvSpPr>
        <p:spPr>
          <a:xfrm>
            <a:off x="6634366" y="3057513"/>
            <a:ext cx="4642733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 b="1" i="0">
                <a:solidFill>
                  <a:srgbClr val="16191F"/>
                </a:solidFill>
                <a:effectLst/>
                <a:latin typeface="+mj-lt"/>
              </a:defRPr>
            </a:lvl1pPr>
          </a:lstStyle>
          <a:p>
            <a:pPr defTabSz="914446"/>
            <a:r>
              <a:rPr lang="en-US" sz="2133" dirty="0">
                <a:solidFill>
                  <a:srgbClr val="0C1752"/>
                </a:solidFill>
                <a:latin typeface="Montserrat" panose="00000500000000000000" pitchFamily="2" charset="0"/>
              </a:rPr>
              <a:t>Chain-of-thought Prompting</a:t>
            </a:r>
          </a:p>
        </p:txBody>
      </p:sp>
    </p:spTree>
    <p:extLst>
      <p:ext uri="{BB962C8B-B14F-4D97-AF65-F5344CB8AC3E}">
        <p14:creationId xmlns:p14="http://schemas.microsoft.com/office/powerpoint/2010/main" val="2990049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09FB-E671-B17D-77BB-65311A51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45C378-4A8E-9187-A206-DB4730F915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25B6F-0705-62E5-DF16-79898F06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90" y="1992488"/>
            <a:ext cx="5198017" cy="14365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A9FA6F-A71D-92D5-9E16-A91F986E09CE}"/>
              </a:ext>
            </a:extLst>
          </p:cNvPr>
          <p:cNvSpPr/>
          <p:nvPr/>
        </p:nvSpPr>
        <p:spPr>
          <a:xfrm>
            <a:off x="3306715" y="3495040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9615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6223</TotalTime>
  <Words>693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kukesh kodess</dc:creator>
  <cp:lastModifiedBy>Ryan Ahmed</cp:lastModifiedBy>
  <cp:revision>593</cp:revision>
  <dcterms:created xsi:type="dcterms:W3CDTF">2019-11-18T17:58:36Z</dcterms:created>
  <dcterms:modified xsi:type="dcterms:W3CDTF">2026-03-08T17:48:55Z</dcterms:modified>
</cp:coreProperties>
</file>