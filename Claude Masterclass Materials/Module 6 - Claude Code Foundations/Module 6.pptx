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7"/>
  </p:notesMasterIdLst>
  <p:sldIdLst>
    <p:sldId id="565" r:id="rId3"/>
    <p:sldId id="4344" r:id="rId4"/>
    <p:sldId id="4312" r:id="rId5"/>
    <p:sldId id="4317" r:id="rId6"/>
    <p:sldId id="4332" r:id="rId7"/>
    <p:sldId id="4342" r:id="rId8"/>
    <p:sldId id="4333" r:id="rId9"/>
    <p:sldId id="4334" r:id="rId10"/>
    <p:sldId id="4339" r:id="rId11"/>
    <p:sldId id="4322" r:id="rId12"/>
    <p:sldId id="4315" r:id="rId13"/>
    <p:sldId id="4330" r:id="rId14"/>
    <p:sldId id="4212" r:id="rId15"/>
    <p:sldId id="4327" r:id="rId16"/>
    <p:sldId id="4326" r:id="rId17"/>
    <p:sldId id="4337" r:id="rId18"/>
    <p:sldId id="4338" r:id="rId19"/>
    <p:sldId id="4335" r:id="rId20"/>
    <p:sldId id="4340" r:id="rId21"/>
    <p:sldId id="4310" r:id="rId22"/>
    <p:sldId id="4341" r:id="rId23"/>
    <p:sldId id="259" r:id="rId24"/>
    <p:sldId id="4345" r:id="rId25"/>
    <p:sldId id="4343" r:id="rId26"/>
    <p:sldId id="257" r:id="rId27"/>
    <p:sldId id="260" r:id="rId28"/>
    <p:sldId id="4349" r:id="rId29"/>
    <p:sldId id="261" r:id="rId30"/>
    <p:sldId id="262" r:id="rId31"/>
    <p:sldId id="4356" r:id="rId32"/>
    <p:sldId id="4347" r:id="rId33"/>
    <p:sldId id="4348" r:id="rId34"/>
    <p:sldId id="4324" r:id="rId35"/>
    <p:sldId id="4328" r:id="rId36"/>
    <p:sldId id="4214" r:id="rId37"/>
    <p:sldId id="4309" r:id="rId38"/>
    <p:sldId id="4329" r:id="rId39"/>
    <p:sldId id="4350" r:id="rId40"/>
    <p:sldId id="4352" r:id="rId41"/>
    <p:sldId id="4353" r:id="rId42"/>
    <p:sldId id="4354" r:id="rId43"/>
    <p:sldId id="4355" r:id="rId44"/>
    <p:sldId id="263" r:id="rId45"/>
    <p:sldId id="277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11CCDD"/>
    <a:srgbClr val="F9F9F9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4" autoAdjust="0"/>
    <p:restoredTop sz="94721"/>
  </p:normalViewPr>
  <p:slideViewPr>
    <p:cSldViewPr snapToGrid="0" snapToObjects="1">
      <p:cViewPr>
        <p:scale>
          <a:sx n="100" d="100"/>
          <a:sy n="100" d="100"/>
        </p:scale>
        <p:origin x="372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9900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8450-7A8E-6FF5-41E9-14680801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0A08E-244E-6E52-8623-C1482A391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CF289-AB3B-6984-55A4-A8A2994D7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E031-592E-B65D-C809-372EDF8C4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11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58C9-620C-0916-DBAB-1B4BC7F0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A4DEC-9BAF-D2B3-0F0B-A4E56BDEB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BC5BB-A65B-30F0-FEC9-994F26D68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11E12-8A46-09D9-45CC-61E1A9D3FD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741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DC20F-2A15-FE88-67AE-503C045A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8A376-40D1-0A4D-A724-302D81C8C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FFEB1-A922-DFDD-0749-E98B434E4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AE1BE-098A-ADED-1CCD-3F8ED7487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9780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4211-8EF6-2D3D-0C8F-9F022150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08622-77AB-3469-C9E8-C8AD7B89D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A53A8-91B5-9FAB-1F51-404ECA2FD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FFB8-54B3-D1DB-9E57-1174AC90A6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1164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16ED-C828-636E-A57C-746C32AA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78ADF-CC27-105E-5658-3F99519EB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F71F8-631C-8B3A-2AA0-CB37F0A4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C509A-747A-1F74-8152-0B5D20090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3439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59B24-05F7-F883-D1D6-14A2BD44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7EA96-E359-4B46-B1E8-996454181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4C00A-1713-DA21-14F3-8BF4ED9D1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BC7F2-FD3B-EC4F-A89B-23C85254C7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878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D2DA-554C-58DE-9F94-4FA1B19A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6D157-C2FF-F16D-DEF8-0C48D6A9D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1F55F-F6CE-E37C-28D0-19222D72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A0C6A-A123-B514-B899-D30A74BAC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2403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69C3-AB9F-F2A8-7325-154F897A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AA438-0666-F6E1-2AF0-ED5893EEA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25C57-7866-6733-BE3C-708B9B62E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A37A9-F9A9-CAF7-D024-A416A79DB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3403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804C-4FD0-E74A-BAF9-94F5CF88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3ECA3-CDE0-37C7-7632-9D45D3E20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F9A6D-6BD5-210E-5D94-81B5D8DF9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44D83-F651-7ADB-51EC-8B35DFB27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439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60CE-43BC-FF50-5764-D47394B8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BA283-F8D3-D8B8-77CD-F234D3265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A9E4D-E851-C436-F72C-38C8E72BD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19127-C721-6266-81BA-4E7FF224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762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CF45-5F11-0082-F61F-C11EF3B6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1C4C0-A391-D279-D6D3-B054A1482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95D14-85BD-80D5-897A-2992F497A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E54C9-24B1-FD56-942E-12401ABC40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080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99FF-7C7D-703F-544D-526BD6EF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CF915-3246-2CA6-3E20-158EA454C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7FD4F-88CC-BE50-B83A-DDC295692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52CF5-786F-1E6D-E111-48493F957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361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8DCF-89E6-9AFB-FBDF-E652C85E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436D-4536-900F-460D-6777055B6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3B0BD-D720-D333-E6ED-DBAA7680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ADB50-A9D9-5A4F-47F4-D1DE6BA949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055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6B7FE-D8D0-005D-CE31-23EC47E0E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44510-FBC3-AB61-5257-37420E260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DAF65-6646-B765-ECF4-E455D3090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6A0CC-F3F3-35BA-6F7B-4F947AA216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54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77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64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38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15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20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95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7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41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75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9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microsoft.com/office/2007/relationships/hdphoto" Target="../media/hdphoto3.wdp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hyperlink" Target="https://www.skillhub.club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skills.sh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skillsmp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thropics/skills/tree/main/skill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unterculturecoffee.com/" TargetMode="External"/><Relationship Id="rId5" Type="http://schemas.openxmlformats.org/officeDocument/2006/relationships/hyperlink" Target="https://www.stumptowncoffee.com/" TargetMode="External"/><Relationship Id="rId4" Type="http://schemas.openxmlformats.org/officeDocument/2006/relationships/hyperlink" Target="https://bluebottlecoffee.com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MASTERCLASS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E7F8-A612-9A5E-DD5C-D09BE3E8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66ADB-0B4A-03EA-7398-42B0891E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BB4BC9-A507-1756-F07A-7BE842F561D1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QUICK STARTUP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8F868-A011-B7E5-F7C0-24EC1279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0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1BB3-F629-6EC2-1146-CACA7814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22644E-0136-2E1F-C155-596322C8D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D65C9-F77A-8A40-7492-EADA0E4AAC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A80B5B6-4506-14EF-8E07-742D8B7E13E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Intro to Claude Code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403B866-14FF-0CD5-3522-727A8705F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16;p5">
            <a:extLst>
              <a:ext uri="{FF2B5EF4-FFF2-40B4-BE49-F238E27FC236}">
                <a16:creationId xmlns:a16="http://schemas.microsoft.com/office/drawing/2014/main" id="{295E98C6-5C24-F5F4-48BB-FF7D3DED8C0E}"/>
              </a:ext>
            </a:extLst>
          </p:cNvPr>
          <p:cNvSpPr txBox="1"/>
          <p:nvPr/>
        </p:nvSpPr>
        <p:spPr>
          <a:xfrm>
            <a:off x="8946" y="799671"/>
            <a:ext cx="11634485" cy="211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Claude Code is an agentic AI coding tool that reads your codebase, edits files, runs commands, and autonomously works through problems.</a:t>
            </a:r>
          </a:p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It’s available in the terminal, VS Code, Antigravity, and the Claude Desktop app. We will focus on running Claude Code inside of VS Code.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1E6E7-283B-046C-0C3E-DE413FF1575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6834691-2F58-A80A-46AA-2C9EB27ABE70}"/>
              </a:ext>
            </a:extLst>
          </p:cNvPr>
          <p:cNvSpPr/>
          <p:nvPr/>
        </p:nvSpPr>
        <p:spPr>
          <a:xfrm>
            <a:off x="1037435" y="3629084"/>
            <a:ext cx="2560320" cy="2918127"/>
          </a:xfrm>
          <a:prstGeom prst="rect">
            <a:avLst/>
          </a:prstGeom>
          <a:solidFill>
            <a:srgbClr val="D56E4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B0F8E91-73C0-4EA8-988F-ED8D5BBEC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275" y="3857685"/>
            <a:ext cx="548640" cy="54864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C4256C-0A48-BCD3-F0A8-0C533199FEED}"/>
              </a:ext>
            </a:extLst>
          </p:cNvPr>
          <p:cNvSpPr/>
          <p:nvPr/>
        </p:nvSpPr>
        <p:spPr>
          <a:xfrm>
            <a:off x="1220315" y="463492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Reads &amp; Writes Code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239B9C4-895F-3B13-7370-4C4F865262E4}"/>
              </a:ext>
            </a:extLst>
          </p:cNvPr>
          <p:cNvSpPr/>
          <p:nvPr/>
        </p:nvSpPr>
        <p:spPr>
          <a:xfrm>
            <a:off x="1220315" y="532526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Analyzes your entire codebase, makes targeted edits, and creates new files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EFC084B-7EBA-23F7-CF04-7419A4AD1FA4}"/>
              </a:ext>
            </a:extLst>
          </p:cNvPr>
          <p:cNvSpPr/>
          <p:nvPr/>
        </p:nvSpPr>
        <p:spPr>
          <a:xfrm>
            <a:off x="4820349" y="3645208"/>
            <a:ext cx="2560320" cy="2902004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5025F5C0-8BA1-2E72-524A-D729F6944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189" y="3873808"/>
            <a:ext cx="548640" cy="54864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A8A60D4B-FE2E-83A8-71C6-FB0CA8DDD05A}"/>
              </a:ext>
            </a:extLst>
          </p:cNvPr>
          <p:cNvSpPr/>
          <p:nvPr/>
        </p:nvSpPr>
        <p:spPr>
          <a:xfrm>
            <a:off x="5003229" y="44058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Runs Commands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462B460-0D73-4E3C-7841-42469C59170D}"/>
              </a:ext>
            </a:extLst>
          </p:cNvPr>
          <p:cNvSpPr/>
          <p:nvPr/>
        </p:nvSpPr>
        <p:spPr>
          <a:xfrm>
            <a:off x="5003229" y="511392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Executes shell commands, runs tests, manages Git, and builds projects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7536259F-CFD4-6F8A-12A7-99AF5C7B2990}"/>
              </a:ext>
            </a:extLst>
          </p:cNvPr>
          <p:cNvSpPr/>
          <p:nvPr/>
        </p:nvSpPr>
        <p:spPr>
          <a:xfrm>
            <a:off x="8702054" y="3645208"/>
            <a:ext cx="2560320" cy="2902003"/>
          </a:xfrm>
          <a:prstGeom prst="rect">
            <a:avLst/>
          </a:prstGeom>
          <a:solidFill>
            <a:srgbClr val="1BBFD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B65B34F2-F1D6-5F72-B804-0FBB48424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3517" y="3850455"/>
            <a:ext cx="548640" cy="548640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B461D463-4349-CBBF-1F7A-42EEB94BA56E}"/>
              </a:ext>
            </a:extLst>
          </p:cNvPr>
          <p:cNvSpPr/>
          <p:nvPr/>
        </p:nvSpPr>
        <p:spPr>
          <a:xfrm>
            <a:off x="8884934" y="43990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Plans &amp; Reasons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D0B665E-52D2-CC29-6FEB-828E5AF27635}"/>
              </a:ext>
            </a:extLst>
          </p:cNvPr>
          <p:cNvSpPr/>
          <p:nvPr/>
        </p:nvSpPr>
        <p:spPr>
          <a:xfrm>
            <a:off x="8884934" y="511420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Breaks down complex tasks, proposes solutions, and iterates on feedback</a:t>
            </a:r>
            <a:endParaRPr lang="en-US" sz="1400" dirty="0">
              <a:latin typeface="Montserrat" panose="00000500000000000000" pitchFamily="2" charset="0"/>
            </a:endParaRPr>
          </a:p>
        </p:txBody>
      </p:sp>
      <p:pic>
        <p:nvPicPr>
          <p:cNvPr id="4098" name="Picture 2" descr="AI Tools 101: Claude Code Guide to Build Real Apps Faster">
            <a:extLst>
              <a:ext uri="{FF2B5EF4-FFF2-40B4-BE49-F238E27FC236}">
                <a16:creationId xmlns:a16="http://schemas.microsoft.com/office/drawing/2014/main" id="{0B07F3AF-2BF8-6736-0CBD-E9A0A386A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708" y="1808572"/>
            <a:ext cx="2618961" cy="168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33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10B8-A9F6-992A-F022-6B46E728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232BE1-87F4-9189-6332-412B3DBA8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977561-66D1-0A72-85FA-C8983415C3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243FDA-FE87-4A1B-EF14-14E850C6203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Claude Code Agentic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 Workflow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6ED92A-9E74-4749-C68E-2081F11D6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16;p5">
            <a:extLst>
              <a:ext uri="{FF2B5EF4-FFF2-40B4-BE49-F238E27FC236}">
                <a16:creationId xmlns:a16="http://schemas.microsoft.com/office/drawing/2014/main" id="{1AC4FAC8-9136-81B2-824D-74D77B132FA8}"/>
              </a:ext>
            </a:extLst>
          </p:cNvPr>
          <p:cNvSpPr txBox="1"/>
          <p:nvPr/>
        </p:nvSpPr>
        <p:spPr>
          <a:xfrm>
            <a:off x="166990" y="915981"/>
            <a:ext cx="11899671" cy="9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Claude Code follows a four-phase cycle for every 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A50D0-7ED2-9B66-8B61-9F719F9809C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AC1CD545-BC17-4F7C-1421-8C0317621147}"/>
              </a:ext>
            </a:extLst>
          </p:cNvPr>
          <p:cNvSpPr/>
          <p:nvPr/>
        </p:nvSpPr>
        <p:spPr>
          <a:xfrm>
            <a:off x="870456" y="1655064"/>
            <a:ext cx="1920240" cy="33650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A01B6B07-6AC1-421F-9150-676F45122B10}"/>
              </a:ext>
            </a:extLst>
          </p:cNvPr>
          <p:cNvSpPr/>
          <p:nvPr/>
        </p:nvSpPr>
        <p:spPr>
          <a:xfrm>
            <a:off x="1556256" y="1837944"/>
            <a:ext cx="548640" cy="548640"/>
          </a:xfrm>
          <a:prstGeom prst="ellipse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23453D3-13D4-20FD-2BA2-DE65E660F5B2}"/>
              </a:ext>
            </a:extLst>
          </p:cNvPr>
          <p:cNvSpPr/>
          <p:nvPr/>
        </p:nvSpPr>
        <p:spPr>
          <a:xfrm>
            <a:off x="1556256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8ECAE8C6-C8F9-E1B8-094F-18259559445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56256" y="2569464"/>
            <a:ext cx="548640" cy="548640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EAF6717A-D50E-21E6-E092-8A9E86A4FC79}"/>
              </a:ext>
            </a:extLst>
          </p:cNvPr>
          <p:cNvSpPr/>
          <p:nvPr/>
        </p:nvSpPr>
        <p:spPr>
          <a:xfrm>
            <a:off x="1007616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D57A33C-C8A8-6642-2B95-19008FAC198F}"/>
              </a:ext>
            </a:extLst>
          </p:cNvPr>
          <p:cNvSpPr/>
          <p:nvPr/>
        </p:nvSpPr>
        <p:spPr>
          <a:xfrm>
            <a:off x="1007616" y="3803967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Read files, understand the codebase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90C7E341-64AB-9F79-B87D-3BFCAC99474B}"/>
              </a:ext>
            </a:extLst>
          </p:cNvPr>
          <p:cNvSpPr/>
          <p:nvPr/>
        </p:nvSpPr>
        <p:spPr>
          <a:xfrm>
            <a:off x="3859921" y="1655064"/>
            <a:ext cx="1920240" cy="33650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6D1135A-3250-023F-BAE1-D2AE28463390}"/>
              </a:ext>
            </a:extLst>
          </p:cNvPr>
          <p:cNvSpPr/>
          <p:nvPr/>
        </p:nvSpPr>
        <p:spPr>
          <a:xfrm>
            <a:off x="4545721" y="1837944"/>
            <a:ext cx="548640" cy="54864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F1A68EAE-12DB-C20B-8421-81DA05AF6BA0}"/>
              </a:ext>
            </a:extLst>
          </p:cNvPr>
          <p:cNvSpPr/>
          <p:nvPr/>
        </p:nvSpPr>
        <p:spPr>
          <a:xfrm>
            <a:off x="4545721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0751B0F7-0D55-D9F8-4B63-C9C298DD8F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5721" y="2569464"/>
            <a:ext cx="548640" cy="548640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19B9A086-FDBC-6B19-8E5D-05D4158EB000}"/>
              </a:ext>
            </a:extLst>
          </p:cNvPr>
          <p:cNvSpPr/>
          <p:nvPr/>
        </p:nvSpPr>
        <p:spPr>
          <a:xfrm>
            <a:off x="3997081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Plan</a:t>
            </a: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724BEF14-581B-F2ED-4191-B404253CA2C3}"/>
              </a:ext>
            </a:extLst>
          </p:cNvPr>
          <p:cNvSpPr/>
          <p:nvPr/>
        </p:nvSpPr>
        <p:spPr>
          <a:xfrm>
            <a:off x="4019941" y="3803967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 the implementation approach</a:t>
            </a: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F5270D7C-2EC4-ABDC-3443-E95CEBAA0D60}"/>
              </a:ext>
            </a:extLst>
          </p:cNvPr>
          <p:cNvSpPr/>
          <p:nvPr/>
        </p:nvSpPr>
        <p:spPr>
          <a:xfrm>
            <a:off x="6717421" y="1655064"/>
            <a:ext cx="1920240" cy="33650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2F4D1172-2467-FFF0-19ED-80B3ACD6351E}"/>
              </a:ext>
            </a:extLst>
          </p:cNvPr>
          <p:cNvSpPr/>
          <p:nvPr/>
        </p:nvSpPr>
        <p:spPr>
          <a:xfrm>
            <a:off x="7403221" y="1837944"/>
            <a:ext cx="548640" cy="548640"/>
          </a:xfrm>
          <a:prstGeom prst="ellipse">
            <a:avLst/>
          </a:prstGeom>
          <a:solidFill>
            <a:srgbClr val="1BBFD1"/>
          </a:solidFill>
          <a:ln/>
        </p:spPr>
        <p:txBody>
          <a:bodyPr/>
          <a:lstStyle/>
          <a:p>
            <a:endParaRPr lang="en-CA" dirty="0">
              <a:latin typeface="Montserrat" panose="00000500000000000000" pitchFamily="2" charset="0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76B94240-A7F6-2920-E035-F6543C50C7C6}"/>
              </a:ext>
            </a:extLst>
          </p:cNvPr>
          <p:cNvSpPr/>
          <p:nvPr/>
        </p:nvSpPr>
        <p:spPr>
          <a:xfrm>
            <a:off x="7403221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F33FE6D1-37E9-6547-0438-8ED71EB185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3221" y="2569464"/>
            <a:ext cx="548640" cy="548640"/>
          </a:xfrm>
          <a:prstGeom prst="rect">
            <a:avLst/>
          </a:prstGeom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5105C31D-1A32-ACBB-F7B3-487F06B7546A}"/>
              </a:ext>
            </a:extLst>
          </p:cNvPr>
          <p:cNvSpPr/>
          <p:nvPr/>
        </p:nvSpPr>
        <p:spPr>
          <a:xfrm>
            <a:off x="6854581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Implement</a:t>
            </a: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FB02D0F4-FBA5-D330-F4DD-08AD0D92E26E}"/>
              </a:ext>
            </a:extLst>
          </p:cNvPr>
          <p:cNvSpPr/>
          <p:nvPr/>
        </p:nvSpPr>
        <p:spPr>
          <a:xfrm>
            <a:off x="6854581" y="37170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Write code, run tests, iterate</a:t>
            </a: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FD16AD43-2B56-1232-FBC4-15BC32E232CB}"/>
              </a:ext>
            </a:extLst>
          </p:cNvPr>
          <p:cNvSpPr/>
          <p:nvPr/>
        </p:nvSpPr>
        <p:spPr>
          <a:xfrm>
            <a:off x="9460621" y="1655064"/>
            <a:ext cx="1920240" cy="33650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F5D8872C-40C2-2C2D-B5AB-DFF972206A47}"/>
              </a:ext>
            </a:extLst>
          </p:cNvPr>
          <p:cNvSpPr/>
          <p:nvPr/>
        </p:nvSpPr>
        <p:spPr>
          <a:xfrm>
            <a:off x="10146421" y="1837944"/>
            <a:ext cx="548640" cy="54864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CA" dirty="0">
              <a:latin typeface="Montserrat" panose="00000500000000000000" pitchFamily="2" charset="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6407A4D-6D20-A3BC-24F5-E938C19C80E7}"/>
              </a:ext>
            </a:extLst>
          </p:cNvPr>
          <p:cNvSpPr/>
          <p:nvPr/>
        </p:nvSpPr>
        <p:spPr>
          <a:xfrm>
            <a:off x="10146421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9BB173EA-003B-7CB2-4BA1-E7F11BDE82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46421" y="2569464"/>
            <a:ext cx="548640" cy="548640"/>
          </a:xfrm>
          <a:prstGeom prst="rect">
            <a:avLst/>
          </a:prstGeom>
        </p:spPr>
      </p:pic>
      <p:sp>
        <p:nvSpPr>
          <p:cNvPr id="48" name="Text 21">
            <a:extLst>
              <a:ext uri="{FF2B5EF4-FFF2-40B4-BE49-F238E27FC236}">
                <a16:creationId xmlns:a16="http://schemas.microsoft.com/office/drawing/2014/main" id="{6D0AD8B5-19D7-C392-B3D2-A4EE16F8CF2D}"/>
              </a:ext>
            </a:extLst>
          </p:cNvPr>
          <p:cNvSpPr/>
          <p:nvPr/>
        </p:nvSpPr>
        <p:spPr>
          <a:xfrm>
            <a:off x="9597781" y="3255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Commit</a:t>
            </a:r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9FBCCF8B-1EC4-41C7-3B3F-C8DD91557B6A}"/>
              </a:ext>
            </a:extLst>
          </p:cNvPr>
          <p:cNvSpPr/>
          <p:nvPr/>
        </p:nvSpPr>
        <p:spPr>
          <a:xfrm>
            <a:off x="9574921" y="37581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Commit changes, create Pull request (PRs)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246F196-FF26-4139-01F9-FC0EC50570E3}"/>
              </a:ext>
            </a:extLst>
          </p:cNvPr>
          <p:cNvSpPr/>
          <p:nvPr/>
        </p:nvSpPr>
        <p:spPr>
          <a:xfrm>
            <a:off x="2984734" y="3063240"/>
            <a:ext cx="629041" cy="42672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6BF19B1-0267-B116-B496-106E663A33CF}"/>
              </a:ext>
            </a:extLst>
          </p:cNvPr>
          <p:cNvSpPr/>
          <p:nvPr/>
        </p:nvSpPr>
        <p:spPr>
          <a:xfrm>
            <a:off x="5945495" y="3063240"/>
            <a:ext cx="629041" cy="42672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974B14C-3009-D757-76E1-31CF333465DB}"/>
              </a:ext>
            </a:extLst>
          </p:cNvPr>
          <p:cNvSpPr/>
          <p:nvPr/>
        </p:nvSpPr>
        <p:spPr>
          <a:xfrm>
            <a:off x="8734620" y="3118104"/>
            <a:ext cx="629041" cy="42672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573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4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22E6-B1A8-9D28-DA0D-D1C9133A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3970C-D46C-313D-2796-AEC811123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C0A13E-A6C2-C05A-8E9A-4DA2298AF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24C6A10-C9E6-BE6E-BF41-AAAC9E01C1C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Claude Plan Mode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31B0242-E591-9758-383A-DE2A05A9B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16;p5">
            <a:extLst>
              <a:ext uri="{FF2B5EF4-FFF2-40B4-BE49-F238E27FC236}">
                <a16:creationId xmlns:a16="http://schemas.microsoft.com/office/drawing/2014/main" id="{D8B1A644-88FC-D816-EB7A-93B1C04DE40B}"/>
              </a:ext>
            </a:extLst>
          </p:cNvPr>
          <p:cNvSpPr txBox="1"/>
          <p:nvPr/>
        </p:nvSpPr>
        <p:spPr>
          <a:xfrm>
            <a:off x="166990" y="915981"/>
            <a:ext cx="11899671" cy="9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Read-only analysis before making changes. Toggle with </a:t>
            </a:r>
            <a:r>
              <a:rPr lang="en-US" dirty="0" err="1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Shift+Tab</a:t>
            </a: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234B6-006B-AF9C-FBB2-68B1A595959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29195731-0BA1-6845-2523-2368C9C6F624}"/>
              </a:ext>
            </a:extLst>
          </p:cNvPr>
          <p:cNvSpPr/>
          <p:nvPr/>
        </p:nvSpPr>
        <p:spPr>
          <a:xfrm>
            <a:off x="731520" y="121920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61D8D9B-4449-C498-B558-0A9400693426}"/>
              </a:ext>
            </a:extLst>
          </p:cNvPr>
          <p:cNvSpPr/>
          <p:nvPr/>
        </p:nvSpPr>
        <p:spPr>
          <a:xfrm>
            <a:off x="663725" y="1376931"/>
            <a:ext cx="107289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3EA2BC4-30D0-4D5F-2D98-B43189B69121}"/>
              </a:ext>
            </a:extLst>
          </p:cNvPr>
          <p:cNvSpPr/>
          <p:nvPr/>
        </p:nvSpPr>
        <p:spPr>
          <a:xfrm>
            <a:off x="907565" y="1376931"/>
            <a:ext cx="97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0B981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133" dirty="0">
              <a:latin typeface="Montserrat" panose="000005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07C359A-BC87-9382-4967-F759C7178E60}"/>
              </a:ext>
            </a:extLst>
          </p:cNvPr>
          <p:cNvSpPr/>
          <p:nvPr/>
        </p:nvSpPr>
        <p:spPr>
          <a:xfrm>
            <a:off x="2004845" y="1376931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Normal Mode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1A017FC-AA50-2AFC-45F5-B931694DB03B}"/>
              </a:ext>
            </a:extLst>
          </p:cNvPr>
          <p:cNvSpPr/>
          <p:nvPr/>
        </p:nvSpPr>
        <p:spPr>
          <a:xfrm>
            <a:off x="4809005" y="1376931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reads, writes, and runs commands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0AA2CCA-71E4-107F-F4A0-42EBC7F44D80}"/>
              </a:ext>
            </a:extLst>
          </p:cNvPr>
          <p:cNvSpPr/>
          <p:nvPr/>
        </p:nvSpPr>
        <p:spPr>
          <a:xfrm>
            <a:off x="663725" y="2421404"/>
            <a:ext cx="107289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EC1BF96-4647-E1FF-23B2-BB0C89751797}"/>
              </a:ext>
            </a:extLst>
          </p:cNvPr>
          <p:cNvSpPr/>
          <p:nvPr/>
        </p:nvSpPr>
        <p:spPr>
          <a:xfrm>
            <a:off x="907565" y="2421404"/>
            <a:ext cx="97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59E0B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133" dirty="0">
              <a:latin typeface="Montserrat" panose="00000500000000000000" pitchFamily="2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C690500-B0C7-60FD-D948-DFEEED6D99F0}"/>
              </a:ext>
            </a:extLst>
          </p:cNvPr>
          <p:cNvSpPr/>
          <p:nvPr/>
        </p:nvSpPr>
        <p:spPr>
          <a:xfrm>
            <a:off x="2004845" y="2421404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363A60B-4ADE-2235-D4B0-1DFC619872AD}"/>
              </a:ext>
            </a:extLst>
          </p:cNvPr>
          <p:cNvSpPr/>
          <p:nvPr/>
        </p:nvSpPr>
        <p:spPr>
          <a:xfrm>
            <a:off x="4809005" y="2421404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Like normal, but skips permission prompts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2A1BFD82-14EC-3CA8-972C-D46FB085F11B}"/>
              </a:ext>
            </a:extLst>
          </p:cNvPr>
          <p:cNvSpPr/>
          <p:nvPr/>
        </p:nvSpPr>
        <p:spPr>
          <a:xfrm>
            <a:off x="663725" y="3497854"/>
            <a:ext cx="107289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7CE98C06-B632-51A9-ECA2-9C5BBD3F2B0B}"/>
              </a:ext>
            </a:extLst>
          </p:cNvPr>
          <p:cNvSpPr/>
          <p:nvPr/>
        </p:nvSpPr>
        <p:spPr>
          <a:xfrm>
            <a:off x="907565" y="3497854"/>
            <a:ext cx="97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6B6D4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2133" dirty="0">
              <a:latin typeface="Montserrat" panose="00000500000000000000" pitchFamily="2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944C36B8-25B1-1592-D4CB-08CD98BA3C79}"/>
              </a:ext>
            </a:extLst>
          </p:cNvPr>
          <p:cNvSpPr/>
          <p:nvPr/>
        </p:nvSpPr>
        <p:spPr>
          <a:xfrm>
            <a:off x="2004845" y="3497854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46568D6B-D8CE-F635-0BF7-B7AF6B3DCDFF}"/>
              </a:ext>
            </a:extLst>
          </p:cNvPr>
          <p:cNvSpPr/>
          <p:nvPr/>
        </p:nvSpPr>
        <p:spPr>
          <a:xfrm>
            <a:off x="4809005" y="3497854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Read-only: Claude explores but never edits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9C526516-8E74-BAF6-588B-5D58AD54419C}"/>
              </a:ext>
            </a:extLst>
          </p:cNvPr>
          <p:cNvSpPr/>
          <p:nvPr/>
        </p:nvSpPr>
        <p:spPr>
          <a:xfrm>
            <a:off x="790260" y="451104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When to Use Plan Mode</a:t>
            </a:r>
            <a:endParaRPr lang="en-US" sz="2133" dirty="0">
              <a:latin typeface="Montserrat" panose="00000500000000000000" pitchFamily="2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E1340FE-1559-6D6E-3B18-3C175DB11CF8}"/>
              </a:ext>
            </a:extLst>
          </p:cNvPr>
          <p:cNvSpPr/>
          <p:nvPr/>
        </p:nvSpPr>
        <p:spPr>
          <a:xfrm>
            <a:off x="820909" y="4787265"/>
            <a:ext cx="51206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Multi-file changes where scope is unclear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Exploring unfamiliar codebases safely</a:t>
            </a:r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781CCC60-4AF2-7DBF-4DAD-3D48A7D5A40A}"/>
              </a:ext>
            </a:extLst>
          </p:cNvPr>
          <p:cNvSpPr/>
          <p:nvPr/>
        </p:nvSpPr>
        <p:spPr>
          <a:xfrm>
            <a:off x="6432390" y="4512945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When to Skip It</a:t>
            </a:r>
            <a:endParaRPr lang="en-US" sz="2133" dirty="0">
              <a:latin typeface="Montserrat" panose="00000500000000000000" pitchFamily="2" charset="0"/>
            </a:endParaRPr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78D86879-B33C-239B-207D-3CD196D0E89C}"/>
              </a:ext>
            </a:extLst>
          </p:cNvPr>
          <p:cNvSpPr/>
          <p:nvPr/>
        </p:nvSpPr>
        <p:spPr>
          <a:xfrm>
            <a:off x="6432390" y="4672691"/>
            <a:ext cx="51206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Fix is obvious (typo, rename, log line)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Scope is clear and well-defined</a:t>
            </a:r>
          </a:p>
        </p:txBody>
      </p:sp>
    </p:spTree>
    <p:extLst>
      <p:ext uri="{BB962C8B-B14F-4D97-AF65-F5344CB8AC3E}">
        <p14:creationId xmlns:p14="http://schemas.microsoft.com/office/powerpoint/2010/main" val="25392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6" grpId="0" animBg="1"/>
      <p:bldP spid="43" grpId="0" animBg="1"/>
      <p:bldP spid="50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D4CD-B20B-3D5C-F458-A6ABE567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372BE-2F4E-ADBE-F8FE-1DF0B249F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1BFE45-0E68-B120-3FD9-3097D2D42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F5AA7A3-12C2-C12C-C5BE-13D275A0369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Montserrat" charset="0"/>
                <a:ea typeface="Montserrat" charset="0"/>
                <a:cs typeface="Montserrat" charset="0"/>
              </a:rPr>
              <a:t>Installation and Quick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Demo of Claude Code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3A25DA-3B54-BEEF-25FF-2C9D716B8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2CA14-DDD0-C5C0-D694-26DA40DD31F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pic>
        <p:nvPicPr>
          <p:cNvPr id="4098" name="Picture 2" descr="AI Tools 101: Claude Code Guide to Build Real Apps Faster">
            <a:extLst>
              <a:ext uri="{FF2B5EF4-FFF2-40B4-BE49-F238E27FC236}">
                <a16:creationId xmlns:a16="http://schemas.microsoft.com/office/drawing/2014/main" id="{414087CB-DE2D-99D7-D481-110232927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477" y="1864965"/>
            <a:ext cx="5720348" cy="368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16;p5">
            <a:extLst>
              <a:ext uri="{FF2B5EF4-FFF2-40B4-BE49-F238E27FC236}">
                <a16:creationId xmlns:a16="http://schemas.microsoft.com/office/drawing/2014/main" id="{ECE3D64E-9313-80C1-46CB-5629FE187349}"/>
              </a:ext>
            </a:extLst>
          </p:cNvPr>
          <p:cNvSpPr txBox="1"/>
          <p:nvPr/>
        </p:nvSpPr>
        <p:spPr>
          <a:xfrm>
            <a:off x="166990" y="915981"/>
            <a:ext cx="11899671" cy="9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Show basic commands: /model, /status</a:t>
            </a:r>
          </a:p>
          <a:p>
            <a: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Montserrat"/>
                <a:ea typeface="Montserrat"/>
                <a:cs typeface="Montserrat"/>
                <a:sym typeface="Montserrat"/>
              </a:rPr>
              <a:t>Show Normal mode vs. plan mode vs. accept edits on  </a:t>
            </a:r>
          </a:p>
        </p:txBody>
      </p:sp>
    </p:spTree>
    <p:extLst>
      <p:ext uri="{BB962C8B-B14F-4D97-AF65-F5344CB8AC3E}">
        <p14:creationId xmlns:p14="http://schemas.microsoft.com/office/powerpoint/2010/main" val="171388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E060-1576-5DFA-7B8B-D5953F4C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BEACA-894A-9DAF-CF8D-E7432AA92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7C2B6D-34D3-AE77-5C54-B81D4B6528EC}"/>
              </a:ext>
            </a:extLst>
          </p:cNvPr>
          <p:cNvSpPr/>
          <p:nvPr/>
        </p:nvSpPr>
        <p:spPr>
          <a:xfrm>
            <a:off x="293915" y="205965"/>
            <a:ext cx="5336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1: BUILD A BUSINESS LANDING PAGE WITH NO SKILLS (PART 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ABACC-57A4-B937-D93B-E66C08B4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0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11FF-AEC5-8328-4C42-29172734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B32FC-9151-E6D6-CEF0-F7BB42AE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D0C2BD-78FB-247E-1EA8-FD2EBD2B62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3E0DCBB-2FFF-371E-28A5-F8710D4341D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1B469-C494-24DE-D382-0E0A013D6A8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150CE5-5C09-0C57-9B5B-9905EE378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19227-7064-E10C-E865-168617351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841" y="930176"/>
            <a:ext cx="4843644" cy="48232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C10627-7286-C5E1-0AA0-A4759D473954}"/>
              </a:ext>
            </a:extLst>
          </p:cNvPr>
          <p:cNvSpPr txBox="1"/>
          <p:nvPr/>
        </p:nvSpPr>
        <p:spPr>
          <a:xfrm>
            <a:off x="285570" y="930176"/>
            <a:ext cx="65103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Using Claude Code, we will build a single-page website for "Sugar &amp; Bloom" bakery; featuring a hero intro, interactive step-by-step cake quiz, menu with 6 cakes, customer reviews, and a contact/order form, all in one HTML file.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 baseline build without any skills</a:t>
            </a:r>
            <a:r>
              <a:rPr lang="en-US" altLang="en-US" dirty="0">
                <a:latin typeface="Montserrat" panose="00000500000000000000" pitchFamily="2" charset="0"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so we can later compare the raw output against a skill-enhanced version to see how much design quality and polish the frontend-design skill adds. </a:t>
            </a:r>
          </a:p>
        </p:txBody>
      </p:sp>
    </p:spTree>
    <p:extLst>
      <p:ext uri="{BB962C8B-B14F-4D97-AF65-F5344CB8AC3E}">
        <p14:creationId xmlns:p14="http://schemas.microsoft.com/office/powerpoint/2010/main" val="234560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0AF5-28D3-775B-B5BD-3ACF2DEB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C4631C-7207-4679-EE20-2CA38C74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1D78E-C70A-BD05-8FAC-B56D70457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4E3CE4A-B649-176D-C934-DE89FBFCA68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61B4C-55B5-12AF-0F12-CAA198856CC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C84AB8-745D-59B9-F25E-F64E8D558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A6A747AD-3A89-E13E-72DC-78BC4D89AC03}"/>
              </a:ext>
            </a:extLst>
          </p:cNvPr>
          <p:cNvSpPr/>
          <p:nvPr/>
        </p:nvSpPr>
        <p:spPr>
          <a:xfrm>
            <a:off x="320040" y="2055644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D56E4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400" dirty="0"/>
              <a:t>Build Raw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dirty="0"/>
              <a:t>One prompt → full</a:t>
            </a:r>
            <a:br>
              <a:rPr dirty="0"/>
            </a:br>
            <a:r>
              <a:rPr dirty="0"/>
              <a:t>landing page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DCC442B9-9019-BDAB-8B7F-29A9E11C556C}"/>
              </a:ext>
            </a:extLst>
          </p:cNvPr>
          <p:cNvSpPr/>
          <p:nvPr/>
        </p:nvSpPr>
        <p:spPr>
          <a:xfrm>
            <a:off x="1303020" y="137145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0" name="Right Arrow 7">
            <a:extLst>
              <a:ext uri="{FF2B5EF4-FFF2-40B4-BE49-F238E27FC236}">
                <a16:creationId xmlns:a16="http://schemas.microsoft.com/office/drawing/2014/main" id="{9A7C09C3-92D0-A0C9-CBD8-3EF09AD7A212}"/>
              </a:ext>
            </a:extLst>
          </p:cNvPr>
          <p:cNvSpPr/>
          <p:nvPr/>
        </p:nvSpPr>
        <p:spPr>
          <a:xfrm>
            <a:off x="3046476" y="2981618"/>
            <a:ext cx="1347630" cy="41148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37BC8796-3023-6BC0-99B9-04B609AC20DE}"/>
              </a:ext>
            </a:extLst>
          </p:cNvPr>
          <p:cNvSpPr/>
          <p:nvPr/>
        </p:nvSpPr>
        <p:spPr>
          <a:xfrm>
            <a:off x="4651662" y="2067218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0C175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400" dirty="0">
                <a:solidFill>
                  <a:schemeClr val="bg1"/>
                </a:solidFill>
              </a:rPr>
              <a:t>Install Skill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Add the frontend-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design skill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34760E33-5D0A-03D3-0763-96AF375AA6EA}"/>
              </a:ext>
            </a:extLst>
          </p:cNvPr>
          <p:cNvSpPr/>
          <p:nvPr/>
        </p:nvSpPr>
        <p:spPr>
          <a:xfrm>
            <a:off x="5603143" y="137145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</a:t>
            </a:r>
          </a:p>
        </p:txBody>
      </p:sp>
      <p:sp>
        <p:nvSpPr>
          <p:cNvPr id="14" name="Right Arrow 10">
            <a:extLst>
              <a:ext uri="{FF2B5EF4-FFF2-40B4-BE49-F238E27FC236}">
                <a16:creationId xmlns:a16="http://schemas.microsoft.com/office/drawing/2014/main" id="{0C7FE36D-7113-E4A8-3ED7-3FE2C32BB2F7}"/>
              </a:ext>
            </a:extLst>
          </p:cNvPr>
          <p:cNvSpPr/>
          <p:nvPr/>
        </p:nvSpPr>
        <p:spPr>
          <a:xfrm>
            <a:off x="7175405" y="2981618"/>
            <a:ext cx="1212309" cy="41148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7CCEEA1F-C04E-6530-72D3-7987F90E82E3}"/>
              </a:ext>
            </a:extLst>
          </p:cNvPr>
          <p:cNvSpPr/>
          <p:nvPr/>
        </p:nvSpPr>
        <p:spPr>
          <a:xfrm>
            <a:off x="8671560" y="2047582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11CCD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400" dirty="0"/>
              <a:t>Rebuild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dirty="0"/>
              <a:t>Same prompt →</a:t>
            </a:r>
            <a:br>
              <a:rPr dirty="0"/>
            </a:br>
            <a:r>
              <a:rPr dirty="0"/>
              <a:t>stunning upgrade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D1DF3A1C-991C-3196-99A2-0F77206325A1}"/>
              </a:ext>
            </a:extLst>
          </p:cNvPr>
          <p:cNvSpPr/>
          <p:nvPr/>
        </p:nvSpPr>
        <p:spPr>
          <a:xfrm>
            <a:off x="9730754" y="137174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B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67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8AEF-279F-1E90-65C6-B0A8C5FE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0D4E0-F2D4-6854-D01D-D9196DD9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ADB7DA-9BBA-6554-23DE-DC8BC65905A1}"/>
              </a:ext>
            </a:extLst>
          </p:cNvPr>
          <p:cNvSpPr/>
          <p:nvPr/>
        </p:nvSpPr>
        <p:spPr>
          <a:xfrm>
            <a:off x="293915" y="489004"/>
            <a:ext cx="47434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F20A6-D246-E4D5-4A0A-E505BB7F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8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ACDB-F354-6F6E-3AB6-CDFD6571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F09DD0-786D-13CC-9740-3419C8964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4199AF-6F1F-03AA-1FB4-B4F07F97F5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D0FF0A9-9936-F399-F321-0BA3E1089B9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a skill?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5FDCC-BA38-2D95-2BD9-0BB555DC7C0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45CF5F-C19B-D711-92B6-E71700E82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4BCE457-C02F-C790-D055-B9ED9450A149}"/>
              </a:ext>
            </a:extLst>
          </p:cNvPr>
          <p:cNvSpPr/>
          <p:nvPr/>
        </p:nvSpPr>
        <p:spPr>
          <a:xfrm>
            <a:off x="670560" y="950976"/>
            <a:ext cx="10607040" cy="1085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133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406DC5C-4547-B967-9C90-0237AAA3A64D}"/>
              </a:ext>
            </a:extLst>
          </p:cNvPr>
          <p:cNvSpPr/>
          <p:nvPr/>
        </p:nvSpPr>
        <p:spPr>
          <a:xfrm>
            <a:off x="487680" y="2541825"/>
            <a:ext cx="3474720" cy="347472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5E67E9C-29CB-E03C-A923-A8F878DE93E4}"/>
              </a:ext>
            </a:extLst>
          </p:cNvPr>
          <p:cNvSpPr/>
          <p:nvPr/>
        </p:nvSpPr>
        <p:spPr>
          <a:xfrm>
            <a:off x="670560" y="2700321"/>
            <a:ext cx="310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How it loads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1B77F8C-764D-C5B2-B726-A55C05122262}"/>
              </a:ext>
            </a:extLst>
          </p:cNvPr>
          <p:cNvSpPr/>
          <p:nvPr/>
        </p:nvSpPr>
        <p:spPr>
          <a:xfrm>
            <a:off x="670560" y="3224577"/>
            <a:ext cx="31089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reads the SKILL.md at the start of a task; automatically or when you call it with a slash command like /frontend-design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A8F2215-EB1B-0A04-54DB-7E1EDC594227}"/>
              </a:ext>
            </a:extLst>
          </p:cNvPr>
          <p:cNvSpPr/>
          <p:nvPr/>
        </p:nvSpPr>
        <p:spPr>
          <a:xfrm>
            <a:off x="4267200" y="2541825"/>
            <a:ext cx="3474720" cy="3474720"/>
          </a:xfrm>
          <a:prstGeom prst="rect">
            <a:avLst/>
          </a:prstGeom>
          <a:solidFill>
            <a:srgbClr val="1BBFD1"/>
          </a:solidFill>
          <a:ln w="19050">
            <a:noFill/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D180597-2DD2-E03F-AC4B-A2544582F164}"/>
              </a:ext>
            </a:extLst>
          </p:cNvPr>
          <p:cNvSpPr/>
          <p:nvPr/>
        </p:nvSpPr>
        <p:spPr>
          <a:xfrm>
            <a:off x="4450080" y="2700321"/>
            <a:ext cx="310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14A6688-4B63-AC8D-3903-C5D6411C7617}"/>
              </a:ext>
            </a:extLst>
          </p:cNvPr>
          <p:cNvSpPr/>
          <p:nvPr/>
        </p:nvSpPr>
        <p:spPr>
          <a:xfrm>
            <a:off x="4450080" y="3224577"/>
            <a:ext cx="31089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Instructions, best practices, templates, and optional scripts that Claude follows to complete the task correctly every time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05F9CCC0-27F7-B00F-4B98-5F81D39C6998}"/>
              </a:ext>
            </a:extLst>
          </p:cNvPr>
          <p:cNvSpPr/>
          <p:nvPr/>
        </p:nvSpPr>
        <p:spPr>
          <a:xfrm>
            <a:off x="8046720" y="2541825"/>
            <a:ext cx="3474720" cy="3474720"/>
          </a:xfrm>
          <a:prstGeom prst="rect">
            <a:avLst/>
          </a:prstGeom>
          <a:solidFill>
            <a:srgbClr val="D56E48"/>
          </a:solidFill>
          <a:ln w="19050">
            <a:noFill/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9151B90-D02D-ED06-F1D1-2AF8A81D6822}"/>
              </a:ext>
            </a:extLst>
          </p:cNvPr>
          <p:cNvSpPr/>
          <p:nvPr/>
        </p:nvSpPr>
        <p:spPr>
          <a:xfrm>
            <a:off x="8229600" y="2700321"/>
            <a:ext cx="3108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00641A94-3BF3-4284-F168-30D60DEC909E}"/>
              </a:ext>
            </a:extLst>
          </p:cNvPr>
          <p:cNvSpPr/>
          <p:nvPr/>
        </p:nvSpPr>
        <p:spPr>
          <a:xfrm>
            <a:off x="8229600" y="3224577"/>
            <a:ext cx="3108960" cy="262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 .claude/skills/ for a project, or ~/.claude/skills/ for personal use across all projects. 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C1F6B8C-E4C2-C94C-C452-C4BB5C9F8B95}"/>
              </a:ext>
            </a:extLst>
          </p:cNvPr>
          <p:cNvSpPr/>
          <p:nvPr/>
        </p:nvSpPr>
        <p:spPr>
          <a:xfrm>
            <a:off x="670560" y="594969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69FA9-6CBB-E542-A029-0EE3D2384CEF}"/>
              </a:ext>
            </a:extLst>
          </p:cNvPr>
          <p:cNvSpPr txBox="1"/>
          <p:nvPr/>
        </p:nvSpPr>
        <p:spPr>
          <a:xfrm>
            <a:off x="154722" y="914322"/>
            <a:ext cx="118419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A skill is a folder with a SKILL.md file; it gives Claude a detailed playbook and loads it automatically when the task is relevant.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10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86C7-9C61-0178-9610-39887921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B3F50-D8DA-5FAF-D185-04525A1A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FAE0E2-835B-946D-EFB6-90EB172566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00D3CCC-EC6E-1028-45B6-92981E49C0E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does a Skill file look like?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7CB1F-4C2F-FD85-36FE-E18DDA413E4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3BAD-8745-E1BE-2FFE-10E9A0D4B3FF}"/>
              </a:ext>
            </a:extLst>
          </p:cNvPr>
          <p:cNvSpPr txBox="1"/>
          <p:nvPr/>
        </p:nvSpPr>
        <p:spPr>
          <a:xfrm>
            <a:off x="236618" y="784575"/>
            <a:ext cx="115362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>
              <a:buClrTx/>
            </a:pPr>
            <a:r>
              <a:rPr lang="en-US" dirty="0"/>
              <a:t>Skills extend Claude's capabilities by giving it access to specialized knowledge and workflows. Create once, use everywhere.</a:t>
            </a:r>
          </a:p>
          <a:p>
            <a:pPr>
              <a:buClrTx/>
            </a:pPr>
            <a:r>
              <a:rPr lang="en-US" dirty="0"/>
              <a:t>Claude loads skills dynamically to improve performance on specialized tasks.</a:t>
            </a:r>
          </a:p>
          <a:p>
            <a:r>
              <a:rPr lang="en-US" dirty="0"/>
              <a:t>Every Skill requires a SKILL.md file. </a:t>
            </a:r>
          </a:p>
          <a:p>
            <a:r>
              <a:rPr lang="en-US" dirty="0"/>
              <a:t>Note that on the top of each SKILL.md file, there is metadata that describes what the skill does which includes name and description.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1AE7A-BB0C-D9BA-9A0F-0E74F409E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97" y="2771323"/>
            <a:ext cx="10695205" cy="37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6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2B1E-18FC-4AA6-B25F-972C6A66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DA7F8-472E-1EFD-2BD3-0E138248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B1A5E-89E6-ED2E-80E1-BCC23F0D45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15FA85-FA1A-E995-64FA-77386358B8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FC58B-B69E-FE8C-F725-A99CBA50270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9D5ABF-B61E-9960-E152-B27D42328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6" y="1080645"/>
            <a:ext cx="8514945" cy="42804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5622C-95B2-437A-B466-1EF6A764E66D}"/>
              </a:ext>
            </a:extLst>
          </p:cNvPr>
          <p:cNvSpPr txBox="1"/>
          <p:nvPr/>
        </p:nvSpPr>
        <p:spPr>
          <a:xfrm>
            <a:off x="6549361" y="1067237"/>
            <a:ext cx="49528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https://skills.sh/</a:t>
            </a:r>
            <a:endParaRPr lang="en-CA" sz="2000" dirty="0">
              <a:solidFill>
                <a:schemeClr val="bg1"/>
              </a:solidFill>
            </a:endParaRPr>
          </a:p>
          <a:p>
            <a:endParaRPr lang="en-CA" sz="2000" dirty="0">
              <a:solidFill>
                <a:schemeClr val="bg2"/>
              </a:solidFill>
            </a:endParaRPr>
          </a:p>
          <a:p>
            <a:endParaRPr lang="en-CA" sz="2000" dirty="0">
              <a:solidFill>
                <a:schemeClr val="bg2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D0CAC2-87D1-2904-82EA-789E1C247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423" y="1984615"/>
            <a:ext cx="6939064" cy="378458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47CE59-F8AF-D460-C48A-BF8857673361}"/>
              </a:ext>
            </a:extLst>
          </p:cNvPr>
          <p:cNvSpPr txBox="1"/>
          <p:nvPr/>
        </p:nvSpPr>
        <p:spPr>
          <a:xfrm>
            <a:off x="7163418" y="2141176"/>
            <a:ext cx="38980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rgbClr val="02291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https://www.skillhub.club/</a:t>
            </a:r>
            <a:endParaRPr lang="en-CA" sz="2000" dirty="0">
              <a:solidFill>
                <a:srgbClr val="022911"/>
              </a:solidFill>
            </a:endParaRPr>
          </a:p>
          <a:p>
            <a:endParaRPr lang="en-CA" sz="2000" dirty="0">
              <a:solidFill>
                <a:srgbClr val="02291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4F1B2F-B662-83BD-A3BC-175C44CC4D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1732" y="3463088"/>
            <a:ext cx="6269291" cy="323665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C1F8D8-DB43-1328-83F9-9A08668A2981}"/>
              </a:ext>
            </a:extLst>
          </p:cNvPr>
          <p:cNvSpPr txBox="1"/>
          <p:nvPr/>
        </p:nvSpPr>
        <p:spPr>
          <a:xfrm>
            <a:off x="8665224" y="3653701"/>
            <a:ext cx="2930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rgbClr val="02291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https://skillsmp.com/</a:t>
            </a:r>
            <a:endParaRPr lang="en-CA" sz="2000" dirty="0">
              <a:solidFill>
                <a:srgbClr val="022911"/>
              </a:solidFill>
            </a:endParaRPr>
          </a:p>
          <a:p>
            <a:endParaRPr lang="en-CA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EBC53-5776-8E5D-4A76-03F5BB74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212C-38BD-11FF-F76B-39087AC1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92D725-B98A-FCB5-19CC-4CC6601F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679DAF-2432-2B80-3557-53977CFB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14F9EAA-0651-062E-1026-8BCA3F26A90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Anthropic’s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Official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2024-C0E6-4DFB-5388-006AB9819A7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8D06A7-7D62-5D54-7409-4A31EB5F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328CAA5-9BD9-FDBB-3AA5-B8914024002B}"/>
              </a:ext>
            </a:extLst>
          </p:cNvPr>
          <p:cNvSpPr/>
          <p:nvPr/>
        </p:nvSpPr>
        <p:spPr>
          <a:xfrm>
            <a:off x="1001255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216FF97-4595-EF19-79B3-6ACBBD427B8D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solidFill>
            <a:srgbClr val="C0441C">
              <a:alpha val="25000"/>
            </a:srgbClr>
          </a:solidFill>
          <a:ln w="12700">
            <a:solidFill>
              <a:srgbClr val="C0441C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622CFB8-007D-D000-CCED-D083A3FFD36C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1524638-C978-562C-767F-E8D809B7D9BA}"/>
              </a:ext>
            </a:extLst>
          </p:cNvPr>
          <p:cNvSpPr/>
          <p:nvPr/>
        </p:nvSpPr>
        <p:spPr>
          <a:xfrm>
            <a:off x="1952230" y="1657625"/>
            <a:ext cx="166840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3D6E03-E213-9EE7-DB87-B835307E3BAA}"/>
              </a:ext>
            </a:extLst>
          </p:cNvPr>
          <p:cNvSpPr/>
          <p:nvPr/>
        </p:nvSpPr>
        <p:spPr>
          <a:xfrm>
            <a:off x="1184135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and edit .pptx presentations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305C27E-E5E7-9EAB-3626-290757A305FA}"/>
              </a:ext>
            </a:extLst>
          </p:cNvPr>
          <p:cNvSpPr/>
          <p:nvPr/>
        </p:nvSpPr>
        <p:spPr>
          <a:xfrm>
            <a:off x="4857290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3EAAF0B-C21A-A523-72DB-EB621BB781A2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solidFill>
            <a:srgbClr val="1D7044">
              <a:alpha val="25000"/>
            </a:srgbClr>
          </a:solidFill>
          <a:ln w="12700">
            <a:solidFill>
              <a:srgbClr val="1D7044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658D20-F66C-B82A-A8C7-782A194CF9CE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5FF1279-E931-FEEF-6E76-256FECC79162}"/>
              </a:ext>
            </a:extLst>
          </p:cNvPr>
          <p:cNvSpPr/>
          <p:nvPr/>
        </p:nvSpPr>
        <p:spPr>
          <a:xfrm>
            <a:off x="5808266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4EAAEF-DBB3-C2E4-73FD-4370A5560F63}"/>
              </a:ext>
            </a:extLst>
          </p:cNvPr>
          <p:cNvSpPr/>
          <p:nvPr/>
        </p:nvSpPr>
        <p:spPr>
          <a:xfrm>
            <a:off x="5040170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Build spreadsheets, charts, and formulas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CDCAF7D-EF70-CD1D-5871-923D83745991}"/>
              </a:ext>
            </a:extLst>
          </p:cNvPr>
          <p:cNvSpPr/>
          <p:nvPr/>
        </p:nvSpPr>
        <p:spPr>
          <a:xfrm>
            <a:off x="8471549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CBCCFF1-F048-C222-CCA6-7F5A40B7622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solidFill>
            <a:srgbClr val="2B579A">
              <a:alpha val="25000"/>
            </a:srgbClr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5DEE61F-A7A9-6A93-5BAE-69D4FBFCA35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487A9B3-1849-72CE-501C-49E334AC6F4D}"/>
              </a:ext>
            </a:extLst>
          </p:cNvPr>
          <p:cNvSpPr/>
          <p:nvPr/>
        </p:nvSpPr>
        <p:spPr>
          <a:xfrm>
            <a:off x="9422525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947B80E-87FF-0083-A5FA-3D85DE3E1002}"/>
              </a:ext>
            </a:extLst>
          </p:cNvPr>
          <p:cNvSpPr/>
          <p:nvPr/>
        </p:nvSpPr>
        <p:spPr>
          <a:xfrm>
            <a:off x="8654429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Generate and edit formatted .docx documents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C8605C97-D0DC-DD9E-3254-FD5E3D243AC3}"/>
              </a:ext>
            </a:extLst>
          </p:cNvPr>
          <p:cNvSpPr/>
          <p:nvPr/>
        </p:nvSpPr>
        <p:spPr>
          <a:xfrm>
            <a:off x="2886165" y="3790950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87F61F75-2C34-F84F-2813-F1B7DE103CD0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solidFill>
            <a:srgbClr val="CC3333">
              <a:alpha val="25000"/>
            </a:srgbClr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220F084-2A7B-31EF-B7FE-2EB0F11380C9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391EA55-85ED-56EE-1A8C-49DE8FC6F4B4}"/>
              </a:ext>
            </a:extLst>
          </p:cNvPr>
          <p:cNvSpPr/>
          <p:nvPr/>
        </p:nvSpPr>
        <p:spPr>
          <a:xfrm>
            <a:off x="3837141" y="4010406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A2717CB-4B4B-5671-A9E3-454CE3485E7F}"/>
              </a:ext>
            </a:extLst>
          </p:cNvPr>
          <p:cNvSpPr/>
          <p:nvPr/>
        </p:nvSpPr>
        <p:spPr>
          <a:xfrm>
            <a:off x="3069045" y="4571238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Create, fill, merge, and extract from PDFs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4C50D6F8-DCE4-F108-82EC-315AF336C4AC}"/>
              </a:ext>
            </a:extLst>
          </p:cNvPr>
          <p:cNvSpPr/>
          <p:nvPr/>
        </p:nvSpPr>
        <p:spPr>
          <a:xfrm>
            <a:off x="6744095" y="3821705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8BCE13E0-B3E9-B60E-62C9-1EB3D5237ABD}"/>
              </a:ext>
            </a:extLst>
          </p:cNvPr>
          <p:cNvSpPr/>
          <p:nvPr/>
        </p:nvSpPr>
        <p:spPr>
          <a:xfrm>
            <a:off x="6963551" y="4041161"/>
            <a:ext cx="2255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frontend-design</a:t>
            </a: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FD850338-105D-5140-8F4E-21278259C19A}"/>
              </a:ext>
            </a:extLst>
          </p:cNvPr>
          <p:cNvSpPr/>
          <p:nvPr/>
        </p:nvSpPr>
        <p:spPr>
          <a:xfrm>
            <a:off x="6926975" y="4601993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Production-grade UI with bold aesthetic choices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35FE79-E7E1-2075-5618-63D92561BDC0}"/>
              </a:ext>
            </a:extLst>
          </p:cNvPr>
          <p:cNvSpPr txBox="1"/>
          <p:nvPr/>
        </p:nvSpPr>
        <p:spPr>
          <a:xfrm>
            <a:off x="339657" y="829445"/>
            <a:ext cx="10570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Check the official skills list: </a:t>
            </a:r>
            <a:r>
              <a:rPr lang="en-CA" dirty="0">
                <a:latin typeface="Montserrat" panose="00000500000000000000" pitchFamily="2" charset="0"/>
                <a:hlinkClick r:id="rId5"/>
              </a:rPr>
              <a:t>https://github.com/anthropics/skills/tree/main/skills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21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33D0-19EF-25AA-E712-3511F491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E39806-D29C-0A0B-7514-33DAA83F6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86B30F-794C-0B1A-C2E0-D7F55B5F8F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E36731F-C11D-155B-1601-E1BB374DA9C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Example: frontend-design skill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E3B2B-5BBC-AD36-985C-38DB1D092EF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FB8C502-91CD-329F-4ABD-1C826973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B193FDB-BA2D-94A5-36FB-A8F3F1AF697A}"/>
              </a:ext>
            </a:extLst>
          </p:cNvPr>
          <p:cNvSpPr/>
          <p:nvPr/>
        </p:nvSpPr>
        <p:spPr>
          <a:xfrm>
            <a:off x="609600" y="907669"/>
            <a:ext cx="5242560" cy="5181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29DD307-3DAA-B370-7772-E3CF0355CC22}"/>
              </a:ext>
            </a:extLst>
          </p:cNvPr>
          <p:cNvSpPr/>
          <p:nvPr/>
        </p:nvSpPr>
        <p:spPr>
          <a:xfrm>
            <a:off x="792480" y="1066165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67" dirty="0">
              <a:latin typeface="Montserrat" panose="00000500000000000000" pitchFamily="2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A5F792A-EA62-031A-9A6E-DD58386F2C17}"/>
              </a:ext>
            </a:extLst>
          </p:cNvPr>
          <p:cNvSpPr/>
          <p:nvPr/>
        </p:nvSpPr>
        <p:spPr>
          <a:xfrm>
            <a:off x="822960" y="1297813"/>
            <a:ext cx="481584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Loads before Claude writes any UI code</a:t>
            </a:r>
            <a:endParaRPr lang="en-US" sz="1667" dirty="0">
              <a:latin typeface="Montserrat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Gives Claude a design philosophy; bold aesthetic choices, distinctive fonts, purposeful color palettes</a:t>
            </a:r>
            <a:endParaRPr lang="en-US" sz="1667" dirty="0">
              <a:latin typeface="Montserrat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Prevents the generic 'AI-generated' look</a:t>
            </a:r>
            <a:endParaRPr lang="en-US" sz="1667" dirty="0">
              <a:latin typeface="Montserrat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Enforces production-grade output; not just functional, but visually refined</a:t>
            </a:r>
            <a:endParaRPr lang="en-US" sz="1667" dirty="0">
              <a:latin typeface="Montserrat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Auto-triggers when you ask to build any web UI, dashboard, or component</a:t>
            </a:r>
            <a:endParaRPr lang="en-US" sz="1667" dirty="0">
              <a:latin typeface="Montserrat" panose="00000500000000000000" pitchFamily="2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43239D6-A45A-78E7-C5F5-BDF8045EFE05}"/>
              </a:ext>
            </a:extLst>
          </p:cNvPr>
          <p:cNvSpPr/>
          <p:nvPr/>
        </p:nvSpPr>
        <p:spPr>
          <a:xfrm>
            <a:off x="6217920" y="907669"/>
            <a:ext cx="5364480" cy="5181600"/>
          </a:xfrm>
          <a:prstGeom prst="rect">
            <a:avLst/>
          </a:prstGeom>
          <a:solidFill>
            <a:srgbClr val="0C1752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3141534-DE2D-AAF4-13C0-1AE028DC27A4}"/>
              </a:ext>
            </a:extLst>
          </p:cNvPr>
          <p:cNvSpPr/>
          <p:nvPr/>
        </p:nvSpPr>
        <p:spPr>
          <a:xfrm>
            <a:off x="6217920" y="907669"/>
            <a:ext cx="5364480" cy="46329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FD0E27E-3A58-FF9B-C5AE-6E5540A0A312}"/>
              </a:ext>
            </a:extLst>
          </p:cNvPr>
          <p:cNvSpPr/>
          <p:nvPr/>
        </p:nvSpPr>
        <p:spPr>
          <a:xfrm>
            <a:off x="6400800" y="944245"/>
            <a:ext cx="49987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 (simplified)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BD3FB3E-F33F-026B-3375-A1972B9F3FF1}"/>
              </a:ext>
            </a:extLst>
          </p:cNvPr>
          <p:cNvSpPr/>
          <p:nvPr/>
        </p:nvSpPr>
        <p:spPr>
          <a:xfrm>
            <a:off x="6339840" y="1480693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7CB139B-1BBE-3D52-0C7E-1CB1532F7B5C}"/>
              </a:ext>
            </a:extLst>
          </p:cNvPr>
          <p:cNvSpPr/>
          <p:nvPr/>
        </p:nvSpPr>
        <p:spPr>
          <a:xfrm>
            <a:off x="6339840" y="1712341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C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frontend-design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21814C3-ED4B-D6AE-91A8-F7CC464857E8}"/>
              </a:ext>
            </a:extLst>
          </p:cNvPr>
          <p:cNvSpPr/>
          <p:nvPr/>
        </p:nvSpPr>
        <p:spPr>
          <a:xfrm>
            <a:off x="6339840" y="1943989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Create distinctive,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FB02841-C839-5898-9CBD-B094DFC2A01B}"/>
              </a:ext>
            </a:extLst>
          </p:cNvPr>
          <p:cNvSpPr/>
          <p:nvPr/>
        </p:nvSpPr>
        <p:spPr>
          <a:xfrm>
            <a:off x="6339840" y="2175637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production-grade UI. Use when</a:t>
            </a: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E969F49-4280-DD47-2BCE-965F48DBCF24}"/>
              </a:ext>
            </a:extLst>
          </p:cNvPr>
          <p:cNvSpPr/>
          <p:nvPr/>
        </p:nvSpPr>
        <p:spPr>
          <a:xfrm>
            <a:off x="6339840" y="2407285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building web components,</a:t>
            </a:r>
            <a:endParaRPr lang="en-US" sz="1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0241990-49A1-B177-F1E3-0794A1947841}"/>
              </a:ext>
            </a:extLst>
          </p:cNvPr>
          <p:cNvSpPr/>
          <p:nvPr/>
        </p:nvSpPr>
        <p:spPr>
          <a:xfrm>
            <a:off x="6339840" y="2638933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dashboards, or any web UI.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3AB6CAE-F59C-41C1-54A5-8AC3BFBC8CE1}"/>
              </a:ext>
            </a:extLst>
          </p:cNvPr>
          <p:cNvSpPr/>
          <p:nvPr/>
        </p:nvSpPr>
        <p:spPr>
          <a:xfrm>
            <a:off x="6339840" y="2870581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08B9B3C-0347-CDD2-9FC1-C5A955FF47DA}"/>
              </a:ext>
            </a:extLst>
          </p:cNvPr>
          <p:cNvSpPr/>
          <p:nvPr/>
        </p:nvSpPr>
        <p:spPr>
          <a:xfrm>
            <a:off x="6339840" y="3333877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writing code, commit to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207D42C-B371-9422-A9AD-42691086BD5B}"/>
              </a:ext>
            </a:extLst>
          </p:cNvPr>
          <p:cNvSpPr/>
          <p:nvPr/>
        </p:nvSpPr>
        <p:spPr>
          <a:xfrm>
            <a:off x="6339840" y="3565525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BOLD aesthetic direction:</a:t>
            </a:r>
            <a:endParaRPr lang="en-US" sz="14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3F4260A-C2A0-803B-6D9A-68610D3EDA26}"/>
              </a:ext>
            </a:extLst>
          </p:cNvPr>
          <p:cNvSpPr/>
          <p:nvPr/>
        </p:nvSpPr>
        <p:spPr>
          <a:xfrm>
            <a:off x="6339840" y="4028821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Pick a tone: minimal, luxury,</a:t>
            </a:r>
            <a:endParaRPr lang="en-US" sz="14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5D6EA1-DE85-9419-B14E-377B01CE9C20}"/>
              </a:ext>
            </a:extLst>
          </p:cNvPr>
          <p:cNvSpPr/>
          <p:nvPr/>
        </p:nvSpPr>
        <p:spPr>
          <a:xfrm>
            <a:off x="6339840" y="4260469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editorial, brutalist...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77A7F8F-74E0-8FBB-DBCA-3FCD1067E05B}"/>
              </a:ext>
            </a:extLst>
          </p:cNvPr>
          <p:cNvSpPr/>
          <p:nvPr/>
        </p:nvSpPr>
        <p:spPr>
          <a:xfrm>
            <a:off x="6339840" y="4492117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Choose distinctive fonts</a:t>
            </a:r>
            <a:endParaRPr lang="en-US" sz="14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198130A-5555-53F4-7D74-82C526BD5EF3}"/>
              </a:ext>
            </a:extLst>
          </p:cNvPr>
          <p:cNvSpPr/>
          <p:nvPr/>
        </p:nvSpPr>
        <p:spPr>
          <a:xfrm>
            <a:off x="6339840" y="4723765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purposeful color palettes</a:t>
            </a:r>
            <a:endParaRPr lang="en-US" sz="14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6FEEAAD-000F-04D8-52A4-922AF03529FC}"/>
              </a:ext>
            </a:extLst>
          </p:cNvPr>
          <p:cNvSpPr/>
          <p:nvPr/>
        </p:nvSpPr>
        <p:spPr>
          <a:xfrm>
            <a:off x="6339840" y="4955413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meaningful animations</a:t>
            </a:r>
            <a:endParaRPr lang="en-US" sz="14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00439DB0-4ADB-C915-D722-A048FC7AFA96}"/>
              </a:ext>
            </a:extLst>
          </p:cNvPr>
          <p:cNvSpPr/>
          <p:nvPr/>
        </p:nvSpPr>
        <p:spPr>
          <a:xfrm>
            <a:off x="6339840" y="5187061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Make it UNFORGETTABLE</a:t>
            </a:r>
            <a:endParaRPr lang="en-US" sz="1400" dirty="0"/>
          </a:p>
        </p:txBody>
      </p:sp>
      <p:sp>
        <p:nvSpPr>
          <p:cNvPr id="29" name="Shape 41">
            <a:extLst>
              <a:ext uri="{FF2B5EF4-FFF2-40B4-BE49-F238E27FC236}">
                <a16:creationId xmlns:a16="http://schemas.microsoft.com/office/drawing/2014/main" id="{C92DBB5C-1D93-47F7-895C-31877C55B90B}"/>
              </a:ext>
            </a:extLst>
          </p:cNvPr>
          <p:cNvSpPr/>
          <p:nvPr/>
        </p:nvSpPr>
        <p:spPr>
          <a:xfrm>
            <a:off x="609600" y="6180709"/>
            <a:ext cx="11033760" cy="426720"/>
          </a:xfrm>
          <a:prstGeom prst="rect">
            <a:avLst/>
          </a:prstGeom>
          <a:solidFill>
            <a:srgbClr val="D56E48"/>
          </a:solidFill>
          <a:ln w="63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0" name="Text 42">
            <a:extLst>
              <a:ext uri="{FF2B5EF4-FFF2-40B4-BE49-F238E27FC236}">
                <a16:creationId xmlns:a16="http://schemas.microsoft.com/office/drawing/2014/main" id="{D533F49D-43FA-93FB-CA89-36D091864F11}"/>
              </a:ext>
            </a:extLst>
          </p:cNvPr>
          <p:cNvSpPr/>
          <p:nvPr/>
        </p:nvSpPr>
        <p:spPr>
          <a:xfrm>
            <a:off x="792480" y="6180709"/>
            <a:ext cx="1060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npx skills add anthropics/claude-code --skill frontend-design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22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6D51-89CB-84EF-35B5-B3AACB2A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5F258-4312-5F7B-D9A7-35C9E901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305CB3-39D2-C189-C8A3-E1FD94720516}"/>
              </a:ext>
            </a:extLst>
          </p:cNvPr>
          <p:cNvSpPr/>
          <p:nvPr/>
        </p:nvSpPr>
        <p:spPr>
          <a:xfrm>
            <a:off x="293915" y="205965"/>
            <a:ext cx="533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1: INSTALL FRONT-END DESIGN SKILL (PART B)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94DA2-908C-D677-3242-7F7E4323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84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7FEFA-67E5-1229-F964-28194FD4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AE37D7-2F07-32E8-420E-8098E6C1A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DFEA39-B1E2-F5ED-39B5-0BA775F2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2F34FABC-4474-DA58-F249-E4023942D77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6C70D-51F5-D875-9252-6A067A13B68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BE1D20-31BF-9965-1157-AB2D20B1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C8661-8C6F-9763-9D02-1378AD24FEDE}"/>
              </a:ext>
            </a:extLst>
          </p:cNvPr>
          <p:cNvSpPr txBox="1"/>
          <p:nvPr/>
        </p:nvSpPr>
        <p:spPr>
          <a:xfrm>
            <a:off x="117756" y="1009948"/>
            <a:ext cx="6397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Using Claude Code, we will build a single-page website for "Sugar &amp; Bloom" bakery with the frontend design skill.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77B907-ACBA-A515-1097-55A534E1C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18" y="1009948"/>
            <a:ext cx="5459477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4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2283-4E6D-6791-4146-54AC13A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C19598-5EED-F80B-CB20-E34F2C17F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2BAD53-FD50-84B8-8141-8D9A12C908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ED8F0E9-A38A-C1DF-04FB-3135100798D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Before and After Using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55915-6979-10FD-89D6-781F5DEB95B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E00327-8FA8-56D7-B8F8-38EA797DC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990A9FE3-6FF7-6FC6-DF0D-1111ADA9219E}"/>
              </a:ext>
            </a:extLst>
          </p:cNvPr>
          <p:cNvSpPr/>
          <p:nvPr/>
        </p:nvSpPr>
        <p:spPr>
          <a:xfrm>
            <a:off x="274320" y="137160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C1752"/>
                </a:solidFill>
                <a:latin typeface="Montserrat"/>
              </a:defRPr>
            </a:pPr>
            <a:r>
              <a:t>npx skills add anthropics/claude-code --skill frontend-design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3507675E-C32A-2F07-BAF8-CBA9933CF85A}"/>
              </a:ext>
            </a:extLst>
          </p:cNvPr>
          <p:cNvSpPr/>
          <p:nvPr/>
        </p:nvSpPr>
        <p:spPr>
          <a:xfrm>
            <a:off x="240137" y="2683559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0C1752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t"/>
          <a:lstStyle/>
          <a:p>
            <a:pPr algn="ctr">
              <a:defRPr sz="1800" b="1">
                <a:solidFill>
                  <a:srgbClr val="D56E48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Without Skill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Default fonts (Arial, system fonts)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Muted, safe color palette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Predictable card layouts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Minimal animations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endParaRPr dirty="0">
              <a:solidFill>
                <a:schemeClr val="bg1"/>
              </a:solidFill>
            </a:endParaRPr>
          </a:p>
          <a:p>
            <a:pPr algn="l">
              <a:spcBef>
                <a:spcPts val="600"/>
              </a:spcBef>
              <a:defRPr sz="1400" b="1">
                <a:solidFill>
                  <a:srgbClr val="D56E48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It works... but looks generic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6CF25E5-1815-AAE0-4B0D-C4B40122CF1D}"/>
              </a:ext>
            </a:extLst>
          </p:cNvPr>
          <p:cNvSpPr/>
          <p:nvPr/>
        </p:nvSpPr>
        <p:spPr>
          <a:xfrm>
            <a:off x="5635097" y="3963719"/>
            <a:ext cx="457200" cy="411480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9F3AE2F6-3531-4B9E-AE50-92261F697CC5}"/>
              </a:ext>
            </a:extLst>
          </p:cNvPr>
          <p:cNvSpPr/>
          <p:nvPr/>
        </p:nvSpPr>
        <p:spPr>
          <a:xfrm>
            <a:off x="6183737" y="2683559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D56E48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t"/>
          <a:lstStyle/>
          <a:p>
            <a:pPr algn="ctr">
              <a:defRPr sz="1800" b="1">
                <a:solidFill>
                  <a:srgbClr val="6CCAD8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With frontend-design Skill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Bold, intentional typography pairings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Distinctive color palette with accents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Professional layout with visual hierarchy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Purposeful animations and micro-interactions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 sz="1400" b="0">
                <a:solidFill>
                  <a:srgbClr val="333333"/>
                </a:solidFill>
                <a:latin typeface="Montserrat"/>
              </a:defRPr>
            </a:pPr>
            <a:endParaRPr dirty="0">
              <a:solidFill>
                <a:schemeClr val="bg1"/>
              </a:solidFill>
            </a:endParaRPr>
          </a:p>
          <a:p>
            <a:pPr algn="l">
              <a:spcBef>
                <a:spcPts val="600"/>
              </a:spcBef>
              <a:defRPr sz="1400" b="1">
                <a:solidFill>
                  <a:srgbClr val="6CCAD8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Looks like a designer built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0C130A-8DF8-5521-4237-E04B246882D0}"/>
              </a:ext>
            </a:extLst>
          </p:cNvPr>
          <p:cNvSpPr txBox="1"/>
          <p:nvPr/>
        </p:nvSpPr>
        <p:spPr>
          <a:xfrm>
            <a:off x="240137" y="788868"/>
            <a:ext cx="1157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i="0" u="none" strike="noStrike" cap="none" normalizeH="0" baseline="0">
                <a:ln>
                  <a:noFill/>
                </a:ln>
                <a:effectLst/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Using the same prompt but with the frontend-design skill leads to a radically different result.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5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F5BD-5BEB-F3B3-06E5-C88E4A92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AA535-90CB-496B-8B1F-31D59B2C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4E12B1-CCD3-6443-C597-7A2A9781B8DC}"/>
              </a:ext>
            </a:extLst>
          </p:cNvPr>
          <p:cNvSpPr/>
          <p:nvPr/>
        </p:nvSpPr>
        <p:spPr>
          <a:xfrm>
            <a:off x="293915" y="205965"/>
            <a:ext cx="533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D85B9-7502-7E9B-DCD0-4B8F5A0AD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76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E2FF-4D12-4AB1-15B0-8A29A91D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25B21C-D142-6C03-A874-B625D81D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AFCD39-ED58-E3C5-7A44-D7E72D79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35A18A5-C4F6-75C9-5311-82839B79873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02713-A81E-E51E-4CB0-5F44106D663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57A0B-6730-2D3A-4A99-C7668329DA13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849106E-94D0-A5D7-DCD2-89478663F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EFFCC-8FDE-188B-11B7-E6FF17D59EAF}"/>
              </a:ext>
            </a:extLst>
          </p:cNvPr>
          <p:cNvSpPr txBox="1"/>
          <p:nvPr/>
        </p:nvSpPr>
        <p:spPr>
          <a:xfrm>
            <a:off x="153409" y="907669"/>
            <a:ext cx="92754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Build a landing page for a boutique pet grooming salon that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A hero section with the name "Mindful Paws" and tagline "Where grooming meets calm“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An interactive booking quiz: Pet type (Dog/Cat/Other) → Size (Small/Medium/Large) → Service (Bath &amp; Brush, Full Groom, Spa Day) → shows a price estimate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A services section with 4 services, each with a description and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A gallery section with image placeholders of happy pets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A booking form with pet name, owner name, phone, and preferred date</a:t>
            </a:r>
          </a:p>
          <a:p>
            <a:endParaRPr lang="en-US" sz="1600" dirty="0">
              <a:latin typeface="Montserrat" panose="00000500000000000000" pitchFamily="2" charset="0"/>
            </a:endParaRPr>
          </a:p>
          <a:p>
            <a:r>
              <a:rPr lang="en-US" sz="1600" b="1" dirty="0">
                <a:latin typeface="Montserrat" panose="00000500000000000000" pitchFamily="2" charset="0"/>
              </a:rPr>
              <a:t>The Challenge:</a:t>
            </a:r>
          </a:p>
          <a:p>
            <a:endParaRPr lang="en-US" sz="1600" b="1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Montserrat" panose="00000500000000000000" pitchFamily="2" charset="0"/>
              </a:rPr>
              <a:t>Build it raw: no skill, just one prompt. Save as `[business_name].html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Montserrat" panose="00000500000000000000" pitchFamily="2" charset="0"/>
              </a:rPr>
              <a:t>Rebuild with skill: same prompt, frontend-design skill active. Save as `[</a:t>
            </a:r>
            <a:r>
              <a:rPr lang="en-US" sz="1600" dirty="0" err="1">
                <a:latin typeface="Montserrat" panose="00000500000000000000" pitchFamily="2" charset="0"/>
              </a:rPr>
              <a:t>business_name</a:t>
            </a:r>
            <a:r>
              <a:rPr lang="en-US" sz="1600" dirty="0">
                <a:latin typeface="Montserrat" panose="00000500000000000000" pitchFamily="2" charset="0"/>
              </a:rPr>
              <a:t>]_v2.html`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Montserrat" panose="00000500000000000000" pitchFamily="2" charset="0"/>
              </a:rPr>
              <a:t>Compare: open both side by side. What changed? Write your own Claude Code prompt following the CIIO format (Context, Instruction, Input, Output).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4654B-1C83-9908-9DE5-0BFEBA4170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31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9E23-2BAB-73A6-BF7A-29AE3F48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07622-66D1-F07B-59A8-4CD4022B4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0EEB3D-C926-4597-B1EB-79C7177C29F2}"/>
              </a:ext>
            </a:extLst>
          </p:cNvPr>
          <p:cNvSpPr/>
          <p:nvPr/>
        </p:nvSpPr>
        <p:spPr>
          <a:xfrm>
            <a:off x="293915" y="205965"/>
            <a:ext cx="533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SLASH COMMANDS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6689C-C050-81DC-4F24-8C9EB117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77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Use Claude </a:t>
            </a:r>
            <a:r>
              <a:rPr sz="2400" dirty="0">
                <a:solidFill>
                  <a:schemeClr val="bg1"/>
                </a:solidFill>
                <a:latin typeface="Montserrat" charset="0"/>
              </a:rPr>
              <a:t>Built-in Slash Commands</a:t>
            </a: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16" y="812899"/>
            <a:ext cx="116246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i="0" u="none" strike="noStrike" cap="none" normalizeH="0" baseline="0">
                <a:ln>
                  <a:noFill/>
                </a:ln>
                <a:effectLst/>
                <a:latin typeface="Montserrat" panose="00000500000000000000" pitchFamily="2" charset="0"/>
              </a:defRPr>
            </a:lvl1pPr>
          </a:lstStyle>
          <a:p>
            <a:r>
              <a:rPr lang="en-US" altLang="en-US" sz="1600" dirty="0"/>
              <a:t>A slash command is a shortcut that starts with </a:t>
            </a:r>
            <a:r>
              <a:rPr lang="en-US" altLang="en-US" sz="1600" b="1" dirty="0"/>
              <a:t>/</a:t>
            </a:r>
            <a:r>
              <a:rPr lang="en-US" altLang="en-US" sz="1600" dirty="0"/>
              <a:t> to quickly trigger an action in Claude Code. </a:t>
            </a:r>
          </a:p>
          <a:p>
            <a:r>
              <a:rPr lang="en-US" altLang="en-US" sz="1600" dirty="0"/>
              <a:t>It helps you work faster by giving structured instructions to Claude. Instead of typing a long request, the slash command immediately tells the AI what kind of operation you want.</a:t>
            </a:r>
            <a:endParaRPr lang="en-CA" sz="1600" dirty="0"/>
          </a:p>
          <a:p>
            <a:r>
              <a:rPr sz="1600" dirty="0"/>
              <a:t>Type / in Claude Code to see all available commands</a:t>
            </a:r>
            <a:r>
              <a:rPr lang="en-CA" sz="1600" dirty="0"/>
              <a:t>. </a:t>
            </a:r>
            <a:r>
              <a:rPr lang="en-US" sz="1600" dirty="0"/>
              <a:t>These are built-in slash commands. The real power is creating your own commands.</a:t>
            </a:r>
          </a:p>
          <a:p>
            <a:endParaRPr lang="en-CA" sz="1600" dirty="0"/>
          </a:p>
          <a:p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627395" y="21571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6CCAD8"/>
                </a:solidFill>
                <a:latin typeface="Montserrat"/>
              </a:rPr>
              <a:t>/help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See all available commands and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6675" y="21571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D56E48"/>
                </a:solidFill>
                <a:latin typeface="Montserrat"/>
              </a:rPr>
              <a:t>/</a:t>
            </a:r>
            <a:r>
              <a:rPr lang="en-CA" b="1" dirty="0">
                <a:solidFill>
                  <a:srgbClr val="D56E48"/>
                </a:solidFill>
                <a:latin typeface="Montserrat"/>
              </a:rPr>
              <a:t>usage</a:t>
            </a:r>
            <a:r>
              <a:rPr b="1" dirty="0">
                <a:solidFill>
                  <a:srgbClr val="D56E48"/>
                </a:solidFill>
                <a:latin typeface="Montserrat"/>
              </a:rPr>
              <a:t>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Check your token usage and spending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395" y="30715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>
                <a:solidFill>
                  <a:srgbClr val="0C1752"/>
                </a:solidFill>
                <a:latin typeface="Montserrat"/>
              </a:rPr>
              <a:t>/model  </a:t>
            </a:r>
            <a:r>
              <a:rPr sz="1400">
                <a:solidFill>
                  <a:srgbClr val="333333"/>
                </a:solidFill>
                <a:latin typeface="Montserrat"/>
              </a:rPr>
              <a:t>Switch between AI models (faster vs smarter)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6675" y="30715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6CCAD8"/>
                </a:solidFill>
                <a:latin typeface="Montserrat"/>
              </a:rPr>
              <a:t>/compact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Summarize conversation to free up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95" y="39859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D56E48"/>
                </a:solidFill>
                <a:latin typeface="Montserrat"/>
              </a:rPr>
              <a:t>/diff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Review all file changes Claude just made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6675" y="39859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>
                <a:solidFill>
                  <a:srgbClr val="0C1752"/>
                </a:solidFill>
                <a:latin typeface="Montserrat"/>
              </a:rPr>
              <a:t>/status  </a:t>
            </a:r>
            <a:r>
              <a:rPr sz="1400">
                <a:solidFill>
                  <a:srgbClr val="333333"/>
                </a:solidFill>
                <a:latin typeface="Montserrat"/>
              </a:rPr>
              <a:t>Check your account, model, and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395" y="49003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6CCAD8"/>
                </a:solidFill>
                <a:latin typeface="Montserrat"/>
              </a:rPr>
              <a:t>/skills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List all installed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6675" y="4900339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>
                <a:solidFill>
                  <a:srgbClr val="D56E48"/>
                </a:solidFill>
                <a:latin typeface="Montserrat"/>
              </a:rPr>
              <a:t>/init  </a:t>
            </a:r>
            <a:r>
              <a:rPr sz="1400">
                <a:solidFill>
                  <a:srgbClr val="333333"/>
                </a:solidFill>
                <a:latin typeface="Montserrat"/>
              </a:rPr>
              <a:t>Create a CLAUDE.md project guide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3B9BF7D3-1F98-E518-8BD2-FC1DCDA885B9}"/>
              </a:ext>
            </a:extLst>
          </p:cNvPr>
          <p:cNvSpPr/>
          <p:nvPr/>
        </p:nvSpPr>
        <p:spPr>
          <a:xfrm>
            <a:off x="3408695" y="5782505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b="1" dirty="0">
                <a:solidFill>
                  <a:srgbClr val="6CCAD8"/>
                </a:solidFill>
                <a:latin typeface="Montserrat"/>
              </a:rPr>
              <a:t>/</a:t>
            </a:r>
            <a:r>
              <a:rPr lang="en-CA" b="1" dirty="0">
                <a:solidFill>
                  <a:srgbClr val="6CCAD8"/>
                </a:solidFill>
                <a:latin typeface="Montserrat"/>
              </a:rPr>
              <a:t>context</a:t>
            </a:r>
            <a:r>
              <a:rPr b="1" dirty="0">
                <a:solidFill>
                  <a:srgbClr val="6CCAD8"/>
                </a:solidFill>
                <a:latin typeface="Montserrat"/>
              </a:rPr>
              <a:t>  </a:t>
            </a:r>
            <a:r>
              <a:rPr lang="en-CA" sz="1400" dirty="0">
                <a:solidFill>
                  <a:srgbClr val="333333"/>
                </a:solidFill>
                <a:latin typeface="Montserrat"/>
              </a:rPr>
              <a:t>shows Claude context window utilization</a:t>
            </a:r>
            <a:endParaRPr sz="1400" dirty="0">
              <a:solidFill>
                <a:srgbClr val="333333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5DF1-4BB0-8945-AEBF-3BB03A50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42D1-28F7-A77E-671C-769552DC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702AA-22FD-219E-C0A1-37DED7104C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38036B8-33E4-2C02-B8C2-7512E0EDBDC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Slash Commands Demo in Claude Code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22137A-2802-5C9E-B589-DD0F5B674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D9224-3EDC-2B03-AAEA-A74C178F860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pic>
        <p:nvPicPr>
          <p:cNvPr id="4098" name="Picture 2" descr="AI Tools 101: Claude Code Guide to Build Real Apps Faster">
            <a:extLst>
              <a:ext uri="{FF2B5EF4-FFF2-40B4-BE49-F238E27FC236}">
                <a16:creationId xmlns:a16="http://schemas.microsoft.com/office/drawing/2014/main" id="{C8E5198A-348F-D60A-19AC-771918A4B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477" y="1864965"/>
            <a:ext cx="5720348" cy="368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410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9FF6-3588-1D2D-0C77-5A19AF1A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ED8E5-4060-5987-7FCF-B96288EAB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8D7E7E-484A-B812-DD40-131671B0DB1E}"/>
              </a:ext>
            </a:extLst>
          </p:cNvPr>
          <p:cNvSpPr/>
          <p:nvPr/>
        </p:nvSpPr>
        <p:spPr>
          <a:xfrm>
            <a:off x="134842" y="120240"/>
            <a:ext cx="53368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2: GENERATE BRANDED ASSETS WITH SLASH COMMANDS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7BA696-34D7-1E31-827D-90E3538E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04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Project 2: Create a slash command for your brand 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22" y="866448"/>
            <a:ext cx="11037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Montserrat"/>
              </a:defRPr>
            </a:lvl1pPr>
          </a:lstStyle>
          <a:p>
            <a:r>
              <a:rPr lang="en-CA" sz="1800" dirty="0"/>
              <a:t>Instead of </a:t>
            </a:r>
            <a:r>
              <a:rPr sz="1800" dirty="0"/>
              <a:t>explain</a:t>
            </a:r>
            <a:r>
              <a:rPr lang="en-CA" sz="1800" dirty="0" err="1"/>
              <a:t>ing</a:t>
            </a:r>
            <a:r>
              <a:rPr sz="1800" dirty="0"/>
              <a:t> your brand</a:t>
            </a:r>
            <a:r>
              <a:rPr lang="en-CA" sz="1800" dirty="0"/>
              <a:t> </a:t>
            </a:r>
            <a:r>
              <a:rPr sz="1800" dirty="0"/>
              <a:t>Every</a:t>
            </a:r>
            <a:r>
              <a:rPr lang="en-CA" sz="1800" dirty="0"/>
              <a:t> </a:t>
            </a:r>
            <a:r>
              <a:rPr sz="1800" dirty="0"/>
              <a:t>Single</a:t>
            </a:r>
            <a:r>
              <a:rPr lang="en-CA" sz="1800" dirty="0"/>
              <a:t> </a:t>
            </a:r>
            <a:r>
              <a:rPr sz="1800" dirty="0"/>
              <a:t>Time.</a:t>
            </a:r>
            <a:r>
              <a:rPr lang="en-CA" sz="1800" dirty="0"/>
              <a:t> We can create a slash command that includes all our details. </a:t>
            </a:r>
            <a:endParaRPr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798195" y="1698377"/>
            <a:ext cx="814578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  <a:defRPr sz="1500">
                <a:solidFill>
                  <a:srgbClr val="333333"/>
                </a:solidFill>
                <a:latin typeface="Montserrat"/>
              </a:defRPr>
            </a:pPr>
            <a:r>
              <a:rPr dirty="0"/>
              <a:t>"Use a warm tone but keep it professional"</a:t>
            </a:r>
          </a:p>
          <a:p>
            <a:pPr marL="285750" indent="-285750" algn="l">
              <a:spcBef>
                <a:spcPts val="10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defRPr sz="1500" b="0">
                <a:solidFill>
                  <a:srgbClr val="333333"/>
                </a:solidFill>
                <a:latin typeface="Montserrat"/>
              </a:defRPr>
            </a:pPr>
            <a:r>
              <a:rPr lang="en-CA" dirty="0"/>
              <a:t>"</a:t>
            </a:r>
            <a:r>
              <a:rPr dirty="0"/>
              <a:t>My brand colors are #D4786A and #2C3E50"</a:t>
            </a:r>
          </a:p>
          <a:p>
            <a:pPr marL="285750" indent="-285750" algn="l">
              <a:spcBef>
                <a:spcPts val="10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defRPr sz="15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"Don't say 'utilize' or 'leverage'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745" y="385293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56E48"/>
                </a:solidFill>
                <a:latin typeface="Montserrat"/>
              </a:defRPr>
            </a:pPr>
            <a:r>
              <a:rPr dirty="0"/>
              <a:t>Without Brand Command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"Write me an email" </a:t>
            </a:r>
            <a:r>
              <a:rPr lang="en-CA" sz="1600" dirty="0"/>
              <a:t>leads to a </a:t>
            </a:r>
            <a:r>
              <a:rPr sz="1600" dirty="0"/>
              <a:t>generic tone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D56E48"/>
                </a:solidFill>
                <a:latin typeface="Montserrat"/>
              </a:defRPr>
            </a:pPr>
            <a:r>
              <a:rPr sz="1600" dirty="0">
                <a:solidFill>
                  <a:srgbClr val="333333"/>
                </a:solidFill>
                <a:latin typeface="Montserrat"/>
              </a:rPr>
              <a:t>Every output sounds different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6063" y="3840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6CCAD8"/>
                </a:solidFill>
                <a:latin typeface="Montserrat"/>
              </a:defRPr>
            </a:pPr>
            <a:r>
              <a:rPr dirty="0"/>
              <a:t>With /my-brand Command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"Write me an email" </a:t>
            </a:r>
            <a:r>
              <a:rPr lang="en-CA" sz="1600" dirty="0"/>
              <a:t>will use </a:t>
            </a:r>
            <a:r>
              <a:rPr sz="1600" dirty="0"/>
              <a:t>your voice</a:t>
            </a:r>
            <a:r>
              <a:rPr lang="en-CA" sz="1600" dirty="0"/>
              <a:t> and</a:t>
            </a:r>
            <a:r>
              <a:rPr sz="1600" dirty="0"/>
              <a:t> your </a:t>
            </a:r>
            <a:r>
              <a:rPr lang="en-CA" sz="1600" dirty="0"/>
              <a:t>colours.</a:t>
            </a:r>
            <a:endParaRPr sz="1600" dirty="0"/>
          </a:p>
          <a:p>
            <a:pPr algn="ctr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Every output is consistently on-brand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C006E7-42A0-CD69-66D0-66B8B429C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Create /my-brand</a:t>
            </a: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69" y="1240155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Your brand kit in one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569" y="1743075"/>
            <a:ext cx="566928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t>Brand Identity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t>Name, tagline, mission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569" y="2492883"/>
            <a:ext cx="566928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t>Colors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t>Primary #1A1A2E • Secondary #E8D5B7 • Accent #C9A96E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569" y="3242691"/>
            <a:ext cx="566928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Typography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rPr dirty="0"/>
              <a:t>Cormorant Garamond headings + Nunito Sans 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569" y="3992499"/>
            <a:ext cx="566928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Tone of Voice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rPr dirty="0"/>
              <a:t>Calm, artistic, confident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569" y="4742307"/>
            <a:ext cx="566928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Vocabulary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rPr dirty="0"/>
              <a:t>Use: timeless, craft, story  |  Avoid: cheap, snap, basic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8741" y="3014091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1905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t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File Location:</a:t>
            </a:r>
          </a:p>
          <a:p>
            <a:pPr>
              <a:spcBef>
                <a:spcPts val="800"/>
              </a:spcBef>
              <a:defRPr sz="1400" b="1">
                <a:solidFill>
                  <a:srgbClr val="D56E48"/>
                </a:solidFill>
                <a:latin typeface="Montserrat"/>
              </a:defRPr>
            </a:pPr>
            <a:r>
              <a:rPr dirty="0"/>
              <a:t>~/.</a:t>
            </a:r>
            <a:r>
              <a:rPr dirty="0" err="1"/>
              <a:t>claude</a:t>
            </a:r>
            <a:r>
              <a:rPr dirty="0"/>
              <a:t>/</a:t>
            </a:r>
            <a:r>
              <a:rPr lang="en-CA" dirty="0"/>
              <a:t>commands/my-brand</a:t>
            </a:r>
            <a:r>
              <a:rPr dirty="0"/>
              <a:t>.md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  <a:latin typeface="Montserrat"/>
              </a:defRPr>
            </a:pPr>
            <a:r>
              <a:rPr dirty="0"/>
              <a:t>Available in every project you open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0A33-33E4-779C-0880-9286322F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>
            <a:extLst>
              <a:ext uri="{FF2B5EF4-FFF2-40B4-BE49-F238E27FC236}">
                <a16:creationId xmlns:a16="http://schemas.microsoft.com/office/drawing/2014/main" id="{78AE1EFC-A7CD-1108-B711-FE98FDBD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A046EC-A2E3-4304-E54A-3CCD373607C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Sample created Command file 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4" name="Picture 3" descr="Picture_5.png">
            <a:extLst>
              <a:ext uri="{FF2B5EF4-FFF2-40B4-BE49-F238E27FC236}">
                <a16:creationId xmlns:a16="http://schemas.microsoft.com/office/drawing/2014/main" id="{09230047-15D2-7E78-C0FD-0B386D75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D12DBD-0D39-E301-EFA0-742996AC7EE2}"/>
              </a:ext>
            </a:extLst>
          </p:cNvPr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533084BA-3C75-8B11-A924-0D928E6252B5}"/>
              </a:ext>
            </a:extLst>
          </p:cNvPr>
          <p:cNvSpPr/>
          <p:nvPr/>
        </p:nvSpPr>
        <p:spPr>
          <a:xfrm>
            <a:off x="2647950" y="834444"/>
            <a:ext cx="5120640" cy="5684043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E65E10D2-5265-9650-913D-6D15C629343A}"/>
              </a:ext>
            </a:extLst>
          </p:cNvPr>
          <p:cNvSpPr/>
          <p:nvPr/>
        </p:nvSpPr>
        <p:spPr>
          <a:xfrm>
            <a:off x="2712720" y="780681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My-brand.md</a:t>
            </a:r>
            <a:endParaRPr lang="en-US" sz="16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C6E675A1-62C2-5F63-C384-864D1E35AC08}"/>
              </a:ext>
            </a:extLst>
          </p:cNvPr>
          <p:cNvSpPr/>
          <p:nvPr/>
        </p:nvSpPr>
        <p:spPr>
          <a:xfrm>
            <a:off x="2728436" y="1136917"/>
            <a:ext cx="4959668" cy="55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700" dirty="0">
                <a:solidFill>
                  <a:schemeClr val="bg2"/>
                </a:solidFill>
              </a:rPr>
              <a:t># Kai Lens Studio — Brand Identity</a:t>
            </a:r>
          </a:p>
          <a:p>
            <a:r>
              <a:rPr lang="en-CA" sz="700" dirty="0">
                <a:solidFill>
                  <a:schemeClr val="bg2"/>
                </a:solidFill>
              </a:rPr>
              <a:t>Apply this brand identity to everything you create in this conversation. Every piece of content — emails, social posts, web pages, documents, UI copy — must reflect these guidelines without exception.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Business</a:t>
            </a:r>
          </a:p>
          <a:p>
            <a:r>
              <a:rPr lang="en-CA" sz="700" dirty="0">
                <a:solidFill>
                  <a:schemeClr val="bg2"/>
                </a:solidFill>
              </a:rPr>
              <a:t>- **Name:** Kai Lens Studio</a:t>
            </a:r>
          </a:p>
          <a:p>
            <a:r>
              <a:rPr lang="en-CA" sz="700" dirty="0">
                <a:solidFill>
                  <a:schemeClr val="bg2"/>
                </a:solidFill>
              </a:rPr>
              <a:t>- **Tagline:** "Your story, beautifully told"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Visual Identity</a:t>
            </a:r>
          </a:p>
          <a:p>
            <a:r>
              <a:rPr lang="en-CA" sz="700" dirty="0">
                <a:solidFill>
                  <a:schemeClr val="bg2"/>
                </a:solidFill>
              </a:rPr>
              <a:t>### Colors</a:t>
            </a:r>
          </a:p>
          <a:p>
            <a:r>
              <a:rPr lang="en-CA" sz="700" dirty="0">
                <a:solidFill>
                  <a:schemeClr val="bg2"/>
                </a:solidFill>
              </a:rPr>
              <a:t>| Role | Name | Hex |</a:t>
            </a:r>
          </a:p>
          <a:p>
            <a:r>
              <a:rPr lang="en-CA" sz="700" dirty="0">
                <a:solidFill>
                  <a:schemeClr val="bg2"/>
                </a:solidFill>
              </a:rPr>
              <a:t>|------|------|-----|</a:t>
            </a:r>
          </a:p>
          <a:p>
            <a:r>
              <a:rPr lang="en-CA" sz="700" dirty="0">
                <a:solidFill>
                  <a:schemeClr val="bg2"/>
                </a:solidFill>
              </a:rPr>
              <a:t>| Headings, backgrounds | Deep Navy | `#1A1A2E` |</a:t>
            </a:r>
          </a:p>
          <a:p>
            <a:r>
              <a:rPr lang="en-CA" sz="700" dirty="0">
                <a:solidFill>
                  <a:schemeClr val="bg2"/>
                </a:solidFill>
              </a:rPr>
              <a:t>| Accents, highlights | Warm Sand | `#E8D5B7` |</a:t>
            </a:r>
          </a:p>
          <a:p>
            <a:r>
              <a:rPr lang="en-CA" sz="700" dirty="0">
                <a:solidFill>
                  <a:schemeClr val="bg2"/>
                </a:solidFill>
              </a:rPr>
              <a:t>| Buttons, links | Antique Gold | `#C9A96E` |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### Typography</a:t>
            </a:r>
          </a:p>
          <a:p>
            <a:r>
              <a:rPr lang="en-CA" sz="700" dirty="0">
                <a:solidFill>
                  <a:schemeClr val="bg2"/>
                </a:solidFill>
              </a:rPr>
              <a:t>- **Headings:** Cormorant Garamond</a:t>
            </a:r>
          </a:p>
          <a:p>
            <a:r>
              <a:rPr lang="en-CA" sz="700" dirty="0">
                <a:solidFill>
                  <a:schemeClr val="bg2"/>
                </a:solidFill>
              </a:rPr>
              <a:t>- **Body text:** Nunito Sans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When generating HTML, CSS, or UI code, always reference these fonts (via Google Fonts or equivalent) and apply colors using the hex values above.</a:t>
            </a:r>
          </a:p>
          <a:p>
            <a:r>
              <a:rPr lang="en-CA" sz="700" dirty="0">
                <a:solidFill>
                  <a:schemeClr val="bg2"/>
                </a:solidFill>
              </a:rPr>
              <a:t> 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Tone of Voice</a:t>
            </a:r>
          </a:p>
          <a:p>
            <a:r>
              <a:rPr lang="en-CA" sz="700" dirty="0">
                <a:solidFill>
                  <a:schemeClr val="bg2"/>
                </a:solidFill>
              </a:rPr>
              <a:t>Write like a photographer who sees beauty in everything and speaks with quiet authority — calm, artistic, and confident. Never rushed. Never salesy. Every sentence should feel considered and unhurried.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- Speak to clients as creative collaborators, not customers</a:t>
            </a:r>
          </a:p>
          <a:p>
            <a:r>
              <a:rPr lang="en-CA" sz="700" dirty="0">
                <a:solidFill>
                  <a:schemeClr val="bg2"/>
                </a:solidFill>
              </a:rPr>
              <a:t>- Favor evocative, sensory language over transactional language</a:t>
            </a:r>
          </a:p>
          <a:p>
            <a:r>
              <a:rPr lang="en-CA" sz="700" dirty="0">
                <a:solidFill>
                  <a:schemeClr val="bg2"/>
                </a:solidFill>
              </a:rPr>
              <a:t>- Let the work speak; don't oversell</a:t>
            </a:r>
          </a:p>
          <a:p>
            <a:r>
              <a:rPr lang="en-CA" sz="700" dirty="0">
                <a:solidFill>
                  <a:schemeClr val="bg2"/>
                </a:solidFill>
              </a:rPr>
              <a:t> 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Vocabulary</a:t>
            </a:r>
          </a:p>
          <a:p>
            <a:r>
              <a:rPr lang="en-CA" sz="700" dirty="0">
                <a:solidFill>
                  <a:schemeClr val="bg2"/>
                </a:solidFill>
              </a:rPr>
              <a:t>### Words we use `timeless` · `craft` · `story` · `light` · `moment` · `authentic` · `intentional`</a:t>
            </a:r>
          </a:p>
          <a:p>
            <a:r>
              <a:rPr lang="en-CA" sz="700" dirty="0">
                <a:solidFill>
                  <a:schemeClr val="bg2"/>
                </a:solidFill>
              </a:rPr>
              <a:t>### Words we never use ~~cheap~~ · ~~package~~ · ~~deal~~ · ~~basic~~ · ~~quick~~ · ~~selfie~~ · ~~snap~~</a:t>
            </a:r>
          </a:p>
          <a:p>
            <a:r>
              <a:rPr lang="en-CA" sz="700" dirty="0">
                <a:solidFill>
                  <a:schemeClr val="bg2"/>
                </a:solidFill>
              </a:rPr>
              <a:t> 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Closing Phrases</a:t>
            </a:r>
          </a:p>
          <a:p>
            <a:r>
              <a:rPr lang="en-CA" sz="700" dirty="0">
                <a:solidFill>
                  <a:schemeClr val="bg2"/>
                </a:solidFill>
              </a:rPr>
              <a:t>Rotate naturally among these sign-offs:</a:t>
            </a:r>
          </a:p>
          <a:p>
            <a:r>
              <a:rPr lang="en-CA" sz="700" dirty="0">
                <a:solidFill>
                  <a:schemeClr val="bg2"/>
                </a:solidFill>
              </a:rPr>
              <a:t>- "Let's tell your story."</a:t>
            </a:r>
          </a:p>
          <a:p>
            <a:r>
              <a:rPr lang="en-CA" sz="700" dirty="0">
                <a:solidFill>
                  <a:schemeClr val="bg2"/>
                </a:solidFill>
              </a:rPr>
              <a:t>- "See you through the lens."</a:t>
            </a:r>
          </a:p>
          <a:p>
            <a:r>
              <a:rPr lang="en-CA" sz="700" dirty="0">
                <a:solidFill>
                  <a:schemeClr val="bg2"/>
                </a:solidFill>
              </a:rPr>
              <a:t>  </a:t>
            </a:r>
          </a:p>
          <a:p>
            <a:r>
              <a:rPr lang="en-CA" sz="700" dirty="0">
                <a:solidFill>
                  <a:schemeClr val="bg2"/>
                </a:solidFill>
              </a:rPr>
              <a:t>## Applying This Brand</a:t>
            </a:r>
          </a:p>
          <a:p>
            <a:r>
              <a:rPr lang="en-CA" sz="700" dirty="0">
                <a:solidFill>
                  <a:schemeClr val="bg2"/>
                </a:solidFill>
              </a:rPr>
              <a:t>Every time you generate content for Kai Lens Studio:</a:t>
            </a:r>
          </a:p>
          <a:p>
            <a:r>
              <a:rPr lang="en-CA" sz="700" dirty="0">
                <a:solidFill>
                  <a:schemeClr val="bg2"/>
                </a:solidFill>
              </a:rPr>
              <a:t>1. **Visual output** (HTML, CSS, components) → use brand colors and fonts exactly</a:t>
            </a:r>
          </a:p>
          <a:p>
            <a:r>
              <a:rPr lang="en-CA" sz="700" dirty="0">
                <a:solidFill>
                  <a:schemeClr val="bg2"/>
                </a:solidFill>
              </a:rPr>
              <a:t>2. **Written output** (emails, captions, copy, bios) → match tone, use preferred vocabulary, end with a closing phrase</a:t>
            </a:r>
          </a:p>
          <a:p>
            <a:r>
              <a:rPr lang="en-CA" sz="700" dirty="0">
                <a:solidFill>
                  <a:schemeClr val="bg2"/>
                </a:solidFill>
              </a:rPr>
              <a:t>3. **Structural output** (docs, proposals) → lead with the tagline or brand name where appropriate, maintain the calm/confident voice throughout</a:t>
            </a:r>
          </a:p>
          <a:p>
            <a:r>
              <a:rPr lang="en-CA" sz="700" dirty="0">
                <a:solidFill>
                  <a:schemeClr val="bg2"/>
                </a:solidFill>
              </a:rPr>
              <a:t>4. **Never** produce content that contradicts this identity — if a request conflicts with the brand, adapt it so it fits while still fulfilling the intent</a:t>
            </a:r>
          </a:p>
          <a:p>
            <a:r>
              <a:rPr lang="en-CA" sz="700" dirty="0">
                <a:solidFill>
                  <a:schemeClr val="bg2"/>
                </a:solidFill>
              </a:rPr>
              <a:t> </a:t>
            </a:r>
          </a:p>
          <a:p>
            <a:r>
              <a:rPr lang="en-CA" sz="700" dirty="0">
                <a:solidFill>
                  <a:schemeClr val="bg2"/>
                </a:solidFill>
              </a:rPr>
              <a:t>This command activates the full brand context. Proceed with whatever task follows.</a:t>
            </a:r>
          </a:p>
          <a:p>
            <a:endParaRPr lang="en-US" sz="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8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Use Your Brand Command</a:t>
            </a: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77427"/>
            <a:ext cx="1115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1pPr>
          </a:lstStyle>
          <a:p>
            <a:r>
              <a:rPr dirty="0"/>
              <a:t>Everything Claude creates now follows your brand automatically</a:t>
            </a:r>
            <a:endParaRPr lang="en-CA" dirty="0"/>
          </a:p>
          <a:p>
            <a:r>
              <a:rPr lang="en-US" dirty="0"/>
              <a:t>One file. Every output, on-brand. Forever.</a:t>
            </a:r>
          </a:p>
          <a:p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71159" y="186054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t"/>
          <a:lstStyle/>
          <a:p>
            <a:pPr algn="ctr">
              <a:defRPr sz="1800" b="1">
                <a:solidFill>
                  <a:srgbClr val="6CCAD8"/>
                </a:solidFill>
                <a:latin typeface="Montserrat"/>
              </a:defRPr>
            </a:pPr>
            <a:r>
              <a:rPr sz="2400"/>
              <a:t>Branded Email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sz="1600"/>
              <a:t>You ask: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"Write a follow-up email for Priya &amp; James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  after their engagement photoshoot"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endParaRPr sz="1600"/>
          </a:p>
          <a:p>
            <a:pPr algn="l">
              <a:spcBef>
                <a:spcPts val="4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sz="1600"/>
              <a:t>Claude delivers: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Calm, artistic tone (your brand voice)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Uses words like 'timeless' and 'light'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Signs off with your closing phrase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3175" y="186054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t"/>
          <a:lstStyle/>
          <a:p>
            <a:pPr algn="ctr">
              <a:defRPr sz="1800" b="1">
                <a:solidFill>
                  <a:srgbClr val="D56E48"/>
                </a:solidFill>
                <a:latin typeface="Montserrat"/>
              </a:defRPr>
            </a:pPr>
            <a:r>
              <a:rPr sz="2400"/>
              <a:t>Branded Social Post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sz="1600"/>
              <a:t>You ask: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"Write an Instagram caption for a behind-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  the-scenes wedding photo"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endParaRPr sz="1600"/>
          </a:p>
          <a:p>
            <a:pPr algn="l">
              <a:spcBef>
                <a:spcPts val="4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sz="1600"/>
              <a:t>Claude delivers: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Warm, artistic caption (not salesy)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Avoids banned words (cheap, snap, basic)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/>
              <a:t>✔  Includes relevant hashtags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Key Takeaways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0065" y="1388745"/>
            <a:ext cx="73152" cy="1005840"/>
          </a:xfrm>
          <a:prstGeom prst="rect">
            <a:avLst/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702945" y="1434465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1752"/>
                </a:solidFill>
                <a:latin typeface="Montserrat"/>
              </a:defRPr>
            </a:pPr>
            <a:r>
              <a:rPr sz="1600" dirty="0"/>
              <a:t>Slash commands = reusable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944" y="1845945"/>
            <a:ext cx="9384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Create once, use forever across every project and conversation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065" y="2981268"/>
            <a:ext cx="73152" cy="1005840"/>
          </a:xfrm>
          <a:prstGeom prst="rect">
            <a:avLst/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702945" y="3026988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1752"/>
                </a:solidFill>
                <a:latin typeface="Montserrat"/>
              </a:defRPr>
            </a:pPr>
            <a:r>
              <a:t>Brand identity lives in one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944" y="3438468"/>
            <a:ext cx="9503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Colors, fonts, tone, vocabulary all in ~/.</a:t>
            </a:r>
            <a:r>
              <a:rPr sz="1600" dirty="0" err="1"/>
              <a:t>claude</a:t>
            </a:r>
            <a:r>
              <a:rPr sz="1600" dirty="0"/>
              <a:t>/</a:t>
            </a:r>
            <a:r>
              <a:rPr lang="en-CA" sz="1600" dirty="0"/>
              <a:t>commands/my-brand</a:t>
            </a:r>
            <a:r>
              <a:rPr sz="1600" dirty="0"/>
              <a:t>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066" y="4528424"/>
            <a:ext cx="73152" cy="100584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702946" y="4574144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1752"/>
                </a:solidFill>
                <a:latin typeface="Montserrat"/>
              </a:defRPr>
            </a:pPr>
            <a:r>
              <a:t>Every output stays consistent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945" y="4985624"/>
            <a:ext cx="9085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Emails, posts, pages, reports</a:t>
            </a:r>
            <a:r>
              <a:rPr lang="en-CA" sz="1600" dirty="0"/>
              <a:t>;</a:t>
            </a:r>
            <a:r>
              <a:rPr sz="1600" dirty="0"/>
              <a:t> Claude automatically follows your brand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9B75-3DEA-ED25-1D76-34CDE73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AA40B-A9AA-C75B-745E-0C1705465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E5BB6-3D72-054D-9E89-57253E0561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EA4478B-6EDF-971A-FA7A-8BE23CE4106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Create a slash Command Demo in Claude Code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D77EF2-6CF6-DF27-36CD-8D53D9BC2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7A19B-1173-6AE9-C906-2D55D793EA4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© All rights reserved for Dr. Ryan Ahmed @Stemplicity Inc. </a:t>
            </a:r>
          </a:p>
        </p:txBody>
      </p:sp>
      <p:pic>
        <p:nvPicPr>
          <p:cNvPr id="4098" name="Picture 2" descr="AI Tools 101: Claude Code Guide to Build Real Apps Faster">
            <a:extLst>
              <a:ext uri="{FF2B5EF4-FFF2-40B4-BE49-F238E27FC236}">
                <a16:creationId xmlns:a16="http://schemas.microsoft.com/office/drawing/2014/main" id="{B833D191-5EBD-E180-955E-5EB2C2D64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477" y="1864965"/>
            <a:ext cx="5720348" cy="368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288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33B5-26BA-1289-F548-730847CE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4946F-CD66-DC4A-A3EB-1CAF52BA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7A2358-9B5D-A40C-5916-6414E87C32DF}"/>
              </a:ext>
            </a:extLst>
          </p:cNvPr>
          <p:cNvSpPr/>
          <p:nvPr/>
        </p:nvSpPr>
        <p:spPr>
          <a:xfrm>
            <a:off x="293915" y="205965"/>
            <a:ext cx="533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1CD04-E0B6-1F18-DD53-8969D0BE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19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44C6-DB16-4BDA-CC9D-FEAB50D5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AA424F-227C-6FB0-0C06-232AA263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1AFE91-D8C4-4451-99AB-E513DC96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D85B3DE-8F3E-F670-8537-70BBDCA27AD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94E6B-63C2-1B7F-F0D3-2FB6D339096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1B276-FD44-376F-89FE-FF8C185B4384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942CEEA-0376-5434-E6B8-B32BC2EC1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059A2-7231-9F41-2442-C6CF503965A6}"/>
              </a:ext>
            </a:extLst>
          </p:cNvPr>
          <p:cNvSpPr txBox="1"/>
          <p:nvPr/>
        </p:nvSpPr>
        <p:spPr>
          <a:xfrm>
            <a:off x="133303" y="954223"/>
            <a:ext cx="92754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Create a slash command called </a:t>
            </a:r>
            <a:r>
              <a:rPr lang="en-US" sz="2000" dirty="0">
                <a:latin typeface="Montserrat" panose="00000500000000000000" pitchFamily="2" charset="0"/>
              </a:rPr>
              <a:t>/my-brand-</a:t>
            </a:r>
            <a:r>
              <a:rPr lang="en-US" sz="2000" dirty="0" err="1">
                <a:latin typeface="Montserrat" panose="00000500000000000000" pitchFamily="2" charset="0"/>
              </a:rPr>
              <a:t>verde</a:t>
            </a:r>
            <a:r>
              <a:rPr lang="en-US" sz="2000" dirty="0">
                <a:latin typeface="Montserrat" panose="00000500000000000000" pitchFamily="2" charset="0"/>
              </a:rPr>
              <a:t>-k</a:t>
            </a:r>
            <a:r>
              <a:rPr lang="en-US" dirty="0">
                <a:latin typeface="Montserrat" panose="00000500000000000000" pitchFamily="2" charset="0"/>
              </a:rPr>
              <a:t> for a business named “Verde Kitchen”, a plant-based meal prep service. The brand </a:t>
            </a:r>
            <a:r>
              <a:rPr lang="en-US" dirty="0" err="1">
                <a:latin typeface="Montserrat" panose="00000500000000000000" pitchFamily="2" charset="0"/>
              </a:rPr>
              <a:t>colours</a:t>
            </a:r>
            <a:r>
              <a:rPr lang="en-US" dirty="0">
                <a:latin typeface="Montserrat" panose="00000500000000000000" pitchFamily="2" charset="0"/>
              </a:rPr>
              <a:t> are Forest Green, Cream, and Terracotta. Details: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Business: Verde Kitchen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Tagline: "Eat well. Live well. No effort required.“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Colors: Forest Green (#2D5A27), Cream (#FAF3E0), Terracotta (#C4704F) Fonts: Josefin Sans for headings, Source Sans Pro for body*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Tone: Friendly, encouraging, health-conscious like a supportive friend who also happens to be a chef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Words to use: nourish, fresh, plant-powered, simple, wholesome, vibrant* Words to avoid: diet, restrict, guilty, cheat meal, processed, artificial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r>
              <a:rPr lang="en-US" dirty="0">
                <a:latin typeface="Montserrat" panose="00000500000000000000" pitchFamily="2" charset="0"/>
              </a:rPr>
              <a:t>2. Test the command by generating a marketing email and a flyer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</a:endParaRPr>
          </a:p>
          <a:p>
            <a:r>
              <a:rPr lang="en-US" dirty="0">
                <a:latin typeface="Montserrat" panose="00000500000000000000" pitchFamily="2" charset="0"/>
              </a:rPr>
              <a:t>3. Do both outputs feel like they come from the same brand voice and visual identity?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08F64-CE6A-0A30-41ED-7FD8A1D0EE8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25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21A8-75E8-8839-92A0-201BCAAA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D6B23-E45D-D8FE-8738-D76A13C6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0CC95A-4778-9758-8D35-DFFDA371730C}"/>
              </a:ext>
            </a:extLst>
          </p:cNvPr>
          <p:cNvSpPr/>
          <p:nvPr/>
        </p:nvSpPr>
        <p:spPr>
          <a:xfrm>
            <a:off x="293915" y="489004"/>
            <a:ext cx="47434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9524D9-DFA8-A564-9E16-C061845AB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85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95C1-CD63-6E96-255D-12EA719C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DB9765-94E5-EEA7-6838-A227C6CF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8EE1F7-FE89-C0A5-F69E-06DD5F2467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2C2FB8B-6628-899C-BCE1-841B5640B46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497A8-3A05-BAD1-EC65-B8E85B587A0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BF48BBA-08B8-9110-9593-BCF9CD91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FD3B8-C5AC-DF8B-6784-B55227AD3A3B}"/>
              </a:ext>
            </a:extLst>
          </p:cNvPr>
          <p:cNvSpPr txBox="1"/>
          <p:nvPr/>
        </p:nvSpPr>
        <p:spPr>
          <a:xfrm>
            <a:off x="293224" y="907669"/>
            <a:ext cx="115961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plugin is a bundled package; it wraps skills, MCP servers, agents, and hooks into a single installable unit that works across all your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Montserrat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Skills Vs. Plugins: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skill teaches Claude how to do one thing. A plugin bundles multiple skills (and more) into a shareable package for your whole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03023AAE-C9D0-C256-FA44-9E2F6DB1A8D2}"/>
              </a:ext>
            </a:extLst>
          </p:cNvPr>
          <p:cNvSpPr/>
          <p:nvPr/>
        </p:nvSpPr>
        <p:spPr>
          <a:xfrm>
            <a:off x="604922" y="3460739"/>
            <a:ext cx="2560320" cy="2310331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3200">
              <a:latin typeface="Montserrat" panose="00000500000000000000" pitchFamily="2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88F3121B-BCF1-EE53-4026-2B17CAB0A69A}"/>
              </a:ext>
            </a:extLst>
          </p:cNvPr>
          <p:cNvSpPr/>
          <p:nvPr/>
        </p:nvSpPr>
        <p:spPr>
          <a:xfrm>
            <a:off x="751226" y="3631428"/>
            <a:ext cx="226771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DC7D0FBA-2047-7EA1-9929-D5EC78DE11C8}"/>
              </a:ext>
            </a:extLst>
          </p:cNvPr>
          <p:cNvSpPr/>
          <p:nvPr/>
        </p:nvSpPr>
        <p:spPr>
          <a:xfrm>
            <a:off x="751226" y="4106916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Playbooks that auto-trigger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288DA5E7-ACBB-8EEB-4F72-AD50296C4685}"/>
              </a:ext>
            </a:extLst>
          </p:cNvPr>
          <p:cNvSpPr/>
          <p:nvPr/>
        </p:nvSpPr>
        <p:spPr>
          <a:xfrm>
            <a:off x="3409082" y="3460740"/>
            <a:ext cx="2560320" cy="2310330"/>
          </a:xfrm>
          <a:prstGeom prst="rect">
            <a:avLst/>
          </a:prstGeom>
          <a:solidFill>
            <a:srgbClr val="1BBFD1"/>
          </a:solidFill>
          <a:ln w="19050">
            <a:noFill/>
            <a:prstDash val="solid"/>
          </a:ln>
        </p:spPr>
        <p:txBody>
          <a:bodyPr/>
          <a:lstStyle/>
          <a:p>
            <a:endParaRPr lang="en-CA" sz="3200">
              <a:latin typeface="Montserrat" panose="00000500000000000000" pitchFamily="2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193EFF9-1D14-E824-7EAC-F662BC2D8076}"/>
              </a:ext>
            </a:extLst>
          </p:cNvPr>
          <p:cNvSpPr/>
          <p:nvPr/>
        </p:nvSpPr>
        <p:spPr>
          <a:xfrm>
            <a:off x="3555386" y="3631428"/>
            <a:ext cx="226771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879AAAC7-F48E-31F3-1C7C-5E74E205419F}"/>
              </a:ext>
            </a:extLst>
          </p:cNvPr>
          <p:cNvSpPr/>
          <p:nvPr/>
        </p:nvSpPr>
        <p:spPr>
          <a:xfrm>
            <a:off x="3555386" y="4106916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External tool connections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8AED6348-B5B0-55EA-082A-F6E8EBCB1604}"/>
              </a:ext>
            </a:extLst>
          </p:cNvPr>
          <p:cNvSpPr/>
          <p:nvPr/>
        </p:nvSpPr>
        <p:spPr>
          <a:xfrm>
            <a:off x="6213242" y="3460739"/>
            <a:ext cx="2560320" cy="2310329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 sz="3200">
              <a:latin typeface="Montserrat" panose="00000500000000000000" pitchFamily="2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5FF05CC6-05DB-07FD-8340-C8BB5932EA1C}"/>
              </a:ext>
            </a:extLst>
          </p:cNvPr>
          <p:cNvSpPr/>
          <p:nvPr/>
        </p:nvSpPr>
        <p:spPr>
          <a:xfrm>
            <a:off x="6359546" y="3631428"/>
            <a:ext cx="226771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92697B9-7599-3561-606D-46886567E3C4}"/>
              </a:ext>
            </a:extLst>
          </p:cNvPr>
          <p:cNvSpPr/>
          <p:nvPr/>
        </p:nvSpPr>
        <p:spPr>
          <a:xfrm>
            <a:off x="6359546" y="4106916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Specialized sub-agents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DE4097C3-1F19-04FB-8044-1FD50EE78F10}"/>
              </a:ext>
            </a:extLst>
          </p:cNvPr>
          <p:cNvSpPr/>
          <p:nvPr/>
        </p:nvSpPr>
        <p:spPr>
          <a:xfrm>
            <a:off x="9017402" y="3460740"/>
            <a:ext cx="2560320" cy="2310328"/>
          </a:xfrm>
          <a:prstGeom prst="rect">
            <a:avLst/>
          </a:prstGeom>
          <a:solidFill>
            <a:srgbClr val="D56E48"/>
          </a:solidFill>
          <a:ln w="19050">
            <a:noFill/>
            <a:prstDash val="solid"/>
          </a:ln>
        </p:spPr>
        <p:txBody>
          <a:bodyPr/>
          <a:lstStyle/>
          <a:p>
            <a:endParaRPr lang="en-CA" sz="3200">
              <a:latin typeface="Montserrat" panose="00000500000000000000" pitchFamily="2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A044D65E-EE0C-50E2-27D9-E72FC90370A9}"/>
              </a:ext>
            </a:extLst>
          </p:cNvPr>
          <p:cNvSpPr/>
          <p:nvPr/>
        </p:nvSpPr>
        <p:spPr>
          <a:xfrm>
            <a:off x="9163706" y="3631428"/>
            <a:ext cx="226771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3F127C81-EA0D-F3D0-2203-F41E1D883887}"/>
              </a:ext>
            </a:extLst>
          </p:cNvPr>
          <p:cNvSpPr/>
          <p:nvPr/>
        </p:nvSpPr>
        <p:spPr>
          <a:xfrm>
            <a:off x="9163706" y="4106916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Auto-run on events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483A0684-53AD-6C48-8897-0E968AD29317}"/>
              </a:ext>
            </a:extLst>
          </p:cNvPr>
          <p:cNvSpPr/>
          <p:nvPr/>
        </p:nvSpPr>
        <p:spPr>
          <a:xfrm>
            <a:off x="293224" y="2721511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plugin can contain:</a:t>
            </a:r>
          </a:p>
        </p:txBody>
      </p:sp>
    </p:spTree>
    <p:extLst>
      <p:ext uri="{BB962C8B-B14F-4D97-AF65-F5344CB8AC3E}">
        <p14:creationId xmlns:p14="http://schemas.microsoft.com/office/powerpoint/2010/main" val="29612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40" grpId="0" animBg="1"/>
      <p:bldP spid="4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60EC-0163-2103-5D90-09CB50DB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C45C4-6C58-C9A0-6021-D2A51D5B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C2007-BFB1-3F3D-1F7D-9D9821F5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965D83-3C7F-0875-8ECA-3FB5EE28AE6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48C52-D724-B852-B30D-0F0B802B7B7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374863-6FC5-EFD8-EBF2-D4040E6F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43430-9F44-FCBE-61EC-22F14C7BC4F6}"/>
              </a:ext>
            </a:extLst>
          </p:cNvPr>
          <p:cNvSpPr txBox="1"/>
          <p:nvPr/>
        </p:nvSpPr>
        <p:spPr>
          <a:xfrm>
            <a:off x="214711" y="907391"/>
            <a:ext cx="11215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Plugins bundle skills, connectors, slash commands &amp; sub-agents into one package for a specific job function. No technical knowledge required to create them.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57E931C-83DF-347A-1869-DE53CDFC1FAC}"/>
              </a:ext>
            </a:extLst>
          </p:cNvPr>
          <p:cNvSpPr/>
          <p:nvPr/>
        </p:nvSpPr>
        <p:spPr>
          <a:xfrm>
            <a:off x="688548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What's Inside a Plugin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A5908F8-50E7-B624-4809-6652C8BC633E}"/>
              </a:ext>
            </a:extLst>
          </p:cNvPr>
          <p:cNvSpPr/>
          <p:nvPr/>
        </p:nvSpPr>
        <p:spPr>
          <a:xfrm>
            <a:off x="688548" y="2441040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FB64E94E-323E-433D-961B-1EE72B5F12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2526384"/>
            <a:ext cx="414528" cy="414528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6016D5B4-7FC2-52A8-DF6B-C2EC2E4CFF3E}"/>
              </a:ext>
            </a:extLst>
          </p:cNvPr>
          <p:cNvSpPr/>
          <p:nvPr/>
        </p:nvSpPr>
        <p:spPr>
          <a:xfrm>
            <a:off x="1481028" y="2465424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Skills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Specialized knowledge &amp;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5E86DF4-58A8-4BEB-EC88-0894B987AE46}"/>
              </a:ext>
            </a:extLst>
          </p:cNvPr>
          <p:cNvSpPr/>
          <p:nvPr/>
        </p:nvSpPr>
        <p:spPr>
          <a:xfrm>
            <a:off x="688548" y="3148176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2F43BA4C-F2A6-BE0D-611B-48A5CB353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8" y="3233520"/>
            <a:ext cx="414528" cy="41452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97AD8013-1BA0-161C-955C-C59CA7C76F0B}"/>
              </a:ext>
            </a:extLst>
          </p:cNvPr>
          <p:cNvSpPr/>
          <p:nvPr/>
        </p:nvSpPr>
        <p:spPr>
          <a:xfrm>
            <a:off x="1481028" y="3172560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Connectors (MCP)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Link to Google Drive, Slack, etc.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F208EBE6-8227-8B1C-834A-32034879C016}"/>
              </a:ext>
            </a:extLst>
          </p:cNvPr>
          <p:cNvSpPr/>
          <p:nvPr/>
        </p:nvSpPr>
        <p:spPr>
          <a:xfrm>
            <a:off x="688548" y="3855312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85718FE5-AF0E-E4CB-9BD5-8555B7F243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3940656"/>
            <a:ext cx="414528" cy="414528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41AE5B17-42B6-7108-298F-4999EC7551FD}"/>
              </a:ext>
            </a:extLst>
          </p:cNvPr>
          <p:cNvSpPr/>
          <p:nvPr/>
        </p:nvSpPr>
        <p:spPr>
          <a:xfrm>
            <a:off x="1481028" y="3879696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Slash Commands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 Quick-launch structured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E57111C-CF49-5576-0D75-B6ACDAED8B33}"/>
              </a:ext>
            </a:extLst>
          </p:cNvPr>
          <p:cNvSpPr/>
          <p:nvPr/>
        </p:nvSpPr>
        <p:spPr>
          <a:xfrm>
            <a:off x="688548" y="4562448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A3FDFB5-7DC5-2259-D49E-9CC934C64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8" y="4647792"/>
            <a:ext cx="414528" cy="414528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D663544D-8D44-D0F3-60C1-7C857446DA78}"/>
              </a:ext>
            </a:extLst>
          </p:cNvPr>
          <p:cNvSpPr/>
          <p:nvPr/>
        </p:nvSpPr>
        <p:spPr>
          <a:xfrm>
            <a:off x="1481028" y="4586832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Sub-Agents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Specialized task executors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EE0F908-8006-45F5-32C3-386841C3AA31}"/>
              </a:ext>
            </a:extLst>
          </p:cNvPr>
          <p:cNvSpPr/>
          <p:nvPr/>
        </p:nvSpPr>
        <p:spPr>
          <a:xfrm>
            <a:off x="6868534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Pre-Built Plugins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71A37600-892E-8960-E4E6-60E96A82819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2599536"/>
            <a:ext cx="304800" cy="304800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5572ED2E-F677-AC53-14C2-5BF122B3CCBE}"/>
              </a:ext>
            </a:extLst>
          </p:cNvPr>
          <p:cNvSpPr/>
          <p:nvPr/>
        </p:nvSpPr>
        <p:spPr>
          <a:xfrm>
            <a:off x="7478134" y="256296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HR: People operations &amp; lifecycle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D6AAB6AC-931E-6827-2A69-6F38AF34E34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111600"/>
            <a:ext cx="304800" cy="30480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CBD7CA9D-9235-C37D-CACC-6386432E7D1C}"/>
              </a:ext>
            </a:extLst>
          </p:cNvPr>
          <p:cNvSpPr/>
          <p:nvPr/>
        </p:nvSpPr>
        <p:spPr>
          <a:xfrm>
            <a:off x="7478134" y="30750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Design: UX, accessibility, critiques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788FB0BF-17CA-5E68-D24A-E5033900221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623664"/>
            <a:ext cx="304800" cy="304800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1A30E9F9-43FD-38A1-6FF1-5BE2ED760169}"/>
              </a:ext>
            </a:extLst>
          </p:cNvPr>
          <p:cNvSpPr/>
          <p:nvPr/>
        </p:nvSpPr>
        <p:spPr>
          <a:xfrm>
            <a:off x="7478134" y="3587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Engineering: Standups, deploys, incidents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3631AB11-0AC8-8A76-0DF5-D0F9AACF5F7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135728"/>
            <a:ext cx="304800" cy="304800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E38D4818-4252-BB46-784A-EBD53A11736C}"/>
              </a:ext>
            </a:extLst>
          </p:cNvPr>
          <p:cNvSpPr/>
          <p:nvPr/>
        </p:nvSpPr>
        <p:spPr>
          <a:xfrm>
            <a:off x="7478134" y="40991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Operations: Runbooks, vendor evals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3C1B99E3-288E-821F-1378-E63AAD814AE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647792"/>
            <a:ext cx="304800" cy="304800"/>
          </a:xfrm>
          <a:prstGeom prst="rect">
            <a:avLst/>
          </a:prstGeom>
        </p:spPr>
      </p:pic>
      <p:sp>
        <p:nvSpPr>
          <p:cNvPr id="51" name="Text 18">
            <a:extLst>
              <a:ext uri="{FF2B5EF4-FFF2-40B4-BE49-F238E27FC236}">
                <a16:creationId xmlns:a16="http://schemas.microsoft.com/office/drawing/2014/main" id="{6B4DB5B4-4BFA-8AAF-7041-84A7EAB4E264}"/>
              </a:ext>
            </a:extLst>
          </p:cNvPr>
          <p:cNvSpPr/>
          <p:nvPr/>
        </p:nvSpPr>
        <p:spPr>
          <a:xfrm>
            <a:off x="7478134" y="4611216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Finance: FP&amp;A, variance analysis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8C8B6F39-45B9-CCA8-D242-4D5FBEF587A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5159856"/>
            <a:ext cx="304800" cy="30480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3505D79B-D18D-713D-DB4B-310B46A78948}"/>
              </a:ext>
            </a:extLst>
          </p:cNvPr>
          <p:cNvSpPr/>
          <p:nvPr/>
        </p:nvSpPr>
        <p:spPr>
          <a:xfrm>
            <a:off x="7478134" y="512328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Sales: Outreach, research, CRM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3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D842-F390-2AC5-FE71-52B49413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12D07-3E1F-5992-40C3-B485390B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52691-848D-7E58-E313-08614C657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87B0968-8CFF-E32C-5D71-AFBC258A794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Available Claude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Cowork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0EF8B-0E7C-2C27-7326-659B2A726A8E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3026E2-2336-5BD1-7DE7-1AC75F62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B0AE5-C6C4-9446-ED94-40310411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5E5E5C"/>
              </a:clrFrom>
              <a:clrTo>
                <a:srgbClr val="5E5E5C">
                  <a:alpha val="0"/>
                </a:srgbClr>
              </a:clrTo>
            </a:clrChange>
          </a:blip>
          <a:srcRect l="16813" t="13412" r="14554" b="12503"/>
          <a:stretch>
            <a:fillRect/>
          </a:stretch>
        </p:blipFill>
        <p:spPr>
          <a:xfrm>
            <a:off x="2139355" y="1393018"/>
            <a:ext cx="6934200" cy="46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1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1A7C-79B0-ED93-250F-E70C1C64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3F085F-B114-4891-4425-D9DDAC62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4C52B2-F5E9-0F13-150A-731BFB7BD3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3D5D0CD-FAF7-124F-5892-F49BD7251EC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Popular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E6C0C-ED6E-8FBB-2D0A-C1CA1833A65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C9DC9D-5272-3C6C-10CF-5339B4CA1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3BE1024F-B133-7CA6-E8E5-CF91F90475A1}"/>
              </a:ext>
            </a:extLst>
          </p:cNvPr>
          <p:cNvSpPr/>
          <p:nvPr/>
        </p:nvSpPr>
        <p:spPr>
          <a:xfrm>
            <a:off x="447708" y="655105"/>
            <a:ext cx="3535680" cy="206615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2DE6D72B-D515-1783-77CE-37C3F9029F05}"/>
              </a:ext>
            </a:extLst>
          </p:cNvPr>
          <p:cNvSpPr/>
          <p:nvPr/>
        </p:nvSpPr>
        <p:spPr>
          <a:xfrm>
            <a:off x="594012" y="746151"/>
            <a:ext cx="1584960" cy="341376"/>
          </a:xfrm>
          <a:prstGeom prst="rect">
            <a:avLst/>
          </a:prstGeom>
          <a:solidFill>
            <a:srgbClr val="7C5CBF">
              <a:alpha val="20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32D5A17D-7B12-CEAC-7B0E-18FD088E3844}"/>
              </a:ext>
            </a:extLst>
          </p:cNvPr>
          <p:cNvSpPr/>
          <p:nvPr/>
        </p:nvSpPr>
        <p:spPr>
          <a:xfrm>
            <a:off x="594012" y="746151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official</a:t>
            </a:r>
            <a:endParaRPr lang="en-US" sz="12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55CA4DCE-028A-044A-C5DE-81DB9F3CFC3D}"/>
              </a:ext>
            </a:extLst>
          </p:cNvPr>
          <p:cNvSpPr/>
          <p:nvPr/>
        </p:nvSpPr>
        <p:spPr>
          <a:xfrm>
            <a:off x="594012" y="1172871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Ralph Wiggum</a:t>
            </a:r>
            <a:endParaRPr lang="en-US" sz="1867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532FE309-94EF-DD7D-CEE7-33336C80E7AB}"/>
              </a:ext>
            </a:extLst>
          </p:cNvPr>
          <p:cNvSpPr/>
          <p:nvPr/>
        </p:nvSpPr>
        <p:spPr>
          <a:xfrm>
            <a:off x="594012" y="1648359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dev agent for long autonomous coding sessions. Loops through tasks, commits to git, and resets context between tasks.</a:t>
            </a:r>
            <a:endParaRPr lang="en-US" sz="1467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C9267238-0DDA-0C7A-079A-A5E6B879FD94}"/>
              </a:ext>
            </a:extLst>
          </p:cNvPr>
          <p:cNvSpPr/>
          <p:nvPr/>
        </p:nvSpPr>
        <p:spPr>
          <a:xfrm>
            <a:off x="4227228" y="647043"/>
            <a:ext cx="3535680" cy="2074212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A4779F47-8BE7-7459-6047-A3A270A740DE}"/>
              </a:ext>
            </a:extLst>
          </p:cNvPr>
          <p:cNvSpPr/>
          <p:nvPr/>
        </p:nvSpPr>
        <p:spPr>
          <a:xfrm>
            <a:off x="4373532" y="746151"/>
            <a:ext cx="1584960" cy="341376"/>
          </a:xfrm>
          <a:prstGeom prst="rect">
            <a:avLst/>
          </a:prstGeom>
          <a:solidFill>
            <a:srgbClr val="2CB89A">
              <a:alpha val="20000"/>
            </a:srgbClr>
          </a:solidFill>
          <a:ln w="12700">
            <a:solidFill>
              <a:srgbClr val="2CB89A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B8A3D2C9-0619-90AA-BAFA-6377F60B8939}"/>
              </a:ext>
            </a:extLst>
          </p:cNvPr>
          <p:cNvSpPr/>
          <p:nvPr/>
        </p:nvSpPr>
        <p:spPr>
          <a:xfrm>
            <a:off x="4373532" y="746151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2C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BD671910-02D3-6DD0-9797-F1D30FCAD7E8}"/>
              </a:ext>
            </a:extLst>
          </p:cNvPr>
          <p:cNvSpPr/>
          <p:nvPr/>
        </p:nvSpPr>
        <p:spPr>
          <a:xfrm>
            <a:off x="4373532" y="1172871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context7</a:t>
            </a:r>
            <a:endParaRPr lang="en-US" sz="1867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5267D961-DF5C-BD70-8623-F137AF267DD5}"/>
              </a:ext>
            </a:extLst>
          </p:cNvPr>
          <p:cNvSpPr/>
          <p:nvPr/>
        </p:nvSpPr>
        <p:spPr>
          <a:xfrm>
            <a:off x="4385724" y="1572689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live, version-specific library docs into your session. Stops Claude hallucinating API calls from outdated training data.</a:t>
            </a:r>
            <a:endParaRPr lang="en-US" sz="1467" dirty="0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884C4F57-F324-D37A-4A09-8803F8FFB0CF}"/>
              </a:ext>
            </a:extLst>
          </p:cNvPr>
          <p:cNvSpPr/>
          <p:nvPr/>
        </p:nvSpPr>
        <p:spPr>
          <a:xfrm>
            <a:off x="8006748" y="647043"/>
            <a:ext cx="3535680" cy="2074212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91FD7156-0752-C494-3AB0-0DBD39EBBFCA}"/>
              </a:ext>
            </a:extLst>
          </p:cNvPr>
          <p:cNvSpPr/>
          <p:nvPr/>
        </p:nvSpPr>
        <p:spPr>
          <a:xfrm>
            <a:off x="8153052" y="746151"/>
            <a:ext cx="1584960" cy="341376"/>
          </a:xfrm>
          <a:prstGeom prst="rect">
            <a:avLst/>
          </a:prstGeom>
          <a:solidFill>
            <a:srgbClr val="2CB89A">
              <a:alpha val="20000"/>
            </a:srgbClr>
          </a:solidFill>
          <a:ln w="12700">
            <a:solidFill>
              <a:srgbClr val="2CB89A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72A9B3F2-54BF-723B-A184-BD6BF19EA757}"/>
              </a:ext>
            </a:extLst>
          </p:cNvPr>
          <p:cNvSpPr/>
          <p:nvPr/>
        </p:nvSpPr>
        <p:spPr>
          <a:xfrm>
            <a:off x="8153052" y="746151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2C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DE317B19-8DFB-4A8D-48B1-AD7CFDF0E2F2}"/>
              </a:ext>
            </a:extLst>
          </p:cNvPr>
          <p:cNvSpPr/>
          <p:nvPr/>
        </p:nvSpPr>
        <p:spPr>
          <a:xfrm>
            <a:off x="8153052" y="1172871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feature-dev</a:t>
            </a:r>
            <a:endParaRPr lang="en-US" sz="1867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5B95B6C1-9A44-45F5-0FA3-710E32E2FD13}"/>
              </a:ext>
            </a:extLst>
          </p:cNvPr>
          <p:cNvSpPr/>
          <p:nvPr/>
        </p:nvSpPr>
        <p:spPr>
          <a:xfrm>
            <a:off x="8153052" y="1648359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feature brief into working code. Structured planning → spec → implementation. 89,000+ installs.</a:t>
            </a:r>
            <a:endParaRPr lang="en-US" sz="1467" dirty="0"/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3D5EF8EB-9A76-07A9-D7EE-D71F62ECED0E}"/>
              </a:ext>
            </a:extLst>
          </p:cNvPr>
          <p:cNvSpPr/>
          <p:nvPr/>
        </p:nvSpPr>
        <p:spPr>
          <a:xfrm>
            <a:off x="447708" y="2820363"/>
            <a:ext cx="3535680" cy="1945115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3FA4F847-1FAF-7E65-B017-FEA35C3E68F8}"/>
              </a:ext>
            </a:extLst>
          </p:cNvPr>
          <p:cNvSpPr/>
          <p:nvPr/>
        </p:nvSpPr>
        <p:spPr>
          <a:xfrm>
            <a:off x="582930" y="2956341"/>
            <a:ext cx="1584960" cy="341376"/>
          </a:xfrm>
          <a:prstGeom prst="rect">
            <a:avLst/>
          </a:prstGeom>
          <a:solidFill>
            <a:srgbClr val="7C5CBF">
              <a:alpha val="20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9E6A4413-52D0-6684-C9F0-17E52519A490}"/>
              </a:ext>
            </a:extLst>
          </p:cNvPr>
          <p:cNvSpPr/>
          <p:nvPr/>
        </p:nvSpPr>
        <p:spPr>
          <a:xfrm>
            <a:off x="582930" y="2956341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official</a:t>
            </a:r>
            <a:endParaRPr lang="en-US" sz="12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0AE2E366-E327-2BF2-06EA-6B72ECB9A19E}"/>
              </a:ext>
            </a:extLst>
          </p:cNvPr>
          <p:cNvSpPr/>
          <p:nvPr/>
        </p:nvSpPr>
        <p:spPr>
          <a:xfrm>
            <a:off x="582930" y="3383061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867" dirty="0"/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2D39530C-B6C8-62BA-99D0-C56C6485C342}"/>
              </a:ext>
            </a:extLst>
          </p:cNvPr>
          <p:cNvSpPr/>
          <p:nvPr/>
        </p:nvSpPr>
        <p:spPr>
          <a:xfrm>
            <a:off x="600108" y="3692582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/code-review command. Reviews changed files for quality, security, and test coverage before you commit.</a:t>
            </a:r>
            <a:endParaRPr lang="en-US" sz="1467" dirty="0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45A351C9-1370-FFAD-172A-FBE08EB99726}"/>
              </a:ext>
            </a:extLst>
          </p:cNvPr>
          <p:cNvSpPr/>
          <p:nvPr/>
        </p:nvSpPr>
        <p:spPr>
          <a:xfrm>
            <a:off x="4225671" y="2820363"/>
            <a:ext cx="3535680" cy="1941677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7ECA977E-706D-19F7-CF47-139A2E9391F9}"/>
              </a:ext>
            </a:extLst>
          </p:cNvPr>
          <p:cNvSpPr/>
          <p:nvPr/>
        </p:nvSpPr>
        <p:spPr>
          <a:xfrm>
            <a:off x="4353703" y="3288199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</a:rPr>
              <a:t>playwright</a:t>
            </a:r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720A5492-B01B-8687-E73E-68F179022A6F}"/>
              </a:ext>
            </a:extLst>
          </p:cNvPr>
          <p:cNvSpPr/>
          <p:nvPr/>
        </p:nvSpPr>
        <p:spPr>
          <a:xfrm>
            <a:off x="4343366" y="3671609"/>
            <a:ext cx="3252597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navigates URLs, fills forms, takes screenshots, and runs end-to-end tests; no scripting required.</a:t>
            </a:r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B1359A1C-948A-34AC-BB42-68EEF6F8E581}"/>
              </a:ext>
            </a:extLst>
          </p:cNvPr>
          <p:cNvSpPr/>
          <p:nvPr/>
        </p:nvSpPr>
        <p:spPr>
          <a:xfrm>
            <a:off x="7995666" y="2820363"/>
            <a:ext cx="3535680" cy="1941677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8CD273B7-5FD4-4436-8009-C8589ED2F4BA}"/>
              </a:ext>
            </a:extLst>
          </p:cNvPr>
          <p:cNvSpPr/>
          <p:nvPr/>
        </p:nvSpPr>
        <p:spPr>
          <a:xfrm>
            <a:off x="8141970" y="2956341"/>
            <a:ext cx="1584960" cy="341376"/>
          </a:xfrm>
          <a:prstGeom prst="rect">
            <a:avLst/>
          </a:prstGeom>
          <a:solidFill>
            <a:srgbClr val="4A7FC1">
              <a:alpha val="20000"/>
            </a:srgbClr>
          </a:solidFill>
          <a:ln w="12700">
            <a:solidFill>
              <a:srgbClr val="4A7FC1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A66E4B89-8737-74B3-6D23-1C2F7FC172E3}"/>
              </a:ext>
            </a:extLst>
          </p:cNvPr>
          <p:cNvSpPr/>
          <p:nvPr/>
        </p:nvSpPr>
        <p:spPr>
          <a:xfrm>
            <a:off x="8141970" y="2956341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4A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68D0EAE4-1666-9932-6387-227638023F91}"/>
              </a:ext>
            </a:extLst>
          </p:cNvPr>
          <p:cNvSpPr/>
          <p:nvPr/>
        </p:nvSpPr>
        <p:spPr>
          <a:xfrm>
            <a:off x="8141970" y="3383061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</a:t>
            </a:r>
            <a:endParaRPr lang="en-US" sz="1867" dirty="0"/>
          </a:p>
        </p:txBody>
      </p:sp>
      <p:sp>
        <p:nvSpPr>
          <p:cNvPr id="78" name="Text 38">
            <a:extLst>
              <a:ext uri="{FF2B5EF4-FFF2-40B4-BE49-F238E27FC236}">
                <a16:creationId xmlns:a16="http://schemas.microsoft.com/office/drawing/2014/main" id="{8E00105B-D8B4-6C54-7BDA-856F01851082}"/>
              </a:ext>
            </a:extLst>
          </p:cNvPr>
          <p:cNvSpPr/>
          <p:nvPr/>
        </p:nvSpPr>
        <p:spPr>
          <a:xfrm>
            <a:off x="8148066" y="3582854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debugging, and code review all in one. Structured lifecycle for building features from scratch.</a:t>
            </a:r>
            <a:endParaRPr lang="en-US" sz="1467" dirty="0"/>
          </a:p>
        </p:txBody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9C958D12-A495-4CB9-C3E6-A719860D9097}"/>
              </a:ext>
            </a:extLst>
          </p:cNvPr>
          <p:cNvSpPr/>
          <p:nvPr/>
        </p:nvSpPr>
        <p:spPr>
          <a:xfrm>
            <a:off x="4362450" y="2913669"/>
            <a:ext cx="1584960" cy="341376"/>
          </a:xfrm>
          <a:prstGeom prst="rect">
            <a:avLst/>
          </a:prstGeom>
          <a:solidFill>
            <a:srgbClr val="7C5CBF">
              <a:alpha val="20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58EC62DB-8309-1D90-E4FA-35538D29B3C0}"/>
              </a:ext>
            </a:extLst>
          </p:cNvPr>
          <p:cNvSpPr/>
          <p:nvPr/>
        </p:nvSpPr>
        <p:spPr>
          <a:xfrm>
            <a:off x="4362450" y="2913669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official</a:t>
            </a:r>
            <a:endParaRPr lang="en-US" sz="1200" dirty="0"/>
          </a:p>
        </p:txBody>
      </p:sp>
      <p:sp>
        <p:nvSpPr>
          <p:cNvPr id="81" name="Shape 21">
            <a:extLst>
              <a:ext uri="{FF2B5EF4-FFF2-40B4-BE49-F238E27FC236}">
                <a16:creationId xmlns:a16="http://schemas.microsoft.com/office/drawing/2014/main" id="{55384C24-D0D7-A215-37E1-AAD31CB03B23}"/>
              </a:ext>
            </a:extLst>
          </p:cNvPr>
          <p:cNvSpPr/>
          <p:nvPr/>
        </p:nvSpPr>
        <p:spPr>
          <a:xfrm>
            <a:off x="4221132" y="4855346"/>
            <a:ext cx="3535680" cy="1927414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2C35857C-E735-6745-982C-8C19B34D1E0B}"/>
              </a:ext>
            </a:extLst>
          </p:cNvPr>
          <p:cNvSpPr/>
          <p:nvPr/>
        </p:nvSpPr>
        <p:spPr>
          <a:xfrm>
            <a:off x="4360893" y="4989188"/>
            <a:ext cx="1584960" cy="341376"/>
          </a:xfrm>
          <a:prstGeom prst="rect">
            <a:avLst/>
          </a:prstGeom>
          <a:solidFill>
            <a:srgbClr val="7C5CBF">
              <a:alpha val="20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F343F7EB-7C4A-D7CA-92CE-19873BF85239}"/>
              </a:ext>
            </a:extLst>
          </p:cNvPr>
          <p:cNvSpPr/>
          <p:nvPr/>
        </p:nvSpPr>
        <p:spPr>
          <a:xfrm>
            <a:off x="4360893" y="4989188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official</a:t>
            </a:r>
            <a:endParaRPr lang="en-US" sz="12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01E4EE13-E3C1-AC08-B698-D97D78D96AB7}"/>
              </a:ext>
            </a:extLst>
          </p:cNvPr>
          <p:cNvSpPr/>
          <p:nvPr/>
        </p:nvSpPr>
        <p:spPr>
          <a:xfrm>
            <a:off x="4360893" y="5415908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</a:t>
            </a: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D600CBB-BDFA-46C1-F194-01C4761C3AE3}"/>
              </a:ext>
            </a:extLst>
          </p:cNvPr>
          <p:cNvSpPr/>
          <p:nvPr/>
        </p:nvSpPr>
        <p:spPr>
          <a:xfrm>
            <a:off x="4378071" y="5725429"/>
            <a:ext cx="323088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performance reports, run SEO audits, and design email sequences with /performance-report, /</a:t>
            </a:r>
            <a:r>
              <a:rPr lang="en-US" sz="1467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r>
              <a:rPr lang="en-US" sz="1467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-audit, /email-sequence. </a:t>
            </a:r>
          </a:p>
        </p:txBody>
      </p:sp>
    </p:spTree>
    <p:extLst>
      <p:ext uri="{BB962C8B-B14F-4D97-AF65-F5344CB8AC3E}">
        <p14:creationId xmlns:p14="http://schemas.microsoft.com/office/powerpoint/2010/main" val="199450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1" grpId="0" animBg="1"/>
      <p:bldP spid="72" grpId="0" animBg="1"/>
      <p:bldP spid="73" grpId="0" animBg="1"/>
      <p:bldP spid="75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3CEC-F7AB-428E-2291-5F29EDBC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FC675-0DC5-61A2-0787-5CB24809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EFD766-FD6E-B1A2-9BC5-42452CB30B20}"/>
              </a:ext>
            </a:extLst>
          </p:cNvPr>
          <p:cNvSpPr/>
          <p:nvPr/>
        </p:nvSpPr>
        <p:spPr>
          <a:xfrm>
            <a:off x="134842" y="120240"/>
            <a:ext cx="49610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3: COMPETITIVE ANALYSIS &amp; MARKETING STRATEGY WITH CLAUDE PLUGINS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0EFD4-11F8-355F-647B-4CAD9F22F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24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What You’ll Build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210312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000" dirty="0"/>
              <a:t>Install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Add Playwright +</a:t>
            </a:r>
            <a:br>
              <a:rPr sz="1600" dirty="0"/>
            </a:br>
            <a:r>
              <a:rPr sz="1600" dirty="0"/>
              <a:t>Marketing plugin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856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8083" y="3017519"/>
            <a:ext cx="1633014" cy="535305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38528" y="210312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000" dirty="0"/>
              <a:t>Screenshots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Browse competitor</a:t>
            </a:r>
            <a:br>
              <a:rPr sz="1600" dirty="0"/>
            </a:br>
            <a:r>
              <a:rPr sz="1600" dirty="0"/>
              <a:t>sites, take screenshots</a:t>
            </a:r>
            <a:r>
              <a:rPr lang="en-CA" sz="1600" dirty="0"/>
              <a:t> using Playwright Plugin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5344368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62775" y="3007699"/>
            <a:ext cx="2132143" cy="545126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76104" y="2093299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000" dirty="0"/>
              <a:t>Strategy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Generate a full</a:t>
            </a:r>
            <a:br>
              <a:rPr sz="1600" dirty="0"/>
            </a:br>
            <a:r>
              <a:rPr sz="1600" dirty="0"/>
              <a:t>marketing action plan</a:t>
            </a:r>
            <a:r>
              <a:rPr lang="en-CA" sz="1600" dirty="0"/>
              <a:t> using the marketing plugin</a:t>
            </a:r>
            <a:endParaRPr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10181944" y="19104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E2A741-1284-B84A-FFB5-EEE9BBA0C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345253" y="1061642"/>
            <a:ext cx="11155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6E48"/>
                </a:solidFill>
                <a:latin typeface="Montserrat"/>
              </a:defRPr>
            </a:pPr>
            <a:r>
              <a:rPr dirty="0"/>
              <a:t>Business: Pulse &amp; Flow Studio, Austin TX </a:t>
            </a:r>
            <a:r>
              <a:rPr lang="en-CA" dirty="0"/>
              <a:t>where </a:t>
            </a:r>
            <a:r>
              <a:rPr dirty="0"/>
              <a:t>"Strength meets stillness"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Step 1: Install Playwright + Marketing Plugin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39"/>
            <a:ext cx="5394960" cy="26422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t"/>
          <a:lstStyle/>
          <a:p>
            <a:pPr algn="ctr">
              <a:defRPr sz="1600" b="1">
                <a:solidFill>
                  <a:srgbClr val="6CCAD8"/>
                </a:solidFill>
                <a:latin typeface="Montserrat"/>
              </a:defRPr>
            </a:pPr>
            <a:r>
              <a:rPr dirty="0"/>
              <a:t>Playwright</a:t>
            </a:r>
            <a:r>
              <a:rPr lang="en-CA" dirty="0"/>
              <a:t>: </a:t>
            </a:r>
            <a:r>
              <a:rPr dirty="0"/>
              <a:t>Browser Automation</a:t>
            </a:r>
          </a:p>
          <a:p>
            <a:pPr algn="l">
              <a:spcBef>
                <a:spcPts val="5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Install (inside Claude Code):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/plugin install </a:t>
            </a:r>
            <a:r>
              <a:rPr dirty="0" err="1"/>
              <a:t>playwright@claude-plugins-official</a:t>
            </a:r>
            <a:endParaRPr dirty="0"/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endParaRPr dirty="0"/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Claude can now: Open browsers, navigate sites,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click elements, take screenshots, read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394960" cy="264223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t"/>
          <a:lstStyle/>
          <a:p>
            <a:pPr algn="ctr">
              <a:defRPr sz="1600" b="1">
                <a:solidFill>
                  <a:srgbClr val="D56E48"/>
                </a:solidFill>
                <a:latin typeface="Montserrat"/>
              </a:defRPr>
            </a:pPr>
            <a:r>
              <a:rPr dirty="0"/>
              <a:t>Anthropic Marketing Plugin</a:t>
            </a:r>
          </a:p>
          <a:p>
            <a:pPr algn="l">
              <a:spcBef>
                <a:spcPts val="500"/>
              </a:spcBef>
              <a:defRPr sz="13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Install: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/plugin marketplace add </a:t>
            </a:r>
            <a:r>
              <a:rPr dirty="0" err="1"/>
              <a:t>anthropics</a:t>
            </a:r>
            <a:r>
              <a:rPr dirty="0"/>
              <a:t>/knowledge-work-plugins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/plugin install </a:t>
            </a:r>
            <a:r>
              <a:rPr dirty="0" err="1"/>
              <a:t>marketing@knowledge-work-plugins</a:t>
            </a:r>
            <a:endParaRPr dirty="0"/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endParaRPr dirty="0"/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Claude gets: Content strategy, competitive analysis,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campaign planning, brand positioning frameworks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709" y="4480560"/>
            <a:ext cx="11155680" cy="50292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Both installed via /plugin</a:t>
            </a:r>
            <a:r>
              <a:rPr lang="en-CA" dirty="0"/>
              <a:t>;</a:t>
            </a:r>
            <a:r>
              <a:rPr dirty="0"/>
              <a:t> no MCP config, no API keys, no subscriptions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ACFD80-28BF-2546-9206-316536AB70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Step 2: Competitive Analysis with Playwright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797085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Claude browses competitor sites in real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063" y="3460741"/>
            <a:ext cx="1843012" cy="20090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400" b="1">
                <a:solidFill>
                  <a:srgbClr val="6CCAD8"/>
                </a:solidFill>
                <a:latin typeface="Montserrat"/>
              </a:defRPr>
            </a:pPr>
            <a:r>
              <a:rPr sz="1600" dirty="0"/>
              <a:t>Visit Site</a:t>
            </a:r>
          </a:p>
          <a:p>
            <a:pPr algn="ctr">
              <a:spcBef>
                <a:spcPts val="600"/>
              </a:spcBef>
              <a:defRPr sz="110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Navigate to each</a:t>
            </a:r>
            <a:br>
              <a:rPr sz="1600" dirty="0"/>
            </a:br>
            <a:r>
              <a:rPr sz="1600" dirty="0"/>
              <a:t>competitor’s homepage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67931" y="4177608"/>
            <a:ext cx="1737359" cy="549815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36218" y="3460740"/>
            <a:ext cx="2288914" cy="20090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400" b="1">
                <a:solidFill>
                  <a:srgbClr val="D56E48"/>
                </a:solidFill>
                <a:latin typeface="Montserrat"/>
              </a:defRPr>
            </a:pPr>
            <a:r>
              <a:rPr sz="1600"/>
              <a:t>Screenshot</a:t>
            </a:r>
          </a:p>
          <a:p>
            <a:pPr algn="ctr">
              <a:spcBef>
                <a:spcPts val="600"/>
              </a:spcBef>
              <a:defRPr sz="1100">
                <a:solidFill>
                  <a:srgbClr val="333333"/>
                </a:solidFill>
                <a:latin typeface="Montserrat"/>
              </a:defRPr>
            </a:pPr>
            <a:r>
              <a:rPr sz="1600"/>
              <a:t>Full-page capture</a:t>
            </a:r>
            <a:br>
              <a:rPr sz="1600"/>
            </a:br>
            <a:r>
              <a:rPr sz="1600"/>
              <a:t>of key pages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86987" y="4161013"/>
            <a:ext cx="2288914" cy="608498"/>
          </a:xfrm>
          <a:prstGeom prst="rightArrow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37757" y="3460741"/>
            <a:ext cx="2288913" cy="20090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rPr sz="1600"/>
              <a:t>Analyze</a:t>
            </a:r>
          </a:p>
          <a:p>
            <a:pPr algn="ctr">
              <a:spcBef>
                <a:spcPts val="600"/>
              </a:spcBef>
              <a:defRPr sz="1100">
                <a:solidFill>
                  <a:srgbClr val="333333"/>
                </a:solidFill>
                <a:latin typeface="Montserrat"/>
              </a:defRPr>
            </a:pPr>
            <a:r>
              <a:rPr sz="1600"/>
              <a:t>Note messaging,</a:t>
            </a:r>
            <a:br>
              <a:rPr sz="1600"/>
            </a:br>
            <a:r>
              <a:rPr sz="1600"/>
              <a:t>colors, CTAs, vibe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1998" y="1582315"/>
            <a:ext cx="5760720" cy="1371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t"/>
          <a:lstStyle/>
          <a:p>
            <a:pPr algn="ctr">
              <a:defRPr sz="14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Competitors Analyzed: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•  barrys.com (high-energy HIIT)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•  purebarre.com (barre fitness)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05982B-3C7F-56CA-0F36-094CCDE94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Step 3: Generate a Marketing Strategy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1957" y="1884001"/>
            <a:ext cx="73152" cy="640080"/>
          </a:xfrm>
          <a:prstGeom prst="rect">
            <a:avLst/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2489117" y="1884001"/>
            <a:ext cx="6767702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600" b="1">
                <a:solidFill>
                  <a:srgbClr val="6CCAD8"/>
                </a:solidFill>
                <a:latin typeface="Montserrat"/>
              </a:rPr>
              <a:t>Brand Positioning  </a:t>
            </a:r>
            <a:r>
              <a:rPr sz="1400">
                <a:solidFill>
                  <a:srgbClr val="333333"/>
                </a:solidFill>
                <a:latin typeface="Montserrat"/>
              </a:rPr>
              <a:t>How to differentiate from competitors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1957" y="2633809"/>
            <a:ext cx="73152" cy="640080"/>
          </a:xfrm>
          <a:prstGeom prst="rect">
            <a:avLst/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2489117" y="2633809"/>
            <a:ext cx="6767702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600" b="1">
                <a:solidFill>
                  <a:srgbClr val="D56E48"/>
                </a:solidFill>
                <a:latin typeface="Montserrat"/>
              </a:rPr>
              <a:t>Content Calendar  </a:t>
            </a:r>
            <a:r>
              <a:rPr sz="1400">
                <a:solidFill>
                  <a:srgbClr val="333333"/>
                </a:solidFill>
                <a:latin typeface="Montserrat"/>
              </a:rPr>
              <a:t>4 weeks of Instagram + LinkedIn posts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1957" y="3383617"/>
            <a:ext cx="73152" cy="64008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2489116" y="3383617"/>
            <a:ext cx="6767703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600" b="1" dirty="0">
                <a:solidFill>
                  <a:srgbClr val="0C1752"/>
                </a:solidFill>
                <a:latin typeface="Montserrat"/>
              </a:rPr>
              <a:t>Landing Page Fixes  </a:t>
            </a:r>
            <a:r>
              <a:rPr sz="1400" dirty="0">
                <a:solidFill>
                  <a:srgbClr val="333333"/>
                </a:solidFill>
                <a:latin typeface="Montserrat"/>
              </a:rPr>
              <a:t>7 improvements based on competitor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1957" y="4133425"/>
            <a:ext cx="73152" cy="640080"/>
          </a:xfrm>
          <a:prstGeom prst="rect">
            <a:avLst/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2489117" y="4133425"/>
            <a:ext cx="6767702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600" b="1">
                <a:solidFill>
                  <a:srgbClr val="6CCAD8"/>
                </a:solidFill>
                <a:latin typeface="Montserrat"/>
              </a:rPr>
              <a:t>Customer Acquisition  </a:t>
            </a:r>
            <a:r>
              <a:rPr sz="1400">
                <a:solidFill>
                  <a:srgbClr val="333333"/>
                </a:solidFill>
                <a:latin typeface="Montserrat"/>
              </a:rPr>
              <a:t>5 creative ideas competitors aren’t using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1957" y="4883233"/>
            <a:ext cx="73152" cy="640080"/>
          </a:xfrm>
          <a:prstGeom prst="rect">
            <a:avLst/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2489117" y="4883233"/>
            <a:ext cx="6767702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600" b="1">
                <a:solidFill>
                  <a:srgbClr val="D56E48"/>
                </a:solidFill>
                <a:latin typeface="Montserrat"/>
              </a:rPr>
              <a:t>Quick Wins  </a:t>
            </a:r>
            <a:r>
              <a:rPr sz="1400">
                <a:solidFill>
                  <a:srgbClr val="333333"/>
                </a:solidFill>
                <a:latin typeface="Montserrat"/>
              </a:rPr>
              <a:t>3 things to implement THIS WEEK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DA902A-537B-4908-1BA0-1B49134FA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0755F0-38D5-99DD-1FB6-191452428F07}"/>
              </a:ext>
            </a:extLst>
          </p:cNvPr>
          <p:cNvSpPr txBox="1"/>
          <p:nvPr/>
        </p:nvSpPr>
        <p:spPr>
          <a:xfrm>
            <a:off x="154722" y="820063"/>
            <a:ext cx="10958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Playwright gathered the data and Marketing plugin turned it into strategy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Practice Opportunity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3E591A-E45A-2842-DC38-EC15788D58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56C94E-D3F1-FFBF-E265-F63891DE7FB9}"/>
              </a:ext>
            </a:extLst>
          </p:cNvPr>
          <p:cNvSpPr txBox="1"/>
          <p:nvPr/>
        </p:nvSpPr>
        <p:spPr>
          <a:xfrm>
            <a:off x="154722" y="769178"/>
            <a:ext cx="894165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AutoNum type="arabicPeriod"/>
              <a:defRPr>
                <a:latin typeface="Montserrat" panose="00000500000000000000" pitchFamily="2" charset="0"/>
              </a:defRPr>
            </a:lvl1pPr>
          </a:lstStyle>
          <a:p>
            <a:r>
              <a:rPr lang="en-US" sz="1600" dirty="0"/>
              <a:t>Run a competitive analysis using Playwright + the marketing plugin for a new artisan coffee roastery.</a:t>
            </a:r>
          </a:p>
          <a:p>
            <a:endParaRPr lang="en-US" sz="1600" dirty="0"/>
          </a:p>
          <a:p>
            <a:r>
              <a:rPr lang="en-US" sz="1600" dirty="0"/>
              <a:t>Business: </a:t>
            </a:r>
            <a:r>
              <a:rPr lang="en-US" sz="1600" i="1" dirty="0"/>
              <a:t>Ember &amp; Origin: “Single-origin, small-batch, roasted with intention.”</a:t>
            </a:r>
            <a:br>
              <a:rPr lang="en-US" sz="1600" dirty="0"/>
            </a:br>
            <a:r>
              <a:rPr lang="en-US" sz="1600" dirty="0"/>
              <a:t>Audience: Coffee enthusiasts who value origin, process, and sustainability.</a:t>
            </a:r>
          </a:p>
          <a:p>
            <a:endParaRPr lang="en-US" sz="1600" dirty="0"/>
          </a:p>
          <a:p>
            <a:r>
              <a:rPr lang="en-US" sz="1600" dirty="0"/>
              <a:t>Competitors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4"/>
              </a:rPr>
              <a:t>https://bluebottlecoffee.com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5"/>
              </a:rPr>
              <a:t>https://www.stumptowncoffee.com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6"/>
              </a:rPr>
              <a:t>https://counterculturecoffee.com</a:t>
            </a:r>
            <a:endParaRPr lang="en-US" sz="1600" dirty="0"/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1. Capture Screenshots (Playwright), For each competitor, screenshot the Homepage, One key page (Products, Pricing, or About)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2. Analyze: Compare competitors on Brand positioning, Messaging, Product differentiation, Sustainability claims, Website UX/design, Gaps or missed opportunities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3. Strategy for Ember &amp; Origin (Marketing Plugin)</a:t>
            </a:r>
            <a:br>
              <a:rPr lang="en-US" sz="1600" dirty="0"/>
            </a:br>
            <a:r>
              <a:rPr lang="en-US" sz="1600" dirty="0"/>
              <a:t>Generate 5 differentiation strategies, 4-week content calendar (social, email, blog), Focus on origin transparency, craft roasting, and sustainability.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CC9C1C-D749-4DF2-8404-4A92C24868F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6306</TotalTime>
  <Words>3517</Words>
  <Application>Microsoft Office PowerPoint</Application>
  <PresentationFormat>Widescreen</PresentationFormat>
  <Paragraphs>446</Paragraphs>
  <Slides>44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Courier New</vt:lpstr>
      <vt:lpstr>Montserrat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676</cp:revision>
  <dcterms:created xsi:type="dcterms:W3CDTF">2019-11-18T17:58:36Z</dcterms:created>
  <dcterms:modified xsi:type="dcterms:W3CDTF">2026-03-15T17:40:04Z</dcterms:modified>
</cp:coreProperties>
</file>