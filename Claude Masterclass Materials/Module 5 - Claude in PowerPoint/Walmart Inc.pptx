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61" r:id="rId4"/>
    <p:sldId id="263" r:id="rId5"/>
    <p:sldId id="269" r:id="rId6"/>
    <p:sldId id="271" r:id="rId7"/>
    <p:sldId id="27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81" d="100"/>
          <a:sy n="81" d="100"/>
        </p:scale>
        <p:origin x="96" y="9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FFFFFF"/>
                </a:solidFill>
                <a:latin typeface="Montserrat"/>
              </a:defRPr>
            </a:pPr>
            <a:r>
              <a:rPr lang="en-US" sz="1600" b="1" dirty="0">
                <a:solidFill>
                  <a:srgbClr val="FFFFFF"/>
                </a:solidFill>
                <a:latin typeface="Montserrat"/>
              </a:rPr>
              <a:t>3-Year Financial Trend ($B)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Net Sales</c:v>
          </c:tx>
          <c:spPr>
            <a:solidFill>
              <a:srgbClr val="0071DC"/>
            </a:solidFill>
          </c:spPr>
          <c:invertIfNegative val="1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solidFill>
                      <a:srgbClr val="E0E6ED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FY2022</c:v>
              </c:pt>
              <c:pt idx="1">
                <c:v>FY2023</c:v>
              </c:pt>
              <c:pt idx="2">
                <c:v>FY2024</c:v>
              </c:pt>
            </c:strLit>
          </c:cat>
          <c:val>
            <c:numLit>
              <c:formatCode>General</c:formatCode>
              <c:ptCount val="3"/>
              <c:pt idx="0">
                <c:v>567.79999999999995</c:v>
              </c:pt>
              <c:pt idx="1">
                <c:v>605.9</c:v>
              </c:pt>
              <c:pt idx="2">
                <c:v>642.6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129-414A-A6CD-3F1D7FF3B1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>
                <a:solidFill>
                  <a:srgbClr val="B0BEC5"/>
                </a:solidFill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B0BEC5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0C1D3A"/>
    </a:solidFill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FFFFFF"/>
                </a:solidFill>
                <a:latin typeface="Montserrat"/>
              </a:defRPr>
            </a:pPr>
            <a:r>
              <a:rPr lang="en-US" sz="1600" b="1" dirty="0">
                <a:solidFill>
                  <a:srgbClr val="FFFFFF"/>
                </a:solidFill>
                <a:latin typeface="Montserrat"/>
              </a:rPr>
              <a:t>Revenue Mix by Segment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v>FY2024 Net Sales</c:v>
          </c:tx>
          <c:dPt>
            <c:idx val="0"/>
            <c:bubble3D val="0"/>
            <c:spPr>
              <a:solidFill>
                <a:srgbClr val="0071DC"/>
              </a:solidFill>
            </c:spPr>
            <c:extLst>
              <c:ext xmlns:c16="http://schemas.microsoft.com/office/drawing/2014/chart" uri="{C3380CC4-5D6E-409C-BE32-E72D297353CC}">
                <c16:uniqueId val="{00000001-8585-4F9A-8BEF-FC8568BB7C8B}"/>
              </c:ext>
            </c:extLst>
          </c:dPt>
          <c:dPt>
            <c:idx val="1"/>
            <c:bubble3D val="0"/>
            <c:spPr>
              <a:solidFill>
                <a:srgbClr val="FFC220"/>
              </a:solidFill>
            </c:spPr>
            <c:extLst>
              <c:ext xmlns:c16="http://schemas.microsoft.com/office/drawing/2014/chart" uri="{C3380CC4-5D6E-409C-BE32-E72D297353CC}">
                <c16:uniqueId val="{00000003-8585-4F9A-8BEF-FC8568BB7C8B}"/>
              </c:ext>
            </c:extLst>
          </c:dPt>
          <c:dPt>
            <c:idx val="2"/>
            <c:bubble3D val="0"/>
            <c:spPr>
              <a:solidFill>
                <a:srgbClr val="2CA01C"/>
              </a:solidFill>
            </c:spPr>
            <c:extLst>
              <c:ext xmlns:c16="http://schemas.microsoft.com/office/drawing/2014/chart" uri="{C3380CC4-5D6E-409C-BE32-E72D297353CC}">
                <c16:uniqueId val="{00000005-8585-4F9A-8BEF-FC8568BB7C8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solidFill>
                      <a:srgbClr val="E0E6ED"/>
                    </a:solidFill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1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Lit>
              <c:ptCount val="3"/>
              <c:pt idx="0">
                <c:v>Walmart U.S.</c:v>
              </c:pt>
              <c:pt idx="1">
                <c:v>International</c:v>
              </c:pt>
              <c:pt idx="2">
                <c:v>Sam's Club</c:v>
              </c:pt>
            </c:strLit>
          </c:cat>
          <c:val>
            <c:numLit>
              <c:formatCode>General</c:formatCode>
              <c:ptCount val="3"/>
              <c:pt idx="0">
                <c:v>441.8</c:v>
              </c:pt>
              <c:pt idx="1">
                <c:v>114.6</c:v>
              </c:pt>
              <c:pt idx="2">
                <c:v>86.2</c:v>
              </c:pt>
            </c:numLit>
          </c:val>
          <c:extLst>
            <c:ext xmlns:c16="http://schemas.microsoft.com/office/drawing/2014/chart" uri="{C3380CC4-5D6E-409C-BE32-E72D297353CC}">
              <c16:uniqueId val="{00000006-8585-4F9A-8BEF-FC8568BB7C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  <c:spPr>
        <a:noFill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B0BEC5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0C1D3A"/>
    </a:solidFill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FFFFFF"/>
                </a:solidFill>
                <a:latin typeface="Montserrat"/>
              </a:defRPr>
            </a:pPr>
            <a:r>
              <a:rPr lang="en-US" sz="1600" b="1" dirty="0">
                <a:solidFill>
                  <a:srgbClr val="FFFFFF"/>
                </a:solidFill>
                <a:latin typeface="Montserrat"/>
              </a:rPr>
              <a:t>Operating Cash Flow ($B)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Operating Cash Flow</c:v>
          </c:tx>
          <c:spPr>
            <a:solidFill>
              <a:srgbClr val="0071DC"/>
            </a:solidFill>
          </c:spPr>
          <c:invertIfNegative val="1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FY2022</c:v>
              </c:pt>
              <c:pt idx="1">
                <c:v>FY2023</c:v>
              </c:pt>
              <c:pt idx="2">
                <c:v>FY2024</c:v>
              </c:pt>
            </c:strLit>
          </c:cat>
          <c:val>
            <c:numLit>
              <c:formatCode>General</c:formatCode>
              <c:ptCount val="3"/>
              <c:pt idx="0">
                <c:v>24.2</c:v>
              </c:pt>
              <c:pt idx="1">
                <c:v>28.8</c:v>
              </c:pt>
              <c:pt idx="2">
                <c:v>35.700000000000003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40E-4DA8-91B9-4E90B78633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>
                <a:solidFill>
                  <a:srgbClr val="B0BEC5"/>
                </a:solidFill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B0BEC5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0C1D3A"/>
    </a:solidFill>
    <a:ln>
      <a:noFill/>
    </a:ln>
  </c:spPr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A2793-6FD1-3C6C-D145-072CA97E9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A70B09-08FB-C2EB-902C-37567D25A0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40236-C59E-EDBD-54A5-172BDFF51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450E6-FAD4-467B-93F6-42A041865D3C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54693-0048-42A1-9A2D-BCC4E2728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35962-BAFF-3606-2ECA-DBDCA4520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38E8A-4F00-4F93-A253-D8CFF0EA4C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9132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AE4DD-D05C-A02C-57D4-A740DE788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EE176-4BD3-E71A-A248-F0531EE4C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62405-0E01-6F08-9F07-1796B6BE9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450E6-FAD4-467B-93F6-42A041865D3C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3C4C0-8E96-368C-A0DB-068BD2DE3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9434D-06A1-8C8D-581D-C9676554D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38E8A-4F00-4F93-A253-D8CFF0EA4C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9662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43860-88B0-8750-2FAE-8C035F922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BEF97-55F9-06D0-95B4-D52C6B6E0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44EEB-846C-33C3-6CD5-93268A0C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450E6-FAD4-467B-93F6-42A041865D3C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9D8CB-E21E-986D-315F-DE5069073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3483F-4374-ECC7-849C-A8C200BAC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38E8A-4F00-4F93-A253-D8CFF0EA4C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03795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189BE-7592-4F20-342D-1D7770DB8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F84C7-64B8-2039-9692-8475150D7C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C955F0-CD3D-AEBF-A53B-5CB54E28AA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84744-85DC-F515-2E37-CC50B0A2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450E6-FAD4-467B-93F6-42A041865D3C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425B0C-9E6C-8A4D-7A8A-FF7E68979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D3C404-0CC3-F3C2-D176-42DE5DEB0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38E8A-4F00-4F93-A253-D8CFF0EA4C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28162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6D1A6-B84E-0C15-4C50-7173D0C64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10AF3F-82D1-BCA3-3F08-49D646FE0B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69D903-289D-82D1-9C41-4727C62033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E4A8EB-4BA4-BD9B-5243-34321CB656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DBE36D-6032-F4A9-9CF7-5A6376C170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8AA9F3-08EF-FF12-912E-81C3481CC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450E6-FAD4-467B-93F6-42A041865D3C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344D2B-4911-340F-EFE0-CF0B4A5A4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1019A2-F3A0-4FEF-C025-3DEA3B313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38E8A-4F00-4F93-A253-D8CFF0EA4C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9585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B7618-9DB4-FB1C-B613-47F718AAA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DFEBEC-DA22-1C5C-F155-1DBCC3F30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450E6-FAD4-467B-93F6-42A041865D3C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5F8784-33D6-7579-C9FC-2948BBBE3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01530D-D4BD-EEEF-7ECB-73D115C0A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38E8A-4F00-4F93-A253-D8CFF0EA4C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6353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7C09A9-BC98-BCC4-8FAE-4A5635C26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450E6-FAD4-467B-93F6-42A041865D3C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C4C090-B15F-1135-1981-2E6C121CA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77ADF-58C9-17FD-936E-EB9619154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38E8A-4F00-4F93-A253-D8CFF0EA4C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42296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CA13C-75FE-1D87-4F6F-411F9A41A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7D1C4-0F4F-89E4-634A-D014DBCFE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DDC148-71B0-1D83-E6E9-7CB50AA65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08F884-9466-ABA0-F58D-EC461D0A8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450E6-FAD4-467B-93F6-42A041865D3C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3A1475-7902-DC28-95B5-6E2FAD3A2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016C2-7C02-59C6-3903-0310407DA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38E8A-4F00-4F93-A253-D8CFF0EA4C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7591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8E792-FB71-9AE0-8E81-01B0E5A2E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1129C3-5CEA-C65B-F29D-FD5CF23219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B07349-C097-91B7-065F-9ECA5A4EB4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4D005F-A23E-697F-13A6-F642E8FB2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450E6-FAD4-467B-93F6-42A041865D3C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AFCEF3-FA1E-CEEF-E2CA-55FD61530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D4E9CC-F7CB-1A1D-9F9C-B08F2A5F3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38E8A-4F00-4F93-A253-D8CFF0EA4C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7318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61005-9EF0-915C-3D2D-C031F2445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CC5D1A-547D-3031-E705-C4B7F2E2AD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C6A64-E00B-7C90-DA95-5DEF79238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450E6-FAD4-467B-93F6-42A041865D3C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57722-56A2-6F8D-FD9A-84993E819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68027-BA55-3233-AD54-369E79BB5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38E8A-4F00-4F93-A253-D8CFF0EA4C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1688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BCA594-5D0A-BF8E-0958-3AF36EE0CE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A5E65-FEA2-42A7-68AA-669646936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CD956-C21C-DE59-8971-E4A0AE2F3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450E6-FAD4-467B-93F6-42A041865D3C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237FD-26B3-6EF1-7CD6-BBEDFEF40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03EB-62C2-E20F-AB86-A25C9F066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38E8A-4F00-4F93-A253-D8CFF0EA4C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8742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C1D3A"/>
            </a:gs>
            <a:gs pos="100000">
              <a:srgbClr val="0A162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C46AA9-16A7-CBF5-69CE-194CC2664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87716-7269-8742-C203-E76156ABB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A41B5-34E3-41FF-1947-10708DFE31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3450E6-FAD4-467B-93F6-42A041865D3C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62BA2-D788-7C7A-91C8-679A2C69FE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7BAC-E745-4E5E-5C92-36B2899C3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738E8A-4F00-4F93-A253-D8CFF0EA4C00}" type="slidenum">
              <a:rPr lang="en-CA" smtClean="0"/>
              <a:t>‹#›</a:t>
            </a:fld>
            <a:endParaRPr lang="en-CA"/>
          </a:p>
        </p:txBody>
      </p:sp>
      <p:sp>
        <p:nvSpPr>
          <p:cNvPr id="900" name="AccentBar"/>
          <p:cNvSpPr/>
          <p:nvPr/>
        </p:nvSpPr>
        <p:spPr>
          <a:xfrm>
            <a:off x="0" y="6765988"/>
            <a:ext cx="12192000" cy="914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SideAccent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>
            <a:gsLst>
              <a:gs pos="0">
                <a:srgbClr val="0071DC">
                  <a:alpha val="0"/>
                </a:srgbClr>
              </a:gs>
              <a:gs pos="40000">
                <a:srgbClr val="0071DC">
                  <a:alpha val="60000"/>
                </a:srgbClr>
              </a:gs>
              <a:gs pos="100000">
                <a:srgbClr val="FFC220">
                  <a:alpha val="80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910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E0E6E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E0E6ED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E0E6E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0E6E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0E6E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0E6ED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0E6ED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0E6ED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0E6ED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E0E6ED"/>
          </a:solidFill>
        </a:defRPr>
      </a:defPPr>
      <a:lvl1pPr marL="0" algn="l" defTabSz="914400" rtl="0" eaLnBrk="1" latinLnBrk="0" hangingPunct="1">
        <a:defRPr sz="1800" kern="1200">
          <a:solidFill>
            <a:srgbClr val="E0E6ED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E0E6ED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E0E6ED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E0E6ED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E0E6ED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E0E6ED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E0E6ED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E0E6ED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E0E6ED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88D89-3EF7-54B1-3306-55B3507156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32000"/>
            <a:ext cx="9144000" cy="1016000"/>
          </a:xfrm>
        </p:spPr>
        <p:txBody>
          <a:bodyPr>
            <a:normAutofit/>
          </a:bodyPr>
          <a:lstStyle/>
          <a:p>
            <a:r>
              <a:rPr lang="en-CA" sz="4000" b="1"/>
              <a:t>Walmart Inc.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0DA811-7354-0427-DBD2-96A437D878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02000"/>
            <a:ext cx="9144000" cy="1143000"/>
          </a:xfrm>
        </p:spPr>
        <p:txBody>
          <a:bodyPr>
            <a:normAutofit/>
          </a:bodyPr>
          <a:lstStyle/>
          <a:p>
            <a:r>
              <a:rPr lang="en-US" sz="2000"/>
              <a:t>FY2024 Annual Report (10-K)
Fiscal Year Ended January 31, 2024</a:t>
            </a:r>
            <a:endParaRPr lang="en-CA" sz="2000"/>
          </a:p>
        </p:txBody>
      </p:sp>
    </p:spTree>
    <p:extLst>
      <p:ext uri="{BB962C8B-B14F-4D97-AF65-F5344CB8AC3E}">
        <p14:creationId xmlns:p14="http://schemas.microsoft.com/office/powerpoint/2010/main" val="1171166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9AC70-1ABE-9794-AD29-D12D449E7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0"/>
            <a:ext cx="10515600" cy="635000"/>
          </a:xfrm>
        </p:spPr>
        <p:txBody>
          <a:bodyPr>
            <a:normAutofit/>
          </a:bodyPr>
          <a:lstStyle/>
          <a:p>
            <a:r>
              <a:rPr lang="en-CA" sz="3200" b="1"/>
              <a:t>Company Snapshot</a:t>
            </a:r>
          </a:p>
        </p:txBody>
      </p:sp>
      <p:sp>
        <p:nvSpPr>
          <p:cNvPr id="200" name="KPICard0"/>
          <p:cNvSpPr/>
          <p:nvPr/>
        </p:nvSpPr>
        <p:spPr>
          <a:xfrm>
            <a:off x="838200" y="1600000"/>
            <a:ext cx="2514600" cy="1828800"/>
          </a:xfrm>
          <a:prstGeom prst="roundRect">
            <a:avLst>
              <a:gd name="adj" fmla="val 8000"/>
            </a:avLst>
          </a:prstGeom>
          <a:solidFill>
            <a:srgbClr val="132B52"/>
          </a:solidFill>
          <a:ln w="19050">
            <a:solidFill>
              <a:srgbClr val="FFC220">
                <a:alpha val="50000"/>
              </a:srgbClr>
            </a:solidFill>
          </a:ln>
        </p:spPr>
        <p:txBody>
          <a:bodyPr anchor="ctr" anchorCtr="1"/>
          <a:lstStyle/>
          <a:p>
            <a:pPr algn="ctr">
              <a:spcAft>
                <a:spcPts val="200"/>
              </a:spcAft>
            </a:pPr>
            <a:r>
              <a:rPr lang="en-US" sz="3200" b="1" dirty="0">
                <a:solidFill>
                  <a:srgbClr val="FFC220"/>
                </a:solidFill>
                <a:latin typeface="Montserrat"/>
              </a:rPr>
              <a:t>$648.1B</a:t>
            </a:r>
          </a:p>
          <a:p>
            <a:pPr algn="ctr"/>
            <a:r>
              <a:rPr lang="en-US" sz="1400" dirty="0">
                <a:solidFill>
                  <a:srgbClr val="B0BEC5"/>
                </a:solidFill>
                <a:latin typeface="Source Sans Pro"/>
              </a:rPr>
              <a:t>Total Revenue</a:t>
            </a:r>
          </a:p>
        </p:txBody>
      </p:sp>
      <p:sp>
        <p:nvSpPr>
          <p:cNvPr id="201" name="KPICard1"/>
          <p:cNvSpPr/>
          <p:nvPr/>
        </p:nvSpPr>
        <p:spPr>
          <a:xfrm>
            <a:off x="3505200" y="1600000"/>
            <a:ext cx="2514600" cy="1828800"/>
          </a:xfrm>
          <a:prstGeom prst="roundRect">
            <a:avLst>
              <a:gd name="adj" fmla="val 8000"/>
            </a:avLst>
          </a:prstGeom>
          <a:solidFill>
            <a:srgbClr val="132B52"/>
          </a:solidFill>
          <a:ln w="19050">
            <a:solidFill>
              <a:srgbClr val="0071DC">
                <a:alpha val="50000"/>
              </a:srgbClr>
            </a:solidFill>
          </a:ln>
        </p:spPr>
        <p:txBody>
          <a:bodyPr anchor="ctr" anchorCtr="1"/>
          <a:lstStyle/>
          <a:p>
            <a:pPr algn="ctr">
              <a:spcAft>
                <a:spcPts val="200"/>
              </a:spcAft>
            </a:pPr>
            <a:r>
              <a:rPr lang="en-US" sz="3200" b="1" dirty="0">
                <a:solidFill>
                  <a:srgbClr val="0071DC"/>
                </a:solidFill>
                <a:latin typeface="Montserrat"/>
              </a:rPr>
              <a:t>10,600+</a:t>
            </a:r>
          </a:p>
          <a:p>
            <a:pPr algn="ctr"/>
            <a:r>
              <a:rPr lang="en-US" sz="1400" dirty="0">
                <a:solidFill>
                  <a:srgbClr val="B0BEC5"/>
                </a:solidFill>
                <a:latin typeface="Source Sans Pro"/>
              </a:rPr>
              <a:t>Stores Worldwide</a:t>
            </a:r>
          </a:p>
        </p:txBody>
      </p:sp>
      <p:sp>
        <p:nvSpPr>
          <p:cNvPr id="202" name="KPICard2"/>
          <p:cNvSpPr/>
          <p:nvPr/>
        </p:nvSpPr>
        <p:spPr>
          <a:xfrm>
            <a:off x="6172200" y="1600000"/>
            <a:ext cx="2514600" cy="1828800"/>
          </a:xfrm>
          <a:prstGeom prst="roundRect">
            <a:avLst>
              <a:gd name="adj" fmla="val 8000"/>
            </a:avLst>
          </a:prstGeom>
          <a:solidFill>
            <a:srgbClr val="132B52"/>
          </a:solidFill>
          <a:ln w="19050">
            <a:solidFill>
              <a:srgbClr val="2CA01C">
                <a:alpha val="50000"/>
              </a:srgbClr>
            </a:solidFill>
          </a:ln>
        </p:spPr>
        <p:txBody>
          <a:bodyPr anchor="ctr" anchorCtr="1"/>
          <a:lstStyle/>
          <a:p>
            <a:pPr algn="ctr">
              <a:spcAft>
                <a:spcPts val="200"/>
              </a:spcAft>
            </a:pPr>
            <a:r>
              <a:rPr lang="en-US" sz="3200" b="1" dirty="0">
                <a:solidFill>
                  <a:srgbClr val="2CA01C"/>
                </a:solidFill>
                <a:latin typeface="Montserrat"/>
              </a:rPr>
              <a:t>19</a:t>
            </a:r>
          </a:p>
          <a:p>
            <a:pPr algn="ctr"/>
            <a:r>
              <a:rPr lang="en-US" sz="1400" dirty="0">
                <a:solidFill>
                  <a:srgbClr val="B0BEC5"/>
                </a:solidFill>
                <a:latin typeface="Source Sans Pro"/>
              </a:rPr>
              <a:t>Countries</a:t>
            </a:r>
          </a:p>
        </p:txBody>
      </p:sp>
      <p:sp>
        <p:nvSpPr>
          <p:cNvPr id="203" name="KPICard3"/>
          <p:cNvSpPr/>
          <p:nvPr/>
        </p:nvSpPr>
        <p:spPr>
          <a:xfrm>
            <a:off x="8839200" y="1600000"/>
            <a:ext cx="2514600" cy="1828800"/>
          </a:xfrm>
          <a:prstGeom prst="roundRect">
            <a:avLst>
              <a:gd name="adj" fmla="val 8000"/>
            </a:avLst>
          </a:prstGeom>
          <a:solidFill>
            <a:srgbClr val="132B52"/>
          </a:solidFill>
          <a:ln w="19050">
            <a:solidFill>
              <a:srgbClr val="E8913A">
                <a:alpha val="50000"/>
              </a:srgbClr>
            </a:solidFill>
          </a:ln>
        </p:spPr>
        <p:txBody>
          <a:bodyPr anchor="ctr" anchorCtr="1"/>
          <a:lstStyle/>
          <a:p>
            <a:pPr algn="ctr">
              <a:spcAft>
                <a:spcPts val="200"/>
              </a:spcAft>
            </a:pPr>
            <a:r>
              <a:rPr lang="en-US" sz="3200" b="1" dirty="0">
                <a:solidFill>
                  <a:srgbClr val="E8913A"/>
                </a:solidFill>
                <a:latin typeface="Montserrat"/>
              </a:rPr>
              <a:t>2.1M</a:t>
            </a:r>
          </a:p>
          <a:p>
            <a:pPr algn="ctr"/>
            <a:r>
              <a:rPr lang="en-US" sz="1400" dirty="0">
                <a:solidFill>
                  <a:srgbClr val="B0BEC5"/>
                </a:solidFill>
                <a:latin typeface="Source Sans Pro"/>
              </a:rPr>
              <a:t>Associates</a:t>
            </a:r>
          </a:p>
        </p:txBody>
      </p:sp>
      <p:sp>
        <p:nvSpPr>
          <p:cNvPr id="210" name="KPI2Card0"/>
          <p:cNvSpPr/>
          <p:nvPr/>
        </p:nvSpPr>
        <p:spPr>
          <a:xfrm>
            <a:off x="914400" y="3657400"/>
            <a:ext cx="3352800" cy="1371600"/>
          </a:xfrm>
          <a:prstGeom prst="roundRect">
            <a:avLst>
              <a:gd name="adj" fmla="val 8000"/>
            </a:avLst>
          </a:prstGeom>
          <a:solidFill>
            <a:srgbClr val="132B52"/>
          </a:solidFill>
          <a:ln w="19050">
            <a:solidFill>
              <a:srgbClr val="26C6DA">
                <a:alpha val="50000"/>
              </a:srgbClr>
            </a:solidFill>
          </a:ln>
        </p:spPr>
        <p:txBody>
          <a:bodyPr anchor="ctr" anchorCtr="1"/>
          <a:lstStyle/>
          <a:p>
            <a:pPr algn="ctr">
              <a:spcAft>
                <a:spcPts val="200"/>
              </a:spcAft>
            </a:pPr>
            <a:r>
              <a:rPr lang="en-US" sz="2800" b="1" dirty="0">
                <a:solidFill>
                  <a:srgbClr val="26C6DA"/>
                </a:solidFill>
                <a:latin typeface="Montserrat"/>
              </a:rPr>
              <a:t>$100B+</a:t>
            </a:r>
          </a:p>
          <a:p>
            <a:pPr algn="ctr"/>
            <a:r>
              <a:rPr lang="en-US" sz="1400" dirty="0">
                <a:solidFill>
                  <a:srgbClr val="B0BEC5"/>
                </a:solidFill>
                <a:latin typeface="Source Sans Pro"/>
              </a:rPr>
              <a:t>eCommerce Sales</a:t>
            </a:r>
          </a:p>
        </p:txBody>
      </p:sp>
      <p:sp>
        <p:nvSpPr>
          <p:cNvPr id="211" name="KPI2Card1"/>
          <p:cNvSpPr/>
          <p:nvPr/>
        </p:nvSpPr>
        <p:spPr>
          <a:xfrm>
            <a:off x="4419600" y="3657400"/>
            <a:ext cx="3352800" cy="1371600"/>
          </a:xfrm>
          <a:prstGeom prst="roundRect">
            <a:avLst>
              <a:gd name="adj" fmla="val 8000"/>
            </a:avLst>
          </a:prstGeom>
          <a:solidFill>
            <a:srgbClr val="132B52"/>
          </a:solidFill>
          <a:ln w="19050">
            <a:solidFill>
              <a:srgbClr val="2CA01C">
                <a:alpha val="50000"/>
              </a:srgbClr>
            </a:solidFill>
          </a:ln>
        </p:spPr>
        <p:txBody>
          <a:bodyPr anchor="ctr" anchorCtr="1"/>
          <a:lstStyle/>
          <a:p>
            <a:pPr algn="ctr">
              <a:spcAft>
                <a:spcPts val="200"/>
              </a:spcAft>
            </a:pPr>
            <a:r>
              <a:rPr lang="en-US" sz="2800" b="1" dirty="0">
                <a:solidFill>
                  <a:srgbClr val="2CA01C"/>
                </a:solidFill>
                <a:latin typeface="Montserrat"/>
              </a:rPr>
              <a:t>+6%</a:t>
            </a:r>
          </a:p>
          <a:p>
            <a:pPr algn="ctr"/>
            <a:r>
              <a:rPr lang="en-US" sz="1400" dirty="0">
                <a:solidFill>
                  <a:srgbClr val="B0BEC5"/>
                </a:solidFill>
                <a:latin typeface="Source Sans Pro"/>
              </a:rPr>
              <a:t>Revenue Growth YoY</a:t>
            </a:r>
          </a:p>
        </p:txBody>
      </p:sp>
      <p:sp>
        <p:nvSpPr>
          <p:cNvPr id="212" name="KPI2Card2"/>
          <p:cNvSpPr/>
          <p:nvPr/>
        </p:nvSpPr>
        <p:spPr>
          <a:xfrm>
            <a:off x="7924800" y="3657400"/>
            <a:ext cx="3352800" cy="1371600"/>
          </a:xfrm>
          <a:prstGeom prst="roundRect">
            <a:avLst>
              <a:gd name="adj" fmla="val 8000"/>
            </a:avLst>
          </a:prstGeom>
          <a:solidFill>
            <a:srgbClr val="132B52"/>
          </a:solidFill>
          <a:ln w="19050">
            <a:solidFill>
              <a:srgbClr val="FFC220">
                <a:alpha val="50000"/>
              </a:srgbClr>
            </a:solidFill>
          </a:ln>
        </p:spPr>
        <p:txBody>
          <a:bodyPr anchor="ctr" anchorCtr="1"/>
          <a:lstStyle/>
          <a:p>
            <a:pPr algn="ctr">
              <a:spcAft>
                <a:spcPts val="200"/>
              </a:spcAft>
            </a:pPr>
            <a:r>
              <a:rPr lang="en-US" sz="2800" b="1" dirty="0">
                <a:solidFill>
                  <a:srgbClr val="FFC220"/>
                </a:solidFill>
                <a:latin typeface="Montserrat"/>
              </a:rPr>
              <a:t>+32%</a:t>
            </a:r>
          </a:p>
          <a:p>
            <a:pPr algn="ctr"/>
            <a:r>
              <a:rPr lang="en-US" sz="1400" dirty="0">
                <a:solidFill>
                  <a:srgbClr val="B0BEC5"/>
                </a:solidFill>
                <a:latin typeface="Source Sans Pro"/>
              </a:rPr>
              <a:t>Operating Income Growth</a:t>
            </a:r>
          </a:p>
        </p:txBody>
      </p:sp>
      <p:sp>
        <p:nvSpPr>
          <p:cNvPr id="220" name="Tagline"/>
          <p:cNvSpPr/>
          <p:nvPr/>
        </p:nvSpPr>
        <p:spPr>
          <a:xfrm>
            <a:off x="914400" y="5867400"/>
            <a:ext cx="10363200" cy="457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400" i="1" dirty="0">
                <a:solidFill>
                  <a:srgbClr val="78909C"/>
                </a:solidFill>
                <a:latin typeface="Source Sans Pro"/>
              </a:rPr>
              <a:t>People-led, tech-powered omnichannel retailer serving ~255 million customers weekly</a:t>
            </a:r>
          </a:p>
        </p:txBody>
      </p:sp>
    </p:spTree>
    <p:extLst>
      <p:ext uri="{BB962C8B-B14F-4D97-AF65-F5344CB8AC3E}">
        <p14:creationId xmlns:p14="http://schemas.microsoft.com/office/powerpoint/2010/main" val="3380848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A5DC6-34F4-FCAB-6EF1-074696048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0"/>
            <a:ext cx="10515600" cy="635000"/>
          </a:xfrm>
        </p:spPr>
        <p:txBody>
          <a:bodyPr>
            <a:normAutofit/>
          </a:bodyPr>
          <a:lstStyle/>
          <a:p>
            <a:r>
              <a:rPr lang="en-CA" sz="3200" b="1"/>
              <a:t>Financial Highlights</a:t>
            </a:r>
          </a:p>
        </p:txBody>
      </p:sp>
      <p:graphicFrame>
        <p:nvGraphicFramePr>
          <p:cNvPr id="301" name="Chart 1"/>
          <p:cNvGraphicFramePr/>
          <p:nvPr/>
        </p:nvGraphicFramePr>
        <p:xfrm>
          <a:off x="304800" y="1371600"/>
          <a:ext cx="6400800" cy="487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10" name="Metric0"/>
          <p:cNvSpPr/>
          <p:nvPr/>
        </p:nvSpPr>
        <p:spPr>
          <a:xfrm>
            <a:off x="7010400" y="1371600"/>
            <a:ext cx="4876800" cy="1066800"/>
          </a:xfrm>
          <a:prstGeom prst="roundRect">
            <a:avLst>
              <a:gd name="adj" fmla="val 8000"/>
            </a:avLst>
          </a:prstGeom>
          <a:solidFill>
            <a:srgbClr val="132B52"/>
          </a:solidFill>
          <a:ln>
            <a:noFill/>
          </a:ln>
        </p:spPr>
        <p:txBody>
          <a:bodyPr lIns="182880" rIns="182880" anchor="ctr"/>
          <a:lstStyle/>
          <a:p>
            <a:pPr algn="l">
              <a:spcAft>
                <a:spcPts val="0"/>
              </a:spcAft>
            </a:pPr>
            <a:r>
              <a:rPr lang="en-US" sz="1400" dirty="0">
                <a:solidFill>
                  <a:srgbClr val="78909C"/>
                </a:solidFill>
                <a:latin typeface="Source Sans Pro"/>
              </a:rPr>
              <a:t>Operating Income</a:t>
            </a:r>
          </a:p>
          <a:p>
            <a:pPr algn="l"/>
            <a:r>
              <a:rPr lang="en-US" sz="2400" b="1" dirty="0">
                <a:solidFill>
                  <a:srgbClr val="FFFFFF"/>
                </a:solidFill>
                <a:latin typeface="Montserrat"/>
              </a:rPr>
              <a:t>$27.0B</a:t>
            </a:r>
            <a:r>
              <a:rPr lang="en-US" sz="1600" dirty="0">
                <a:solidFill>
                  <a:srgbClr val="FFC220"/>
                </a:solidFill>
                <a:latin typeface="Source Sans Pro"/>
              </a:rPr>
              <a:t>  +32.2% YoY</a:t>
            </a:r>
          </a:p>
        </p:txBody>
      </p:sp>
      <p:sp>
        <p:nvSpPr>
          <p:cNvPr id="311" name="Metric1"/>
          <p:cNvSpPr/>
          <p:nvPr/>
        </p:nvSpPr>
        <p:spPr>
          <a:xfrm>
            <a:off x="7010400" y="2590800"/>
            <a:ext cx="4876800" cy="1066800"/>
          </a:xfrm>
          <a:prstGeom prst="roundRect">
            <a:avLst>
              <a:gd name="adj" fmla="val 8000"/>
            </a:avLst>
          </a:prstGeom>
          <a:solidFill>
            <a:srgbClr val="132B52"/>
          </a:solidFill>
          <a:ln>
            <a:noFill/>
          </a:ln>
        </p:spPr>
        <p:txBody>
          <a:bodyPr lIns="182880" rIns="182880" anchor="ctr"/>
          <a:lstStyle/>
          <a:p>
            <a:pPr algn="l">
              <a:spcAft>
                <a:spcPts val="0"/>
              </a:spcAft>
            </a:pPr>
            <a:r>
              <a:rPr lang="en-US" sz="1400" dirty="0">
                <a:solidFill>
                  <a:srgbClr val="78909C"/>
                </a:solidFill>
                <a:latin typeface="Source Sans Pro"/>
              </a:rPr>
              <a:t>Net Income</a:t>
            </a:r>
          </a:p>
          <a:p>
            <a:pPr algn="l"/>
            <a:r>
              <a:rPr lang="en-US" sz="2400" b="1" dirty="0">
                <a:solidFill>
                  <a:srgbClr val="FFFFFF"/>
                </a:solidFill>
                <a:latin typeface="Montserrat"/>
              </a:rPr>
              <a:t>$15.5B</a:t>
            </a:r>
            <a:r>
              <a:rPr lang="en-US" sz="1600" dirty="0">
                <a:solidFill>
                  <a:srgbClr val="2CA01C"/>
                </a:solidFill>
                <a:latin typeface="Source Sans Pro"/>
              </a:rPr>
              <a:t>  +32.8% YoY</a:t>
            </a:r>
          </a:p>
        </p:txBody>
      </p:sp>
      <p:sp>
        <p:nvSpPr>
          <p:cNvPr id="312" name="Metric2"/>
          <p:cNvSpPr/>
          <p:nvPr/>
        </p:nvSpPr>
        <p:spPr>
          <a:xfrm>
            <a:off x="7010400" y="3810000"/>
            <a:ext cx="4876800" cy="1066800"/>
          </a:xfrm>
          <a:prstGeom prst="roundRect">
            <a:avLst>
              <a:gd name="adj" fmla="val 8000"/>
            </a:avLst>
          </a:prstGeom>
          <a:solidFill>
            <a:srgbClr val="132B52"/>
          </a:solidFill>
          <a:ln>
            <a:noFill/>
          </a:ln>
        </p:spPr>
        <p:txBody>
          <a:bodyPr lIns="182880" rIns="182880" anchor="ctr"/>
          <a:lstStyle/>
          <a:p>
            <a:pPr algn="l">
              <a:spcAft>
                <a:spcPts val="0"/>
              </a:spcAft>
            </a:pPr>
            <a:r>
              <a:rPr lang="en-US" sz="1400" dirty="0">
                <a:solidFill>
                  <a:srgbClr val="78909C"/>
                </a:solidFill>
                <a:latin typeface="Source Sans Pro"/>
              </a:rPr>
              <a:t>Diluted EPS</a:t>
            </a:r>
          </a:p>
          <a:p>
            <a:pPr algn="l"/>
            <a:r>
              <a:rPr lang="en-US" sz="2400" b="1" dirty="0">
                <a:solidFill>
                  <a:srgbClr val="FFFFFF"/>
                </a:solidFill>
                <a:latin typeface="Montserrat"/>
              </a:rPr>
              <a:t>$1.91</a:t>
            </a:r>
            <a:r>
              <a:rPr lang="en-US" sz="1600" dirty="0">
                <a:solidFill>
                  <a:srgbClr val="0071DC"/>
                </a:solidFill>
                <a:latin typeface="Source Sans Pro"/>
              </a:rPr>
              <a:t>  +34.5% YoY</a:t>
            </a:r>
          </a:p>
        </p:txBody>
      </p:sp>
      <p:sp>
        <p:nvSpPr>
          <p:cNvPr id="313" name="Metric3"/>
          <p:cNvSpPr/>
          <p:nvPr/>
        </p:nvSpPr>
        <p:spPr>
          <a:xfrm>
            <a:off x="7010400" y="5029200"/>
            <a:ext cx="4876800" cy="1066800"/>
          </a:xfrm>
          <a:prstGeom prst="roundRect">
            <a:avLst>
              <a:gd name="adj" fmla="val 8000"/>
            </a:avLst>
          </a:prstGeom>
          <a:solidFill>
            <a:srgbClr val="132B52"/>
          </a:solidFill>
          <a:ln>
            <a:noFill/>
          </a:ln>
        </p:spPr>
        <p:txBody>
          <a:bodyPr lIns="182880" rIns="182880" anchor="ctr"/>
          <a:lstStyle/>
          <a:p>
            <a:pPr algn="l">
              <a:spcAft>
                <a:spcPts val="0"/>
              </a:spcAft>
            </a:pPr>
            <a:r>
              <a:rPr lang="en-US" sz="1400" dirty="0">
                <a:solidFill>
                  <a:srgbClr val="78909C"/>
                </a:solidFill>
                <a:latin typeface="Source Sans Pro"/>
              </a:rPr>
              <a:t>Operating Margin</a:t>
            </a:r>
          </a:p>
          <a:p>
            <a:pPr algn="l"/>
            <a:r>
              <a:rPr lang="en-US" sz="2400" b="1" dirty="0">
                <a:solidFill>
                  <a:srgbClr val="FFFFFF"/>
                </a:solidFill>
                <a:latin typeface="Montserrat"/>
              </a:rPr>
              <a:t>4.2%</a:t>
            </a:r>
            <a:r>
              <a:rPr lang="en-US" sz="1600" dirty="0">
                <a:solidFill>
                  <a:srgbClr val="E8913A"/>
                </a:solidFill>
                <a:latin typeface="Source Sans Pro"/>
              </a:rPr>
              <a:t>  +80bps YoY</a:t>
            </a:r>
          </a:p>
        </p:txBody>
      </p:sp>
    </p:spTree>
    <p:extLst>
      <p:ext uri="{BB962C8B-B14F-4D97-AF65-F5344CB8AC3E}">
        <p14:creationId xmlns:p14="http://schemas.microsoft.com/office/powerpoint/2010/main" val="3674364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5BBC0-BDBA-AAB9-D70E-8429F280B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0"/>
            <a:ext cx="10515600" cy="635000"/>
          </a:xfrm>
        </p:spPr>
        <p:txBody>
          <a:bodyPr>
            <a:normAutofit/>
          </a:bodyPr>
          <a:lstStyle/>
          <a:p>
            <a:r>
              <a:rPr lang="en-CA" sz="3200" b="1"/>
              <a:t>Segment Performance</a:t>
            </a:r>
          </a:p>
        </p:txBody>
      </p:sp>
      <p:graphicFrame>
        <p:nvGraphicFramePr>
          <p:cNvPr id="401" name="Chart 1"/>
          <p:cNvGraphicFramePr/>
          <p:nvPr/>
        </p:nvGraphicFramePr>
        <p:xfrm>
          <a:off x="304800" y="1371600"/>
          <a:ext cx="5791200" cy="487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20" name="Seg0"/>
          <p:cNvSpPr/>
          <p:nvPr/>
        </p:nvSpPr>
        <p:spPr>
          <a:xfrm>
            <a:off x="6400800" y="1524000"/>
            <a:ext cx="5486400" cy="1447800"/>
          </a:xfrm>
          <a:prstGeom prst="roundRect">
            <a:avLst>
              <a:gd name="adj" fmla="val 6000"/>
            </a:avLst>
          </a:prstGeom>
          <a:solidFill>
            <a:srgbClr val="132B52"/>
          </a:solidFill>
          <a:ln w="19050">
            <a:solidFill>
              <a:srgbClr val="0071DC">
                <a:alpha val="40000"/>
              </a:srgbClr>
            </a:solidFill>
          </a:ln>
        </p:spPr>
        <p:txBody>
          <a:bodyPr lIns="182880" tIns="91440" rIns="182880" bIns="91440" anchor="ctr"/>
          <a:lstStyle/>
          <a:p>
            <a:pPr algn="l">
              <a:spcAft>
                <a:spcPts val="200"/>
              </a:spcAft>
            </a:pPr>
            <a:r>
              <a:rPr lang="en-US" sz="1800" b="1" dirty="0">
                <a:solidFill>
                  <a:srgbClr val="0071DC"/>
                </a:solidFill>
                <a:latin typeface="Montserrat"/>
              </a:rPr>
              <a:t>Walmart U.S.</a:t>
            </a:r>
            <a:r>
              <a:rPr lang="en-US" sz="1400" dirty="0">
                <a:solidFill>
                  <a:srgbClr val="78909C"/>
                </a:solidFill>
                <a:latin typeface="Source Sans Pro"/>
              </a:rPr>
              <a:t>  (69% of sales)</a:t>
            </a:r>
          </a:p>
          <a:p>
            <a:pPr algn="l">
              <a:spcAft>
                <a:spcPts val="100"/>
              </a:spcAft>
            </a:pPr>
            <a:r>
              <a:rPr lang="en-US" sz="1400" dirty="0">
                <a:solidFill>
                  <a:srgbClr val="B0BEC5"/>
                </a:solidFill>
                <a:latin typeface="Source Sans Pro"/>
              </a:rPr>
              <a:t>Net Sales: </a:t>
            </a:r>
            <a:r>
              <a:rPr lang="en-US" sz="1400" b="1" dirty="0">
                <a:solidFill>
                  <a:srgbClr val="FFFFFF"/>
                </a:solidFill>
                <a:latin typeface="Source Sans Pro"/>
              </a:rPr>
              <a:t>$441.8B</a:t>
            </a:r>
            <a:r>
              <a:rPr lang="en-US" sz="1400" dirty="0">
                <a:solidFill>
                  <a:srgbClr val="2CA01C"/>
                </a:solidFill>
                <a:latin typeface="Source Sans Pro"/>
              </a:rPr>
              <a:t>  +5.1%</a:t>
            </a:r>
          </a:p>
          <a:p>
            <a:pPr algn="l"/>
            <a:r>
              <a:rPr lang="en-US" sz="1400" dirty="0">
                <a:solidFill>
                  <a:srgbClr val="B0BEC5"/>
                </a:solidFill>
                <a:latin typeface="Source Sans Pro"/>
              </a:rPr>
              <a:t>Op. Income: </a:t>
            </a:r>
            <a:r>
              <a:rPr lang="en-US" sz="1400" b="1" dirty="0">
                <a:solidFill>
                  <a:srgbClr val="FFFFFF"/>
                </a:solidFill>
                <a:latin typeface="Source Sans Pro"/>
              </a:rPr>
              <a:t>$22.2B</a:t>
            </a:r>
            <a:r>
              <a:rPr lang="en-US" sz="1400" dirty="0">
                <a:solidFill>
                  <a:srgbClr val="B0BEC5"/>
                </a:solidFill>
                <a:latin typeface="Source Sans Pro"/>
              </a:rPr>
              <a:t>  (5.0% margin)</a:t>
            </a:r>
          </a:p>
        </p:txBody>
      </p:sp>
      <p:sp>
        <p:nvSpPr>
          <p:cNvPr id="421" name="Seg1"/>
          <p:cNvSpPr/>
          <p:nvPr/>
        </p:nvSpPr>
        <p:spPr>
          <a:xfrm>
            <a:off x="6400800" y="3124200"/>
            <a:ext cx="5486400" cy="1447800"/>
          </a:xfrm>
          <a:prstGeom prst="roundRect">
            <a:avLst>
              <a:gd name="adj" fmla="val 6000"/>
            </a:avLst>
          </a:prstGeom>
          <a:solidFill>
            <a:srgbClr val="132B52"/>
          </a:solidFill>
          <a:ln w="19050">
            <a:solidFill>
              <a:srgbClr val="FFC220">
                <a:alpha val="40000"/>
              </a:srgbClr>
            </a:solidFill>
          </a:ln>
        </p:spPr>
        <p:txBody>
          <a:bodyPr lIns="182880" tIns="91440" rIns="182880" bIns="91440" anchor="ctr"/>
          <a:lstStyle/>
          <a:p>
            <a:pPr algn="l">
              <a:spcAft>
                <a:spcPts val="200"/>
              </a:spcAft>
            </a:pPr>
            <a:r>
              <a:rPr lang="en-US" sz="1800" b="1" dirty="0">
                <a:solidFill>
                  <a:srgbClr val="FFC220"/>
                </a:solidFill>
                <a:latin typeface="Montserrat"/>
              </a:rPr>
              <a:t>International</a:t>
            </a:r>
            <a:r>
              <a:rPr lang="en-US" sz="1400" dirty="0">
                <a:solidFill>
                  <a:srgbClr val="78909C"/>
                </a:solidFill>
                <a:latin typeface="Source Sans Pro"/>
              </a:rPr>
              <a:t>  (18% of sales)</a:t>
            </a:r>
          </a:p>
          <a:p>
            <a:pPr algn="l">
              <a:spcAft>
                <a:spcPts val="100"/>
              </a:spcAft>
            </a:pPr>
            <a:r>
              <a:rPr lang="en-US" sz="1400" dirty="0">
                <a:solidFill>
                  <a:srgbClr val="B0BEC5"/>
                </a:solidFill>
                <a:latin typeface="Source Sans Pro"/>
              </a:rPr>
              <a:t>Net Sales: </a:t>
            </a:r>
            <a:r>
              <a:rPr lang="en-US" sz="1400" b="1" dirty="0">
                <a:solidFill>
                  <a:srgbClr val="FFFFFF"/>
                </a:solidFill>
                <a:latin typeface="Source Sans Pro"/>
              </a:rPr>
              <a:t>$114.6B</a:t>
            </a:r>
            <a:r>
              <a:rPr lang="en-US" sz="1400" dirty="0">
                <a:solidFill>
                  <a:srgbClr val="2CA01C"/>
                </a:solidFill>
                <a:latin typeface="Source Sans Pro"/>
              </a:rPr>
              <a:t>  +13.5%</a:t>
            </a:r>
          </a:p>
          <a:p>
            <a:pPr algn="l"/>
            <a:r>
              <a:rPr lang="en-US" sz="1400" dirty="0">
                <a:solidFill>
                  <a:srgbClr val="B0BEC5"/>
                </a:solidFill>
                <a:latin typeface="Source Sans Pro"/>
              </a:rPr>
              <a:t>Op. Income: </a:t>
            </a:r>
            <a:r>
              <a:rPr lang="en-US" sz="1400" b="1" dirty="0">
                <a:solidFill>
                  <a:srgbClr val="FFFFFF"/>
                </a:solidFill>
                <a:latin typeface="Source Sans Pro"/>
              </a:rPr>
              <a:t>$4.9B</a:t>
            </a:r>
            <a:r>
              <a:rPr lang="en-US" sz="1400" dirty="0">
                <a:solidFill>
                  <a:srgbClr val="B0BEC5"/>
                </a:solidFill>
                <a:latin typeface="Source Sans Pro"/>
              </a:rPr>
              <a:t>  (4.3% margin)</a:t>
            </a:r>
          </a:p>
        </p:txBody>
      </p:sp>
      <p:sp>
        <p:nvSpPr>
          <p:cNvPr id="422" name="Seg2"/>
          <p:cNvSpPr/>
          <p:nvPr/>
        </p:nvSpPr>
        <p:spPr>
          <a:xfrm>
            <a:off x="6400800" y="4724400"/>
            <a:ext cx="5486400" cy="1447800"/>
          </a:xfrm>
          <a:prstGeom prst="roundRect">
            <a:avLst>
              <a:gd name="adj" fmla="val 6000"/>
            </a:avLst>
          </a:prstGeom>
          <a:solidFill>
            <a:srgbClr val="132B52"/>
          </a:solidFill>
          <a:ln w="19050">
            <a:solidFill>
              <a:srgbClr val="2CA01C">
                <a:alpha val="40000"/>
              </a:srgbClr>
            </a:solidFill>
          </a:ln>
        </p:spPr>
        <p:txBody>
          <a:bodyPr lIns="182880" tIns="91440" rIns="182880" bIns="91440" anchor="ctr"/>
          <a:lstStyle/>
          <a:p>
            <a:pPr algn="l">
              <a:spcAft>
                <a:spcPts val="200"/>
              </a:spcAft>
            </a:pPr>
            <a:r>
              <a:rPr lang="en-US" sz="1800" b="1" dirty="0">
                <a:solidFill>
                  <a:srgbClr val="2CA01C"/>
                </a:solidFill>
                <a:latin typeface="Montserrat"/>
              </a:rPr>
              <a:t>Sam's Club</a:t>
            </a:r>
            <a:r>
              <a:rPr lang="en-US" sz="1400" dirty="0">
                <a:solidFill>
                  <a:srgbClr val="78909C"/>
                </a:solidFill>
                <a:latin typeface="Source Sans Pro"/>
              </a:rPr>
              <a:t>  (13% of sales)</a:t>
            </a:r>
          </a:p>
          <a:p>
            <a:pPr algn="l">
              <a:spcAft>
                <a:spcPts val="100"/>
              </a:spcAft>
            </a:pPr>
            <a:r>
              <a:rPr lang="en-US" sz="1400" dirty="0">
                <a:solidFill>
                  <a:srgbClr val="B0BEC5"/>
                </a:solidFill>
                <a:latin typeface="Source Sans Pro"/>
              </a:rPr>
              <a:t>Net Sales: </a:t>
            </a:r>
            <a:r>
              <a:rPr lang="en-US" sz="1400" b="1" dirty="0">
                <a:solidFill>
                  <a:srgbClr val="FFFFFF"/>
                </a:solidFill>
                <a:latin typeface="Source Sans Pro"/>
              </a:rPr>
              <a:t>$86.2B</a:t>
            </a:r>
            <a:r>
              <a:rPr lang="en-US" sz="1400" dirty="0">
                <a:solidFill>
                  <a:srgbClr val="2CA01C"/>
                </a:solidFill>
                <a:latin typeface="Source Sans Pro"/>
              </a:rPr>
              <a:t>  +2.2%</a:t>
            </a:r>
          </a:p>
          <a:p>
            <a:pPr algn="l"/>
            <a:r>
              <a:rPr lang="en-US" sz="1400" dirty="0">
                <a:solidFill>
                  <a:srgbClr val="B0BEC5"/>
                </a:solidFill>
                <a:latin typeface="Source Sans Pro"/>
              </a:rPr>
              <a:t>Op. Income: </a:t>
            </a:r>
            <a:r>
              <a:rPr lang="en-US" sz="1400" b="1" dirty="0">
                <a:solidFill>
                  <a:srgbClr val="FFFFFF"/>
                </a:solidFill>
                <a:latin typeface="Source Sans Pro"/>
              </a:rPr>
              <a:t>$2.2B</a:t>
            </a:r>
            <a:r>
              <a:rPr lang="en-US" sz="1400" dirty="0">
                <a:solidFill>
                  <a:srgbClr val="B0BEC5"/>
                </a:solidFill>
                <a:latin typeface="Source Sans Pro"/>
              </a:rPr>
              <a:t>  (2.5% margin)</a:t>
            </a:r>
          </a:p>
        </p:txBody>
      </p:sp>
    </p:spTree>
    <p:extLst>
      <p:ext uri="{BB962C8B-B14F-4D97-AF65-F5344CB8AC3E}">
        <p14:creationId xmlns:p14="http://schemas.microsoft.com/office/powerpoint/2010/main" val="3327005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F0249-1B8D-A397-1695-7D6B26C83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0"/>
            <a:ext cx="10515600" cy="635000"/>
          </a:xfrm>
        </p:spPr>
        <p:txBody>
          <a:bodyPr>
            <a:normAutofit/>
          </a:bodyPr>
          <a:lstStyle/>
          <a:p>
            <a:r>
              <a:rPr lang="en-CA" sz="3200" b="1"/>
              <a:t>Growth Drivers</a:t>
            </a:r>
          </a:p>
        </p:txBody>
      </p:sp>
      <p:sp>
        <p:nvSpPr>
          <p:cNvPr id="500" name="DriverAccent0"/>
          <p:cNvSpPr/>
          <p:nvPr/>
        </p:nvSpPr>
        <p:spPr>
          <a:xfrm>
            <a:off x="457200" y="1524000"/>
            <a:ext cx="54864" cy="1219200"/>
          </a:xfrm>
          <a:prstGeom prst="rect">
            <a:avLst/>
          </a:prstGeom>
          <a:solidFill>
            <a:srgbClr val="0071D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1" name="DriverCard0"/>
          <p:cNvSpPr/>
          <p:nvPr/>
        </p:nvSpPr>
        <p:spPr>
          <a:xfrm>
            <a:off x="512064" y="1524000"/>
            <a:ext cx="5279136" cy="1219200"/>
          </a:xfrm>
          <a:prstGeom prst="rect">
            <a:avLst/>
          </a:prstGeom>
          <a:solidFill>
            <a:srgbClr val="132B52"/>
          </a:solidFill>
          <a:ln>
            <a:noFill/>
          </a:ln>
        </p:spPr>
        <p:txBody>
          <a:bodyPr lIns="228600" tIns="91440" rIns="182880" bIns="91440" anchor="ctr"/>
          <a:lstStyle/>
          <a:p>
            <a:pPr algn="l"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Montserrat"/>
              </a:rPr>
              <a:t>eCommerce Surge</a:t>
            </a:r>
          </a:p>
          <a:p>
            <a:pPr algn="l">
              <a:spcAft>
                <a:spcPts val="200"/>
              </a:spcAft>
            </a:pPr>
            <a:r>
              <a:rPr lang="en-US" sz="2800" b="1" dirty="0">
                <a:solidFill>
                  <a:srgbClr val="0071DC"/>
                </a:solidFill>
                <a:latin typeface="Montserrat"/>
              </a:rPr>
              <a:t>$100.1B</a:t>
            </a:r>
          </a:p>
          <a:p>
            <a:pPr algn="l"/>
            <a:r>
              <a:rPr lang="en-US" sz="1400" dirty="0">
                <a:solidFill>
                  <a:srgbClr val="B0BEC5"/>
                </a:solidFill>
                <a:latin typeface="Source Sans Pro"/>
              </a:rPr>
              <a:t>Combined eCommerce sales across all segments, up from $82.1B in FY2023</a:t>
            </a:r>
          </a:p>
        </p:txBody>
      </p:sp>
      <p:sp>
        <p:nvSpPr>
          <p:cNvPr id="502" name="DriverAccent1"/>
          <p:cNvSpPr/>
          <p:nvPr/>
        </p:nvSpPr>
        <p:spPr>
          <a:xfrm>
            <a:off x="457200" y="3352800"/>
            <a:ext cx="54864" cy="121920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3" name="DriverCard1"/>
          <p:cNvSpPr/>
          <p:nvPr/>
        </p:nvSpPr>
        <p:spPr>
          <a:xfrm>
            <a:off x="512064" y="3352800"/>
            <a:ext cx="5279136" cy="1219200"/>
          </a:xfrm>
          <a:prstGeom prst="rect">
            <a:avLst/>
          </a:prstGeom>
          <a:solidFill>
            <a:srgbClr val="132B52"/>
          </a:solidFill>
          <a:ln>
            <a:noFill/>
          </a:ln>
        </p:spPr>
        <p:txBody>
          <a:bodyPr lIns="228600" tIns="91440" rIns="182880" bIns="91440" anchor="ctr"/>
          <a:lstStyle/>
          <a:p>
            <a:pPr algn="l"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Montserrat"/>
              </a:rPr>
              <a:t>Comparable Sales Growth</a:t>
            </a:r>
          </a:p>
          <a:p>
            <a:pPr algn="l">
              <a:spcAft>
                <a:spcPts val="200"/>
              </a:spcAft>
            </a:pPr>
            <a:r>
              <a:rPr lang="en-US" sz="2800" b="1" dirty="0">
                <a:solidFill>
                  <a:srgbClr val="FFC220"/>
                </a:solidFill>
                <a:latin typeface="Montserrat"/>
              </a:rPr>
              <a:t>+4.9%</a:t>
            </a:r>
          </a:p>
          <a:p>
            <a:pPr algn="l"/>
            <a:r>
              <a:rPr lang="en-US" sz="1400" dirty="0">
                <a:solidFill>
                  <a:srgbClr val="B0BEC5"/>
                </a:solidFill>
                <a:latin typeface="Source Sans Pro"/>
              </a:rPr>
              <a:t>U.S. comparable sales up 4.9%, driven by transaction growth and higher eCommerce penetration</a:t>
            </a:r>
          </a:p>
        </p:txBody>
      </p:sp>
      <p:sp>
        <p:nvSpPr>
          <p:cNvPr id="504" name="DriverAccent2"/>
          <p:cNvSpPr/>
          <p:nvPr/>
        </p:nvSpPr>
        <p:spPr>
          <a:xfrm>
            <a:off x="6248400" y="1524000"/>
            <a:ext cx="54864" cy="1219200"/>
          </a:xfrm>
          <a:prstGeom prst="rect">
            <a:avLst/>
          </a:prstGeom>
          <a:solidFill>
            <a:srgbClr val="2CA01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5" name="DriverCard2"/>
          <p:cNvSpPr/>
          <p:nvPr/>
        </p:nvSpPr>
        <p:spPr>
          <a:xfrm>
            <a:off x="6303264" y="1524000"/>
            <a:ext cx="5279136" cy="1219200"/>
          </a:xfrm>
          <a:prstGeom prst="rect">
            <a:avLst/>
          </a:prstGeom>
          <a:solidFill>
            <a:srgbClr val="132B52"/>
          </a:solidFill>
          <a:ln>
            <a:noFill/>
          </a:ln>
        </p:spPr>
        <p:txBody>
          <a:bodyPr lIns="228600" tIns="91440" rIns="182880" bIns="91440" anchor="ctr"/>
          <a:lstStyle/>
          <a:p>
            <a:pPr algn="l"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Montserrat"/>
              </a:rPr>
              <a:t>Advertising Revenue</a:t>
            </a:r>
          </a:p>
          <a:p>
            <a:pPr algn="l">
              <a:spcAft>
                <a:spcPts val="200"/>
              </a:spcAft>
            </a:pPr>
            <a:r>
              <a:rPr lang="en-US" sz="2800" b="1" dirty="0">
                <a:solidFill>
                  <a:srgbClr val="2CA01C"/>
                </a:solidFill>
                <a:latin typeface="Montserrat"/>
              </a:rPr>
              <a:t>+28%</a:t>
            </a:r>
          </a:p>
          <a:p>
            <a:pPr algn="l"/>
            <a:r>
              <a:rPr lang="en-US" sz="1400" dirty="0">
                <a:solidFill>
                  <a:srgbClr val="B0BEC5"/>
                </a:solidFill>
                <a:latin typeface="Source Sans Pro"/>
              </a:rPr>
              <a:t>Global advertising business growing rapidly via Walmart Connect and Flipkart Ads</a:t>
            </a:r>
          </a:p>
        </p:txBody>
      </p:sp>
      <p:sp>
        <p:nvSpPr>
          <p:cNvPr id="506" name="DriverAccent3"/>
          <p:cNvSpPr/>
          <p:nvPr/>
        </p:nvSpPr>
        <p:spPr>
          <a:xfrm>
            <a:off x="6248400" y="3352800"/>
            <a:ext cx="54864" cy="1219200"/>
          </a:xfrm>
          <a:prstGeom prst="rect">
            <a:avLst/>
          </a:prstGeom>
          <a:solidFill>
            <a:srgbClr val="E891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7" name="DriverCard3"/>
          <p:cNvSpPr/>
          <p:nvPr/>
        </p:nvSpPr>
        <p:spPr>
          <a:xfrm>
            <a:off x="6303264" y="3352800"/>
            <a:ext cx="5279136" cy="1219200"/>
          </a:xfrm>
          <a:prstGeom prst="rect">
            <a:avLst/>
          </a:prstGeom>
          <a:solidFill>
            <a:srgbClr val="132B52"/>
          </a:solidFill>
          <a:ln>
            <a:noFill/>
          </a:ln>
        </p:spPr>
        <p:txBody>
          <a:bodyPr lIns="228600" tIns="91440" rIns="182880" bIns="91440" anchor="ctr"/>
          <a:lstStyle/>
          <a:p>
            <a:pPr algn="l"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Montserrat"/>
              </a:rPr>
              <a:t>Membership Income</a:t>
            </a:r>
          </a:p>
          <a:p>
            <a:pPr algn="l">
              <a:spcAft>
                <a:spcPts val="200"/>
              </a:spcAft>
            </a:pPr>
            <a:r>
              <a:rPr lang="en-US" sz="2800" b="1" dirty="0">
                <a:solidFill>
                  <a:srgbClr val="E8913A"/>
                </a:solidFill>
                <a:latin typeface="Montserrat"/>
              </a:rPr>
              <a:t>+20%</a:t>
            </a:r>
          </a:p>
          <a:p>
            <a:pPr algn="l"/>
            <a:r>
              <a:rPr lang="en-US" sz="1400" dirty="0">
                <a:solidFill>
                  <a:srgbClr val="B0BEC5"/>
                </a:solidFill>
                <a:latin typeface="Source Sans Pro"/>
              </a:rPr>
              <a:t>Walmart+ and Sam's Club membership income growth, enhancing customer loyalty</a:t>
            </a:r>
          </a:p>
        </p:txBody>
      </p:sp>
      <p:pic>
        <p:nvPicPr>
          <p:cNvPr id="508" name="Graphic 50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26000" y="1625600"/>
            <a:ext cx="457200" cy="457200"/>
          </a:xfrm>
          <a:prstGeom prst="rect">
            <a:avLst/>
          </a:prstGeom>
        </p:spPr>
      </p:pic>
      <p:pic>
        <p:nvPicPr>
          <p:cNvPr id="509" name="Graphic 509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26000" y="3454400"/>
            <a:ext cx="457200" cy="457200"/>
          </a:xfrm>
          <a:prstGeom prst="rect">
            <a:avLst/>
          </a:prstGeom>
        </p:spPr>
      </p:pic>
      <p:pic>
        <p:nvPicPr>
          <p:cNvPr id="510" name="Graphic 510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17200" y="1625600"/>
            <a:ext cx="457200" cy="457200"/>
          </a:xfrm>
          <a:prstGeom prst="rect">
            <a:avLst/>
          </a:prstGeom>
        </p:spPr>
      </p:pic>
      <p:pic>
        <p:nvPicPr>
          <p:cNvPr id="511" name="Graphic 511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17200" y="345440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257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E38E4-BF92-462A-7EDE-3D12A1C89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0"/>
            <a:ext cx="10515600" cy="635000"/>
          </a:xfrm>
        </p:spPr>
        <p:txBody>
          <a:bodyPr>
            <a:normAutofit/>
          </a:bodyPr>
          <a:lstStyle/>
          <a:p>
            <a:r>
              <a:rPr lang="en-CA" sz="3200" b="1"/>
              <a:t>Cash Flow &amp; Capital Returns</a:t>
            </a:r>
          </a:p>
        </p:txBody>
      </p:sp>
      <p:graphicFrame>
        <p:nvGraphicFramePr>
          <p:cNvPr id="501" name="Chart 1"/>
          <p:cNvGraphicFramePr/>
          <p:nvPr/>
        </p:nvGraphicFramePr>
        <p:xfrm>
          <a:off x="304800" y="1371600"/>
          <a:ext cx="5791200" cy="487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10" name="Return0"/>
          <p:cNvSpPr/>
          <p:nvPr/>
        </p:nvSpPr>
        <p:spPr>
          <a:xfrm>
            <a:off x="6400800" y="1371600"/>
            <a:ext cx="5486400" cy="1066800"/>
          </a:xfrm>
          <a:prstGeom prst="roundRect">
            <a:avLst>
              <a:gd name="adj" fmla="val 6000"/>
            </a:avLst>
          </a:prstGeom>
          <a:solidFill>
            <a:srgbClr val="132B52"/>
          </a:solidFill>
          <a:ln w="12700">
            <a:solidFill>
              <a:srgbClr val="0071DC">
                <a:alpha val="40000"/>
              </a:srgbClr>
            </a:solidFill>
          </a:ln>
        </p:spPr>
        <p:txBody>
          <a:bodyPr lIns="182880" rIns="182880" anchor="ctr"/>
          <a:lstStyle/>
          <a:p>
            <a:pPr algn="l">
              <a:spcAft>
                <a:spcPts val="100"/>
              </a:spcAft>
            </a:pPr>
            <a:r>
              <a:rPr lang="en-US" sz="1400" dirty="0">
                <a:solidFill>
                  <a:srgbClr val="78909C"/>
                </a:solidFill>
                <a:latin typeface="Source Sans Pro"/>
              </a:rPr>
              <a:t>Capital Expenditures</a:t>
            </a:r>
          </a:p>
          <a:p>
            <a:pPr algn="l">
              <a:spcAft>
                <a:spcPts val="100"/>
              </a:spcAft>
            </a:pPr>
            <a:r>
              <a:rPr lang="en-US" sz="2400" b="1" dirty="0">
                <a:solidFill>
                  <a:srgbClr val="0071DC"/>
                </a:solidFill>
                <a:latin typeface="Montserrat"/>
              </a:rPr>
              <a:t>$20.6B</a:t>
            </a:r>
          </a:p>
          <a:p>
            <a:pPr algn="l"/>
            <a:r>
              <a:rPr lang="en-US" sz="1400" dirty="0">
                <a:solidFill>
                  <a:srgbClr val="B0BEC5"/>
                </a:solidFill>
                <a:latin typeface="Source Sans Pro"/>
              </a:rPr>
              <a:t>Investing in stores, supply chain, technology</a:t>
            </a:r>
          </a:p>
        </p:txBody>
      </p:sp>
      <p:sp>
        <p:nvSpPr>
          <p:cNvPr id="611" name="Return1"/>
          <p:cNvSpPr/>
          <p:nvPr/>
        </p:nvSpPr>
        <p:spPr>
          <a:xfrm>
            <a:off x="6400800" y="2590800"/>
            <a:ext cx="5486400" cy="1066800"/>
          </a:xfrm>
          <a:prstGeom prst="roundRect">
            <a:avLst>
              <a:gd name="adj" fmla="val 6000"/>
            </a:avLst>
          </a:prstGeom>
          <a:solidFill>
            <a:srgbClr val="132B52"/>
          </a:solidFill>
          <a:ln w="12700">
            <a:solidFill>
              <a:srgbClr val="FFC220">
                <a:alpha val="40000"/>
              </a:srgbClr>
            </a:solidFill>
          </a:ln>
        </p:spPr>
        <p:txBody>
          <a:bodyPr lIns="182880" rIns="182880" anchor="ctr"/>
          <a:lstStyle/>
          <a:p>
            <a:pPr algn="l">
              <a:spcAft>
                <a:spcPts val="100"/>
              </a:spcAft>
            </a:pPr>
            <a:r>
              <a:rPr lang="en-US" sz="1400" dirty="0">
                <a:solidFill>
                  <a:srgbClr val="78909C"/>
                </a:solidFill>
                <a:latin typeface="Source Sans Pro"/>
              </a:rPr>
              <a:t>Dividends Paid</a:t>
            </a:r>
          </a:p>
          <a:p>
            <a:pPr algn="l">
              <a:spcAft>
                <a:spcPts val="100"/>
              </a:spcAft>
            </a:pPr>
            <a:r>
              <a:rPr lang="en-US" sz="2400" b="1" dirty="0">
                <a:solidFill>
                  <a:srgbClr val="FFC220"/>
                </a:solidFill>
                <a:latin typeface="Montserrat"/>
              </a:rPr>
              <a:t>$6.1B</a:t>
            </a:r>
          </a:p>
          <a:p>
            <a:pPr algn="l"/>
            <a:r>
              <a:rPr lang="en-US" sz="1400" dirty="0">
                <a:solidFill>
                  <a:srgbClr val="B0BEC5"/>
                </a:solidFill>
                <a:latin typeface="Source Sans Pro"/>
              </a:rPr>
              <a:t>$0.76/share in FY2024; raised to $0.83 for FY2025</a:t>
            </a:r>
          </a:p>
        </p:txBody>
      </p:sp>
      <p:sp>
        <p:nvSpPr>
          <p:cNvPr id="612" name="Return2"/>
          <p:cNvSpPr/>
          <p:nvPr/>
        </p:nvSpPr>
        <p:spPr>
          <a:xfrm>
            <a:off x="6400800" y="3810000"/>
            <a:ext cx="5486400" cy="1066800"/>
          </a:xfrm>
          <a:prstGeom prst="roundRect">
            <a:avLst>
              <a:gd name="adj" fmla="val 6000"/>
            </a:avLst>
          </a:prstGeom>
          <a:solidFill>
            <a:srgbClr val="132B52"/>
          </a:solidFill>
          <a:ln w="12700">
            <a:solidFill>
              <a:srgbClr val="2CA01C">
                <a:alpha val="40000"/>
              </a:srgbClr>
            </a:solidFill>
          </a:ln>
        </p:spPr>
        <p:txBody>
          <a:bodyPr lIns="182880" rIns="182880" anchor="ctr"/>
          <a:lstStyle/>
          <a:p>
            <a:pPr algn="l">
              <a:spcAft>
                <a:spcPts val="100"/>
              </a:spcAft>
            </a:pPr>
            <a:r>
              <a:rPr lang="en-US" sz="1400" dirty="0">
                <a:solidFill>
                  <a:srgbClr val="78909C"/>
                </a:solidFill>
                <a:latin typeface="Source Sans Pro"/>
              </a:rPr>
              <a:t>Share Repurchases</a:t>
            </a:r>
          </a:p>
          <a:p>
            <a:pPr algn="l">
              <a:spcAft>
                <a:spcPts val="100"/>
              </a:spcAft>
            </a:pPr>
            <a:r>
              <a:rPr lang="en-US" sz="2400" b="1" dirty="0">
                <a:solidFill>
                  <a:srgbClr val="2CA01C"/>
                </a:solidFill>
                <a:latin typeface="Montserrat"/>
              </a:rPr>
              <a:t>$2.8B</a:t>
            </a:r>
          </a:p>
          <a:p>
            <a:pPr algn="l"/>
            <a:r>
              <a:rPr lang="en-US" sz="1400" dirty="0">
                <a:solidFill>
                  <a:srgbClr val="B0BEC5"/>
                </a:solidFill>
                <a:latin typeface="Source Sans Pro"/>
              </a:rPr>
              <a:t>$16.5B remaining under $20B authorization</a:t>
            </a:r>
          </a:p>
        </p:txBody>
      </p:sp>
      <p:sp>
        <p:nvSpPr>
          <p:cNvPr id="613" name="Return3"/>
          <p:cNvSpPr/>
          <p:nvPr/>
        </p:nvSpPr>
        <p:spPr>
          <a:xfrm>
            <a:off x="6400800" y="5029200"/>
            <a:ext cx="5486400" cy="1066800"/>
          </a:xfrm>
          <a:prstGeom prst="roundRect">
            <a:avLst>
              <a:gd name="adj" fmla="val 6000"/>
            </a:avLst>
          </a:prstGeom>
          <a:solidFill>
            <a:srgbClr val="132B52"/>
          </a:solidFill>
          <a:ln w="12700">
            <a:solidFill>
              <a:srgbClr val="E8913A">
                <a:alpha val="40000"/>
              </a:srgbClr>
            </a:solidFill>
          </a:ln>
        </p:spPr>
        <p:txBody>
          <a:bodyPr lIns="182880" rIns="182880" anchor="ctr"/>
          <a:lstStyle/>
          <a:p>
            <a:pPr algn="l">
              <a:spcAft>
                <a:spcPts val="100"/>
              </a:spcAft>
            </a:pPr>
            <a:r>
              <a:rPr lang="en-US" sz="1400" dirty="0">
                <a:solidFill>
                  <a:srgbClr val="78909C"/>
                </a:solidFill>
                <a:latin typeface="Source Sans Pro"/>
              </a:rPr>
              <a:t>Return on Investment</a:t>
            </a:r>
          </a:p>
          <a:p>
            <a:pPr algn="l">
              <a:spcAft>
                <a:spcPts val="100"/>
              </a:spcAft>
            </a:pPr>
            <a:r>
              <a:rPr lang="en-US" sz="2400" b="1" dirty="0">
                <a:solidFill>
                  <a:srgbClr val="E8913A"/>
                </a:solidFill>
                <a:latin typeface="Montserrat"/>
              </a:rPr>
              <a:t>15.0%</a:t>
            </a:r>
          </a:p>
          <a:p>
            <a:pPr algn="l"/>
            <a:r>
              <a:rPr lang="en-US" sz="1400" dirty="0">
                <a:solidFill>
                  <a:srgbClr val="B0BEC5"/>
                </a:solidFill>
                <a:latin typeface="Source Sans Pro"/>
              </a:rPr>
              <a:t>Up from 12.7% in FY2023 (+230bps)</a:t>
            </a:r>
          </a:p>
        </p:txBody>
      </p:sp>
    </p:spTree>
    <p:extLst>
      <p:ext uri="{BB962C8B-B14F-4D97-AF65-F5344CB8AC3E}">
        <p14:creationId xmlns:p14="http://schemas.microsoft.com/office/powerpoint/2010/main" val="2334378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599DB-0DF6-375A-6AA6-E32D59BF8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0"/>
            <a:ext cx="10515600" cy="635000"/>
          </a:xfrm>
        </p:spPr>
        <p:txBody>
          <a:bodyPr>
            <a:normAutofit/>
          </a:bodyPr>
          <a:lstStyle/>
          <a:p>
            <a:r>
              <a:rPr lang="en-CA" sz="3200" b="1"/>
              <a:t>Strategic Priorities &amp; Outlook</a:t>
            </a:r>
          </a:p>
        </p:txBody>
      </p:sp>
      <p:sp>
        <p:nvSpPr>
          <p:cNvPr id="700" name="PrioNum0"/>
          <p:cNvSpPr/>
          <p:nvPr/>
        </p:nvSpPr>
        <p:spPr>
          <a:xfrm>
            <a:off x="746760" y="1143000"/>
            <a:ext cx="548640" cy="548640"/>
          </a:xfrm>
          <a:prstGeom prst="ellipse">
            <a:avLst/>
          </a:prstGeom>
          <a:solidFill>
            <a:srgbClr val="0071DC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000" b="1" dirty="0">
                <a:solidFill>
                  <a:srgbClr val="0C1D3A"/>
                </a:solidFill>
                <a:latin typeface="Montserrat"/>
              </a:rPr>
              <a:t>01</a:t>
            </a:r>
          </a:p>
        </p:txBody>
      </p:sp>
      <p:sp>
        <p:nvSpPr>
          <p:cNvPr id="701" name="PrioTitle0"/>
          <p:cNvSpPr/>
          <p:nvPr/>
        </p:nvSpPr>
        <p:spPr>
          <a:xfrm>
            <a:off x="1432560" y="1181100"/>
            <a:ext cx="2545080" cy="482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1800" b="1" dirty="0">
                <a:solidFill>
                  <a:srgbClr val="FFFFFF"/>
                </a:solidFill>
                <a:latin typeface="Montserrat"/>
              </a:rPr>
              <a:t>Omni-Channel Leadership</a:t>
            </a:r>
          </a:p>
        </p:txBody>
      </p:sp>
      <p:sp>
        <p:nvSpPr>
          <p:cNvPr id="702" name="PrioBullets0"/>
          <p:cNvSpPr/>
          <p:nvPr/>
        </p:nvSpPr>
        <p:spPr>
          <a:xfrm>
            <a:off x="746760" y="2006600"/>
            <a:ext cx="3230880" cy="3302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n-US" sz="1400" dirty="0">
                <a:solidFill>
                  <a:srgbClr val="B0BEC5"/>
                </a:solidFill>
                <a:latin typeface="Source Sans Pro"/>
              </a:rPr>
              <a:t>8,000+ pickup and 7,800+ delivery locations globally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n-US" sz="1400" dirty="0">
                <a:solidFill>
                  <a:srgbClr val="B0BEC5"/>
                </a:solidFill>
                <a:latin typeface="Source Sans Pro"/>
              </a:rPr>
              <a:t>Expanding Walmart+ membership benefits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n-US" sz="1400" dirty="0">
                <a:solidFill>
                  <a:srgbClr val="B0BEC5"/>
                </a:solidFill>
                <a:latin typeface="Source Sans Pro"/>
              </a:rPr>
              <a:t>In-home delivery and same-day fulfillment</a:t>
            </a:r>
          </a:p>
        </p:txBody>
      </p:sp>
      <p:sp>
        <p:nvSpPr>
          <p:cNvPr id="720" name="PrioLine0"/>
          <p:cNvSpPr/>
          <p:nvPr/>
        </p:nvSpPr>
        <p:spPr>
          <a:xfrm>
            <a:off x="746760" y="1879600"/>
            <a:ext cx="3230880" cy="0"/>
          </a:xfrm>
          <a:prstGeom prst="rect">
            <a:avLst/>
          </a:prstGeom>
          <a:noFill/>
          <a:ln w="12700">
            <a:solidFill>
              <a:srgbClr val="0071DC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3" name="PrioNum1"/>
          <p:cNvSpPr/>
          <p:nvPr/>
        </p:nvSpPr>
        <p:spPr>
          <a:xfrm>
            <a:off x="4480560" y="1143000"/>
            <a:ext cx="548640" cy="548640"/>
          </a:xfrm>
          <a:prstGeom prst="ellipse">
            <a:avLst/>
          </a:prstGeom>
          <a:solidFill>
            <a:srgbClr val="FFC220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000" b="1" dirty="0">
                <a:solidFill>
                  <a:srgbClr val="0C1D3A"/>
                </a:solidFill>
                <a:latin typeface="Montserrat"/>
              </a:rPr>
              <a:t>02</a:t>
            </a:r>
          </a:p>
        </p:txBody>
      </p:sp>
      <p:sp>
        <p:nvSpPr>
          <p:cNvPr id="704" name="PrioTitle1"/>
          <p:cNvSpPr/>
          <p:nvPr/>
        </p:nvSpPr>
        <p:spPr>
          <a:xfrm>
            <a:off x="5166360" y="1181100"/>
            <a:ext cx="2545080" cy="482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1800" b="1" dirty="0">
                <a:solidFill>
                  <a:srgbClr val="FFFFFF"/>
                </a:solidFill>
                <a:latin typeface="Montserrat"/>
              </a:rPr>
              <a:t>Technology &amp; Automation</a:t>
            </a:r>
          </a:p>
        </p:txBody>
      </p:sp>
      <p:sp>
        <p:nvSpPr>
          <p:cNvPr id="705" name="PrioBullets1"/>
          <p:cNvSpPr/>
          <p:nvPr/>
        </p:nvSpPr>
        <p:spPr>
          <a:xfrm>
            <a:off x="4480560" y="2006600"/>
            <a:ext cx="3230880" cy="3302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n-US" sz="1400" dirty="0">
                <a:solidFill>
                  <a:srgbClr val="B0BEC5"/>
                </a:solidFill>
                <a:latin typeface="Source Sans Pro"/>
              </a:rPr>
              <a:t>Supply chain automation across 162 U.S. distribution centers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n-US" sz="1400" dirty="0">
                <a:solidFill>
                  <a:srgbClr val="B0BEC5"/>
                </a:solidFill>
                <a:latin typeface="Source Sans Pro"/>
              </a:rPr>
              <a:t>Market fulfillment centers inside stores for faster online orders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n-US" sz="1400" dirty="0">
                <a:solidFill>
                  <a:srgbClr val="B0BEC5"/>
                </a:solidFill>
                <a:latin typeface="Source Sans Pro"/>
              </a:rPr>
              <a:t>Digital payments via PhonePe in India</a:t>
            </a:r>
          </a:p>
        </p:txBody>
      </p:sp>
      <p:sp>
        <p:nvSpPr>
          <p:cNvPr id="721" name="PrioLine1"/>
          <p:cNvSpPr/>
          <p:nvPr/>
        </p:nvSpPr>
        <p:spPr>
          <a:xfrm>
            <a:off x="4480560" y="1879600"/>
            <a:ext cx="3230880" cy="0"/>
          </a:xfrm>
          <a:prstGeom prst="rect">
            <a:avLst/>
          </a:prstGeom>
          <a:noFill/>
          <a:ln w="12700">
            <a:solidFill>
              <a:srgbClr val="FFC220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6" name="PrioNum2"/>
          <p:cNvSpPr/>
          <p:nvPr/>
        </p:nvSpPr>
        <p:spPr>
          <a:xfrm>
            <a:off x="8214360" y="1143000"/>
            <a:ext cx="548640" cy="548640"/>
          </a:xfrm>
          <a:prstGeom prst="ellipse">
            <a:avLst/>
          </a:prstGeom>
          <a:solidFill>
            <a:srgbClr val="2CA01C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000" b="1" dirty="0">
                <a:solidFill>
                  <a:srgbClr val="0C1D3A"/>
                </a:solidFill>
                <a:latin typeface="Montserrat"/>
              </a:rPr>
              <a:t>03</a:t>
            </a:r>
          </a:p>
        </p:txBody>
      </p:sp>
      <p:sp>
        <p:nvSpPr>
          <p:cNvPr id="707" name="PrioTitle2"/>
          <p:cNvSpPr/>
          <p:nvPr/>
        </p:nvSpPr>
        <p:spPr>
          <a:xfrm>
            <a:off x="8900160" y="1181100"/>
            <a:ext cx="2545080" cy="482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1800" b="1" dirty="0">
                <a:solidFill>
                  <a:srgbClr val="FFFFFF"/>
                </a:solidFill>
                <a:latin typeface="Montserrat"/>
              </a:rPr>
              <a:t>Ecosystem Expansion</a:t>
            </a:r>
          </a:p>
        </p:txBody>
      </p:sp>
      <p:sp>
        <p:nvSpPr>
          <p:cNvPr id="708" name="PrioBullets2"/>
          <p:cNvSpPr/>
          <p:nvPr/>
        </p:nvSpPr>
        <p:spPr>
          <a:xfrm>
            <a:off x="8214360" y="2006600"/>
            <a:ext cx="3230880" cy="3302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n-US" sz="1400" dirty="0">
                <a:solidFill>
                  <a:srgbClr val="B0BEC5"/>
                </a:solidFill>
                <a:latin typeface="Source Sans Pro"/>
              </a:rPr>
              <a:t>Walmart Connect advertising growing +28% YoY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n-US" sz="1400" dirty="0">
                <a:solidFill>
                  <a:srgbClr val="B0BEC5"/>
                </a:solidFill>
                <a:latin typeface="Source Sans Pro"/>
              </a:rPr>
              <a:t>Marketplace and fulfillment services (Walmart Fulfillment Services)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n-US" sz="1400" dirty="0">
                <a:solidFill>
                  <a:srgbClr val="B0BEC5"/>
                </a:solidFill>
                <a:latin typeface="Source Sans Pro"/>
              </a:rPr>
              <a:t>Financial services, healthcare, and data products</a:t>
            </a:r>
          </a:p>
        </p:txBody>
      </p:sp>
      <p:sp>
        <p:nvSpPr>
          <p:cNvPr id="722" name="PrioLine2"/>
          <p:cNvSpPr/>
          <p:nvPr/>
        </p:nvSpPr>
        <p:spPr>
          <a:xfrm>
            <a:off x="8214360" y="1879600"/>
            <a:ext cx="3230880" cy="0"/>
          </a:xfrm>
          <a:prstGeom prst="rect">
            <a:avLst/>
          </a:prstGeom>
          <a:noFill/>
          <a:ln w="12700">
            <a:solidFill>
              <a:srgbClr val="2CA01C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30" name="Takeaway"/>
          <p:cNvSpPr/>
          <p:nvPr/>
        </p:nvSpPr>
        <p:spPr>
          <a:xfrm>
            <a:off x="914400" y="5969000"/>
            <a:ext cx="10363200" cy="457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600" b="1" dirty="0">
                <a:solidFill>
                  <a:srgbClr val="FFC220"/>
                </a:solidFill>
                <a:latin typeface="Montserrat"/>
              </a:rPr>
              <a:t>FY2025 Dividend: $0.83/share</a:t>
            </a:r>
            <a:r>
              <a:rPr lang="en-US" sz="1600" dirty="0">
                <a:solidFill>
                  <a:srgbClr val="78909C"/>
                </a:solidFill>
                <a:latin typeface="Source Sans Pro"/>
              </a:rPr>
              <a:t>  |  51st consecutive year of dividend increases</a:t>
            </a:r>
          </a:p>
        </p:txBody>
      </p:sp>
    </p:spTree>
    <p:extLst>
      <p:ext uri="{BB962C8B-B14F-4D97-AF65-F5344CB8AC3E}">
        <p14:creationId xmlns:p14="http://schemas.microsoft.com/office/powerpoint/2010/main" val="3533513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Walmart">
      <a:dk1>
        <a:srgbClr val="FFFFFF"/>
      </a:dk1>
      <a:lt1>
        <a:srgbClr val="0C1D3A"/>
      </a:lt1>
      <a:dk2>
        <a:srgbClr val="B0BEC5"/>
      </a:dk2>
      <a:lt2>
        <a:srgbClr val="132B52"/>
      </a:lt2>
      <a:accent1>
        <a:srgbClr val="FFC220"/>
      </a:accent1>
      <a:accent2>
        <a:srgbClr val="0071DC"/>
      </a:accent2>
      <a:accent3>
        <a:srgbClr val="2CA01C"/>
      </a:accent3>
      <a:accent4>
        <a:srgbClr val="E8913A"/>
      </a:accent4>
      <a:accent5>
        <a:srgbClr val="78909C"/>
      </a:accent5>
      <a:accent6>
        <a:srgbClr val="26C6DA"/>
      </a:accent6>
      <a:hlink>
        <a:srgbClr val="467886"/>
      </a:hlink>
      <a:folHlink>
        <a:srgbClr val="96607D"/>
      </a:folHlink>
    </a:clrScheme>
    <a:fontScheme name="Walmart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Sans Pro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19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5B32AFC-E784-4E6A-8D51-0E304F8AD69F}">
  <we:reference id="wa200010001" version="1.0.0.0" store="en-US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425</Words>
  <Application>Microsoft Office PowerPoint</Application>
  <PresentationFormat>Widescreen</PresentationFormat>
  <Paragraphs>83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Montserrat</vt:lpstr>
      <vt:lpstr>Source Sans Pro</vt:lpstr>
      <vt:lpstr>Office Theme</vt:lpstr>
      <vt:lpstr>Walmart Inc.</vt:lpstr>
      <vt:lpstr>Company Snapshot</vt:lpstr>
      <vt:lpstr>Financial Highlights</vt:lpstr>
      <vt:lpstr>Segment Performance</vt:lpstr>
      <vt:lpstr>Growth Drivers</vt:lpstr>
      <vt:lpstr>Cash Flow &amp; Capital Returns</vt:lpstr>
      <vt:lpstr>Strategic Priorities &amp; Outlook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Ahmed</dc:creator>
  <cp:lastModifiedBy>Ryan Ahmed</cp:lastModifiedBy>
  <cp:revision>1</cp:revision>
  <dcterms:created xsi:type="dcterms:W3CDTF">2026-03-08T15:52:00Z</dcterms:created>
  <dcterms:modified xsi:type="dcterms:W3CDTF">2026-03-08T16:18:49Z</dcterms:modified>
</cp:coreProperties>
</file>