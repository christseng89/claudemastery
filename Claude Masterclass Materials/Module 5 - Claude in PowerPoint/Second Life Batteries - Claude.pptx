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88" r:id="rId2"/>
    <p:sldId id="282" r:id="rId3"/>
    <p:sldId id="270" r:id="rId4"/>
    <p:sldId id="271" r:id="rId5"/>
    <p:sldId id="285" r:id="rId6"/>
    <p:sldId id="272" r:id="rId7"/>
    <p:sldId id="27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5560" autoAdjust="0"/>
  </p:normalViewPr>
  <p:slideViewPr>
    <p:cSldViewPr snapToGrid="0">
      <p:cViewPr varScale="1">
        <p:scale>
          <a:sx n="113" d="100"/>
          <a:sy n="113" d="100"/>
        </p:scale>
        <p:origin x="396"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A5D814-3971-4F9D-A3ED-BD8DA85FD79E}" type="datetimeFigureOut">
              <a:rPr lang="en-CA" smtClean="0"/>
              <a:t>2026-03-08</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22C488-06F2-42C8-90A2-65BEB0B72D62}" type="slidenum">
              <a:rPr lang="en-CA" smtClean="0"/>
              <a:t>‹#›</a:t>
            </a:fld>
            <a:endParaRPr lang="en-CA"/>
          </a:p>
        </p:txBody>
      </p:sp>
    </p:spTree>
    <p:extLst>
      <p:ext uri="{BB962C8B-B14F-4D97-AF65-F5344CB8AC3E}">
        <p14:creationId xmlns:p14="http://schemas.microsoft.com/office/powerpoint/2010/main" val="1738979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 what's good everyone! Let's talk about something that's actually lowkey genius — second life batteries.</a:t>
            </a:r>
          </a:p>
          <a:p>
            <a:r>
              <a:rPr lang="en-US" dirty="0"/>
              <a:t>So here's the deal. Every electric car on the road right now? It's running on a massive battery pack. And when that battery gets too weak to keep the car going — we're talking 70 to 80 percent of its original power left — most people think it's done. Cooked. Time to recycle it, right?</a:t>
            </a:r>
          </a:p>
          <a:p>
            <a:r>
              <a:rPr lang="en-US" dirty="0"/>
              <a:t>WRONG. That's literally still a ton of energy just sitting there. Imagine your phone at 75 percent — you're not throwing it away, are you? Same energy.</a:t>
            </a:r>
          </a:p>
          <a:p>
            <a:r>
              <a:rPr lang="en-US" dirty="0"/>
              <a:t>These "retired" EV batteries are getting a whole second life powering things like buildings, solar farms, cell towers, and — this is the wild part — actual AI data centers. We're talking thousands of GPUs running on batteries that came out of someone's old Tesla or Nissan Leaf. That's insane.</a:t>
            </a:r>
          </a:p>
          <a:p>
            <a:r>
              <a:rPr lang="en-US" dirty="0"/>
              <a:t>This presentation is going to break down how it all works — the science behind why batteries degrade, how they get sorted and rebuilt for round two, where they end up, and why this is literally one of the smartest moves for the planet right now. No cap.</a:t>
            </a:r>
          </a:p>
          <a:p>
            <a:r>
              <a:rPr lang="en-US" dirty="0"/>
              <a:t>Let's get into it.</a:t>
            </a:r>
          </a:p>
        </p:txBody>
      </p:sp>
      <p:sp>
        <p:nvSpPr>
          <p:cNvPr id="4" name="Slide Number Placeholder 3"/>
          <p:cNvSpPr>
            <a:spLocks noGrp="1"/>
          </p:cNvSpPr>
          <p:nvPr>
            <p:ph type="sldNum" sz="quarter" idx="5"/>
          </p:nvPr>
        </p:nvSpPr>
        <p:spPr/>
        <p:txBody>
          <a:bodyPr/>
          <a:lstStyle/>
          <a:p>
            <a:fld id="{B6F15528-F159-4107-2D14-4B70503A1E0F}"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fundamentals of why second life batteries exist as an opportunity.</a:t>
            </a:r>
          </a:p>
          <a:p>
            <a:r>
              <a:rPr lang="en-US" dirty="0"/>
              <a:t>Lithium-ion cells degrade through multiple mechanisms. The solid electrolyte interphase layer grows over time, consuming cyclable lithium. Lithium plating occurs during fast charging or low-temperature operation, creating dendrites that reduce capacity and pose safety risks. Active material particles crack under mechanical stress from repeated expansion and contraction.</a:t>
            </a:r>
          </a:p>
          <a:p>
            <a:r>
              <a:rPr lang="en-US" dirty="0"/>
              <a:t>The key threshold is 70-80% State of Health. Below this point, an EV loses enough range that it becomes impractical for daily driving. However, 70-80% of a 60-100 kWh pack is still 42-80 kWh — more than enough for stationary applications where energy density and weight are far less critical.</a:t>
            </a:r>
          </a:p>
          <a:p>
            <a:r>
              <a:rPr lang="en-US" dirty="0"/>
              <a:t>Calendar aging is important to note — batteries degrade even when sitting idle, driven by temperature and state of charge. This means timing of second life deployment matters. The sooner a retired pack enters second life service, the more useful life remains.</a:t>
            </a:r>
          </a:p>
        </p:txBody>
      </p:sp>
      <p:sp>
        <p:nvSpPr>
          <p:cNvPr id="4" name="Slide Number Placeholder 3"/>
          <p:cNvSpPr>
            <a:spLocks noGrp="1"/>
          </p:cNvSpPr>
          <p:nvPr>
            <p:ph type="sldNum" sz="quarter" idx="5"/>
          </p:nvPr>
        </p:nvSpPr>
        <p:spPr/>
        <p:txBody>
          <a:bodyPr/>
          <a:lstStyle/>
          <a:p>
            <a:fld id="{C6F15528-F159-4107-2D14-4B70503A1E0F}"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walks through the five-stage repurposing pipeline that retired EV battery packs go through before entering second life service.</a:t>
            </a:r>
          </a:p>
          <a:p>
            <a:r>
              <a:rPr lang="en-US" dirty="0"/>
              <a:t>Stage 1 — Collection and Intake: Packs are received from OEM take-back programs, dealership networks, or salvage yards. Initial safety screening checks for physical damage, leakage, or thermal event history. Packs with severe damage are routed directly to recycling.</a:t>
            </a:r>
          </a:p>
          <a:p>
            <a:r>
              <a:rPr lang="en-US" dirty="0"/>
              <a:t>Stage 2 — Testing and Grading: This is the most technically critical step. Electrochemical impedance spectroscopy, capacity tests, and pulse power tests determine each pack's State of Health. Packs are graded into tiers — typically A, B, and C — based on remaining capacity and internal resistance.</a:t>
            </a:r>
          </a:p>
          <a:p>
            <a:r>
              <a:rPr lang="en-US" dirty="0"/>
              <a:t>Stage 3 — Module Disassembly: Packs are disassembled to the module or cell level. Cells within a module are sorted by matching criteria — primarily capacity and impedance — to ensure balanced strings in the second life pack. This is where cell-to-cell variability becomes a real engineering challenge.</a:t>
            </a:r>
          </a:p>
          <a:p>
            <a:r>
              <a:rPr lang="en-US" dirty="0"/>
              <a:t>Stage 4 — BMS Integration: A new battery management system is designed for the target application. The duty cycle for stationary storage is fundamentally different from automotive — lower C-rates, different temperature profiles, different safety requirements. Thermal management and enclosure design are also addressed here.</a:t>
            </a:r>
          </a:p>
          <a:p>
            <a:r>
              <a:rPr lang="en-US" dirty="0"/>
              <a:t>Stage 5 — Deployment and Monitoring: The reconfigured system is installed at the target site with remote monitoring infrastructure. Continuous SOH tracking ensures the system is decommissioned before performance drops below acceptable thresholds.</a:t>
            </a:r>
          </a:p>
        </p:txBody>
      </p:sp>
      <p:sp>
        <p:nvSpPr>
          <p:cNvPr id="4" name="Slide Number Placeholder 3"/>
          <p:cNvSpPr>
            <a:spLocks noGrp="1"/>
          </p:cNvSpPr>
          <p:nvPr>
            <p:ph type="sldNum" sz="quarter" idx="5"/>
          </p:nvPr>
        </p:nvSpPr>
        <p:spPr/>
        <p:txBody>
          <a:bodyPr/>
          <a:lstStyle/>
          <a:p>
            <a:fld id="{D6F15528-F159-4107-2D14-4B70503A1E0F}"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where these second life batteries actually go. There are four primary application categories, each with different technical requirements and economic drivers.</a:t>
            </a:r>
          </a:p>
          <a:p>
            <a:r>
              <a:rPr lang="en-US" dirty="0"/>
              <a:t>Grid-Scale Storage: This is the largest addressable market. Utilities use second life packs for peak shaving — storing cheap off-peak energy and discharging during expensive peak hours. Frequency regulation is another high-value use case where batteries respond to grid frequency deviations in milliseconds. Second life packs are also paired with wind and solar farms to smooth intermittent generation.</a:t>
            </a:r>
          </a:p>
          <a:p>
            <a:r>
              <a:rPr lang="en-US" dirty="0"/>
              <a:t>Commercial and Industrial: Behind-the-meter installations help large facilities reduce demand charges, which can represent 30-50% of their electricity bill. These systems also provide backup power during outages, replacing or supplementing diesel generators.</a:t>
            </a:r>
          </a:p>
          <a:p>
            <a:r>
              <a:rPr lang="en-US" dirty="0"/>
              <a:t>Residential Storage: The economics here are driven by solar self-consumption. A homeowner with rooftop PV can store excess daytime generation for evening use. Second life packs at 30-70% lower cost than new batteries dramatically improve the payback period for home storage systems. Companies like Nissan with xStorage and BMW with their i3 repurposing program are already active in this space.</a:t>
            </a:r>
          </a:p>
          <a:p>
            <a:r>
              <a:rPr lang="en-US" dirty="0"/>
              <a:t>Telecom and Off-Grid: This is particularly relevant in developing markets where telecom towers rely on diesel generators for backup. Second life batteries can replace diesel entirely, reducing operating costs and emissions. Off-grid communities and remote industrial sites also benefit from affordable energy storage.</a:t>
            </a:r>
          </a:p>
        </p:txBody>
      </p:sp>
      <p:sp>
        <p:nvSpPr>
          <p:cNvPr id="4" name="Slide Number Placeholder 3"/>
          <p:cNvSpPr>
            <a:spLocks noGrp="1"/>
          </p:cNvSpPr>
          <p:nvPr>
            <p:ph type="sldNum" sz="quarter" idx="5"/>
          </p:nvPr>
        </p:nvSpPr>
        <p:spPr/>
        <p:txBody>
          <a:bodyPr/>
          <a:lstStyle/>
          <a:p>
            <a:fld id="{E6F15528-F159-4107-2D14-4B70503A1E0F}"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exciting real-world applications of second life batteries emerging right now — powering AI data centers.</a:t>
            </a:r>
          </a:p>
          <a:p>
            <a:r>
              <a:rPr lang="en-US" dirty="0"/>
              <a:t>In June 2025, Crusoe Energy and Redwood Materials unveiled the world's largest second-life battery deployment at Redwood's campus in Sparks, Nevada. The system is a 12 megawatt, 63 megawatt-hour microgrid combining a 20-acre solar array with hundreds of repurposed EV battery packs. It powers Crusoe Spark — a modular, off-grid AI data center containing 2,000 GPUs designed for high-performance AI workloads.</a:t>
            </a:r>
          </a:p>
          <a:p>
            <a:r>
              <a:rPr lang="en-US" dirty="0"/>
              <a:t>This is significant because AI infrastructure faces a massive power challenge. Goldman Sachs estimates AI will drive a 165% increase in data center power demand by 2030. Traditional grid connections can take years to establish, but this solar-plus-second-life-battery microgrid can be deployed in months.</a:t>
            </a:r>
          </a:p>
          <a:p>
            <a:r>
              <a:rPr lang="en-US" dirty="0"/>
              <a:t>JB Straubel, the Tesla co-founder who runs Redwood Materials, describes the economics: reused packs deploy at roughly half the cost of new battery systems, while delivering comparable performance for stationary applications. The microgrid is already delivering energy below grid prices.</a:t>
            </a:r>
          </a:p>
          <a:p>
            <a:r>
              <a:rPr lang="en-US" dirty="0"/>
              <a:t>The scale-up potential is enormous. Redwood processes 20 GWh of batteries annually from about 250,000 EVs — roughly 90% of all lithium-ion batteries recycled in North America. They already have over a gigawatt-hour in their deployment pipeline with 5 GWh more planned, and are designing projects at 100+ megawatts — ten times the size of this initial deployment.</a:t>
            </a:r>
          </a:p>
          <a:p>
            <a:r>
              <a:rPr lang="en-US" dirty="0"/>
              <a:t>As Crusoe's COO Cully Cavness put it: "In the energy industry, the holy grail has been 24/7 renewable power, but the cost of batteries was too high — until today."</a:t>
            </a:r>
          </a:p>
        </p:txBody>
      </p:sp>
      <p:sp>
        <p:nvSpPr>
          <p:cNvPr id="4" name="Slide Number Placeholder 3"/>
          <p:cNvSpPr>
            <a:spLocks noGrp="1"/>
          </p:cNvSpPr>
          <p:nvPr>
            <p:ph type="sldNum" sz="quarter" idx="5"/>
          </p:nvPr>
        </p:nvSpPr>
        <p:spPr/>
        <p:txBody>
          <a:bodyPr/>
          <a:lstStyle/>
          <a:p>
            <a:fld id="{B7F15528-F159-4107-2D14-4B70503A1E0F}"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major engineering hurdles that the industry needs to overcome for second life batteries to scale.</a:t>
            </a:r>
          </a:p>
          <a:p>
            <a:r>
              <a:rPr lang="en-US" dirty="0"/>
              <a:t>Cell-to-Cell Variability: Even within the same pack, cells degrade at different rates depending on their position, thermal exposure, and manufacturing variation. When you disassemble a pack, you'll find cells ranging from 65% to 85% SOH. Matching cells with similar characteristics is critical — a string is only as good as its weakest cell. Advanced sorting algorithms using impedance spectroscopy and capacity testing data help optimize matching, but this remains labor-intensive and costly.</a:t>
            </a:r>
          </a:p>
          <a:p>
            <a:r>
              <a:rPr lang="en-US" dirty="0"/>
              <a:t>BMS Redesign: You can't simply reuse the automotive BMS. The original system was designed for high-power automotive duty cycles with regenerative braking, fast acceleration, and DC fast charging. Stationary storage has fundamentally different requirements — lower C-rates, narrower SOC windows to preserve remaining life, and different thermal management needs. The BMS must also handle the increased cell variability in a second life pack.</a:t>
            </a:r>
          </a:p>
          <a:p>
            <a:r>
              <a:rPr lang="en-US" dirty="0"/>
              <a:t>Safety Standards: This is arguably the biggest barrier to market adoption. UL 1974 provides a framework for evaluating and repurposing batteries, but it's not universally adopted. IEC 63330 is under development for international standardization. Without clear, widely-accepted standards, insurance companies and regulators remain cautious, limiting deployment in some markets.</a:t>
            </a:r>
          </a:p>
          <a:p>
            <a:r>
              <a:rPr lang="en-US" dirty="0"/>
              <a:t>Remaining Useful Life Prediction: Accurately predicting how much longer a second life battery will perform is extremely challenging. Degradation is non-linear and depends on future operating conditions that are uncertain. Machine learning models trained on field data from first-life operation are showing promise — companies are using neural networks and physics-informed ML to predict remaining capacity trajectories. This reduces the need for expensive characterization testing and can cut grading costs by up to 40%.</a:t>
            </a:r>
          </a:p>
        </p:txBody>
      </p:sp>
      <p:sp>
        <p:nvSpPr>
          <p:cNvPr id="4" name="Slide Number Placeholder 3"/>
          <p:cNvSpPr>
            <a:spLocks noGrp="1"/>
          </p:cNvSpPr>
          <p:nvPr>
            <p:ph type="sldNum" sz="quarter" idx="5"/>
          </p:nvPr>
        </p:nvSpPr>
        <p:spPr/>
        <p:txBody>
          <a:bodyPr/>
          <a:lstStyle/>
          <a:p>
            <a:fld id="{F6F15528-F159-4107-2D14-4B70503A1E0F}"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close with the market outlook and four key takeaways.</a:t>
            </a:r>
          </a:p>
          <a:p>
            <a:r>
              <a:rPr lang="en-US" dirty="0"/>
              <a:t>The numbers are compelling. The second life battery market is projected to reach 4.2 billion dollars by 2030, driven by the exponential growth in EV sales over the past decade. The first major wave of retired EV packs from vehicles sold in 2015-2020 is now arriving.</a:t>
            </a:r>
          </a:p>
          <a:p>
            <a:r>
              <a:rPr lang="en-US" dirty="0"/>
              <a:t>The cost advantage is the primary economic driver. Second life battery storage systems cost 30 to 70 percent less than equivalent new battery systems per kilowatt-hour. Even with the costs of testing, grading, disassembly, and BMS redesign, the economics are favorable — especially for applications where energy density is not a constraint.</a:t>
            </a:r>
          </a:p>
          <a:p>
            <a:r>
              <a:rPr lang="en-US" dirty="0"/>
              <a:t>The additional 5-10 years of service life in second use means a battery originally designed for a 15-year automotive life could deliver 20-25 years of total service. This dramatically improves the lifecycle economics and environmental footprint of EV batteries.</a:t>
            </a:r>
          </a:p>
          <a:p>
            <a:r>
              <a:rPr lang="en-US" dirty="0"/>
              <a:t>On the takeaways — first, second life batteries are a cornerstone of the circular economy for EVs. They bridge the gap between automotive end-of-life and eventual recycling, extracting maximum value from the embedded energy and materials.</a:t>
            </a:r>
          </a:p>
          <a:p>
            <a:r>
              <a:rPr lang="en-US" dirty="0"/>
              <a:t>Second, standards are maturing. UL 1974 and IEC 63330 are providing the safety and performance frameworks that insurers and regulators need to feel confident about second life deployments.</a:t>
            </a:r>
          </a:p>
          <a:p>
            <a:r>
              <a:rPr lang="en-US" dirty="0"/>
              <a:t>Third, OEMs are getting vertically integrated. BMW, Nissan, Renault, and others are building end-to-end repurposing pipelines rather than relying on third parties. This gives them control over quality and creates new revenue streams.</a:t>
            </a:r>
          </a:p>
          <a:p>
            <a:r>
              <a:rPr lang="en-US" dirty="0"/>
              <a:t>Finally, AI and machine learning are transforming the economics of grading. Automated SOH diagnostics using neural networks can reduce characterization time and cost by up to 40 percent, making the repurposing pipeline more scalable.</a:t>
            </a:r>
          </a:p>
          <a:p>
            <a:r>
              <a:rPr lang="en-US" dirty="0"/>
              <a:t>Thank you — happy to take questions.</a:t>
            </a:r>
          </a:p>
        </p:txBody>
      </p:sp>
      <p:sp>
        <p:nvSpPr>
          <p:cNvPr id="4" name="Slide Number Placeholder 3"/>
          <p:cNvSpPr>
            <a:spLocks noGrp="1"/>
          </p:cNvSpPr>
          <p:nvPr>
            <p:ph type="sldNum" sz="quarter" idx="5"/>
          </p:nvPr>
        </p:nvSpPr>
        <p:spPr/>
        <p:txBody>
          <a:bodyPr/>
          <a:lstStyle/>
          <a:p>
            <a:fld id="{A7F15528-F159-4107-2D14-4B70503A1E0F}" type="slidenum">
              <a:rPr lang="en-US"/>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76F08-D1B3-165C-067C-DF275B9F69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2F8F1AB2-6F8A-49D5-F0B7-09B37BB644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DA5D5FD0-B037-E7DC-BB99-DF611DF8460B}"/>
              </a:ext>
            </a:extLst>
          </p:cNvPr>
          <p:cNvSpPr>
            <a:spLocks noGrp="1"/>
          </p:cNvSpPr>
          <p:nvPr>
            <p:ph type="dt" sz="half" idx="10"/>
          </p:nvPr>
        </p:nvSpPr>
        <p:spPr/>
        <p:txBody>
          <a:bodyPr/>
          <a:lstStyle/>
          <a:p>
            <a:fld id="{DC459AC4-0E73-4A09-91B7-D2FA0A60C700}" type="datetimeFigureOut">
              <a:rPr lang="en-CA" smtClean="0"/>
              <a:t>2026-03-08</a:t>
            </a:fld>
            <a:endParaRPr lang="en-CA"/>
          </a:p>
        </p:txBody>
      </p:sp>
      <p:sp>
        <p:nvSpPr>
          <p:cNvPr id="5" name="Footer Placeholder 4">
            <a:extLst>
              <a:ext uri="{FF2B5EF4-FFF2-40B4-BE49-F238E27FC236}">
                <a16:creationId xmlns:a16="http://schemas.microsoft.com/office/drawing/2014/main" id="{65A5802E-BA5F-924E-7456-BBDF610FF72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D4D6DE7-490A-33BE-C356-FE31FBC951FC}"/>
              </a:ext>
            </a:extLst>
          </p:cNvPr>
          <p:cNvSpPr>
            <a:spLocks noGrp="1"/>
          </p:cNvSpPr>
          <p:nvPr>
            <p:ph type="sldNum" sz="quarter" idx="12"/>
          </p:nvPr>
        </p:nvSpPr>
        <p:spPr/>
        <p:txBody>
          <a:bodyPr/>
          <a:lstStyle/>
          <a:p>
            <a:fld id="{D09B6EA3-65B0-4AF2-BB25-870CC38364BD}" type="slidenum">
              <a:rPr lang="en-CA" smtClean="0"/>
              <a:t>‹#›</a:t>
            </a:fld>
            <a:endParaRPr lang="en-CA"/>
          </a:p>
        </p:txBody>
      </p:sp>
    </p:spTree>
    <p:extLst>
      <p:ext uri="{BB962C8B-B14F-4D97-AF65-F5344CB8AC3E}">
        <p14:creationId xmlns:p14="http://schemas.microsoft.com/office/powerpoint/2010/main" val="3102994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7D8EC-E5ED-C6DB-5613-BC2F96A338A9}"/>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63CB82A-4588-9E04-54FC-6E11A6A42F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B3923FD-5AD4-1D80-D508-BCA49A47C797}"/>
              </a:ext>
            </a:extLst>
          </p:cNvPr>
          <p:cNvSpPr>
            <a:spLocks noGrp="1"/>
          </p:cNvSpPr>
          <p:nvPr>
            <p:ph type="dt" sz="half" idx="10"/>
          </p:nvPr>
        </p:nvSpPr>
        <p:spPr/>
        <p:txBody>
          <a:bodyPr/>
          <a:lstStyle/>
          <a:p>
            <a:fld id="{DC459AC4-0E73-4A09-91B7-D2FA0A60C700}" type="datetimeFigureOut">
              <a:rPr lang="en-CA" smtClean="0"/>
              <a:t>2026-03-08</a:t>
            </a:fld>
            <a:endParaRPr lang="en-CA"/>
          </a:p>
        </p:txBody>
      </p:sp>
      <p:sp>
        <p:nvSpPr>
          <p:cNvPr id="5" name="Footer Placeholder 4">
            <a:extLst>
              <a:ext uri="{FF2B5EF4-FFF2-40B4-BE49-F238E27FC236}">
                <a16:creationId xmlns:a16="http://schemas.microsoft.com/office/drawing/2014/main" id="{6371B24D-82E4-FA82-69DA-2F9E2394C34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0033534-BF7F-D1B6-0A3A-EF6629837CDF}"/>
              </a:ext>
            </a:extLst>
          </p:cNvPr>
          <p:cNvSpPr>
            <a:spLocks noGrp="1"/>
          </p:cNvSpPr>
          <p:nvPr>
            <p:ph type="sldNum" sz="quarter" idx="12"/>
          </p:nvPr>
        </p:nvSpPr>
        <p:spPr/>
        <p:txBody>
          <a:bodyPr/>
          <a:lstStyle/>
          <a:p>
            <a:fld id="{D09B6EA3-65B0-4AF2-BB25-870CC38364BD}" type="slidenum">
              <a:rPr lang="en-CA" smtClean="0"/>
              <a:t>‹#›</a:t>
            </a:fld>
            <a:endParaRPr lang="en-CA"/>
          </a:p>
        </p:txBody>
      </p:sp>
    </p:spTree>
    <p:extLst>
      <p:ext uri="{BB962C8B-B14F-4D97-AF65-F5344CB8AC3E}">
        <p14:creationId xmlns:p14="http://schemas.microsoft.com/office/powerpoint/2010/main" val="1648549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321AE-1E2E-6A14-A9D8-383DE83A8C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AA8FD077-0DFB-F9E0-EC36-9765DB326F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BAAF6A-2C6D-E91B-2463-7CFFF42F605E}"/>
              </a:ext>
            </a:extLst>
          </p:cNvPr>
          <p:cNvSpPr>
            <a:spLocks noGrp="1"/>
          </p:cNvSpPr>
          <p:nvPr>
            <p:ph type="dt" sz="half" idx="10"/>
          </p:nvPr>
        </p:nvSpPr>
        <p:spPr/>
        <p:txBody>
          <a:bodyPr/>
          <a:lstStyle/>
          <a:p>
            <a:fld id="{DC459AC4-0E73-4A09-91B7-D2FA0A60C700}" type="datetimeFigureOut">
              <a:rPr lang="en-CA" smtClean="0"/>
              <a:t>2026-03-08</a:t>
            </a:fld>
            <a:endParaRPr lang="en-CA"/>
          </a:p>
        </p:txBody>
      </p:sp>
      <p:sp>
        <p:nvSpPr>
          <p:cNvPr id="5" name="Footer Placeholder 4">
            <a:extLst>
              <a:ext uri="{FF2B5EF4-FFF2-40B4-BE49-F238E27FC236}">
                <a16:creationId xmlns:a16="http://schemas.microsoft.com/office/drawing/2014/main" id="{4CD54323-DF70-B1A9-BF7F-2C9DD85B898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74011CF-8AC8-44D2-01C3-DB59ACEE835B}"/>
              </a:ext>
            </a:extLst>
          </p:cNvPr>
          <p:cNvSpPr>
            <a:spLocks noGrp="1"/>
          </p:cNvSpPr>
          <p:nvPr>
            <p:ph type="sldNum" sz="quarter" idx="12"/>
          </p:nvPr>
        </p:nvSpPr>
        <p:spPr/>
        <p:txBody>
          <a:bodyPr/>
          <a:lstStyle/>
          <a:p>
            <a:fld id="{D09B6EA3-65B0-4AF2-BB25-870CC38364BD}" type="slidenum">
              <a:rPr lang="en-CA" smtClean="0"/>
              <a:t>‹#›</a:t>
            </a:fld>
            <a:endParaRPr lang="en-CA"/>
          </a:p>
        </p:txBody>
      </p:sp>
    </p:spTree>
    <p:extLst>
      <p:ext uri="{BB962C8B-B14F-4D97-AF65-F5344CB8AC3E}">
        <p14:creationId xmlns:p14="http://schemas.microsoft.com/office/powerpoint/2010/main" val="1311226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8A926-BEE4-963C-8361-E3815772EF3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B7F580A-5391-B07D-BBA4-8698477BE2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86C93694-7C75-5F0A-221E-626360E949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8B8292E6-AB71-5301-B0A1-083415324CF5}"/>
              </a:ext>
            </a:extLst>
          </p:cNvPr>
          <p:cNvSpPr>
            <a:spLocks noGrp="1"/>
          </p:cNvSpPr>
          <p:nvPr>
            <p:ph type="dt" sz="half" idx="10"/>
          </p:nvPr>
        </p:nvSpPr>
        <p:spPr/>
        <p:txBody>
          <a:bodyPr/>
          <a:lstStyle/>
          <a:p>
            <a:fld id="{DC459AC4-0E73-4A09-91B7-D2FA0A60C700}" type="datetimeFigureOut">
              <a:rPr lang="en-CA" smtClean="0"/>
              <a:t>2026-03-08</a:t>
            </a:fld>
            <a:endParaRPr lang="en-CA"/>
          </a:p>
        </p:txBody>
      </p:sp>
      <p:sp>
        <p:nvSpPr>
          <p:cNvPr id="6" name="Footer Placeholder 5">
            <a:extLst>
              <a:ext uri="{FF2B5EF4-FFF2-40B4-BE49-F238E27FC236}">
                <a16:creationId xmlns:a16="http://schemas.microsoft.com/office/drawing/2014/main" id="{E6FA04E5-1975-D1FF-BFDA-C472578ABB3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60CEB528-2EE5-C5C2-1BED-772ABF2F0A0A}"/>
              </a:ext>
            </a:extLst>
          </p:cNvPr>
          <p:cNvSpPr>
            <a:spLocks noGrp="1"/>
          </p:cNvSpPr>
          <p:nvPr>
            <p:ph type="sldNum" sz="quarter" idx="12"/>
          </p:nvPr>
        </p:nvSpPr>
        <p:spPr/>
        <p:txBody>
          <a:bodyPr/>
          <a:lstStyle/>
          <a:p>
            <a:fld id="{D09B6EA3-65B0-4AF2-BB25-870CC38364BD}" type="slidenum">
              <a:rPr lang="en-CA" smtClean="0"/>
              <a:t>‹#›</a:t>
            </a:fld>
            <a:endParaRPr lang="en-CA"/>
          </a:p>
        </p:txBody>
      </p:sp>
    </p:spTree>
    <p:extLst>
      <p:ext uri="{BB962C8B-B14F-4D97-AF65-F5344CB8AC3E}">
        <p14:creationId xmlns:p14="http://schemas.microsoft.com/office/powerpoint/2010/main" val="3094389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4100-3C51-6581-8413-2A721AF2D26F}"/>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BD732548-498F-1141-7000-FD8F3ABD3B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AE28D4-03D8-27FC-B42F-091DB71178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31039B29-B02C-C942-85A1-573FA8F810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5D4F0C-EBEB-6282-788E-13C1111E14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52704994-5591-29E0-3FBC-0D63B55BDE38}"/>
              </a:ext>
            </a:extLst>
          </p:cNvPr>
          <p:cNvSpPr>
            <a:spLocks noGrp="1"/>
          </p:cNvSpPr>
          <p:nvPr>
            <p:ph type="dt" sz="half" idx="10"/>
          </p:nvPr>
        </p:nvSpPr>
        <p:spPr/>
        <p:txBody>
          <a:bodyPr/>
          <a:lstStyle/>
          <a:p>
            <a:fld id="{DC459AC4-0E73-4A09-91B7-D2FA0A60C700}" type="datetimeFigureOut">
              <a:rPr lang="en-CA" smtClean="0"/>
              <a:t>2026-03-08</a:t>
            </a:fld>
            <a:endParaRPr lang="en-CA"/>
          </a:p>
        </p:txBody>
      </p:sp>
      <p:sp>
        <p:nvSpPr>
          <p:cNvPr id="8" name="Footer Placeholder 7">
            <a:extLst>
              <a:ext uri="{FF2B5EF4-FFF2-40B4-BE49-F238E27FC236}">
                <a16:creationId xmlns:a16="http://schemas.microsoft.com/office/drawing/2014/main" id="{3C1044E2-D07A-6114-D1D9-310333737F98}"/>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84C16A5D-2636-7AAF-1161-00B1B2D9C77D}"/>
              </a:ext>
            </a:extLst>
          </p:cNvPr>
          <p:cNvSpPr>
            <a:spLocks noGrp="1"/>
          </p:cNvSpPr>
          <p:nvPr>
            <p:ph type="sldNum" sz="quarter" idx="12"/>
          </p:nvPr>
        </p:nvSpPr>
        <p:spPr/>
        <p:txBody>
          <a:bodyPr/>
          <a:lstStyle/>
          <a:p>
            <a:fld id="{D09B6EA3-65B0-4AF2-BB25-870CC38364BD}" type="slidenum">
              <a:rPr lang="en-CA" smtClean="0"/>
              <a:t>‹#›</a:t>
            </a:fld>
            <a:endParaRPr lang="en-CA"/>
          </a:p>
        </p:txBody>
      </p:sp>
    </p:spTree>
    <p:extLst>
      <p:ext uri="{BB962C8B-B14F-4D97-AF65-F5344CB8AC3E}">
        <p14:creationId xmlns:p14="http://schemas.microsoft.com/office/powerpoint/2010/main" val="2193191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DE583-8930-2FE0-296F-6A8E9FBFE97D}"/>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AB327739-A111-CD58-D2A7-9B086862B0BB}"/>
              </a:ext>
            </a:extLst>
          </p:cNvPr>
          <p:cNvSpPr>
            <a:spLocks noGrp="1"/>
          </p:cNvSpPr>
          <p:nvPr>
            <p:ph type="dt" sz="half" idx="10"/>
          </p:nvPr>
        </p:nvSpPr>
        <p:spPr/>
        <p:txBody>
          <a:bodyPr/>
          <a:lstStyle/>
          <a:p>
            <a:fld id="{DC459AC4-0E73-4A09-91B7-D2FA0A60C700}" type="datetimeFigureOut">
              <a:rPr lang="en-CA" smtClean="0"/>
              <a:t>2026-03-08</a:t>
            </a:fld>
            <a:endParaRPr lang="en-CA"/>
          </a:p>
        </p:txBody>
      </p:sp>
      <p:sp>
        <p:nvSpPr>
          <p:cNvPr id="4" name="Footer Placeholder 3">
            <a:extLst>
              <a:ext uri="{FF2B5EF4-FFF2-40B4-BE49-F238E27FC236}">
                <a16:creationId xmlns:a16="http://schemas.microsoft.com/office/drawing/2014/main" id="{904B3546-D889-B870-5E31-ECC5F518294D}"/>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782547EC-EF8E-9A70-6192-9BA47DC104BD}"/>
              </a:ext>
            </a:extLst>
          </p:cNvPr>
          <p:cNvSpPr>
            <a:spLocks noGrp="1"/>
          </p:cNvSpPr>
          <p:nvPr>
            <p:ph type="sldNum" sz="quarter" idx="12"/>
          </p:nvPr>
        </p:nvSpPr>
        <p:spPr/>
        <p:txBody>
          <a:bodyPr/>
          <a:lstStyle/>
          <a:p>
            <a:fld id="{D09B6EA3-65B0-4AF2-BB25-870CC38364BD}" type="slidenum">
              <a:rPr lang="en-CA" smtClean="0"/>
              <a:t>‹#›</a:t>
            </a:fld>
            <a:endParaRPr lang="en-CA"/>
          </a:p>
        </p:txBody>
      </p:sp>
    </p:spTree>
    <p:extLst>
      <p:ext uri="{BB962C8B-B14F-4D97-AF65-F5344CB8AC3E}">
        <p14:creationId xmlns:p14="http://schemas.microsoft.com/office/powerpoint/2010/main" val="3852933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DD94D7-EB38-57A2-B662-F1A105132128}"/>
              </a:ext>
            </a:extLst>
          </p:cNvPr>
          <p:cNvSpPr>
            <a:spLocks noGrp="1"/>
          </p:cNvSpPr>
          <p:nvPr>
            <p:ph type="dt" sz="half" idx="10"/>
          </p:nvPr>
        </p:nvSpPr>
        <p:spPr/>
        <p:txBody>
          <a:bodyPr/>
          <a:lstStyle/>
          <a:p>
            <a:fld id="{DC459AC4-0E73-4A09-91B7-D2FA0A60C700}" type="datetimeFigureOut">
              <a:rPr lang="en-CA" smtClean="0"/>
              <a:t>2026-03-08</a:t>
            </a:fld>
            <a:endParaRPr lang="en-CA"/>
          </a:p>
        </p:txBody>
      </p:sp>
      <p:sp>
        <p:nvSpPr>
          <p:cNvPr id="3" name="Footer Placeholder 2">
            <a:extLst>
              <a:ext uri="{FF2B5EF4-FFF2-40B4-BE49-F238E27FC236}">
                <a16:creationId xmlns:a16="http://schemas.microsoft.com/office/drawing/2014/main" id="{59AEE4BC-71CB-82F6-EEE1-08E183F56521}"/>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63C12318-B795-593C-D53C-4A8F8F3FE755}"/>
              </a:ext>
            </a:extLst>
          </p:cNvPr>
          <p:cNvSpPr>
            <a:spLocks noGrp="1"/>
          </p:cNvSpPr>
          <p:nvPr>
            <p:ph type="sldNum" sz="quarter" idx="12"/>
          </p:nvPr>
        </p:nvSpPr>
        <p:spPr/>
        <p:txBody>
          <a:bodyPr/>
          <a:lstStyle/>
          <a:p>
            <a:fld id="{D09B6EA3-65B0-4AF2-BB25-870CC38364BD}" type="slidenum">
              <a:rPr lang="en-CA" smtClean="0"/>
              <a:t>‹#›</a:t>
            </a:fld>
            <a:endParaRPr lang="en-CA"/>
          </a:p>
        </p:txBody>
      </p:sp>
    </p:spTree>
    <p:extLst>
      <p:ext uri="{BB962C8B-B14F-4D97-AF65-F5344CB8AC3E}">
        <p14:creationId xmlns:p14="http://schemas.microsoft.com/office/powerpoint/2010/main" val="1821196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B7B43-81FF-236A-8710-A3AB711568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52FEAD96-84EB-1766-0DF5-22B16ACE52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2959F37E-C533-0343-FEC8-733FE63482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61959C-24DE-F148-ABA9-CFCB96A93A1B}"/>
              </a:ext>
            </a:extLst>
          </p:cNvPr>
          <p:cNvSpPr>
            <a:spLocks noGrp="1"/>
          </p:cNvSpPr>
          <p:nvPr>
            <p:ph type="dt" sz="half" idx="10"/>
          </p:nvPr>
        </p:nvSpPr>
        <p:spPr/>
        <p:txBody>
          <a:bodyPr/>
          <a:lstStyle/>
          <a:p>
            <a:fld id="{DC459AC4-0E73-4A09-91B7-D2FA0A60C700}" type="datetimeFigureOut">
              <a:rPr lang="en-CA" smtClean="0"/>
              <a:t>2026-03-08</a:t>
            </a:fld>
            <a:endParaRPr lang="en-CA"/>
          </a:p>
        </p:txBody>
      </p:sp>
      <p:sp>
        <p:nvSpPr>
          <p:cNvPr id="6" name="Footer Placeholder 5">
            <a:extLst>
              <a:ext uri="{FF2B5EF4-FFF2-40B4-BE49-F238E27FC236}">
                <a16:creationId xmlns:a16="http://schemas.microsoft.com/office/drawing/2014/main" id="{0D290657-A1DF-4D57-0341-969D9F3E582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12FEBCE-429D-2918-E562-799CFB7BEA6B}"/>
              </a:ext>
            </a:extLst>
          </p:cNvPr>
          <p:cNvSpPr>
            <a:spLocks noGrp="1"/>
          </p:cNvSpPr>
          <p:nvPr>
            <p:ph type="sldNum" sz="quarter" idx="12"/>
          </p:nvPr>
        </p:nvSpPr>
        <p:spPr/>
        <p:txBody>
          <a:bodyPr/>
          <a:lstStyle/>
          <a:p>
            <a:fld id="{D09B6EA3-65B0-4AF2-BB25-870CC38364BD}" type="slidenum">
              <a:rPr lang="en-CA" smtClean="0"/>
              <a:t>‹#›</a:t>
            </a:fld>
            <a:endParaRPr lang="en-CA"/>
          </a:p>
        </p:txBody>
      </p:sp>
    </p:spTree>
    <p:extLst>
      <p:ext uri="{BB962C8B-B14F-4D97-AF65-F5344CB8AC3E}">
        <p14:creationId xmlns:p14="http://schemas.microsoft.com/office/powerpoint/2010/main" val="1145870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D288D-8135-FC52-B550-D5B8AA6F7A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0E742D3E-DB62-204D-9F76-816E94FEDD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5B78A6EC-3003-CD7A-989C-FB1A95D4C9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89061C-F4DF-B071-45D0-677935DAFA49}"/>
              </a:ext>
            </a:extLst>
          </p:cNvPr>
          <p:cNvSpPr>
            <a:spLocks noGrp="1"/>
          </p:cNvSpPr>
          <p:nvPr>
            <p:ph type="dt" sz="half" idx="10"/>
          </p:nvPr>
        </p:nvSpPr>
        <p:spPr/>
        <p:txBody>
          <a:bodyPr/>
          <a:lstStyle/>
          <a:p>
            <a:fld id="{DC459AC4-0E73-4A09-91B7-D2FA0A60C700}" type="datetimeFigureOut">
              <a:rPr lang="en-CA" smtClean="0"/>
              <a:t>2026-03-08</a:t>
            </a:fld>
            <a:endParaRPr lang="en-CA"/>
          </a:p>
        </p:txBody>
      </p:sp>
      <p:sp>
        <p:nvSpPr>
          <p:cNvPr id="6" name="Footer Placeholder 5">
            <a:extLst>
              <a:ext uri="{FF2B5EF4-FFF2-40B4-BE49-F238E27FC236}">
                <a16:creationId xmlns:a16="http://schemas.microsoft.com/office/drawing/2014/main" id="{4BD00B4B-4D5A-394D-25CC-9A6CEA64A35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A035495-AEEA-ED75-5783-9FD43E949706}"/>
              </a:ext>
            </a:extLst>
          </p:cNvPr>
          <p:cNvSpPr>
            <a:spLocks noGrp="1"/>
          </p:cNvSpPr>
          <p:nvPr>
            <p:ph type="sldNum" sz="quarter" idx="12"/>
          </p:nvPr>
        </p:nvSpPr>
        <p:spPr/>
        <p:txBody>
          <a:bodyPr/>
          <a:lstStyle/>
          <a:p>
            <a:fld id="{D09B6EA3-65B0-4AF2-BB25-870CC38364BD}" type="slidenum">
              <a:rPr lang="en-CA" smtClean="0"/>
              <a:t>‹#›</a:t>
            </a:fld>
            <a:endParaRPr lang="en-CA"/>
          </a:p>
        </p:txBody>
      </p:sp>
    </p:spTree>
    <p:extLst>
      <p:ext uri="{BB962C8B-B14F-4D97-AF65-F5344CB8AC3E}">
        <p14:creationId xmlns:p14="http://schemas.microsoft.com/office/powerpoint/2010/main" val="120989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BEAD-BE94-AAF5-E518-F31ED57F5A01}"/>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78666E9D-3D77-0CF2-4F96-B0A349BE7A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663BA44-A653-6954-700D-9C3E8683CF96}"/>
              </a:ext>
            </a:extLst>
          </p:cNvPr>
          <p:cNvSpPr>
            <a:spLocks noGrp="1"/>
          </p:cNvSpPr>
          <p:nvPr>
            <p:ph type="dt" sz="half" idx="10"/>
          </p:nvPr>
        </p:nvSpPr>
        <p:spPr/>
        <p:txBody>
          <a:bodyPr/>
          <a:lstStyle/>
          <a:p>
            <a:fld id="{DC459AC4-0E73-4A09-91B7-D2FA0A60C700}" type="datetimeFigureOut">
              <a:rPr lang="en-CA" smtClean="0"/>
              <a:t>2026-03-08</a:t>
            </a:fld>
            <a:endParaRPr lang="en-CA"/>
          </a:p>
        </p:txBody>
      </p:sp>
      <p:sp>
        <p:nvSpPr>
          <p:cNvPr id="5" name="Footer Placeholder 4">
            <a:extLst>
              <a:ext uri="{FF2B5EF4-FFF2-40B4-BE49-F238E27FC236}">
                <a16:creationId xmlns:a16="http://schemas.microsoft.com/office/drawing/2014/main" id="{8C40CCB7-60B4-F245-B0EE-4440A96959A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744B112-0E9F-5886-A0C5-F35FC434415D}"/>
              </a:ext>
            </a:extLst>
          </p:cNvPr>
          <p:cNvSpPr>
            <a:spLocks noGrp="1"/>
          </p:cNvSpPr>
          <p:nvPr>
            <p:ph type="sldNum" sz="quarter" idx="12"/>
          </p:nvPr>
        </p:nvSpPr>
        <p:spPr/>
        <p:txBody>
          <a:bodyPr/>
          <a:lstStyle/>
          <a:p>
            <a:fld id="{D09B6EA3-65B0-4AF2-BB25-870CC38364BD}" type="slidenum">
              <a:rPr lang="en-CA" smtClean="0"/>
              <a:t>‹#›</a:t>
            </a:fld>
            <a:endParaRPr lang="en-CA"/>
          </a:p>
        </p:txBody>
      </p:sp>
    </p:spTree>
    <p:extLst>
      <p:ext uri="{BB962C8B-B14F-4D97-AF65-F5344CB8AC3E}">
        <p14:creationId xmlns:p14="http://schemas.microsoft.com/office/powerpoint/2010/main" val="2895458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FF5255-C74A-7AC3-72C8-54FFA60EEE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820F9B57-1CAB-6C38-0AF8-EBD1DAA390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55CAC06-0467-29F3-DE3E-56AB5ACCD708}"/>
              </a:ext>
            </a:extLst>
          </p:cNvPr>
          <p:cNvSpPr>
            <a:spLocks noGrp="1"/>
          </p:cNvSpPr>
          <p:nvPr>
            <p:ph type="dt" sz="half" idx="10"/>
          </p:nvPr>
        </p:nvSpPr>
        <p:spPr/>
        <p:txBody>
          <a:bodyPr/>
          <a:lstStyle/>
          <a:p>
            <a:fld id="{DC459AC4-0E73-4A09-91B7-D2FA0A60C700}" type="datetimeFigureOut">
              <a:rPr lang="en-CA" smtClean="0"/>
              <a:t>2026-03-08</a:t>
            </a:fld>
            <a:endParaRPr lang="en-CA"/>
          </a:p>
        </p:txBody>
      </p:sp>
      <p:sp>
        <p:nvSpPr>
          <p:cNvPr id="5" name="Footer Placeholder 4">
            <a:extLst>
              <a:ext uri="{FF2B5EF4-FFF2-40B4-BE49-F238E27FC236}">
                <a16:creationId xmlns:a16="http://schemas.microsoft.com/office/drawing/2014/main" id="{07E5D2FB-FD8F-364C-4FF5-7D359CE26CD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5B09298-4DF4-D218-F8B0-8FF8BFD45E3F}"/>
              </a:ext>
            </a:extLst>
          </p:cNvPr>
          <p:cNvSpPr>
            <a:spLocks noGrp="1"/>
          </p:cNvSpPr>
          <p:nvPr>
            <p:ph type="sldNum" sz="quarter" idx="12"/>
          </p:nvPr>
        </p:nvSpPr>
        <p:spPr/>
        <p:txBody>
          <a:bodyPr/>
          <a:lstStyle/>
          <a:p>
            <a:fld id="{D09B6EA3-65B0-4AF2-BB25-870CC38364BD}" type="slidenum">
              <a:rPr lang="en-CA" smtClean="0"/>
              <a:t>‹#›</a:t>
            </a:fld>
            <a:endParaRPr lang="en-CA"/>
          </a:p>
        </p:txBody>
      </p:sp>
    </p:spTree>
    <p:extLst>
      <p:ext uri="{BB962C8B-B14F-4D97-AF65-F5344CB8AC3E}">
        <p14:creationId xmlns:p14="http://schemas.microsoft.com/office/powerpoint/2010/main" val="3681151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0D1117"/>
            </a:gs>
            <a:gs pos="100000">
              <a:srgbClr val="161B22"/>
            </a:gs>
          </a:gsLst>
          <a:lin ang="54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177C28-D27F-F2BD-5B89-8206DCC38D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631D8302-1D80-7119-D779-9E57316E50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3CEAC77-0744-FCD6-F41C-D781852114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C459AC4-0E73-4A09-91B7-D2FA0A60C700}" type="datetimeFigureOut">
              <a:rPr lang="en-CA" smtClean="0"/>
              <a:t>2026-03-08</a:t>
            </a:fld>
            <a:endParaRPr lang="en-CA"/>
          </a:p>
        </p:txBody>
      </p:sp>
      <p:sp>
        <p:nvSpPr>
          <p:cNvPr id="5" name="Footer Placeholder 4">
            <a:extLst>
              <a:ext uri="{FF2B5EF4-FFF2-40B4-BE49-F238E27FC236}">
                <a16:creationId xmlns:a16="http://schemas.microsoft.com/office/drawing/2014/main" id="{92B3294D-6FB7-27D9-F5A7-EDF61C68B8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460E2028-8787-F296-690C-233C6E0F4B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09B6EA3-65B0-4AF2-BB25-870CC38364BD}" type="slidenum">
              <a:rPr lang="en-CA" smtClean="0"/>
              <a:t>‹#›</a:t>
            </a:fld>
            <a:endParaRPr lang="en-CA"/>
          </a:p>
        </p:txBody>
      </p:sp>
      <p:sp>
        <p:nvSpPr>
          <p:cNvPr id="900" name="AccentBar"/>
          <p:cNvSpPr/>
          <p:nvPr/>
        </p:nvSpPr>
        <p:spPr>
          <a:xfrm>
            <a:off x="0" y="6583680"/>
            <a:ext cx="12192000" cy="274320"/>
          </a:xfrm>
          <a:prstGeom prst="rect">
            <a:avLst/>
          </a:prstGeom>
          <a:gradFill>
            <a:gsLst>
              <a:gs pos="0">
                <a:srgbClr val="00E676"/>
              </a:gs>
              <a:gs pos="50000">
                <a:srgbClr val="00B0FF"/>
              </a:gs>
              <a:gs pos="100000">
                <a:srgbClr val="7C4DFF"/>
              </a:gs>
            </a:gsLst>
            <a:lin ang="0" scaled="1"/>
          </a:gradFill>
          <a:ln w="0">
            <a:noFill/>
          </a:ln>
        </p:spPr>
        <p:txBody>
          <a:bodyPr/>
          <a:lstStyle/>
          <a:p>
            <a:endParaRPr lang="en-US"/>
          </a:p>
        </p:txBody>
      </p:sp>
      <p:sp>
        <p:nvSpPr>
          <p:cNvPr id="901" name="TopAccentLine"/>
          <p:cNvSpPr/>
          <p:nvPr/>
        </p:nvSpPr>
        <p:spPr>
          <a:xfrm>
            <a:off x="457200" y="76200"/>
            <a:ext cx="2743200" cy="27432"/>
          </a:xfrm>
          <a:prstGeom prst="rect">
            <a:avLst/>
          </a:prstGeom>
          <a:solidFill>
            <a:srgbClr val="00E676"/>
          </a:solidFill>
          <a:ln w="0">
            <a:noFill/>
          </a:ln>
        </p:spPr>
        <p:txBody>
          <a:bodyPr/>
          <a:lstStyle/>
          <a:p>
            <a:endParaRPr lang="en-US"/>
          </a:p>
        </p:txBody>
      </p:sp>
    </p:spTree>
    <p:extLst>
      <p:ext uri="{BB962C8B-B14F-4D97-AF65-F5344CB8AC3E}">
        <p14:creationId xmlns:p14="http://schemas.microsoft.com/office/powerpoint/2010/main" val="40083398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F0F0F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D0D0D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D0D0D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D0D0D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D0D0D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D0D0D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rgbClr val="D0D0D0"/>
          </a:solidFill>
          <a:latin typeface="+mn-lt"/>
          <a:ea typeface="+mn-ea"/>
          <a:cs typeface="+mn-cs"/>
        </a:defRPr>
      </a:lvl1pPr>
      <a:lvl2pPr marL="457200" algn="l" defTabSz="914400" rtl="0" eaLnBrk="1" latinLnBrk="0" hangingPunct="1">
        <a:defRPr sz="1800" kern="1200">
          <a:solidFill>
            <a:srgbClr val="D0D0D0"/>
          </a:solidFill>
          <a:latin typeface="+mn-lt"/>
          <a:ea typeface="+mn-ea"/>
          <a:cs typeface="+mn-cs"/>
        </a:defRPr>
      </a:lvl2pPr>
      <a:lvl3pPr marL="914400" algn="l" defTabSz="914400" rtl="0" eaLnBrk="1" latinLnBrk="0" hangingPunct="1">
        <a:defRPr sz="1800" kern="1200">
          <a:solidFill>
            <a:srgbClr val="D0D0D0"/>
          </a:solidFill>
          <a:latin typeface="+mn-lt"/>
          <a:ea typeface="+mn-ea"/>
          <a:cs typeface="+mn-cs"/>
        </a:defRPr>
      </a:lvl3pPr>
      <a:lvl4pPr marL="1371600" algn="l" defTabSz="914400" rtl="0" eaLnBrk="1" latinLnBrk="0" hangingPunct="1">
        <a:defRPr sz="1800" kern="1200">
          <a:solidFill>
            <a:srgbClr val="D0D0D0"/>
          </a:solidFill>
          <a:latin typeface="+mn-lt"/>
          <a:ea typeface="+mn-ea"/>
          <a:cs typeface="+mn-cs"/>
        </a:defRPr>
      </a:lvl4pPr>
      <a:lvl5pPr marL="1828800" algn="l" defTabSz="914400" rtl="0" eaLnBrk="1" latinLnBrk="0" hangingPunct="1">
        <a:defRPr sz="1800" kern="1200">
          <a:solidFill>
            <a:srgbClr val="D0D0D0"/>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6.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B88A14FF-B983-49A5-9957-7914893FB08F}"/>
              </a:ext>
            </a:extLst>
          </p:cNvPr>
          <p:cNvSpPr/>
          <p:nvPr/>
        </p:nvSpPr>
        <p:spPr>
          <a:xfrm>
            <a:off x="4445000" y="4254500"/>
            <a:ext cx="3302000" cy="63500"/>
          </a:xfrm>
          <a:prstGeom prst="rect">
            <a:avLst/>
          </a:prstGeom>
          <a:solidFill>
            <a:srgbClr val="7C4D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4" name="Cross 13">
            <a:extLst>
              <a:ext uri="{FF2B5EF4-FFF2-40B4-BE49-F238E27FC236}">
                <a16:creationId xmlns:a16="http://schemas.microsoft.com/office/drawing/2014/main" id="{343A93EA-83E4-43D1-80DB-8C536E31FB9A}"/>
              </a:ext>
            </a:extLst>
          </p:cNvPr>
          <p:cNvSpPr/>
          <p:nvPr/>
        </p:nvSpPr>
        <p:spPr>
          <a:xfrm rot="1200000">
            <a:off x="2159000" y="4445000"/>
            <a:ext cx="444500" cy="444500"/>
          </a:xfrm>
          <a:prstGeom prst="plus">
            <a:avLst/>
          </a:prstGeom>
          <a:solidFill>
            <a:srgbClr val="FFD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3" name="Oval 12">
            <a:extLst>
              <a:ext uri="{FF2B5EF4-FFF2-40B4-BE49-F238E27FC236}">
                <a16:creationId xmlns:a16="http://schemas.microsoft.com/office/drawing/2014/main" id="{2815CBA6-757A-4BEB-8AC1-1D2DF289E175}"/>
              </a:ext>
            </a:extLst>
          </p:cNvPr>
          <p:cNvSpPr/>
          <p:nvPr/>
        </p:nvSpPr>
        <p:spPr>
          <a:xfrm>
            <a:off x="10795000" y="3048000"/>
            <a:ext cx="228600" cy="228600"/>
          </a:xfrm>
          <a:prstGeom prst="ellipse">
            <a:avLst/>
          </a:prstGeom>
          <a:solidFill>
            <a:srgbClr val="00E67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2" name="Oval 11">
            <a:extLst>
              <a:ext uri="{FF2B5EF4-FFF2-40B4-BE49-F238E27FC236}">
                <a16:creationId xmlns:a16="http://schemas.microsoft.com/office/drawing/2014/main" id="{542F970D-DD7E-452A-8E9D-9FB6A2B91790}"/>
              </a:ext>
            </a:extLst>
          </p:cNvPr>
          <p:cNvSpPr/>
          <p:nvPr/>
        </p:nvSpPr>
        <p:spPr>
          <a:xfrm>
            <a:off x="1524000" y="1143000"/>
            <a:ext cx="317500" cy="317500"/>
          </a:xfrm>
          <a:prstGeom prst="ellipse">
            <a:avLst/>
          </a:prstGeom>
          <a:solidFill>
            <a:srgbClr val="00BFA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1" name="Circle: Hollow 10">
            <a:extLst>
              <a:ext uri="{FF2B5EF4-FFF2-40B4-BE49-F238E27FC236}">
                <a16:creationId xmlns:a16="http://schemas.microsoft.com/office/drawing/2014/main" id="{ADC3C94B-C278-4D99-9120-6431AA982405}"/>
              </a:ext>
            </a:extLst>
          </p:cNvPr>
          <p:cNvSpPr/>
          <p:nvPr/>
        </p:nvSpPr>
        <p:spPr>
          <a:xfrm>
            <a:off x="9779000" y="4826000"/>
            <a:ext cx="889000" cy="889000"/>
          </a:xfrm>
          <a:prstGeom prst="donut">
            <a:avLst/>
          </a:prstGeom>
          <a:solidFill>
            <a:srgbClr val="FF6D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solidFill>
                <a:schemeClr val="tx1"/>
              </a:solidFill>
            </a:endParaRPr>
          </a:p>
        </p:txBody>
      </p:sp>
      <p:sp>
        <p:nvSpPr>
          <p:cNvPr id="10" name="Isosceles Triangle 9">
            <a:extLst>
              <a:ext uri="{FF2B5EF4-FFF2-40B4-BE49-F238E27FC236}">
                <a16:creationId xmlns:a16="http://schemas.microsoft.com/office/drawing/2014/main" id="{9AC917CB-FB6B-4FAB-B0C3-2A75E97F8F15}"/>
              </a:ext>
            </a:extLst>
          </p:cNvPr>
          <p:cNvSpPr/>
          <p:nvPr/>
        </p:nvSpPr>
        <p:spPr>
          <a:xfrm rot="1500000">
            <a:off x="11049000" y="3810000"/>
            <a:ext cx="635000" cy="635000"/>
          </a:xfrm>
          <a:prstGeom prst="triangle">
            <a:avLst/>
          </a:prstGeom>
          <a:solidFill>
            <a:srgbClr val="FFD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9" name="Diamond 8">
            <a:extLst>
              <a:ext uri="{FF2B5EF4-FFF2-40B4-BE49-F238E27FC236}">
                <a16:creationId xmlns:a16="http://schemas.microsoft.com/office/drawing/2014/main" id="{90DC9FE2-84E1-46F8-921B-8574E55FDDD2}"/>
              </a:ext>
            </a:extLst>
          </p:cNvPr>
          <p:cNvSpPr/>
          <p:nvPr/>
        </p:nvSpPr>
        <p:spPr>
          <a:xfrm rot="900000">
            <a:off x="-127000" y="2349500"/>
            <a:ext cx="508000" cy="508000"/>
          </a:xfrm>
          <a:prstGeom prst="diamond">
            <a:avLst/>
          </a:prstGeom>
          <a:solidFill>
            <a:srgbClr val="7C4D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8" name="Parallelogram 7">
            <a:extLst>
              <a:ext uri="{FF2B5EF4-FFF2-40B4-BE49-F238E27FC236}">
                <a16:creationId xmlns:a16="http://schemas.microsoft.com/office/drawing/2014/main" id="{14611108-40FD-464C-A5A6-0F04C058E602}"/>
              </a:ext>
            </a:extLst>
          </p:cNvPr>
          <p:cNvSpPr/>
          <p:nvPr/>
        </p:nvSpPr>
        <p:spPr>
          <a:xfrm rot="-600000">
            <a:off x="-762000" y="4826000"/>
            <a:ext cx="3810000" cy="2032000"/>
          </a:xfrm>
          <a:prstGeom prst="parallelogram">
            <a:avLst/>
          </a:prstGeom>
          <a:solidFill>
            <a:srgbClr val="00B0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7" name="Parallelogram 6">
            <a:extLst>
              <a:ext uri="{FF2B5EF4-FFF2-40B4-BE49-F238E27FC236}">
                <a16:creationId xmlns:a16="http://schemas.microsoft.com/office/drawing/2014/main" id="{0E5ECBE8-BD55-40B8-9B29-D56076CDAE1D}"/>
              </a:ext>
            </a:extLst>
          </p:cNvPr>
          <p:cNvSpPr/>
          <p:nvPr/>
        </p:nvSpPr>
        <p:spPr>
          <a:xfrm rot="900000">
            <a:off x="8636000" y="-381000"/>
            <a:ext cx="4445000" cy="2540000"/>
          </a:xfrm>
          <a:prstGeom prst="parallelogram">
            <a:avLst/>
          </a:prstGeom>
          <a:solidFill>
            <a:srgbClr val="00E67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5" name="TextBox 14">
            <a:extLst>
              <a:ext uri="{FF2B5EF4-FFF2-40B4-BE49-F238E27FC236}">
                <a16:creationId xmlns:a16="http://schemas.microsoft.com/office/drawing/2014/main" id="{DCABB38D-5F96-4160-B34F-0DBCDDCD2B57}"/>
              </a:ext>
            </a:extLst>
          </p:cNvPr>
          <p:cNvSpPr txBox="1"/>
          <p:nvPr/>
        </p:nvSpPr>
        <p:spPr>
          <a:xfrm>
            <a:off x="1016000" y="1651000"/>
            <a:ext cx="10160000" cy="889000"/>
          </a:xfrm>
          <a:prstGeom prst="rect">
            <a:avLst/>
          </a:prstGeom>
          <a:noFill/>
        </p:spPr>
        <p:txBody>
          <a:bodyPr vertOverflow="overflow" vert="horz" wrap="square" rtlCol="0" anchor="t">
            <a:noAutofit/>
          </a:bodyPr>
          <a:lstStyle/>
          <a:p>
            <a:pPr algn="l"/>
            <a:r>
              <a:rPr lang="en-CA" sz="5200" b="1">
                <a:solidFill>
                  <a:srgbClr val="F0F0F0"/>
                </a:solidFill>
              </a:rPr>
              <a:t>DON'T TRASH IT.</a:t>
            </a:r>
          </a:p>
        </p:txBody>
      </p:sp>
      <p:sp>
        <p:nvSpPr>
          <p:cNvPr id="16" name="TextBox 15">
            <a:extLst>
              <a:ext uri="{FF2B5EF4-FFF2-40B4-BE49-F238E27FC236}">
                <a16:creationId xmlns:a16="http://schemas.microsoft.com/office/drawing/2014/main" id="{C5C73858-F453-4560-9951-6F96DB199B06}"/>
              </a:ext>
            </a:extLst>
          </p:cNvPr>
          <p:cNvSpPr txBox="1"/>
          <p:nvPr/>
        </p:nvSpPr>
        <p:spPr>
          <a:xfrm>
            <a:off x="1016000" y="2540000"/>
            <a:ext cx="10160000" cy="889000"/>
          </a:xfrm>
          <a:prstGeom prst="rect">
            <a:avLst/>
          </a:prstGeom>
          <a:noFill/>
        </p:spPr>
        <p:txBody>
          <a:bodyPr vertOverflow="overflow" vert="horz" wrap="square" rtlCol="0" anchor="t">
            <a:noAutofit/>
          </a:bodyPr>
          <a:lstStyle/>
          <a:p>
            <a:pPr algn="l"/>
            <a:r>
              <a:rPr lang="en-CA" sz="5200" b="1">
                <a:solidFill>
                  <a:srgbClr val="00E676"/>
                </a:solidFill>
              </a:rPr>
              <a:t>RECHARGE IT. ⚡</a:t>
            </a:r>
          </a:p>
        </p:txBody>
      </p:sp>
      <p:sp>
        <p:nvSpPr>
          <p:cNvPr id="17" name="TextBox 16">
            <a:extLst>
              <a:ext uri="{FF2B5EF4-FFF2-40B4-BE49-F238E27FC236}">
                <a16:creationId xmlns:a16="http://schemas.microsoft.com/office/drawing/2014/main" id="{2968E22E-DC67-4F75-8D6E-8EBB3E21AB06}"/>
              </a:ext>
            </a:extLst>
          </p:cNvPr>
          <p:cNvSpPr txBox="1"/>
          <p:nvPr/>
        </p:nvSpPr>
        <p:spPr>
          <a:xfrm>
            <a:off x="1905000" y="3683000"/>
            <a:ext cx="8382000" cy="508000"/>
          </a:xfrm>
          <a:prstGeom prst="rect">
            <a:avLst/>
          </a:prstGeom>
          <a:noFill/>
        </p:spPr>
        <p:txBody>
          <a:bodyPr vertOverflow="overflow" vert="horz" wrap="square" rtlCol="0" anchor="t">
            <a:noAutofit/>
          </a:bodyPr>
          <a:lstStyle/>
          <a:p>
            <a:pPr algn="l"/>
            <a:r>
              <a:rPr lang="en-US" sz="2200">
                <a:solidFill>
                  <a:srgbClr val="B0B0B0"/>
                </a:solidFill>
              </a:rPr>
              <a:t>How old EV batteries are getting a sick second life</a:t>
            </a:r>
            <a:endParaRPr lang="en-CA" sz="2200">
              <a:solidFill>
                <a:srgbClr val="B0B0B0"/>
              </a:solidFill>
            </a:endParaRPr>
          </a:p>
        </p:txBody>
      </p:sp>
      <p:sp>
        <p:nvSpPr>
          <p:cNvPr id="19" name="TextBox 18">
            <a:extLst>
              <a:ext uri="{FF2B5EF4-FFF2-40B4-BE49-F238E27FC236}">
                <a16:creationId xmlns:a16="http://schemas.microsoft.com/office/drawing/2014/main" id="{C4AA3858-7EA1-441D-8E98-38695602F176}"/>
              </a:ext>
            </a:extLst>
          </p:cNvPr>
          <p:cNvSpPr txBox="1"/>
          <p:nvPr/>
        </p:nvSpPr>
        <p:spPr>
          <a:xfrm>
            <a:off x="2286000" y="4572000"/>
            <a:ext cx="7620000" cy="381000"/>
          </a:xfrm>
          <a:prstGeom prst="rect">
            <a:avLst/>
          </a:prstGeom>
          <a:noFill/>
        </p:spPr>
        <p:txBody>
          <a:bodyPr vertOverflow="overflow" vert="horz" wrap="square" rtlCol="0" anchor="t">
            <a:noAutofit/>
          </a:bodyPr>
          <a:lstStyle/>
          <a:p>
            <a:pPr algn="l"/>
            <a:r>
              <a:rPr lang="en-CA" sz="1600" b="1">
                <a:solidFill>
                  <a:srgbClr val="505050"/>
                </a:solidFill>
              </a:rPr>
              <a:t>#SecondLifeBatteries  #CleanEnergy  #NoWaste</a:t>
            </a:r>
          </a:p>
        </p:txBody>
      </p:sp>
      <p:pic>
        <p:nvPicPr>
          <p:cNvPr id="20" name="Graphic 20" descr="Electric vehicle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16500" y="5080000"/>
            <a:ext cx="762000" cy="762000"/>
          </a:xfrm>
          <a:prstGeom prst="rect">
            <a:avLst/>
          </a:prstGeom>
        </p:spPr>
      </p:pic>
      <p:pic>
        <p:nvPicPr>
          <p:cNvPr id="21" name="Graphic 21" descr="Battery icon"/>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50000" y="5080000"/>
            <a:ext cx="762000" cy="762000"/>
          </a:xfrm>
          <a:prstGeom prst="rect">
            <a:avLst/>
          </a:prstGeom>
        </p:spPr>
      </p:pic>
    </p:spTree>
    <p:extLst>
      <p:ext uri="{BB962C8B-B14F-4D97-AF65-F5344CB8AC3E}">
        <p14:creationId xmlns:p14="http://schemas.microsoft.com/office/powerpoint/2010/main" val="480201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C0AE1F-8396-4AFA-BE6A-539BBB6E53CC}"/>
              </a:ext>
            </a:extLst>
          </p:cNvPr>
          <p:cNvSpPr txBox="1"/>
          <p:nvPr/>
        </p:nvSpPr>
        <p:spPr>
          <a:xfrm>
            <a:off x="571500" y="254000"/>
            <a:ext cx="6350000" cy="571500"/>
          </a:xfrm>
          <a:prstGeom prst="rect">
            <a:avLst/>
          </a:prstGeom>
          <a:noFill/>
        </p:spPr>
        <p:txBody>
          <a:bodyPr vertOverflow="overflow" vert="horz" wrap="square" rtlCol="0" anchor="t">
            <a:noAutofit/>
          </a:bodyPr>
          <a:lstStyle/>
          <a:p>
            <a:pPr algn="l"/>
            <a:r>
              <a:rPr lang="en-CA" sz="2800" b="1">
                <a:solidFill>
                  <a:srgbClr val="F0F0F0"/>
                </a:solidFill>
              </a:rPr>
              <a:t>Battery Degradation Overview</a:t>
            </a:r>
          </a:p>
        </p:txBody>
      </p:sp>
      <p:sp>
        <p:nvSpPr>
          <p:cNvPr id="3" name="Rectangle 2">
            <a:extLst>
              <a:ext uri="{FF2B5EF4-FFF2-40B4-BE49-F238E27FC236}">
                <a16:creationId xmlns:a16="http://schemas.microsoft.com/office/drawing/2014/main" id="{D1126AED-CBA3-48BA-B40B-68BCFFD8C894}"/>
              </a:ext>
            </a:extLst>
          </p:cNvPr>
          <p:cNvSpPr/>
          <p:nvPr/>
        </p:nvSpPr>
        <p:spPr>
          <a:xfrm>
            <a:off x="571500" y="863600"/>
            <a:ext cx="889000" cy="50800"/>
          </a:xfrm>
          <a:prstGeom prst="rect">
            <a:avLst/>
          </a:prstGeom>
          <a:solidFill>
            <a:srgbClr val="00E67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7" name="Rectangle: Rounded Corners 6">
            <a:extLst>
              <a:ext uri="{FF2B5EF4-FFF2-40B4-BE49-F238E27FC236}">
                <a16:creationId xmlns:a16="http://schemas.microsoft.com/office/drawing/2014/main" id="{EA538C88-B97F-4349-A860-ED6AEA4B2305}"/>
              </a:ext>
            </a:extLst>
          </p:cNvPr>
          <p:cNvSpPr/>
          <p:nvPr/>
        </p:nvSpPr>
        <p:spPr>
          <a:xfrm>
            <a:off x="571500" y="1143000"/>
            <a:ext cx="3556000" cy="2540000"/>
          </a:xfrm>
          <a:prstGeom prst="roundRect">
            <a:avLst/>
          </a:prstGeom>
          <a:solidFill>
            <a:srgbClr val="1E243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8" name="TextBox 7">
            <a:extLst>
              <a:ext uri="{FF2B5EF4-FFF2-40B4-BE49-F238E27FC236}">
                <a16:creationId xmlns:a16="http://schemas.microsoft.com/office/drawing/2014/main" id="{ACBAE8EE-6A2E-47DD-A675-6CF981CF7C5F}"/>
              </a:ext>
            </a:extLst>
          </p:cNvPr>
          <p:cNvSpPr txBox="1"/>
          <p:nvPr/>
        </p:nvSpPr>
        <p:spPr>
          <a:xfrm>
            <a:off x="698500" y="1333500"/>
            <a:ext cx="3302000" cy="825500"/>
          </a:xfrm>
          <a:prstGeom prst="rect">
            <a:avLst/>
          </a:prstGeom>
          <a:noFill/>
        </p:spPr>
        <p:txBody>
          <a:bodyPr vertOverflow="overflow" vert="horz" wrap="square" rtlCol="0" anchor="t">
            <a:noAutofit/>
          </a:bodyPr>
          <a:lstStyle/>
          <a:p>
            <a:pPr algn="l"/>
            <a:r>
              <a:rPr lang="en-CA" sz="4400" b="1">
                <a:solidFill>
                  <a:srgbClr val="00E676"/>
                </a:solidFill>
              </a:rPr>
              <a:t>70–80%</a:t>
            </a:r>
          </a:p>
        </p:txBody>
      </p:sp>
      <p:sp>
        <p:nvSpPr>
          <p:cNvPr id="9" name="TextBox 8">
            <a:extLst>
              <a:ext uri="{FF2B5EF4-FFF2-40B4-BE49-F238E27FC236}">
                <a16:creationId xmlns:a16="http://schemas.microsoft.com/office/drawing/2014/main" id="{2CAF9B0B-E233-447D-958D-65FE8150931E}"/>
              </a:ext>
            </a:extLst>
          </p:cNvPr>
          <p:cNvSpPr txBox="1"/>
          <p:nvPr/>
        </p:nvSpPr>
        <p:spPr>
          <a:xfrm>
            <a:off x="698500" y="2133600"/>
            <a:ext cx="3302000" cy="381000"/>
          </a:xfrm>
          <a:prstGeom prst="rect">
            <a:avLst/>
          </a:prstGeom>
          <a:noFill/>
        </p:spPr>
        <p:txBody>
          <a:bodyPr vertOverflow="overflow" vert="horz" wrap="square" rtlCol="0" anchor="t">
            <a:noAutofit/>
          </a:bodyPr>
          <a:lstStyle/>
          <a:p>
            <a:pPr algn="l"/>
            <a:r>
              <a:rPr lang="en-CA">
                <a:solidFill>
                  <a:srgbClr val="D0D0D0"/>
                </a:solidFill>
              </a:rPr>
              <a:t>State of Health</a:t>
            </a:r>
          </a:p>
        </p:txBody>
      </p:sp>
      <p:sp>
        <p:nvSpPr>
          <p:cNvPr id="10" name="TextBox 9">
            <a:extLst>
              <a:ext uri="{FF2B5EF4-FFF2-40B4-BE49-F238E27FC236}">
                <a16:creationId xmlns:a16="http://schemas.microsoft.com/office/drawing/2014/main" id="{646D8D0A-EE57-4447-B05C-BE69EB7E25C4}"/>
              </a:ext>
            </a:extLst>
          </p:cNvPr>
          <p:cNvSpPr txBox="1"/>
          <p:nvPr/>
        </p:nvSpPr>
        <p:spPr>
          <a:xfrm>
            <a:off x="698500" y="2540000"/>
            <a:ext cx="3302000" cy="698500"/>
          </a:xfrm>
          <a:prstGeom prst="rect">
            <a:avLst/>
          </a:prstGeom>
          <a:noFill/>
        </p:spPr>
        <p:txBody>
          <a:bodyPr vertOverflow="overflow" vert="horz" wrap="square" rtlCol="0" anchor="t">
            <a:noAutofit/>
          </a:bodyPr>
          <a:lstStyle/>
          <a:p>
            <a:pPr algn="l"/>
            <a:r>
              <a:rPr lang="en-US" sz="1400">
                <a:solidFill>
                  <a:srgbClr val="808080"/>
                </a:solidFill>
              </a:rPr>
              <a:t>End-of-automotive-life threshold
— still viable for stationary storage</a:t>
            </a:r>
            <a:endParaRPr lang="en-CA" sz="1400">
              <a:solidFill>
                <a:srgbClr val="808080"/>
              </a:solidFill>
            </a:endParaRPr>
          </a:p>
        </p:txBody>
      </p:sp>
      <p:sp>
        <p:nvSpPr>
          <p:cNvPr id="11" name="Rectangle: Rounded Corners 10">
            <a:extLst>
              <a:ext uri="{FF2B5EF4-FFF2-40B4-BE49-F238E27FC236}">
                <a16:creationId xmlns:a16="http://schemas.microsoft.com/office/drawing/2014/main" id="{873E065A-DDA6-4768-8A43-86289511D7B6}"/>
              </a:ext>
            </a:extLst>
          </p:cNvPr>
          <p:cNvSpPr/>
          <p:nvPr/>
        </p:nvSpPr>
        <p:spPr>
          <a:xfrm>
            <a:off x="571500" y="3937000"/>
            <a:ext cx="3683000" cy="1270000"/>
          </a:xfrm>
          <a:prstGeom prst="roundRect">
            <a:avLst/>
          </a:prstGeom>
          <a:solidFill>
            <a:srgbClr val="1E243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2" name="TextBox 11">
            <a:extLst>
              <a:ext uri="{FF2B5EF4-FFF2-40B4-BE49-F238E27FC236}">
                <a16:creationId xmlns:a16="http://schemas.microsoft.com/office/drawing/2014/main" id="{27552E31-1A0E-4550-865B-C984713B258B}"/>
              </a:ext>
            </a:extLst>
          </p:cNvPr>
          <p:cNvSpPr txBox="1"/>
          <p:nvPr/>
        </p:nvSpPr>
        <p:spPr>
          <a:xfrm>
            <a:off x="635000" y="4038600"/>
            <a:ext cx="3556000" cy="482600"/>
          </a:xfrm>
          <a:prstGeom prst="rect">
            <a:avLst/>
          </a:prstGeom>
          <a:noFill/>
        </p:spPr>
        <p:txBody>
          <a:bodyPr vertOverflow="overflow" vert="horz" wrap="square" rtlCol="0" anchor="t">
            <a:noAutofit/>
          </a:bodyPr>
          <a:lstStyle/>
          <a:p>
            <a:pPr algn="ctr"/>
            <a:r>
              <a:rPr lang="en-US" sz="2200" b="1" dirty="0">
                <a:solidFill>
                  <a:srgbClr val="FFD600"/>
                </a:solidFill>
                <a:latin typeface="Montserrat"/>
              </a:rPr>
              <a:t>8–15 yrs</a:t>
            </a:r>
            <a:r>
              <a:rPr lang="en-US" sz="1600" dirty="0">
                <a:solidFill>
                  <a:srgbClr val="505050"/>
                </a:solidFill>
                <a:latin typeface="Source Sans Pro"/>
              </a:rPr>
              <a:t>  |  </a:t>
            </a:r>
            <a:r>
              <a:rPr lang="en-US" sz="2200" b="1" dirty="0">
                <a:solidFill>
                  <a:srgbClr val="00B0FF"/>
                </a:solidFill>
                <a:latin typeface="Montserrat"/>
              </a:rPr>
              <a:t>150–300k km</a:t>
            </a:r>
          </a:p>
        </p:txBody>
      </p:sp>
      <p:sp>
        <p:nvSpPr>
          <p:cNvPr id="14" name="TextBox 13">
            <a:extLst>
              <a:ext uri="{FF2B5EF4-FFF2-40B4-BE49-F238E27FC236}">
                <a16:creationId xmlns:a16="http://schemas.microsoft.com/office/drawing/2014/main" id="{C807D4F0-9FC3-4E2D-BACA-72F4CE0A9C40}"/>
              </a:ext>
            </a:extLst>
          </p:cNvPr>
          <p:cNvSpPr txBox="1"/>
          <p:nvPr/>
        </p:nvSpPr>
        <p:spPr>
          <a:xfrm>
            <a:off x="698500" y="4572000"/>
            <a:ext cx="3429000" cy="406400"/>
          </a:xfrm>
          <a:prstGeom prst="rect">
            <a:avLst/>
          </a:prstGeom>
          <a:noFill/>
        </p:spPr>
        <p:txBody>
          <a:bodyPr vertOverflow="overflow" vert="horz" wrap="square" rtlCol="0" anchor="t">
            <a:noAutofit/>
          </a:bodyPr>
          <a:lstStyle/>
          <a:p>
            <a:pPr algn="l"/>
            <a:r>
              <a:rPr lang="en-US" sz="1400">
                <a:solidFill>
                  <a:srgbClr val="808080"/>
                </a:solidFill>
              </a:rPr>
              <a:t>Typical EV battery lifespan before second life eligibility</a:t>
            </a:r>
            <a:endParaRPr lang="en-CA" sz="1400">
              <a:solidFill>
                <a:srgbClr val="808080"/>
              </a:solidFill>
            </a:endParaRPr>
          </a:p>
        </p:txBody>
      </p:sp>
      <p:sp>
        <p:nvSpPr>
          <p:cNvPr id="15" name="Rectangle: Rounded Corners 14">
            <a:extLst>
              <a:ext uri="{FF2B5EF4-FFF2-40B4-BE49-F238E27FC236}">
                <a16:creationId xmlns:a16="http://schemas.microsoft.com/office/drawing/2014/main" id="{94633AB4-F97F-43EC-B071-FB5FDF1ADC5C}"/>
              </a:ext>
            </a:extLst>
          </p:cNvPr>
          <p:cNvSpPr/>
          <p:nvPr/>
        </p:nvSpPr>
        <p:spPr>
          <a:xfrm>
            <a:off x="4572000" y="1143000"/>
            <a:ext cx="7112000" cy="1092200"/>
          </a:xfrm>
          <a:prstGeom prst="roundRect">
            <a:avLst/>
          </a:prstGeom>
          <a:solidFill>
            <a:srgbClr val="1E243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6" name="Rectangle 15">
            <a:extLst>
              <a:ext uri="{FF2B5EF4-FFF2-40B4-BE49-F238E27FC236}">
                <a16:creationId xmlns:a16="http://schemas.microsoft.com/office/drawing/2014/main" id="{3683436B-43FF-47E0-892A-18BC8A199D0F}"/>
              </a:ext>
            </a:extLst>
          </p:cNvPr>
          <p:cNvSpPr/>
          <p:nvPr/>
        </p:nvSpPr>
        <p:spPr>
          <a:xfrm>
            <a:off x="4572000" y="1143000"/>
            <a:ext cx="63500" cy="1092200"/>
          </a:xfrm>
          <a:prstGeom prst="rect">
            <a:avLst/>
          </a:prstGeom>
          <a:solidFill>
            <a:srgbClr val="FF6D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7" name="TextBox 16">
            <a:extLst>
              <a:ext uri="{FF2B5EF4-FFF2-40B4-BE49-F238E27FC236}">
                <a16:creationId xmlns:a16="http://schemas.microsoft.com/office/drawing/2014/main" id="{C21E0C1C-B6A9-4BAA-8FAC-B7DB185B3A1C}"/>
              </a:ext>
            </a:extLst>
          </p:cNvPr>
          <p:cNvSpPr txBox="1"/>
          <p:nvPr/>
        </p:nvSpPr>
        <p:spPr>
          <a:xfrm>
            <a:off x="5461000" y="1270000"/>
            <a:ext cx="6032500" cy="355600"/>
          </a:xfrm>
          <a:prstGeom prst="rect">
            <a:avLst/>
          </a:prstGeom>
          <a:noFill/>
        </p:spPr>
        <p:txBody>
          <a:bodyPr vertOverflow="overflow" vert="horz" wrap="square" rtlCol="0" anchor="t">
            <a:noAutofit/>
          </a:bodyPr>
          <a:lstStyle/>
          <a:p>
            <a:pPr algn="l"/>
            <a:r>
              <a:rPr lang="en-CA" b="1">
                <a:solidFill>
                  <a:srgbClr val="FF6D00"/>
                </a:solidFill>
              </a:rPr>
              <a:t>Capacity Fade Mechanisms</a:t>
            </a:r>
          </a:p>
        </p:txBody>
      </p:sp>
      <p:sp>
        <p:nvSpPr>
          <p:cNvPr id="18" name="TextBox 17">
            <a:extLst>
              <a:ext uri="{FF2B5EF4-FFF2-40B4-BE49-F238E27FC236}">
                <a16:creationId xmlns:a16="http://schemas.microsoft.com/office/drawing/2014/main" id="{5BF54592-7AA0-40F7-88F2-3CAB1DFD388D}"/>
              </a:ext>
            </a:extLst>
          </p:cNvPr>
          <p:cNvSpPr txBox="1"/>
          <p:nvPr/>
        </p:nvSpPr>
        <p:spPr>
          <a:xfrm>
            <a:off x="5461000" y="1651000"/>
            <a:ext cx="6032500" cy="508000"/>
          </a:xfrm>
          <a:prstGeom prst="rect">
            <a:avLst/>
          </a:prstGeom>
          <a:noFill/>
        </p:spPr>
        <p:txBody>
          <a:bodyPr vertOverflow="overflow" vert="horz" wrap="square" rtlCol="0" anchor="t">
            <a:noAutofit/>
          </a:bodyPr>
          <a:lstStyle/>
          <a:p>
            <a:pPr algn="l"/>
            <a:r>
              <a:rPr lang="en-US" sz="1400">
                <a:solidFill>
                  <a:srgbClr val="A0A0A0"/>
                </a:solidFill>
              </a:rPr>
              <a:t>SEI layer growth, lithium plating, and active material loss reduce usable capacity over time</a:t>
            </a:r>
            <a:endParaRPr lang="en-CA" sz="1400">
              <a:solidFill>
                <a:srgbClr val="A0A0A0"/>
              </a:solidFill>
            </a:endParaRPr>
          </a:p>
        </p:txBody>
      </p:sp>
      <p:sp>
        <p:nvSpPr>
          <p:cNvPr id="19" name="Rectangle: Rounded Corners 18">
            <a:extLst>
              <a:ext uri="{FF2B5EF4-FFF2-40B4-BE49-F238E27FC236}">
                <a16:creationId xmlns:a16="http://schemas.microsoft.com/office/drawing/2014/main" id="{6633C650-0DCE-4C15-87DE-1EEEC1F161E2}"/>
              </a:ext>
            </a:extLst>
          </p:cNvPr>
          <p:cNvSpPr/>
          <p:nvPr/>
        </p:nvSpPr>
        <p:spPr>
          <a:xfrm>
            <a:off x="4572000" y="2425700"/>
            <a:ext cx="7112000" cy="1092200"/>
          </a:xfrm>
          <a:prstGeom prst="roundRect">
            <a:avLst/>
          </a:prstGeom>
          <a:solidFill>
            <a:srgbClr val="1E243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20" name="Rectangle 19">
            <a:extLst>
              <a:ext uri="{FF2B5EF4-FFF2-40B4-BE49-F238E27FC236}">
                <a16:creationId xmlns:a16="http://schemas.microsoft.com/office/drawing/2014/main" id="{CAD1E474-3CCB-4DC5-B591-6BB1F7F49D39}"/>
              </a:ext>
            </a:extLst>
          </p:cNvPr>
          <p:cNvSpPr/>
          <p:nvPr/>
        </p:nvSpPr>
        <p:spPr>
          <a:xfrm>
            <a:off x="4572000" y="2425700"/>
            <a:ext cx="63500" cy="1092200"/>
          </a:xfrm>
          <a:prstGeom prst="rect">
            <a:avLst/>
          </a:prstGeom>
          <a:solidFill>
            <a:srgbClr val="00B0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21" name="TextBox 20">
            <a:extLst>
              <a:ext uri="{FF2B5EF4-FFF2-40B4-BE49-F238E27FC236}">
                <a16:creationId xmlns:a16="http://schemas.microsoft.com/office/drawing/2014/main" id="{4AC51810-D9A7-4F87-92B9-4922DC829845}"/>
              </a:ext>
            </a:extLst>
          </p:cNvPr>
          <p:cNvSpPr txBox="1"/>
          <p:nvPr/>
        </p:nvSpPr>
        <p:spPr>
          <a:xfrm>
            <a:off x="5461000" y="2552700"/>
            <a:ext cx="6032500" cy="355600"/>
          </a:xfrm>
          <a:prstGeom prst="rect">
            <a:avLst/>
          </a:prstGeom>
          <a:noFill/>
        </p:spPr>
        <p:txBody>
          <a:bodyPr vertOverflow="overflow" vert="horz" wrap="square" rtlCol="0" anchor="t">
            <a:noAutofit/>
          </a:bodyPr>
          <a:lstStyle/>
          <a:p>
            <a:pPr algn="l"/>
            <a:r>
              <a:rPr lang="en-CA" b="1">
                <a:solidFill>
                  <a:srgbClr val="00B0FF"/>
                </a:solidFill>
              </a:rPr>
              <a:t>Calendar &amp; Cycle Aging</a:t>
            </a:r>
          </a:p>
        </p:txBody>
      </p:sp>
      <p:sp>
        <p:nvSpPr>
          <p:cNvPr id="22" name="TextBox 21">
            <a:extLst>
              <a:ext uri="{FF2B5EF4-FFF2-40B4-BE49-F238E27FC236}">
                <a16:creationId xmlns:a16="http://schemas.microsoft.com/office/drawing/2014/main" id="{A3F52140-6224-426F-B0EF-46C6FA8E7717}"/>
              </a:ext>
            </a:extLst>
          </p:cNvPr>
          <p:cNvSpPr txBox="1"/>
          <p:nvPr/>
        </p:nvSpPr>
        <p:spPr>
          <a:xfrm>
            <a:off x="5461000" y="2933700"/>
            <a:ext cx="6032500" cy="508000"/>
          </a:xfrm>
          <a:prstGeom prst="rect">
            <a:avLst/>
          </a:prstGeom>
          <a:noFill/>
        </p:spPr>
        <p:txBody>
          <a:bodyPr vertOverflow="overflow" vert="horz" wrap="square" rtlCol="0" anchor="t">
            <a:noAutofit/>
          </a:bodyPr>
          <a:lstStyle/>
          <a:p>
            <a:pPr algn="l"/>
            <a:r>
              <a:rPr lang="en-US" sz="1400">
                <a:solidFill>
                  <a:srgbClr val="A0A0A0"/>
                </a:solidFill>
              </a:rPr>
              <a:t>Degradation continues even when idle — cycling and temperature extremes accelerate the process</a:t>
            </a:r>
            <a:endParaRPr lang="en-CA" sz="1400">
              <a:solidFill>
                <a:srgbClr val="A0A0A0"/>
              </a:solidFill>
            </a:endParaRPr>
          </a:p>
        </p:txBody>
      </p:sp>
      <p:sp>
        <p:nvSpPr>
          <p:cNvPr id="23" name="Rectangle: Rounded Corners 22">
            <a:extLst>
              <a:ext uri="{FF2B5EF4-FFF2-40B4-BE49-F238E27FC236}">
                <a16:creationId xmlns:a16="http://schemas.microsoft.com/office/drawing/2014/main" id="{0EB81559-6DCF-4682-892E-AD434F9E2CDC}"/>
              </a:ext>
            </a:extLst>
          </p:cNvPr>
          <p:cNvSpPr/>
          <p:nvPr/>
        </p:nvSpPr>
        <p:spPr>
          <a:xfrm>
            <a:off x="4572000" y="3708400"/>
            <a:ext cx="7112000" cy="1092200"/>
          </a:xfrm>
          <a:prstGeom prst="roundRect">
            <a:avLst/>
          </a:prstGeom>
          <a:solidFill>
            <a:srgbClr val="1E243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24" name="Rectangle 23">
            <a:extLst>
              <a:ext uri="{FF2B5EF4-FFF2-40B4-BE49-F238E27FC236}">
                <a16:creationId xmlns:a16="http://schemas.microsoft.com/office/drawing/2014/main" id="{9DFF92D5-6FA5-4FD1-A83D-BB204E9919E6}"/>
              </a:ext>
            </a:extLst>
          </p:cNvPr>
          <p:cNvSpPr/>
          <p:nvPr/>
        </p:nvSpPr>
        <p:spPr>
          <a:xfrm>
            <a:off x="4572000" y="3708400"/>
            <a:ext cx="63500" cy="1092200"/>
          </a:xfrm>
          <a:prstGeom prst="rect">
            <a:avLst/>
          </a:prstGeom>
          <a:solidFill>
            <a:srgbClr val="00E67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25" name="TextBox 24">
            <a:extLst>
              <a:ext uri="{FF2B5EF4-FFF2-40B4-BE49-F238E27FC236}">
                <a16:creationId xmlns:a16="http://schemas.microsoft.com/office/drawing/2014/main" id="{4736CD57-81E7-4E49-B8CB-F87ACEC6FBF8}"/>
              </a:ext>
            </a:extLst>
          </p:cNvPr>
          <p:cNvSpPr txBox="1"/>
          <p:nvPr/>
        </p:nvSpPr>
        <p:spPr>
          <a:xfrm>
            <a:off x="5461000" y="3835400"/>
            <a:ext cx="6032500" cy="355600"/>
          </a:xfrm>
          <a:prstGeom prst="rect">
            <a:avLst/>
          </a:prstGeom>
          <a:noFill/>
        </p:spPr>
        <p:txBody>
          <a:bodyPr vertOverflow="overflow" vert="horz" wrap="square" rtlCol="0" anchor="t">
            <a:noAutofit/>
          </a:bodyPr>
          <a:lstStyle/>
          <a:p>
            <a:pPr algn="l"/>
            <a:r>
              <a:rPr lang="en-CA" b="1">
                <a:solidFill>
                  <a:srgbClr val="00E676"/>
                </a:solidFill>
              </a:rPr>
              <a:t>Second Life Viability</a:t>
            </a:r>
          </a:p>
        </p:txBody>
      </p:sp>
      <p:sp>
        <p:nvSpPr>
          <p:cNvPr id="26" name="TextBox 25">
            <a:extLst>
              <a:ext uri="{FF2B5EF4-FFF2-40B4-BE49-F238E27FC236}">
                <a16:creationId xmlns:a16="http://schemas.microsoft.com/office/drawing/2014/main" id="{F977773D-7798-447B-9283-64D5C1D16817}"/>
              </a:ext>
            </a:extLst>
          </p:cNvPr>
          <p:cNvSpPr txBox="1"/>
          <p:nvPr/>
        </p:nvSpPr>
        <p:spPr>
          <a:xfrm>
            <a:off x="5461000" y="4216400"/>
            <a:ext cx="6032500" cy="508000"/>
          </a:xfrm>
          <a:prstGeom prst="rect">
            <a:avLst/>
          </a:prstGeom>
          <a:noFill/>
        </p:spPr>
        <p:txBody>
          <a:bodyPr vertOverflow="overflow" vert="horz" wrap="square" rtlCol="0" anchor="t">
            <a:noAutofit/>
          </a:bodyPr>
          <a:lstStyle/>
          <a:p>
            <a:pPr algn="l"/>
            <a:r>
              <a:rPr lang="en-US" sz="1400">
                <a:solidFill>
                  <a:srgbClr val="A0A0A0"/>
                </a:solidFill>
              </a:rPr>
              <a:t>Remaining capacity is insufficient for EV range demands but ideal for stationary energy storage</a:t>
            </a:r>
            <a:endParaRPr lang="en-CA" sz="1400">
              <a:solidFill>
                <a:srgbClr val="A0A0A0"/>
              </a:solidFill>
            </a:endParaRPr>
          </a:p>
        </p:txBody>
      </p:sp>
      <p:sp>
        <p:nvSpPr>
          <p:cNvPr id="27" name="Arrow: Pentagon 26">
            <a:extLst>
              <a:ext uri="{FF2B5EF4-FFF2-40B4-BE49-F238E27FC236}">
                <a16:creationId xmlns:a16="http://schemas.microsoft.com/office/drawing/2014/main" id="{A6E717FD-A394-4129-AFBE-D4BB37CA8CBA}"/>
              </a:ext>
            </a:extLst>
          </p:cNvPr>
          <p:cNvSpPr/>
          <p:nvPr/>
        </p:nvSpPr>
        <p:spPr>
          <a:xfrm>
            <a:off x="635000" y="5461000"/>
            <a:ext cx="3556000" cy="558800"/>
          </a:xfrm>
          <a:prstGeom prst="homePlate">
            <a:avLst/>
          </a:prstGeom>
          <a:solidFill>
            <a:srgbClr val="00B0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CA" sz="1600" b="1">
                <a:solidFill>
                  <a:srgbClr val="0D1117"/>
                </a:solidFill>
              </a:rPr>
              <a:t>First Life (EV)</a:t>
            </a:r>
          </a:p>
        </p:txBody>
      </p:sp>
      <p:sp>
        <p:nvSpPr>
          <p:cNvPr id="28" name="Arrow: Pentagon 27">
            <a:extLst>
              <a:ext uri="{FF2B5EF4-FFF2-40B4-BE49-F238E27FC236}">
                <a16:creationId xmlns:a16="http://schemas.microsoft.com/office/drawing/2014/main" id="{B93C9D53-3FE8-425A-86E3-CA07FCD47BC6}"/>
              </a:ext>
            </a:extLst>
          </p:cNvPr>
          <p:cNvSpPr/>
          <p:nvPr/>
        </p:nvSpPr>
        <p:spPr>
          <a:xfrm>
            <a:off x="4381500" y="5461000"/>
            <a:ext cx="3556000" cy="558800"/>
          </a:xfrm>
          <a:prstGeom prst="homePlate">
            <a:avLst/>
          </a:prstGeom>
          <a:solidFill>
            <a:srgbClr val="FF6D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CA" sz="1600" b="1">
                <a:solidFill>
                  <a:srgbClr val="0D1117"/>
                </a:solidFill>
              </a:rPr>
              <a:t>Degradation Zone</a:t>
            </a:r>
          </a:p>
        </p:txBody>
      </p:sp>
      <p:sp>
        <p:nvSpPr>
          <p:cNvPr id="29" name="Rectangle: Rounded Corners 28">
            <a:extLst>
              <a:ext uri="{FF2B5EF4-FFF2-40B4-BE49-F238E27FC236}">
                <a16:creationId xmlns:a16="http://schemas.microsoft.com/office/drawing/2014/main" id="{29123B44-454E-4777-8807-D1DED073BD04}"/>
              </a:ext>
            </a:extLst>
          </p:cNvPr>
          <p:cNvSpPr/>
          <p:nvPr/>
        </p:nvSpPr>
        <p:spPr>
          <a:xfrm>
            <a:off x="8128000" y="5461000"/>
            <a:ext cx="3556000" cy="558800"/>
          </a:xfrm>
          <a:prstGeom prst="roundRect">
            <a:avLst/>
          </a:prstGeom>
          <a:solidFill>
            <a:srgbClr val="00E67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CA" sz="1600" b="1">
                <a:solidFill>
                  <a:srgbClr val="0D1117"/>
                </a:solidFill>
              </a:rPr>
              <a:t>Second Life</a:t>
            </a:r>
          </a:p>
        </p:txBody>
      </p:sp>
      <p:pic>
        <p:nvPicPr>
          <p:cNvPr id="30" name="Graphic 30" descr="Capacity fade warning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62500" y="1346200"/>
            <a:ext cx="508000" cy="508000"/>
          </a:xfrm>
          <a:prstGeom prst="rect">
            <a:avLst/>
          </a:prstGeom>
        </p:spPr>
      </p:pic>
      <p:pic>
        <p:nvPicPr>
          <p:cNvPr id="31" name="Graphic 31" descr="Calendar aging clock icon"/>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62500" y="2628900"/>
            <a:ext cx="508000" cy="508000"/>
          </a:xfrm>
          <a:prstGeom prst="rect">
            <a:avLst/>
          </a:prstGeom>
        </p:spPr>
      </p:pic>
      <p:pic>
        <p:nvPicPr>
          <p:cNvPr id="32" name="Graphic 32" descr="Second life viability check icon"/>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62500" y="3911600"/>
            <a:ext cx="508000" cy="508000"/>
          </a:xfrm>
          <a:prstGeom prst="rect">
            <a:avLst/>
          </a:prstGeom>
        </p:spPr>
      </p:pic>
    </p:spTree>
    <p:extLst>
      <p:ext uri="{BB962C8B-B14F-4D97-AF65-F5344CB8AC3E}">
        <p14:creationId xmlns:p14="http://schemas.microsoft.com/office/powerpoint/2010/main" val="2782339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96F80-00E0-1690-3337-830FB05ADDB5}"/>
              </a:ext>
            </a:extLst>
          </p:cNvPr>
          <p:cNvSpPr>
            <a:spLocks noGrp="1"/>
          </p:cNvSpPr>
          <p:nvPr>
            <p:ph type="title"/>
          </p:nvPr>
        </p:nvSpPr>
        <p:spPr>
          <a:xfrm>
            <a:off x="838200" y="254000"/>
            <a:ext cx="10515600" cy="698500"/>
          </a:xfrm>
        </p:spPr>
        <p:txBody>
          <a:bodyPr>
            <a:normAutofit/>
          </a:bodyPr>
          <a:lstStyle/>
          <a:p>
            <a:r>
              <a:rPr lang="en-CA" sz="3200"/>
              <a:t>Repurposing Process</a:t>
            </a:r>
          </a:p>
        </p:txBody>
      </p:sp>
      <p:sp>
        <p:nvSpPr>
          <p:cNvPr id="3" name="Oval 2">
            <a:extLst>
              <a:ext uri="{FF2B5EF4-FFF2-40B4-BE49-F238E27FC236}">
                <a16:creationId xmlns:a16="http://schemas.microsoft.com/office/drawing/2014/main" id="{8F772E39-E64E-4EAB-9027-EE23F0F9C3D7}"/>
              </a:ext>
            </a:extLst>
          </p:cNvPr>
          <p:cNvSpPr/>
          <p:nvPr/>
        </p:nvSpPr>
        <p:spPr>
          <a:xfrm>
            <a:off x="1149350" y="1778000"/>
            <a:ext cx="635000" cy="635000"/>
          </a:xfrm>
          <a:prstGeom prst="ellipse">
            <a:avLst/>
          </a:prstGeom>
          <a:solidFill>
            <a:srgbClr val="00E67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CA" sz="2200" b="1">
                <a:solidFill>
                  <a:srgbClr val="0D1117"/>
                </a:solidFill>
              </a:rPr>
              <a:t>1</a:t>
            </a:r>
          </a:p>
        </p:txBody>
      </p:sp>
      <p:sp>
        <p:nvSpPr>
          <p:cNvPr id="4" name="TextBox 3">
            <a:extLst>
              <a:ext uri="{FF2B5EF4-FFF2-40B4-BE49-F238E27FC236}">
                <a16:creationId xmlns:a16="http://schemas.microsoft.com/office/drawing/2014/main" id="{82D8844F-7B3C-49A5-A77D-FC9F5C12A23E}"/>
              </a:ext>
            </a:extLst>
          </p:cNvPr>
          <p:cNvSpPr txBox="1"/>
          <p:nvPr/>
        </p:nvSpPr>
        <p:spPr>
          <a:xfrm>
            <a:off x="482600" y="2603500"/>
            <a:ext cx="1968500" cy="698500"/>
          </a:xfrm>
          <a:prstGeom prst="rect">
            <a:avLst/>
          </a:prstGeom>
          <a:noFill/>
        </p:spPr>
        <p:txBody>
          <a:bodyPr vertOverflow="overflow" vert="horz" wrap="square" rtlCol="0" anchor="t">
            <a:noAutofit/>
          </a:bodyPr>
          <a:lstStyle/>
          <a:p>
            <a:pPr algn="l"/>
            <a:r>
              <a:rPr lang="en-CA" sz="1600" b="1">
                <a:solidFill>
                  <a:srgbClr val="F0F0F0"/>
                </a:solidFill>
              </a:rPr>
              <a:t>Collection
&amp; Intake</a:t>
            </a:r>
          </a:p>
        </p:txBody>
      </p:sp>
      <p:sp>
        <p:nvSpPr>
          <p:cNvPr id="5" name="TextBox 4">
            <a:extLst>
              <a:ext uri="{FF2B5EF4-FFF2-40B4-BE49-F238E27FC236}">
                <a16:creationId xmlns:a16="http://schemas.microsoft.com/office/drawing/2014/main" id="{149BFE0F-B452-4B64-8697-DA0503B61BBC}"/>
              </a:ext>
            </a:extLst>
          </p:cNvPr>
          <p:cNvSpPr txBox="1"/>
          <p:nvPr/>
        </p:nvSpPr>
        <p:spPr>
          <a:xfrm>
            <a:off x="482600" y="3492500"/>
            <a:ext cx="1968500" cy="825500"/>
          </a:xfrm>
          <a:prstGeom prst="rect">
            <a:avLst/>
          </a:prstGeom>
          <a:noFill/>
        </p:spPr>
        <p:txBody>
          <a:bodyPr vertOverflow="overflow" vert="horz" wrap="square" rtlCol="0" anchor="t">
            <a:noAutofit/>
          </a:bodyPr>
          <a:lstStyle/>
          <a:p>
            <a:pPr algn="l"/>
            <a:r>
              <a:rPr lang="en-US" sz="1400">
                <a:solidFill>
                  <a:srgbClr val="A0A0A0"/>
                </a:solidFill>
              </a:rPr>
              <a:t>Retired packs received,
visual inspection, safety check</a:t>
            </a:r>
            <a:endParaRPr lang="en-CA" sz="1400">
              <a:solidFill>
                <a:srgbClr val="A0A0A0"/>
              </a:solidFill>
            </a:endParaRPr>
          </a:p>
        </p:txBody>
      </p:sp>
      <p:sp>
        <p:nvSpPr>
          <p:cNvPr id="6" name="Arrow: Right 5">
            <a:extLst>
              <a:ext uri="{FF2B5EF4-FFF2-40B4-BE49-F238E27FC236}">
                <a16:creationId xmlns:a16="http://schemas.microsoft.com/office/drawing/2014/main" id="{78E76799-765F-4390-909F-AF4CD6568FB9}"/>
              </a:ext>
            </a:extLst>
          </p:cNvPr>
          <p:cNvSpPr/>
          <p:nvPr/>
        </p:nvSpPr>
        <p:spPr>
          <a:xfrm>
            <a:off x="2476500" y="1993900"/>
            <a:ext cx="203200" cy="203200"/>
          </a:xfrm>
          <a:prstGeom prst="rightArrow">
            <a:avLst/>
          </a:prstGeom>
          <a:solidFill>
            <a:srgbClr val="4040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7" name="Oval 6">
            <a:extLst>
              <a:ext uri="{FF2B5EF4-FFF2-40B4-BE49-F238E27FC236}">
                <a16:creationId xmlns:a16="http://schemas.microsoft.com/office/drawing/2014/main" id="{DABE6AAE-8008-4158-B93B-2E1705C2C325}"/>
              </a:ext>
            </a:extLst>
          </p:cNvPr>
          <p:cNvSpPr/>
          <p:nvPr/>
        </p:nvSpPr>
        <p:spPr>
          <a:xfrm>
            <a:off x="3371850" y="1778000"/>
            <a:ext cx="635000" cy="635000"/>
          </a:xfrm>
          <a:prstGeom prst="ellipse">
            <a:avLst/>
          </a:prstGeom>
          <a:solidFill>
            <a:srgbClr val="00B0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CA" sz="2200" b="1">
                <a:solidFill>
                  <a:srgbClr val="0D1117"/>
                </a:solidFill>
              </a:rPr>
              <a:t>2</a:t>
            </a:r>
          </a:p>
        </p:txBody>
      </p:sp>
      <p:sp>
        <p:nvSpPr>
          <p:cNvPr id="8" name="TextBox 7">
            <a:extLst>
              <a:ext uri="{FF2B5EF4-FFF2-40B4-BE49-F238E27FC236}">
                <a16:creationId xmlns:a16="http://schemas.microsoft.com/office/drawing/2014/main" id="{26F1C39B-2734-4102-ADFD-069694AEE019}"/>
              </a:ext>
            </a:extLst>
          </p:cNvPr>
          <p:cNvSpPr txBox="1"/>
          <p:nvPr/>
        </p:nvSpPr>
        <p:spPr>
          <a:xfrm>
            <a:off x="2705100" y="2603500"/>
            <a:ext cx="1968500" cy="698500"/>
          </a:xfrm>
          <a:prstGeom prst="rect">
            <a:avLst/>
          </a:prstGeom>
          <a:noFill/>
        </p:spPr>
        <p:txBody>
          <a:bodyPr vertOverflow="overflow" vert="horz" wrap="square" rtlCol="0" anchor="t">
            <a:noAutofit/>
          </a:bodyPr>
          <a:lstStyle/>
          <a:p>
            <a:pPr algn="l"/>
            <a:r>
              <a:rPr lang="en-CA" sz="1600" b="1">
                <a:solidFill>
                  <a:srgbClr val="F0F0F0"/>
                </a:solidFill>
              </a:rPr>
              <a:t>Testing
&amp; Grading</a:t>
            </a:r>
          </a:p>
        </p:txBody>
      </p:sp>
      <p:sp>
        <p:nvSpPr>
          <p:cNvPr id="9" name="TextBox 8">
            <a:extLst>
              <a:ext uri="{FF2B5EF4-FFF2-40B4-BE49-F238E27FC236}">
                <a16:creationId xmlns:a16="http://schemas.microsoft.com/office/drawing/2014/main" id="{6FF4FCEB-1043-47BD-8B9D-4192D74513A4}"/>
              </a:ext>
            </a:extLst>
          </p:cNvPr>
          <p:cNvSpPr txBox="1"/>
          <p:nvPr/>
        </p:nvSpPr>
        <p:spPr>
          <a:xfrm>
            <a:off x="2705100" y="3492500"/>
            <a:ext cx="1968500" cy="825500"/>
          </a:xfrm>
          <a:prstGeom prst="rect">
            <a:avLst/>
          </a:prstGeom>
          <a:noFill/>
        </p:spPr>
        <p:txBody>
          <a:bodyPr vertOverflow="overflow" vert="horz" wrap="square" rtlCol="0" anchor="t">
            <a:noAutofit/>
          </a:bodyPr>
          <a:lstStyle/>
          <a:p>
            <a:pPr algn="l"/>
            <a:r>
              <a:rPr lang="en-US" sz="1400">
                <a:solidFill>
                  <a:srgbClr val="A0A0A0"/>
                </a:solidFill>
              </a:rPr>
              <a:t>SOH measurement, EIS,
capacity/impedance testing</a:t>
            </a:r>
            <a:endParaRPr lang="en-CA" sz="1400">
              <a:solidFill>
                <a:srgbClr val="A0A0A0"/>
              </a:solidFill>
            </a:endParaRPr>
          </a:p>
        </p:txBody>
      </p:sp>
      <p:sp>
        <p:nvSpPr>
          <p:cNvPr id="10" name="Arrow: Right 9">
            <a:extLst>
              <a:ext uri="{FF2B5EF4-FFF2-40B4-BE49-F238E27FC236}">
                <a16:creationId xmlns:a16="http://schemas.microsoft.com/office/drawing/2014/main" id="{D3584376-F53F-402D-B2D9-BEF6099FAAB3}"/>
              </a:ext>
            </a:extLst>
          </p:cNvPr>
          <p:cNvSpPr/>
          <p:nvPr/>
        </p:nvSpPr>
        <p:spPr>
          <a:xfrm>
            <a:off x="4699000" y="1993900"/>
            <a:ext cx="203200" cy="203200"/>
          </a:xfrm>
          <a:prstGeom prst="rightArrow">
            <a:avLst/>
          </a:prstGeom>
          <a:solidFill>
            <a:srgbClr val="4040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1" name="Oval 10">
            <a:extLst>
              <a:ext uri="{FF2B5EF4-FFF2-40B4-BE49-F238E27FC236}">
                <a16:creationId xmlns:a16="http://schemas.microsoft.com/office/drawing/2014/main" id="{32A79E9A-FA97-48B8-A0B7-51F9CE2202CA}"/>
              </a:ext>
            </a:extLst>
          </p:cNvPr>
          <p:cNvSpPr/>
          <p:nvPr/>
        </p:nvSpPr>
        <p:spPr>
          <a:xfrm>
            <a:off x="5594350" y="1778000"/>
            <a:ext cx="635000" cy="635000"/>
          </a:xfrm>
          <a:prstGeom prst="ellipse">
            <a:avLst/>
          </a:prstGeom>
          <a:solidFill>
            <a:srgbClr val="7C4D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CA" sz="2200" b="1">
                <a:solidFill>
                  <a:srgbClr val="0D1117"/>
                </a:solidFill>
              </a:rPr>
              <a:t>3</a:t>
            </a:r>
          </a:p>
        </p:txBody>
      </p:sp>
      <p:sp>
        <p:nvSpPr>
          <p:cNvPr id="12" name="TextBox 11">
            <a:extLst>
              <a:ext uri="{FF2B5EF4-FFF2-40B4-BE49-F238E27FC236}">
                <a16:creationId xmlns:a16="http://schemas.microsoft.com/office/drawing/2014/main" id="{61DC7DEA-9410-4EE7-B24F-A2DBE588F3FC}"/>
              </a:ext>
            </a:extLst>
          </p:cNvPr>
          <p:cNvSpPr txBox="1"/>
          <p:nvPr/>
        </p:nvSpPr>
        <p:spPr>
          <a:xfrm>
            <a:off x="4927600" y="2603500"/>
            <a:ext cx="1968500" cy="698500"/>
          </a:xfrm>
          <a:prstGeom prst="rect">
            <a:avLst/>
          </a:prstGeom>
          <a:noFill/>
        </p:spPr>
        <p:txBody>
          <a:bodyPr vertOverflow="overflow" vert="horz" wrap="square" rtlCol="0" anchor="t">
            <a:noAutofit/>
          </a:bodyPr>
          <a:lstStyle/>
          <a:p>
            <a:pPr algn="l"/>
            <a:r>
              <a:rPr lang="en-CA" sz="1600" b="1">
                <a:solidFill>
                  <a:srgbClr val="F0F0F0"/>
                </a:solidFill>
              </a:rPr>
              <a:t>Module
Disassembly</a:t>
            </a:r>
          </a:p>
        </p:txBody>
      </p:sp>
      <p:sp>
        <p:nvSpPr>
          <p:cNvPr id="13" name="TextBox 12">
            <a:extLst>
              <a:ext uri="{FF2B5EF4-FFF2-40B4-BE49-F238E27FC236}">
                <a16:creationId xmlns:a16="http://schemas.microsoft.com/office/drawing/2014/main" id="{C4B024AF-700C-41C0-967B-28BDF9AF441A}"/>
              </a:ext>
            </a:extLst>
          </p:cNvPr>
          <p:cNvSpPr txBox="1"/>
          <p:nvPr/>
        </p:nvSpPr>
        <p:spPr>
          <a:xfrm>
            <a:off x="4927600" y="3492500"/>
            <a:ext cx="1968500" cy="825500"/>
          </a:xfrm>
          <a:prstGeom prst="rect">
            <a:avLst/>
          </a:prstGeom>
          <a:noFill/>
        </p:spPr>
        <p:txBody>
          <a:bodyPr vertOverflow="overflow" vert="horz" wrap="square" rtlCol="0" anchor="t">
            <a:noAutofit/>
          </a:bodyPr>
          <a:lstStyle/>
          <a:p>
            <a:pPr algn="l"/>
            <a:r>
              <a:rPr lang="en-US" sz="1400">
                <a:solidFill>
                  <a:srgbClr val="A0A0A0"/>
                </a:solidFill>
              </a:rPr>
              <a:t>Pack teardown, cell/module
sorting by grade</a:t>
            </a:r>
            <a:endParaRPr lang="en-CA" sz="1400">
              <a:solidFill>
                <a:srgbClr val="A0A0A0"/>
              </a:solidFill>
            </a:endParaRPr>
          </a:p>
        </p:txBody>
      </p:sp>
      <p:sp>
        <p:nvSpPr>
          <p:cNvPr id="14" name="Arrow: Right 13">
            <a:extLst>
              <a:ext uri="{FF2B5EF4-FFF2-40B4-BE49-F238E27FC236}">
                <a16:creationId xmlns:a16="http://schemas.microsoft.com/office/drawing/2014/main" id="{E0928F86-79C9-43D1-AFEA-D69ADC822C22}"/>
              </a:ext>
            </a:extLst>
          </p:cNvPr>
          <p:cNvSpPr/>
          <p:nvPr/>
        </p:nvSpPr>
        <p:spPr>
          <a:xfrm>
            <a:off x="6921500" y="1993900"/>
            <a:ext cx="203200" cy="203200"/>
          </a:xfrm>
          <a:prstGeom prst="rightArrow">
            <a:avLst/>
          </a:prstGeom>
          <a:solidFill>
            <a:srgbClr val="4040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5" name="Oval 14">
            <a:extLst>
              <a:ext uri="{FF2B5EF4-FFF2-40B4-BE49-F238E27FC236}">
                <a16:creationId xmlns:a16="http://schemas.microsoft.com/office/drawing/2014/main" id="{2F81A4C0-3958-4CC5-8992-13D8B71D90E7}"/>
              </a:ext>
            </a:extLst>
          </p:cNvPr>
          <p:cNvSpPr/>
          <p:nvPr/>
        </p:nvSpPr>
        <p:spPr>
          <a:xfrm>
            <a:off x="7816850" y="1778000"/>
            <a:ext cx="635000" cy="635000"/>
          </a:xfrm>
          <a:prstGeom prst="ellipse">
            <a:avLst/>
          </a:prstGeom>
          <a:solidFill>
            <a:srgbClr val="FF6D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CA" sz="2200" b="1">
                <a:solidFill>
                  <a:srgbClr val="0D1117"/>
                </a:solidFill>
              </a:rPr>
              <a:t>4</a:t>
            </a:r>
          </a:p>
        </p:txBody>
      </p:sp>
      <p:sp>
        <p:nvSpPr>
          <p:cNvPr id="16" name="TextBox 15">
            <a:extLst>
              <a:ext uri="{FF2B5EF4-FFF2-40B4-BE49-F238E27FC236}">
                <a16:creationId xmlns:a16="http://schemas.microsoft.com/office/drawing/2014/main" id="{23588D8A-AA8D-4FC2-9531-8C295DDE2C7B}"/>
              </a:ext>
            </a:extLst>
          </p:cNvPr>
          <p:cNvSpPr txBox="1"/>
          <p:nvPr/>
        </p:nvSpPr>
        <p:spPr>
          <a:xfrm>
            <a:off x="7150100" y="2603500"/>
            <a:ext cx="1968500" cy="698500"/>
          </a:xfrm>
          <a:prstGeom prst="rect">
            <a:avLst/>
          </a:prstGeom>
          <a:noFill/>
        </p:spPr>
        <p:txBody>
          <a:bodyPr vertOverflow="overflow" vert="horz" wrap="square" rtlCol="0" anchor="t">
            <a:noAutofit/>
          </a:bodyPr>
          <a:lstStyle/>
          <a:p>
            <a:pPr algn="l"/>
            <a:r>
              <a:rPr lang="en-CA" sz="1600" b="1">
                <a:solidFill>
                  <a:srgbClr val="F0F0F0"/>
                </a:solidFill>
              </a:rPr>
              <a:t>BMS
Integration</a:t>
            </a:r>
          </a:p>
        </p:txBody>
      </p:sp>
      <p:sp>
        <p:nvSpPr>
          <p:cNvPr id="17" name="TextBox 16">
            <a:extLst>
              <a:ext uri="{FF2B5EF4-FFF2-40B4-BE49-F238E27FC236}">
                <a16:creationId xmlns:a16="http://schemas.microsoft.com/office/drawing/2014/main" id="{D595F941-98B3-4181-8CAC-97A655CE295D}"/>
              </a:ext>
            </a:extLst>
          </p:cNvPr>
          <p:cNvSpPr txBox="1"/>
          <p:nvPr/>
        </p:nvSpPr>
        <p:spPr>
          <a:xfrm>
            <a:off x="7150100" y="3492500"/>
            <a:ext cx="1968500" cy="825500"/>
          </a:xfrm>
          <a:prstGeom prst="rect">
            <a:avLst/>
          </a:prstGeom>
          <a:noFill/>
        </p:spPr>
        <p:txBody>
          <a:bodyPr vertOverflow="overflow" vert="horz" wrap="square" rtlCol="0" anchor="t">
            <a:noAutofit/>
          </a:bodyPr>
          <a:lstStyle/>
          <a:p>
            <a:pPr algn="l"/>
            <a:r>
              <a:rPr lang="en-US" sz="1400">
                <a:solidFill>
                  <a:srgbClr val="A0A0A0"/>
                </a:solidFill>
              </a:rPr>
              <a:t>New BMS design, thermal
management, enclosure</a:t>
            </a:r>
            <a:endParaRPr lang="en-CA" sz="1400">
              <a:solidFill>
                <a:srgbClr val="A0A0A0"/>
              </a:solidFill>
            </a:endParaRPr>
          </a:p>
        </p:txBody>
      </p:sp>
      <p:sp>
        <p:nvSpPr>
          <p:cNvPr id="18" name="Arrow: Right 17">
            <a:extLst>
              <a:ext uri="{FF2B5EF4-FFF2-40B4-BE49-F238E27FC236}">
                <a16:creationId xmlns:a16="http://schemas.microsoft.com/office/drawing/2014/main" id="{B48262E4-F8A3-463A-AB17-0803CB9C180D}"/>
              </a:ext>
            </a:extLst>
          </p:cNvPr>
          <p:cNvSpPr/>
          <p:nvPr/>
        </p:nvSpPr>
        <p:spPr>
          <a:xfrm>
            <a:off x="9144000" y="1993900"/>
            <a:ext cx="203200" cy="203200"/>
          </a:xfrm>
          <a:prstGeom prst="rightArrow">
            <a:avLst/>
          </a:prstGeom>
          <a:solidFill>
            <a:srgbClr val="4040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9" name="Oval 18">
            <a:extLst>
              <a:ext uri="{FF2B5EF4-FFF2-40B4-BE49-F238E27FC236}">
                <a16:creationId xmlns:a16="http://schemas.microsoft.com/office/drawing/2014/main" id="{444C7698-8AB0-4B60-AEAF-E9F4A41AAB96}"/>
              </a:ext>
            </a:extLst>
          </p:cNvPr>
          <p:cNvSpPr/>
          <p:nvPr/>
        </p:nvSpPr>
        <p:spPr>
          <a:xfrm>
            <a:off x="10039350" y="1778000"/>
            <a:ext cx="635000" cy="635000"/>
          </a:xfrm>
          <a:prstGeom prst="ellipse">
            <a:avLst/>
          </a:prstGeom>
          <a:solidFill>
            <a:srgbClr val="00BFA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CA" sz="2200" b="1">
                <a:solidFill>
                  <a:srgbClr val="0D1117"/>
                </a:solidFill>
              </a:rPr>
              <a:t>5</a:t>
            </a:r>
          </a:p>
        </p:txBody>
      </p:sp>
      <p:sp>
        <p:nvSpPr>
          <p:cNvPr id="20" name="TextBox 19">
            <a:extLst>
              <a:ext uri="{FF2B5EF4-FFF2-40B4-BE49-F238E27FC236}">
                <a16:creationId xmlns:a16="http://schemas.microsoft.com/office/drawing/2014/main" id="{FC61EDF9-D61C-4F7E-A5FB-0F29C2DCA871}"/>
              </a:ext>
            </a:extLst>
          </p:cNvPr>
          <p:cNvSpPr txBox="1"/>
          <p:nvPr/>
        </p:nvSpPr>
        <p:spPr>
          <a:xfrm>
            <a:off x="9372600" y="2603500"/>
            <a:ext cx="1968500" cy="698500"/>
          </a:xfrm>
          <a:prstGeom prst="rect">
            <a:avLst/>
          </a:prstGeom>
          <a:noFill/>
        </p:spPr>
        <p:txBody>
          <a:bodyPr vertOverflow="overflow" vert="horz" wrap="square" rtlCol="0" anchor="t">
            <a:noAutofit/>
          </a:bodyPr>
          <a:lstStyle/>
          <a:p>
            <a:pPr algn="l"/>
            <a:r>
              <a:rPr lang="en-CA" sz="1600" b="1">
                <a:solidFill>
                  <a:srgbClr val="F0F0F0"/>
                </a:solidFill>
              </a:rPr>
              <a:t>Deployment
&amp; Monitoring</a:t>
            </a:r>
          </a:p>
        </p:txBody>
      </p:sp>
      <p:sp>
        <p:nvSpPr>
          <p:cNvPr id="21" name="TextBox 20">
            <a:extLst>
              <a:ext uri="{FF2B5EF4-FFF2-40B4-BE49-F238E27FC236}">
                <a16:creationId xmlns:a16="http://schemas.microsoft.com/office/drawing/2014/main" id="{BFD17F97-DAB3-4C27-B1C3-AABE931EAC7B}"/>
              </a:ext>
            </a:extLst>
          </p:cNvPr>
          <p:cNvSpPr txBox="1"/>
          <p:nvPr/>
        </p:nvSpPr>
        <p:spPr>
          <a:xfrm>
            <a:off x="9372600" y="3492500"/>
            <a:ext cx="1968500" cy="825500"/>
          </a:xfrm>
          <a:prstGeom prst="rect">
            <a:avLst/>
          </a:prstGeom>
          <a:noFill/>
        </p:spPr>
        <p:txBody>
          <a:bodyPr vertOverflow="overflow" vert="horz" wrap="square" rtlCol="0" anchor="t">
            <a:noAutofit/>
          </a:bodyPr>
          <a:lstStyle/>
          <a:p>
            <a:pPr algn="l"/>
            <a:r>
              <a:rPr lang="en-US" sz="1400">
                <a:solidFill>
                  <a:srgbClr val="A0A0A0"/>
                </a:solidFill>
              </a:rPr>
              <a:t>Install in 2nd life application,
remote monitoring</a:t>
            </a:r>
            <a:endParaRPr lang="en-CA" sz="1400">
              <a:solidFill>
                <a:srgbClr val="A0A0A0"/>
              </a:solidFill>
            </a:endParaRPr>
          </a:p>
        </p:txBody>
      </p:sp>
    </p:spTree>
    <p:extLst>
      <p:ext uri="{BB962C8B-B14F-4D97-AF65-F5344CB8AC3E}">
        <p14:creationId xmlns:p14="http://schemas.microsoft.com/office/powerpoint/2010/main" val="281180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C233E-EFA9-DC5C-DE89-42B1C48C1F41}"/>
              </a:ext>
            </a:extLst>
          </p:cNvPr>
          <p:cNvSpPr>
            <a:spLocks noGrp="1"/>
          </p:cNvSpPr>
          <p:nvPr>
            <p:ph type="title"/>
          </p:nvPr>
        </p:nvSpPr>
        <p:spPr>
          <a:xfrm>
            <a:off x="838200" y="254000"/>
            <a:ext cx="10515600" cy="698500"/>
          </a:xfrm>
        </p:spPr>
        <p:txBody>
          <a:bodyPr>
            <a:normAutofit/>
          </a:bodyPr>
          <a:lstStyle/>
          <a:p>
            <a:r>
              <a:rPr lang="en-CA" sz="3200"/>
              <a:t>Second Life Applications</a:t>
            </a:r>
          </a:p>
        </p:txBody>
      </p:sp>
      <p:sp>
        <p:nvSpPr>
          <p:cNvPr id="3" name="Rectangle: Rounded Corners 2">
            <a:extLst>
              <a:ext uri="{FF2B5EF4-FFF2-40B4-BE49-F238E27FC236}">
                <a16:creationId xmlns:a16="http://schemas.microsoft.com/office/drawing/2014/main" id="{DA7E905A-2E53-4CF7-AFB5-358A9529EFC9}"/>
              </a:ext>
            </a:extLst>
          </p:cNvPr>
          <p:cNvSpPr/>
          <p:nvPr/>
        </p:nvSpPr>
        <p:spPr>
          <a:xfrm>
            <a:off x="635000" y="1460500"/>
            <a:ext cx="5207000" cy="2032000"/>
          </a:xfrm>
          <a:prstGeom prst="roundRect">
            <a:avLst/>
          </a:prstGeom>
          <a:solidFill>
            <a:srgbClr val="1E243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4" name="Rectangle 3">
            <a:extLst>
              <a:ext uri="{FF2B5EF4-FFF2-40B4-BE49-F238E27FC236}">
                <a16:creationId xmlns:a16="http://schemas.microsoft.com/office/drawing/2014/main" id="{EE47F61E-A63E-4E60-9660-02D27176B91A}"/>
              </a:ext>
            </a:extLst>
          </p:cNvPr>
          <p:cNvSpPr/>
          <p:nvPr/>
        </p:nvSpPr>
        <p:spPr>
          <a:xfrm>
            <a:off x="635000" y="1460500"/>
            <a:ext cx="76200" cy="2032000"/>
          </a:xfrm>
          <a:prstGeom prst="rect">
            <a:avLst/>
          </a:prstGeom>
          <a:solidFill>
            <a:srgbClr val="00E67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5" name="TextBox 4">
            <a:extLst>
              <a:ext uri="{FF2B5EF4-FFF2-40B4-BE49-F238E27FC236}">
                <a16:creationId xmlns:a16="http://schemas.microsoft.com/office/drawing/2014/main" id="{191B3893-E5AA-43BC-913C-884F8A817337}"/>
              </a:ext>
            </a:extLst>
          </p:cNvPr>
          <p:cNvSpPr txBox="1"/>
          <p:nvPr/>
        </p:nvSpPr>
        <p:spPr>
          <a:xfrm>
            <a:off x="939800" y="1714500"/>
            <a:ext cx="4699000" cy="457200"/>
          </a:xfrm>
          <a:prstGeom prst="rect">
            <a:avLst/>
          </a:prstGeom>
          <a:noFill/>
        </p:spPr>
        <p:txBody>
          <a:bodyPr vertOverflow="overflow" vert="horz" wrap="square" rtlCol="0" anchor="t">
            <a:noAutofit/>
          </a:bodyPr>
          <a:lstStyle/>
          <a:p>
            <a:pPr algn="l"/>
            <a:r>
              <a:rPr lang="en-CA" sz="2000" b="1" dirty="0">
                <a:solidFill>
                  <a:srgbClr val="00E676"/>
                </a:solidFill>
              </a:rPr>
              <a:t>Grid-Scale Storage</a:t>
            </a:r>
          </a:p>
        </p:txBody>
      </p:sp>
      <p:sp>
        <p:nvSpPr>
          <p:cNvPr id="6" name="TextBox 5">
            <a:extLst>
              <a:ext uri="{FF2B5EF4-FFF2-40B4-BE49-F238E27FC236}">
                <a16:creationId xmlns:a16="http://schemas.microsoft.com/office/drawing/2014/main" id="{EA8E7DBD-A942-478F-8EAB-4E1980E96BDE}"/>
              </a:ext>
            </a:extLst>
          </p:cNvPr>
          <p:cNvSpPr txBox="1"/>
          <p:nvPr/>
        </p:nvSpPr>
        <p:spPr>
          <a:xfrm>
            <a:off x="939800" y="2286000"/>
            <a:ext cx="4699000" cy="952500"/>
          </a:xfrm>
          <a:prstGeom prst="rect">
            <a:avLst/>
          </a:prstGeom>
          <a:noFill/>
        </p:spPr>
        <p:txBody>
          <a:bodyPr vertOverflow="overflow" vert="horz" wrap="square" rtlCol="0" anchor="t">
            <a:noAutofit/>
          </a:bodyPr>
          <a:lstStyle/>
          <a:p>
            <a:pPr algn="l"/>
            <a:r>
              <a:rPr lang="en-US" sz="1600" dirty="0">
                <a:solidFill>
                  <a:srgbClr val="B0B0B0"/>
                </a:solidFill>
              </a:rPr>
              <a:t>Peak shaving, frequency regulation, and renewable integration at utility scale</a:t>
            </a:r>
            <a:endParaRPr lang="en-CA" sz="1600" dirty="0">
              <a:solidFill>
                <a:srgbClr val="B0B0B0"/>
              </a:solidFill>
            </a:endParaRPr>
          </a:p>
        </p:txBody>
      </p:sp>
      <p:sp>
        <p:nvSpPr>
          <p:cNvPr id="7" name="Rectangle: Rounded Corners 6">
            <a:extLst>
              <a:ext uri="{FF2B5EF4-FFF2-40B4-BE49-F238E27FC236}">
                <a16:creationId xmlns:a16="http://schemas.microsoft.com/office/drawing/2014/main" id="{15C8499B-5537-4319-92C4-871848010D29}"/>
              </a:ext>
            </a:extLst>
          </p:cNvPr>
          <p:cNvSpPr/>
          <p:nvPr/>
        </p:nvSpPr>
        <p:spPr>
          <a:xfrm>
            <a:off x="6350000" y="1460500"/>
            <a:ext cx="5207000" cy="2032000"/>
          </a:xfrm>
          <a:prstGeom prst="roundRect">
            <a:avLst/>
          </a:prstGeom>
          <a:solidFill>
            <a:srgbClr val="1E243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8" name="Rectangle 7">
            <a:extLst>
              <a:ext uri="{FF2B5EF4-FFF2-40B4-BE49-F238E27FC236}">
                <a16:creationId xmlns:a16="http://schemas.microsoft.com/office/drawing/2014/main" id="{D9E3AD29-DEE5-45E5-B12B-B3A124F085F4}"/>
              </a:ext>
            </a:extLst>
          </p:cNvPr>
          <p:cNvSpPr/>
          <p:nvPr/>
        </p:nvSpPr>
        <p:spPr>
          <a:xfrm>
            <a:off x="6350000" y="1460500"/>
            <a:ext cx="76200" cy="2032000"/>
          </a:xfrm>
          <a:prstGeom prst="rect">
            <a:avLst/>
          </a:prstGeom>
          <a:solidFill>
            <a:srgbClr val="00B0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9" name="TextBox 8">
            <a:extLst>
              <a:ext uri="{FF2B5EF4-FFF2-40B4-BE49-F238E27FC236}">
                <a16:creationId xmlns:a16="http://schemas.microsoft.com/office/drawing/2014/main" id="{B5BEBEFC-D99B-4B02-979B-4EF120CE5F0D}"/>
              </a:ext>
            </a:extLst>
          </p:cNvPr>
          <p:cNvSpPr txBox="1"/>
          <p:nvPr/>
        </p:nvSpPr>
        <p:spPr>
          <a:xfrm>
            <a:off x="6654800" y="1714500"/>
            <a:ext cx="4699000" cy="457200"/>
          </a:xfrm>
          <a:prstGeom prst="rect">
            <a:avLst/>
          </a:prstGeom>
          <a:noFill/>
        </p:spPr>
        <p:txBody>
          <a:bodyPr vertOverflow="overflow" vert="horz" wrap="square" rtlCol="0" anchor="t">
            <a:noAutofit/>
          </a:bodyPr>
          <a:lstStyle/>
          <a:p>
            <a:pPr algn="l"/>
            <a:r>
              <a:rPr lang="en-CA" sz="2000" b="1">
                <a:solidFill>
                  <a:srgbClr val="00B0FF"/>
                </a:solidFill>
              </a:rPr>
              <a:t>Commercial &amp; Industrial</a:t>
            </a:r>
          </a:p>
        </p:txBody>
      </p:sp>
      <p:sp>
        <p:nvSpPr>
          <p:cNvPr id="10" name="TextBox 9">
            <a:extLst>
              <a:ext uri="{FF2B5EF4-FFF2-40B4-BE49-F238E27FC236}">
                <a16:creationId xmlns:a16="http://schemas.microsoft.com/office/drawing/2014/main" id="{53F8378B-2332-4C69-9EAD-81D84D39D19C}"/>
              </a:ext>
            </a:extLst>
          </p:cNvPr>
          <p:cNvSpPr txBox="1"/>
          <p:nvPr/>
        </p:nvSpPr>
        <p:spPr>
          <a:xfrm>
            <a:off x="6654800" y="2286000"/>
            <a:ext cx="4699000" cy="952500"/>
          </a:xfrm>
          <a:prstGeom prst="rect">
            <a:avLst/>
          </a:prstGeom>
          <a:noFill/>
        </p:spPr>
        <p:txBody>
          <a:bodyPr vertOverflow="overflow" vert="horz" wrap="square" rtlCol="0" anchor="t">
            <a:noAutofit/>
          </a:bodyPr>
          <a:lstStyle/>
          <a:p>
            <a:pPr algn="l"/>
            <a:r>
              <a:rPr lang="en-US" sz="1600">
                <a:solidFill>
                  <a:srgbClr val="B0B0B0"/>
                </a:solidFill>
              </a:rPr>
              <a:t>Behind-the-meter storage for demand charge reduction and backup power</a:t>
            </a:r>
            <a:endParaRPr lang="en-CA" sz="1600">
              <a:solidFill>
                <a:srgbClr val="B0B0B0"/>
              </a:solidFill>
            </a:endParaRPr>
          </a:p>
        </p:txBody>
      </p:sp>
      <p:sp>
        <p:nvSpPr>
          <p:cNvPr id="11" name="Rectangle: Rounded Corners 10">
            <a:extLst>
              <a:ext uri="{FF2B5EF4-FFF2-40B4-BE49-F238E27FC236}">
                <a16:creationId xmlns:a16="http://schemas.microsoft.com/office/drawing/2014/main" id="{17172E0F-08C4-4288-A666-68F84A91017B}"/>
              </a:ext>
            </a:extLst>
          </p:cNvPr>
          <p:cNvSpPr/>
          <p:nvPr/>
        </p:nvSpPr>
        <p:spPr>
          <a:xfrm>
            <a:off x="635000" y="3873500"/>
            <a:ext cx="5207000" cy="2032000"/>
          </a:xfrm>
          <a:prstGeom prst="roundRect">
            <a:avLst/>
          </a:prstGeom>
          <a:solidFill>
            <a:srgbClr val="1E243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2" name="Rectangle 11">
            <a:extLst>
              <a:ext uri="{FF2B5EF4-FFF2-40B4-BE49-F238E27FC236}">
                <a16:creationId xmlns:a16="http://schemas.microsoft.com/office/drawing/2014/main" id="{F8E1E724-CB5C-4F91-A6B3-78D197F51981}"/>
              </a:ext>
            </a:extLst>
          </p:cNvPr>
          <p:cNvSpPr/>
          <p:nvPr/>
        </p:nvSpPr>
        <p:spPr>
          <a:xfrm>
            <a:off x="635000" y="3873500"/>
            <a:ext cx="76200" cy="2032000"/>
          </a:xfrm>
          <a:prstGeom prst="rect">
            <a:avLst/>
          </a:prstGeom>
          <a:solidFill>
            <a:srgbClr val="7C4D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3" name="TextBox 12">
            <a:extLst>
              <a:ext uri="{FF2B5EF4-FFF2-40B4-BE49-F238E27FC236}">
                <a16:creationId xmlns:a16="http://schemas.microsoft.com/office/drawing/2014/main" id="{81739235-7156-4D65-9978-14CD79C2CF90}"/>
              </a:ext>
            </a:extLst>
          </p:cNvPr>
          <p:cNvSpPr txBox="1"/>
          <p:nvPr/>
        </p:nvSpPr>
        <p:spPr>
          <a:xfrm>
            <a:off x="939800" y="4127500"/>
            <a:ext cx="4699000" cy="457200"/>
          </a:xfrm>
          <a:prstGeom prst="rect">
            <a:avLst/>
          </a:prstGeom>
          <a:noFill/>
        </p:spPr>
        <p:txBody>
          <a:bodyPr vertOverflow="overflow" vert="horz" wrap="square" rtlCol="0" anchor="t">
            <a:noAutofit/>
          </a:bodyPr>
          <a:lstStyle/>
          <a:p>
            <a:pPr algn="l"/>
            <a:r>
              <a:rPr lang="en-CA" sz="2000" b="1">
                <a:solidFill>
                  <a:srgbClr val="7C4DFF"/>
                </a:solidFill>
              </a:rPr>
              <a:t>Residential Storage</a:t>
            </a:r>
          </a:p>
        </p:txBody>
      </p:sp>
      <p:sp>
        <p:nvSpPr>
          <p:cNvPr id="14" name="TextBox 13">
            <a:extLst>
              <a:ext uri="{FF2B5EF4-FFF2-40B4-BE49-F238E27FC236}">
                <a16:creationId xmlns:a16="http://schemas.microsoft.com/office/drawing/2014/main" id="{218F6129-F772-4D0C-AD2F-B01187E863DF}"/>
              </a:ext>
            </a:extLst>
          </p:cNvPr>
          <p:cNvSpPr txBox="1"/>
          <p:nvPr/>
        </p:nvSpPr>
        <p:spPr>
          <a:xfrm>
            <a:off x="939800" y="4699000"/>
            <a:ext cx="4699000" cy="952500"/>
          </a:xfrm>
          <a:prstGeom prst="rect">
            <a:avLst/>
          </a:prstGeom>
          <a:noFill/>
        </p:spPr>
        <p:txBody>
          <a:bodyPr vertOverflow="overflow" vert="horz" wrap="square" rtlCol="0" anchor="t">
            <a:noAutofit/>
          </a:bodyPr>
          <a:lstStyle/>
          <a:p>
            <a:pPr algn="l"/>
            <a:r>
              <a:rPr lang="en-US" sz="1600">
                <a:solidFill>
                  <a:srgbClr val="B0B0B0"/>
                </a:solidFill>
              </a:rPr>
              <a:t>Home energy storage paired with solar PV for self-consumption optimization</a:t>
            </a:r>
            <a:endParaRPr lang="en-CA" sz="1600">
              <a:solidFill>
                <a:srgbClr val="B0B0B0"/>
              </a:solidFill>
            </a:endParaRPr>
          </a:p>
        </p:txBody>
      </p:sp>
      <p:sp>
        <p:nvSpPr>
          <p:cNvPr id="15" name="Rectangle: Rounded Corners 14">
            <a:extLst>
              <a:ext uri="{FF2B5EF4-FFF2-40B4-BE49-F238E27FC236}">
                <a16:creationId xmlns:a16="http://schemas.microsoft.com/office/drawing/2014/main" id="{82D733F0-839C-4BAC-AFCF-4E3D268684B9}"/>
              </a:ext>
            </a:extLst>
          </p:cNvPr>
          <p:cNvSpPr/>
          <p:nvPr/>
        </p:nvSpPr>
        <p:spPr>
          <a:xfrm>
            <a:off x="6350000" y="3873500"/>
            <a:ext cx="5207000" cy="2032000"/>
          </a:xfrm>
          <a:prstGeom prst="roundRect">
            <a:avLst/>
          </a:prstGeom>
          <a:solidFill>
            <a:srgbClr val="1E243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6" name="Rectangle 15">
            <a:extLst>
              <a:ext uri="{FF2B5EF4-FFF2-40B4-BE49-F238E27FC236}">
                <a16:creationId xmlns:a16="http://schemas.microsoft.com/office/drawing/2014/main" id="{CE32FEA4-5AF7-4B26-99D6-DE88E23CCA89}"/>
              </a:ext>
            </a:extLst>
          </p:cNvPr>
          <p:cNvSpPr/>
          <p:nvPr/>
        </p:nvSpPr>
        <p:spPr>
          <a:xfrm>
            <a:off x="6350000" y="3873500"/>
            <a:ext cx="76200" cy="2032000"/>
          </a:xfrm>
          <a:prstGeom prst="rect">
            <a:avLst/>
          </a:prstGeom>
          <a:solidFill>
            <a:srgbClr val="FF6D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7" name="TextBox 16">
            <a:extLst>
              <a:ext uri="{FF2B5EF4-FFF2-40B4-BE49-F238E27FC236}">
                <a16:creationId xmlns:a16="http://schemas.microsoft.com/office/drawing/2014/main" id="{132BFB17-2DF7-490D-908C-6B03DA5E817D}"/>
              </a:ext>
            </a:extLst>
          </p:cNvPr>
          <p:cNvSpPr txBox="1"/>
          <p:nvPr/>
        </p:nvSpPr>
        <p:spPr>
          <a:xfrm>
            <a:off x="6654800" y="4127500"/>
            <a:ext cx="4699000" cy="457200"/>
          </a:xfrm>
          <a:prstGeom prst="rect">
            <a:avLst/>
          </a:prstGeom>
          <a:noFill/>
        </p:spPr>
        <p:txBody>
          <a:bodyPr vertOverflow="overflow" vert="horz" wrap="square" rtlCol="0" anchor="t">
            <a:noAutofit/>
          </a:bodyPr>
          <a:lstStyle/>
          <a:p>
            <a:pPr algn="l"/>
            <a:r>
              <a:rPr lang="en-CA" sz="2000" b="1">
                <a:solidFill>
                  <a:srgbClr val="FF6D00"/>
                </a:solidFill>
              </a:rPr>
              <a:t>Telecom &amp; Off-Grid</a:t>
            </a:r>
          </a:p>
        </p:txBody>
      </p:sp>
      <p:sp>
        <p:nvSpPr>
          <p:cNvPr id="18" name="TextBox 17">
            <a:extLst>
              <a:ext uri="{FF2B5EF4-FFF2-40B4-BE49-F238E27FC236}">
                <a16:creationId xmlns:a16="http://schemas.microsoft.com/office/drawing/2014/main" id="{FF5683F5-2CD5-48B9-AAF6-106883340528}"/>
              </a:ext>
            </a:extLst>
          </p:cNvPr>
          <p:cNvSpPr txBox="1"/>
          <p:nvPr/>
        </p:nvSpPr>
        <p:spPr>
          <a:xfrm>
            <a:off x="6654800" y="4699000"/>
            <a:ext cx="4699000" cy="952500"/>
          </a:xfrm>
          <a:prstGeom prst="rect">
            <a:avLst/>
          </a:prstGeom>
          <a:noFill/>
        </p:spPr>
        <p:txBody>
          <a:bodyPr vertOverflow="overflow" vert="horz" wrap="square" rtlCol="0" anchor="t">
            <a:noAutofit/>
          </a:bodyPr>
          <a:lstStyle/>
          <a:p>
            <a:pPr algn="l"/>
            <a:r>
              <a:rPr lang="en-US" sz="1600">
                <a:solidFill>
                  <a:srgbClr val="B0B0B0"/>
                </a:solidFill>
              </a:rPr>
              <a:t>Replacing diesel generators at telecom towers and remote installations</a:t>
            </a:r>
            <a:endParaRPr lang="en-CA" sz="1600">
              <a:solidFill>
                <a:srgbClr val="B0B0B0"/>
              </a:solidFill>
            </a:endParaRPr>
          </a:p>
        </p:txBody>
      </p:sp>
      <p:pic>
        <p:nvPicPr>
          <p:cNvPr id="19" name="Graphic 19" descr="Grid storage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7000" y="1549400"/>
            <a:ext cx="457200" cy="457200"/>
          </a:xfrm>
          <a:prstGeom prst="rect">
            <a:avLst/>
          </a:prstGeom>
        </p:spPr>
      </p:pic>
      <p:pic>
        <p:nvPicPr>
          <p:cNvPr id="20" name="Graphic 20" descr="Residential storage icon"/>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22000" y="3962400"/>
            <a:ext cx="457200" cy="457200"/>
          </a:xfrm>
          <a:prstGeom prst="rect">
            <a:avLst/>
          </a:prstGeom>
        </p:spPr>
      </p:pic>
    </p:spTree>
    <p:extLst>
      <p:ext uri="{BB962C8B-B14F-4D97-AF65-F5344CB8AC3E}">
        <p14:creationId xmlns:p14="http://schemas.microsoft.com/office/powerpoint/2010/main" val="2088757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F7967-4CB1-2ACF-FA0A-751719D4CB6A}"/>
              </a:ext>
            </a:extLst>
          </p:cNvPr>
          <p:cNvSpPr>
            <a:spLocks noGrp="1"/>
          </p:cNvSpPr>
          <p:nvPr>
            <p:ph type="title"/>
          </p:nvPr>
        </p:nvSpPr>
        <p:spPr>
          <a:xfrm>
            <a:off x="838200" y="254000"/>
            <a:ext cx="10515600" cy="698500"/>
          </a:xfrm>
        </p:spPr>
        <p:txBody>
          <a:bodyPr>
            <a:normAutofit/>
          </a:bodyPr>
          <a:lstStyle/>
          <a:p>
            <a:r>
              <a:rPr lang="en-US" sz="2800"/>
              <a:t>Case Study: Powering AI Data Centers</a:t>
            </a:r>
            <a:endParaRPr lang="en-CA" sz="2800"/>
          </a:p>
        </p:txBody>
      </p:sp>
      <p:sp>
        <p:nvSpPr>
          <p:cNvPr id="3" name="Rectangle: Rounded Corners 2">
            <a:extLst>
              <a:ext uri="{FF2B5EF4-FFF2-40B4-BE49-F238E27FC236}">
                <a16:creationId xmlns:a16="http://schemas.microsoft.com/office/drawing/2014/main" id="{37FA2D41-9F76-41C4-870F-0F761B8F1648}"/>
              </a:ext>
            </a:extLst>
          </p:cNvPr>
          <p:cNvSpPr/>
          <p:nvPr/>
        </p:nvSpPr>
        <p:spPr>
          <a:xfrm>
            <a:off x="508000" y="1079500"/>
            <a:ext cx="5334000" cy="1714500"/>
          </a:xfrm>
          <a:prstGeom prst="roundRect">
            <a:avLst/>
          </a:prstGeom>
          <a:solidFill>
            <a:srgbClr val="1E243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4" name="TextBox 3">
            <a:extLst>
              <a:ext uri="{FF2B5EF4-FFF2-40B4-BE49-F238E27FC236}">
                <a16:creationId xmlns:a16="http://schemas.microsoft.com/office/drawing/2014/main" id="{475ED7F3-2973-4C45-93E1-C9BFD3014106}"/>
              </a:ext>
            </a:extLst>
          </p:cNvPr>
          <p:cNvSpPr txBox="1"/>
          <p:nvPr/>
        </p:nvSpPr>
        <p:spPr>
          <a:xfrm>
            <a:off x="698500" y="1168400"/>
            <a:ext cx="4953000" cy="381000"/>
          </a:xfrm>
          <a:prstGeom prst="rect">
            <a:avLst/>
          </a:prstGeom>
          <a:noFill/>
        </p:spPr>
        <p:txBody>
          <a:bodyPr vertOverflow="overflow" vert="horz" wrap="square" rtlCol="0" anchor="t">
            <a:noAutofit/>
          </a:bodyPr>
          <a:lstStyle/>
          <a:p>
            <a:pPr algn="l"/>
            <a:r>
              <a:rPr lang="en-CA" b="1">
                <a:solidFill>
                  <a:srgbClr val="00E676"/>
                </a:solidFill>
              </a:rPr>
              <a:t>Crusoe × Redwood Materials</a:t>
            </a:r>
          </a:p>
        </p:txBody>
      </p:sp>
      <p:sp>
        <p:nvSpPr>
          <p:cNvPr id="5" name="TextBox 4">
            <a:extLst>
              <a:ext uri="{FF2B5EF4-FFF2-40B4-BE49-F238E27FC236}">
                <a16:creationId xmlns:a16="http://schemas.microsoft.com/office/drawing/2014/main" id="{1168A339-ADBB-4519-9A60-4B1683A7350B}"/>
              </a:ext>
            </a:extLst>
          </p:cNvPr>
          <p:cNvSpPr txBox="1"/>
          <p:nvPr/>
        </p:nvSpPr>
        <p:spPr>
          <a:xfrm>
            <a:off x="698500" y="1587500"/>
            <a:ext cx="4953000" cy="1016000"/>
          </a:xfrm>
          <a:prstGeom prst="rect">
            <a:avLst/>
          </a:prstGeom>
          <a:noFill/>
        </p:spPr>
        <p:txBody>
          <a:bodyPr vertOverflow="overflow" vert="horz" wrap="square" rtlCol="0" anchor="t">
            <a:noAutofit/>
          </a:bodyPr>
          <a:lstStyle/>
          <a:p>
            <a:pPr algn="l"/>
            <a:r>
              <a:rPr lang="en-US" sz="1500">
                <a:solidFill>
                  <a:srgbClr val="B0B0B0"/>
                </a:solidFill>
              </a:rPr>
              <a:t>World's largest second-life battery deployment — powering off-grid modular AI data centers at Redwood's Sparks, Nevada campus</a:t>
            </a:r>
            <a:endParaRPr lang="en-CA" sz="1500">
              <a:solidFill>
                <a:srgbClr val="B0B0B0"/>
              </a:solidFill>
            </a:endParaRPr>
          </a:p>
        </p:txBody>
      </p:sp>
      <p:sp>
        <p:nvSpPr>
          <p:cNvPr id="6" name="Rectangle: Rounded Corners 5">
            <a:extLst>
              <a:ext uri="{FF2B5EF4-FFF2-40B4-BE49-F238E27FC236}">
                <a16:creationId xmlns:a16="http://schemas.microsoft.com/office/drawing/2014/main" id="{02260F19-B718-4EB9-8897-FCE0E98F8A72}"/>
              </a:ext>
            </a:extLst>
          </p:cNvPr>
          <p:cNvSpPr/>
          <p:nvPr/>
        </p:nvSpPr>
        <p:spPr>
          <a:xfrm>
            <a:off x="6223000" y="1079500"/>
            <a:ext cx="1905000" cy="1714500"/>
          </a:xfrm>
          <a:prstGeom prst="roundRect">
            <a:avLst/>
          </a:prstGeom>
          <a:solidFill>
            <a:srgbClr val="1E243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7" name="TextBox 6">
            <a:extLst>
              <a:ext uri="{FF2B5EF4-FFF2-40B4-BE49-F238E27FC236}">
                <a16:creationId xmlns:a16="http://schemas.microsoft.com/office/drawing/2014/main" id="{E0FB7E97-8E8A-476C-A7D0-D6FD96871944}"/>
              </a:ext>
            </a:extLst>
          </p:cNvPr>
          <p:cNvSpPr txBox="1"/>
          <p:nvPr/>
        </p:nvSpPr>
        <p:spPr>
          <a:xfrm>
            <a:off x="6223000" y="1270000"/>
            <a:ext cx="1905000" cy="571500"/>
          </a:xfrm>
          <a:prstGeom prst="rect">
            <a:avLst/>
          </a:prstGeom>
          <a:noFill/>
        </p:spPr>
        <p:txBody>
          <a:bodyPr vertOverflow="overflow" vert="horz" wrap="square" rtlCol="0" anchor="t">
            <a:noAutofit/>
          </a:bodyPr>
          <a:lstStyle/>
          <a:p>
            <a:pPr algn="l"/>
            <a:r>
              <a:rPr lang="en-CA" sz="3000" b="1">
                <a:solidFill>
                  <a:srgbClr val="FFD600"/>
                </a:solidFill>
              </a:rPr>
              <a:t>12 MW</a:t>
            </a:r>
          </a:p>
        </p:txBody>
      </p:sp>
      <p:sp>
        <p:nvSpPr>
          <p:cNvPr id="8" name="TextBox 7">
            <a:extLst>
              <a:ext uri="{FF2B5EF4-FFF2-40B4-BE49-F238E27FC236}">
                <a16:creationId xmlns:a16="http://schemas.microsoft.com/office/drawing/2014/main" id="{F98A2D46-7C6D-4118-8E76-FE52BEF93F2B}"/>
              </a:ext>
            </a:extLst>
          </p:cNvPr>
          <p:cNvSpPr txBox="1"/>
          <p:nvPr/>
        </p:nvSpPr>
        <p:spPr>
          <a:xfrm>
            <a:off x="6223000" y="1905000"/>
            <a:ext cx="1905000" cy="381000"/>
          </a:xfrm>
          <a:prstGeom prst="rect">
            <a:avLst/>
          </a:prstGeom>
          <a:noFill/>
        </p:spPr>
        <p:txBody>
          <a:bodyPr vertOverflow="overflow" vert="horz" wrap="square" rtlCol="0" anchor="t">
            <a:noAutofit/>
          </a:bodyPr>
          <a:lstStyle/>
          <a:p>
            <a:pPr algn="l"/>
            <a:r>
              <a:rPr lang="en-CA" sz="1400">
                <a:solidFill>
                  <a:srgbClr val="808080"/>
                </a:solidFill>
              </a:rPr>
              <a:t>Solar Generation</a:t>
            </a:r>
          </a:p>
        </p:txBody>
      </p:sp>
      <p:sp>
        <p:nvSpPr>
          <p:cNvPr id="9" name="Rectangle: Rounded Corners 8">
            <a:extLst>
              <a:ext uri="{FF2B5EF4-FFF2-40B4-BE49-F238E27FC236}">
                <a16:creationId xmlns:a16="http://schemas.microsoft.com/office/drawing/2014/main" id="{62A05A06-21B5-4314-B4E2-29CA246ACA4A}"/>
              </a:ext>
            </a:extLst>
          </p:cNvPr>
          <p:cNvSpPr/>
          <p:nvPr/>
        </p:nvSpPr>
        <p:spPr>
          <a:xfrm>
            <a:off x="8255000" y="1079500"/>
            <a:ext cx="1905000" cy="1714500"/>
          </a:xfrm>
          <a:prstGeom prst="roundRect">
            <a:avLst/>
          </a:prstGeom>
          <a:solidFill>
            <a:srgbClr val="1E243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0" name="TextBox 9">
            <a:extLst>
              <a:ext uri="{FF2B5EF4-FFF2-40B4-BE49-F238E27FC236}">
                <a16:creationId xmlns:a16="http://schemas.microsoft.com/office/drawing/2014/main" id="{A5FD7FFE-E508-431E-9D61-91885A3AC14B}"/>
              </a:ext>
            </a:extLst>
          </p:cNvPr>
          <p:cNvSpPr txBox="1"/>
          <p:nvPr/>
        </p:nvSpPr>
        <p:spPr>
          <a:xfrm>
            <a:off x="8255000" y="1270000"/>
            <a:ext cx="1905000" cy="571500"/>
          </a:xfrm>
          <a:prstGeom prst="rect">
            <a:avLst/>
          </a:prstGeom>
          <a:noFill/>
        </p:spPr>
        <p:txBody>
          <a:bodyPr vertOverflow="overflow" vert="horz" wrap="square" rtlCol="0" anchor="t">
            <a:noAutofit/>
          </a:bodyPr>
          <a:lstStyle/>
          <a:p>
            <a:pPr algn="l"/>
            <a:r>
              <a:rPr lang="en-CA" sz="3000" b="1">
                <a:solidFill>
                  <a:srgbClr val="00B0FF"/>
                </a:solidFill>
              </a:rPr>
              <a:t>63 MWh</a:t>
            </a:r>
          </a:p>
        </p:txBody>
      </p:sp>
      <p:sp>
        <p:nvSpPr>
          <p:cNvPr id="11" name="TextBox 10">
            <a:extLst>
              <a:ext uri="{FF2B5EF4-FFF2-40B4-BE49-F238E27FC236}">
                <a16:creationId xmlns:a16="http://schemas.microsoft.com/office/drawing/2014/main" id="{1790498D-52B7-419D-B17F-C9E264867A06}"/>
              </a:ext>
            </a:extLst>
          </p:cNvPr>
          <p:cNvSpPr txBox="1"/>
          <p:nvPr/>
        </p:nvSpPr>
        <p:spPr>
          <a:xfrm>
            <a:off x="8255000" y="1905000"/>
            <a:ext cx="1905000" cy="381000"/>
          </a:xfrm>
          <a:prstGeom prst="rect">
            <a:avLst/>
          </a:prstGeom>
          <a:noFill/>
        </p:spPr>
        <p:txBody>
          <a:bodyPr vertOverflow="overflow" vert="horz" wrap="square" rtlCol="0" anchor="t">
            <a:noAutofit/>
          </a:bodyPr>
          <a:lstStyle/>
          <a:p>
            <a:pPr algn="l"/>
            <a:r>
              <a:rPr lang="en-CA" sz="1400">
                <a:solidFill>
                  <a:srgbClr val="808080"/>
                </a:solidFill>
              </a:rPr>
              <a:t>Battery Storage</a:t>
            </a:r>
          </a:p>
        </p:txBody>
      </p:sp>
      <p:sp>
        <p:nvSpPr>
          <p:cNvPr id="12" name="Rectangle: Rounded Corners 11">
            <a:extLst>
              <a:ext uri="{FF2B5EF4-FFF2-40B4-BE49-F238E27FC236}">
                <a16:creationId xmlns:a16="http://schemas.microsoft.com/office/drawing/2014/main" id="{63BF30FA-757F-493F-BAF0-85B9B5F35C14}"/>
              </a:ext>
            </a:extLst>
          </p:cNvPr>
          <p:cNvSpPr/>
          <p:nvPr/>
        </p:nvSpPr>
        <p:spPr>
          <a:xfrm>
            <a:off x="10287000" y="1079500"/>
            <a:ext cx="1905000" cy="1714500"/>
          </a:xfrm>
          <a:prstGeom prst="roundRect">
            <a:avLst/>
          </a:prstGeom>
          <a:solidFill>
            <a:srgbClr val="1E243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3" name="TextBox 12">
            <a:extLst>
              <a:ext uri="{FF2B5EF4-FFF2-40B4-BE49-F238E27FC236}">
                <a16:creationId xmlns:a16="http://schemas.microsoft.com/office/drawing/2014/main" id="{6821AAA3-0595-447B-A9F3-3C6EF0AAD8BD}"/>
              </a:ext>
            </a:extLst>
          </p:cNvPr>
          <p:cNvSpPr txBox="1"/>
          <p:nvPr/>
        </p:nvSpPr>
        <p:spPr>
          <a:xfrm>
            <a:off x="10287000" y="1270000"/>
            <a:ext cx="1905000" cy="571500"/>
          </a:xfrm>
          <a:prstGeom prst="rect">
            <a:avLst/>
          </a:prstGeom>
          <a:noFill/>
        </p:spPr>
        <p:txBody>
          <a:bodyPr vertOverflow="overflow" vert="horz" wrap="square" rtlCol="0" anchor="t">
            <a:noAutofit/>
          </a:bodyPr>
          <a:lstStyle/>
          <a:p>
            <a:pPr algn="l"/>
            <a:r>
              <a:rPr lang="en-CA" sz="3000" b="1">
                <a:solidFill>
                  <a:srgbClr val="7C4DFF"/>
                </a:solidFill>
              </a:rPr>
              <a:t>2,000</a:t>
            </a:r>
          </a:p>
        </p:txBody>
      </p:sp>
      <p:sp>
        <p:nvSpPr>
          <p:cNvPr id="14" name="TextBox 13">
            <a:extLst>
              <a:ext uri="{FF2B5EF4-FFF2-40B4-BE49-F238E27FC236}">
                <a16:creationId xmlns:a16="http://schemas.microsoft.com/office/drawing/2014/main" id="{63DE6911-E8BF-40A2-A789-18AFEE7B093A}"/>
              </a:ext>
            </a:extLst>
          </p:cNvPr>
          <p:cNvSpPr txBox="1"/>
          <p:nvPr/>
        </p:nvSpPr>
        <p:spPr>
          <a:xfrm>
            <a:off x="10287000" y="1905000"/>
            <a:ext cx="1905000" cy="381000"/>
          </a:xfrm>
          <a:prstGeom prst="rect">
            <a:avLst/>
          </a:prstGeom>
          <a:noFill/>
        </p:spPr>
        <p:txBody>
          <a:bodyPr vertOverflow="overflow" vert="horz" wrap="square" rtlCol="0" anchor="t">
            <a:noAutofit/>
          </a:bodyPr>
          <a:lstStyle/>
          <a:p>
            <a:pPr algn="l"/>
            <a:r>
              <a:rPr lang="en-CA" sz="1400">
                <a:solidFill>
                  <a:srgbClr val="808080"/>
                </a:solidFill>
              </a:rPr>
              <a:t>GPUs Powered</a:t>
            </a:r>
          </a:p>
        </p:txBody>
      </p:sp>
      <p:sp>
        <p:nvSpPr>
          <p:cNvPr id="15" name="TextBox 14">
            <a:extLst>
              <a:ext uri="{FF2B5EF4-FFF2-40B4-BE49-F238E27FC236}">
                <a16:creationId xmlns:a16="http://schemas.microsoft.com/office/drawing/2014/main" id="{1A12D93A-83F3-4488-B7BE-34B3D2A6C489}"/>
              </a:ext>
            </a:extLst>
          </p:cNvPr>
          <p:cNvSpPr txBox="1"/>
          <p:nvPr/>
        </p:nvSpPr>
        <p:spPr>
          <a:xfrm>
            <a:off x="508000" y="3048000"/>
            <a:ext cx="2540000" cy="355600"/>
          </a:xfrm>
          <a:prstGeom prst="rect">
            <a:avLst/>
          </a:prstGeom>
          <a:noFill/>
        </p:spPr>
        <p:txBody>
          <a:bodyPr vertOverflow="overflow" vert="horz" wrap="square" rtlCol="0" anchor="t">
            <a:noAutofit/>
          </a:bodyPr>
          <a:lstStyle/>
          <a:p>
            <a:pPr algn="l"/>
            <a:r>
              <a:rPr lang="en-CA" b="1">
                <a:solidFill>
                  <a:srgbClr val="F0F0F0"/>
                </a:solidFill>
              </a:rPr>
              <a:t>How It Works</a:t>
            </a:r>
          </a:p>
        </p:txBody>
      </p:sp>
      <p:sp>
        <p:nvSpPr>
          <p:cNvPr id="16" name="Rectangle: Rounded Corners 15">
            <a:extLst>
              <a:ext uri="{FF2B5EF4-FFF2-40B4-BE49-F238E27FC236}">
                <a16:creationId xmlns:a16="http://schemas.microsoft.com/office/drawing/2014/main" id="{5B186638-A6A8-4CC5-BAB5-0E00AEF34CDA}"/>
              </a:ext>
            </a:extLst>
          </p:cNvPr>
          <p:cNvSpPr/>
          <p:nvPr/>
        </p:nvSpPr>
        <p:spPr>
          <a:xfrm>
            <a:off x="508000" y="3492500"/>
            <a:ext cx="3556000" cy="1079500"/>
          </a:xfrm>
          <a:prstGeom prst="roundRect">
            <a:avLst/>
          </a:prstGeom>
          <a:solidFill>
            <a:srgbClr val="1E243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7" name="Rectangle 16">
            <a:extLst>
              <a:ext uri="{FF2B5EF4-FFF2-40B4-BE49-F238E27FC236}">
                <a16:creationId xmlns:a16="http://schemas.microsoft.com/office/drawing/2014/main" id="{68AAA114-664F-4241-BA9B-51B13D38C7F5}"/>
              </a:ext>
            </a:extLst>
          </p:cNvPr>
          <p:cNvSpPr/>
          <p:nvPr/>
        </p:nvSpPr>
        <p:spPr>
          <a:xfrm>
            <a:off x="508000" y="3492500"/>
            <a:ext cx="3556000" cy="50800"/>
          </a:xfrm>
          <a:prstGeom prst="rect">
            <a:avLst/>
          </a:prstGeom>
          <a:solidFill>
            <a:srgbClr val="FFD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8" name="TextBox 17">
            <a:extLst>
              <a:ext uri="{FF2B5EF4-FFF2-40B4-BE49-F238E27FC236}">
                <a16:creationId xmlns:a16="http://schemas.microsoft.com/office/drawing/2014/main" id="{5B7294D6-75E3-48C0-A322-8711696E0F59}"/>
              </a:ext>
            </a:extLst>
          </p:cNvPr>
          <p:cNvSpPr txBox="1"/>
          <p:nvPr/>
        </p:nvSpPr>
        <p:spPr>
          <a:xfrm>
            <a:off x="660400" y="3644900"/>
            <a:ext cx="3251200" cy="330200"/>
          </a:xfrm>
          <a:prstGeom prst="rect">
            <a:avLst/>
          </a:prstGeom>
          <a:noFill/>
        </p:spPr>
        <p:txBody>
          <a:bodyPr vertOverflow="overflow" vert="horz" wrap="square" rtlCol="0" anchor="t">
            <a:noAutofit/>
          </a:bodyPr>
          <a:lstStyle/>
          <a:p>
            <a:pPr algn="l"/>
            <a:r>
              <a:rPr lang="en-CA" sz="1600" b="1">
                <a:solidFill>
                  <a:srgbClr val="FFD600"/>
                </a:solidFill>
              </a:rPr>
              <a:t>20-Acre Solar Array</a:t>
            </a:r>
          </a:p>
        </p:txBody>
      </p:sp>
      <p:sp>
        <p:nvSpPr>
          <p:cNvPr id="19" name="TextBox 18">
            <a:extLst>
              <a:ext uri="{FF2B5EF4-FFF2-40B4-BE49-F238E27FC236}">
                <a16:creationId xmlns:a16="http://schemas.microsoft.com/office/drawing/2014/main" id="{3412064C-F03D-416B-97A9-FD88D2970D2C}"/>
              </a:ext>
            </a:extLst>
          </p:cNvPr>
          <p:cNvSpPr txBox="1"/>
          <p:nvPr/>
        </p:nvSpPr>
        <p:spPr>
          <a:xfrm>
            <a:off x="660400" y="4000500"/>
            <a:ext cx="3251200" cy="482600"/>
          </a:xfrm>
          <a:prstGeom prst="rect">
            <a:avLst/>
          </a:prstGeom>
          <a:noFill/>
        </p:spPr>
        <p:txBody>
          <a:bodyPr vertOverflow="overflow" vert="horz" wrap="square" rtlCol="0" anchor="t">
            <a:noAutofit/>
          </a:bodyPr>
          <a:lstStyle/>
          <a:p>
            <a:pPr algn="l"/>
            <a:r>
              <a:rPr lang="en-US" sz="1400">
                <a:solidFill>
                  <a:srgbClr val="909090"/>
                </a:solidFill>
              </a:rPr>
              <a:t>Generates clean power during daylight hours</a:t>
            </a:r>
            <a:endParaRPr lang="en-CA" sz="1400">
              <a:solidFill>
                <a:srgbClr val="909090"/>
              </a:solidFill>
            </a:endParaRPr>
          </a:p>
        </p:txBody>
      </p:sp>
      <p:sp>
        <p:nvSpPr>
          <p:cNvPr id="20" name="Arrow: Right 19">
            <a:extLst>
              <a:ext uri="{FF2B5EF4-FFF2-40B4-BE49-F238E27FC236}">
                <a16:creationId xmlns:a16="http://schemas.microsoft.com/office/drawing/2014/main" id="{BB4A863F-3FB8-42FA-A85E-4761D9099614}"/>
              </a:ext>
            </a:extLst>
          </p:cNvPr>
          <p:cNvSpPr/>
          <p:nvPr/>
        </p:nvSpPr>
        <p:spPr>
          <a:xfrm>
            <a:off x="4102100" y="3937000"/>
            <a:ext cx="177800" cy="177800"/>
          </a:xfrm>
          <a:prstGeom prst="rightArrow">
            <a:avLst/>
          </a:prstGeom>
          <a:solidFill>
            <a:srgbClr val="4040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21" name="Rectangle: Rounded Corners 20">
            <a:extLst>
              <a:ext uri="{FF2B5EF4-FFF2-40B4-BE49-F238E27FC236}">
                <a16:creationId xmlns:a16="http://schemas.microsoft.com/office/drawing/2014/main" id="{3440F027-9CB5-4267-9820-84615B1B5F80}"/>
              </a:ext>
            </a:extLst>
          </p:cNvPr>
          <p:cNvSpPr/>
          <p:nvPr/>
        </p:nvSpPr>
        <p:spPr>
          <a:xfrm>
            <a:off x="4318000" y="3492500"/>
            <a:ext cx="3556000" cy="1079500"/>
          </a:xfrm>
          <a:prstGeom prst="roundRect">
            <a:avLst/>
          </a:prstGeom>
          <a:solidFill>
            <a:srgbClr val="1E243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22" name="Rectangle 21">
            <a:extLst>
              <a:ext uri="{FF2B5EF4-FFF2-40B4-BE49-F238E27FC236}">
                <a16:creationId xmlns:a16="http://schemas.microsoft.com/office/drawing/2014/main" id="{AB3E1F40-3BD1-42E0-BDA9-A280110B1E6A}"/>
              </a:ext>
            </a:extLst>
          </p:cNvPr>
          <p:cNvSpPr/>
          <p:nvPr/>
        </p:nvSpPr>
        <p:spPr>
          <a:xfrm>
            <a:off x="4318000" y="3492500"/>
            <a:ext cx="3556000" cy="50800"/>
          </a:xfrm>
          <a:prstGeom prst="rect">
            <a:avLst/>
          </a:prstGeom>
          <a:solidFill>
            <a:srgbClr val="00E67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23" name="TextBox 22">
            <a:extLst>
              <a:ext uri="{FF2B5EF4-FFF2-40B4-BE49-F238E27FC236}">
                <a16:creationId xmlns:a16="http://schemas.microsoft.com/office/drawing/2014/main" id="{B51DE603-2D21-438D-9854-E06FFCEFAD25}"/>
              </a:ext>
            </a:extLst>
          </p:cNvPr>
          <p:cNvSpPr txBox="1"/>
          <p:nvPr/>
        </p:nvSpPr>
        <p:spPr>
          <a:xfrm>
            <a:off x="4470400" y="3644900"/>
            <a:ext cx="3251200" cy="330200"/>
          </a:xfrm>
          <a:prstGeom prst="rect">
            <a:avLst/>
          </a:prstGeom>
          <a:noFill/>
        </p:spPr>
        <p:txBody>
          <a:bodyPr vertOverflow="overflow" vert="horz" wrap="square" rtlCol="0" anchor="t">
            <a:noAutofit/>
          </a:bodyPr>
          <a:lstStyle/>
          <a:p>
            <a:pPr algn="l"/>
            <a:r>
              <a:rPr lang="en-CA" sz="1600" b="1">
                <a:solidFill>
                  <a:srgbClr val="00E676"/>
                </a:solidFill>
              </a:rPr>
              <a:t>Second-Life EV Batteries</a:t>
            </a:r>
          </a:p>
        </p:txBody>
      </p:sp>
      <p:sp>
        <p:nvSpPr>
          <p:cNvPr id="24" name="TextBox 23">
            <a:extLst>
              <a:ext uri="{FF2B5EF4-FFF2-40B4-BE49-F238E27FC236}">
                <a16:creationId xmlns:a16="http://schemas.microsoft.com/office/drawing/2014/main" id="{46652FE1-94D4-49C0-AB7D-AD033B70A142}"/>
              </a:ext>
            </a:extLst>
          </p:cNvPr>
          <p:cNvSpPr txBox="1"/>
          <p:nvPr/>
        </p:nvSpPr>
        <p:spPr>
          <a:xfrm>
            <a:off x="4470400" y="4000500"/>
            <a:ext cx="3251200" cy="482600"/>
          </a:xfrm>
          <a:prstGeom prst="rect">
            <a:avLst/>
          </a:prstGeom>
          <a:noFill/>
        </p:spPr>
        <p:txBody>
          <a:bodyPr vertOverflow="overflow" vert="horz" wrap="square" rtlCol="0" anchor="t">
            <a:noAutofit/>
          </a:bodyPr>
          <a:lstStyle/>
          <a:p>
            <a:pPr algn="l"/>
            <a:r>
              <a:rPr lang="en-US" sz="1400">
                <a:solidFill>
                  <a:srgbClr val="909090"/>
                </a:solidFill>
              </a:rPr>
              <a:t>Store energy for 24/7 continuous operation after sunset</a:t>
            </a:r>
            <a:endParaRPr lang="en-CA" sz="1400">
              <a:solidFill>
                <a:srgbClr val="909090"/>
              </a:solidFill>
            </a:endParaRPr>
          </a:p>
        </p:txBody>
      </p:sp>
      <p:sp>
        <p:nvSpPr>
          <p:cNvPr id="25" name="Arrow: Right 24">
            <a:extLst>
              <a:ext uri="{FF2B5EF4-FFF2-40B4-BE49-F238E27FC236}">
                <a16:creationId xmlns:a16="http://schemas.microsoft.com/office/drawing/2014/main" id="{79EF0763-EF38-47EE-8F06-B7B389350CDF}"/>
              </a:ext>
            </a:extLst>
          </p:cNvPr>
          <p:cNvSpPr/>
          <p:nvPr/>
        </p:nvSpPr>
        <p:spPr>
          <a:xfrm>
            <a:off x="7912100" y="3937000"/>
            <a:ext cx="177800" cy="177800"/>
          </a:xfrm>
          <a:prstGeom prst="rightArrow">
            <a:avLst/>
          </a:prstGeom>
          <a:solidFill>
            <a:srgbClr val="4040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26" name="Rectangle: Rounded Corners 25">
            <a:extLst>
              <a:ext uri="{FF2B5EF4-FFF2-40B4-BE49-F238E27FC236}">
                <a16:creationId xmlns:a16="http://schemas.microsoft.com/office/drawing/2014/main" id="{48E7FCEE-D631-41E9-9644-D063FD2FFFF9}"/>
              </a:ext>
            </a:extLst>
          </p:cNvPr>
          <p:cNvSpPr/>
          <p:nvPr/>
        </p:nvSpPr>
        <p:spPr>
          <a:xfrm>
            <a:off x="8128000" y="3492500"/>
            <a:ext cx="3556000" cy="1079500"/>
          </a:xfrm>
          <a:prstGeom prst="roundRect">
            <a:avLst/>
          </a:prstGeom>
          <a:solidFill>
            <a:srgbClr val="1E243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27" name="Rectangle 26">
            <a:extLst>
              <a:ext uri="{FF2B5EF4-FFF2-40B4-BE49-F238E27FC236}">
                <a16:creationId xmlns:a16="http://schemas.microsoft.com/office/drawing/2014/main" id="{681501F9-0C1E-4A7F-A386-4AC12A5595F3}"/>
              </a:ext>
            </a:extLst>
          </p:cNvPr>
          <p:cNvSpPr/>
          <p:nvPr/>
        </p:nvSpPr>
        <p:spPr>
          <a:xfrm>
            <a:off x="8128000" y="3492500"/>
            <a:ext cx="3556000" cy="50800"/>
          </a:xfrm>
          <a:prstGeom prst="rect">
            <a:avLst/>
          </a:prstGeom>
          <a:solidFill>
            <a:srgbClr val="00B0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28" name="TextBox 27">
            <a:extLst>
              <a:ext uri="{FF2B5EF4-FFF2-40B4-BE49-F238E27FC236}">
                <a16:creationId xmlns:a16="http://schemas.microsoft.com/office/drawing/2014/main" id="{D01DA8A4-1B3C-4601-8629-C2160365D72F}"/>
              </a:ext>
            </a:extLst>
          </p:cNvPr>
          <p:cNvSpPr txBox="1"/>
          <p:nvPr/>
        </p:nvSpPr>
        <p:spPr>
          <a:xfrm>
            <a:off x="8280400" y="3644900"/>
            <a:ext cx="3251200" cy="330200"/>
          </a:xfrm>
          <a:prstGeom prst="rect">
            <a:avLst/>
          </a:prstGeom>
          <a:noFill/>
        </p:spPr>
        <p:txBody>
          <a:bodyPr vertOverflow="overflow" vert="horz" wrap="square" rtlCol="0" anchor="t">
            <a:noAutofit/>
          </a:bodyPr>
          <a:lstStyle/>
          <a:p>
            <a:pPr algn="l"/>
            <a:r>
              <a:rPr lang="en-CA" sz="1600" b="1">
                <a:solidFill>
                  <a:srgbClr val="00B0FF"/>
                </a:solidFill>
              </a:rPr>
              <a:t>Crusoe Spark™ Data Center</a:t>
            </a:r>
          </a:p>
        </p:txBody>
      </p:sp>
      <p:sp>
        <p:nvSpPr>
          <p:cNvPr id="29" name="TextBox 28">
            <a:extLst>
              <a:ext uri="{FF2B5EF4-FFF2-40B4-BE49-F238E27FC236}">
                <a16:creationId xmlns:a16="http://schemas.microsoft.com/office/drawing/2014/main" id="{F0854CC7-D76D-401D-8817-64083CCD90DC}"/>
              </a:ext>
            </a:extLst>
          </p:cNvPr>
          <p:cNvSpPr txBox="1"/>
          <p:nvPr/>
        </p:nvSpPr>
        <p:spPr>
          <a:xfrm>
            <a:off x="8280400" y="4000500"/>
            <a:ext cx="3251200" cy="482600"/>
          </a:xfrm>
          <a:prstGeom prst="rect">
            <a:avLst/>
          </a:prstGeom>
          <a:noFill/>
        </p:spPr>
        <p:txBody>
          <a:bodyPr vertOverflow="overflow" vert="horz" wrap="square" rtlCol="0" anchor="t">
            <a:noAutofit/>
          </a:bodyPr>
          <a:lstStyle/>
          <a:p>
            <a:pPr algn="l"/>
            <a:r>
              <a:rPr lang="en-US" sz="1400">
                <a:solidFill>
                  <a:srgbClr val="909090"/>
                </a:solidFill>
              </a:rPr>
              <a:t>Modular AI compute with power, cooling &amp; GPU racks integrated</a:t>
            </a:r>
            <a:endParaRPr lang="en-CA" sz="1400">
              <a:solidFill>
                <a:srgbClr val="909090"/>
              </a:solidFill>
            </a:endParaRPr>
          </a:p>
        </p:txBody>
      </p:sp>
      <p:sp>
        <p:nvSpPr>
          <p:cNvPr id="30" name="Rectangle: Rounded Corners 29">
            <a:extLst>
              <a:ext uri="{FF2B5EF4-FFF2-40B4-BE49-F238E27FC236}">
                <a16:creationId xmlns:a16="http://schemas.microsoft.com/office/drawing/2014/main" id="{88315680-F9B0-48C2-A848-8C3BEA42EE76}"/>
              </a:ext>
            </a:extLst>
          </p:cNvPr>
          <p:cNvSpPr/>
          <p:nvPr/>
        </p:nvSpPr>
        <p:spPr>
          <a:xfrm>
            <a:off x="508000" y="4889500"/>
            <a:ext cx="11176000" cy="952500"/>
          </a:xfrm>
          <a:prstGeom prst="roundRect">
            <a:avLst/>
          </a:prstGeom>
          <a:solidFill>
            <a:srgbClr val="141A2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31" name="Rectangle 30">
            <a:extLst>
              <a:ext uri="{FF2B5EF4-FFF2-40B4-BE49-F238E27FC236}">
                <a16:creationId xmlns:a16="http://schemas.microsoft.com/office/drawing/2014/main" id="{A40BA2DB-CF13-45FB-95C8-F45A48C6869F}"/>
              </a:ext>
            </a:extLst>
          </p:cNvPr>
          <p:cNvSpPr/>
          <p:nvPr/>
        </p:nvSpPr>
        <p:spPr>
          <a:xfrm>
            <a:off x="508000" y="4889500"/>
            <a:ext cx="50800" cy="952500"/>
          </a:xfrm>
          <a:prstGeom prst="rect">
            <a:avLst/>
          </a:prstGeom>
          <a:solidFill>
            <a:srgbClr val="00E67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32" name="TextBox 31">
            <a:extLst>
              <a:ext uri="{FF2B5EF4-FFF2-40B4-BE49-F238E27FC236}">
                <a16:creationId xmlns:a16="http://schemas.microsoft.com/office/drawing/2014/main" id="{D0F56B12-0DE7-4BF0-9E42-12957B5EEA9F}"/>
              </a:ext>
            </a:extLst>
          </p:cNvPr>
          <p:cNvSpPr txBox="1"/>
          <p:nvPr/>
        </p:nvSpPr>
        <p:spPr>
          <a:xfrm>
            <a:off x="762000" y="4991100"/>
            <a:ext cx="10668000" cy="381000"/>
          </a:xfrm>
          <a:prstGeom prst="rect">
            <a:avLst/>
          </a:prstGeom>
          <a:noFill/>
        </p:spPr>
        <p:txBody>
          <a:bodyPr vertOverflow="overflow" vert="horz" wrap="square" rtlCol="0" anchor="t">
            <a:noAutofit/>
          </a:bodyPr>
          <a:lstStyle/>
          <a:p>
            <a:pPr algn="l"/>
            <a:r>
              <a:rPr lang="en-US" sz="1500" i="1">
                <a:solidFill>
                  <a:srgbClr val="D0D0D0"/>
                </a:solidFill>
              </a:rPr>
              <a:t>"Reused packs can be deployed at roughly half the cost of new systems, while offering comparable performance in stationary settings."</a:t>
            </a:r>
            <a:endParaRPr lang="en-CA" sz="1500" i="1">
              <a:solidFill>
                <a:srgbClr val="D0D0D0"/>
              </a:solidFill>
            </a:endParaRPr>
          </a:p>
        </p:txBody>
      </p:sp>
      <p:sp>
        <p:nvSpPr>
          <p:cNvPr id="33" name="TextBox 32">
            <a:extLst>
              <a:ext uri="{FF2B5EF4-FFF2-40B4-BE49-F238E27FC236}">
                <a16:creationId xmlns:a16="http://schemas.microsoft.com/office/drawing/2014/main" id="{57D5B761-13F9-4495-B133-281E062374A2}"/>
              </a:ext>
            </a:extLst>
          </p:cNvPr>
          <p:cNvSpPr txBox="1"/>
          <p:nvPr/>
        </p:nvSpPr>
        <p:spPr>
          <a:xfrm>
            <a:off x="762000" y="5397500"/>
            <a:ext cx="10668000" cy="355600"/>
          </a:xfrm>
          <a:prstGeom prst="rect">
            <a:avLst/>
          </a:prstGeom>
          <a:noFill/>
        </p:spPr>
        <p:txBody>
          <a:bodyPr vertOverflow="overflow" vert="horz" wrap="square" rtlCol="0" anchor="t">
            <a:noAutofit/>
          </a:bodyPr>
          <a:lstStyle/>
          <a:p>
            <a:pPr algn="l"/>
            <a:r>
              <a:rPr lang="en-US" sz="1400">
                <a:solidFill>
                  <a:srgbClr val="707070"/>
                </a:solidFill>
              </a:rPr>
              <a:t>— Redwood Materials  ·  Pipeline: 1+ GWh deployed, 5 GWh planned  ·  100+ MW projects in design  ·  Energy cost below grid prices</a:t>
            </a:r>
            <a:endParaRPr lang="en-CA" sz="1400">
              <a:solidFill>
                <a:srgbClr val="707070"/>
              </a:solidFill>
            </a:endParaRPr>
          </a:p>
        </p:txBody>
      </p:sp>
      <p:pic>
        <p:nvPicPr>
          <p:cNvPr id="34" name="Graphic 34" descr="Data center server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49000" y="279400"/>
            <a:ext cx="508000" cy="508000"/>
          </a:xfrm>
          <a:prstGeom prst="rect">
            <a:avLst/>
          </a:prstGeom>
        </p:spPr>
      </p:pic>
    </p:spTree>
    <p:extLst>
      <p:ext uri="{BB962C8B-B14F-4D97-AF65-F5344CB8AC3E}">
        <p14:creationId xmlns:p14="http://schemas.microsoft.com/office/powerpoint/2010/main" val="1758222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D56D0-AE4C-4E9F-3AF7-2B23FF573B52}"/>
              </a:ext>
            </a:extLst>
          </p:cNvPr>
          <p:cNvSpPr>
            <a:spLocks noGrp="1"/>
          </p:cNvSpPr>
          <p:nvPr>
            <p:ph type="title"/>
          </p:nvPr>
        </p:nvSpPr>
        <p:spPr>
          <a:xfrm>
            <a:off x="838200" y="254000"/>
            <a:ext cx="10515600" cy="698500"/>
          </a:xfrm>
        </p:spPr>
        <p:txBody>
          <a:bodyPr>
            <a:normAutofit/>
          </a:bodyPr>
          <a:lstStyle/>
          <a:p>
            <a:r>
              <a:rPr lang="en-CA" sz="3200"/>
              <a:t>Technical Challenges</a:t>
            </a:r>
          </a:p>
        </p:txBody>
      </p:sp>
      <p:sp>
        <p:nvSpPr>
          <p:cNvPr id="3" name="Oval 2">
            <a:extLst>
              <a:ext uri="{FF2B5EF4-FFF2-40B4-BE49-F238E27FC236}">
                <a16:creationId xmlns:a16="http://schemas.microsoft.com/office/drawing/2014/main" id="{B427D4EE-E218-454A-B10B-78849A9AF8FA}"/>
              </a:ext>
            </a:extLst>
          </p:cNvPr>
          <p:cNvSpPr/>
          <p:nvPr/>
        </p:nvSpPr>
        <p:spPr>
          <a:xfrm>
            <a:off x="1574800" y="2222500"/>
            <a:ext cx="660400" cy="660400"/>
          </a:xfrm>
          <a:prstGeom prst="ellipse">
            <a:avLst/>
          </a:prstGeom>
          <a:solidFill>
            <a:srgbClr val="FF6D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CA" sz="2200" b="1">
                <a:solidFill>
                  <a:srgbClr val="0D1117"/>
                </a:solidFill>
              </a:rPr>
              <a:t>!</a:t>
            </a:r>
          </a:p>
        </p:txBody>
      </p:sp>
      <p:sp>
        <p:nvSpPr>
          <p:cNvPr id="4" name="TextBox 3">
            <a:extLst>
              <a:ext uri="{FF2B5EF4-FFF2-40B4-BE49-F238E27FC236}">
                <a16:creationId xmlns:a16="http://schemas.microsoft.com/office/drawing/2014/main" id="{7B108C03-8878-4269-BE9C-3D562568D422}"/>
              </a:ext>
            </a:extLst>
          </p:cNvPr>
          <p:cNvSpPr txBox="1"/>
          <p:nvPr/>
        </p:nvSpPr>
        <p:spPr>
          <a:xfrm>
            <a:off x="635000" y="3086100"/>
            <a:ext cx="2540000" cy="444500"/>
          </a:xfrm>
          <a:prstGeom prst="rect">
            <a:avLst/>
          </a:prstGeom>
          <a:noFill/>
        </p:spPr>
        <p:txBody>
          <a:bodyPr vertOverflow="overflow" vert="horz" wrap="square" rtlCol="0" anchor="t">
            <a:noAutofit/>
          </a:bodyPr>
          <a:lstStyle/>
          <a:p>
            <a:pPr algn="l"/>
            <a:r>
              <a:rPr lang="en-CA" b="1">
                <a:solidFill>
                  <a:srgbClr val="F0F0F0"/>
                </a:solidFill>
              </a:rPr>
              <a:t>Cell Variability</a:t>
            </a:r>
          </a:p>
        </p:txBody>
      </p:sp>
      <p:sp>
        <p:nvSpPr>
          <p:cNvPr id="5" name="TextBox 4">
            <a:extLst>
              <a:ext uri="{FF2B5EF4-FFF2-40B4-BE49-F238E27FC236}">
                <a16:creationId xmlns:a16="http://schemas.microsoft.com/office/drawing/2014/main" id="{2FA21339-F944-4297-8FC3-A7D8494008DC}"/>
              </a:ext>
            </a:extLst>
          </p:cNvPr>
          <p:cNvSpPr txBox="1"/>
          <p:nvPr/>
        </p:nvSpPr>
        <p:spPr>
          <a:xfrm>
            <a:off x="635000" y="3619500"/>
            <a:ext cx="2540000" cy="1270000"/>
          </a:xfrm>
          <a:prstGeom prst="rect">
            <a:avLst/>
          </a:prstGeom>
          <a:noFill/>
        </p:spPr>
        <p:txBody>
          <a:bodyPr vertOverflow="overflow" vert="horz" wrap="square" rtlCol="0" anchor="t">
            <a:noAutofit/>
          </a:bodyPr>
          <a:lstStyle/>
          <a:p>
            <a:pPr algn="l"/>
            <a:r>
              <a:rPr lang="en-US" sz="1400">
                <a:solidFill>
                  <a:srgbClr val="A0A0A0"/>
                </a:solidFill>
              </a:rPr>
              <a:t>Inconsistent degradation across cells requires advanced sorting and matching algorithms</a:t>
            </a:r>
            <a:endParaRPr lang="en-CA" sz="1400">
              <a:solidFill>
                <a:srgbClr val="A0A0A0"/>
              </a:solidFill>
            </a:endParaRPr>
          </a:p>
        </p:txBody>
      </p:sp>
      <p:sp>
        <p:nvSpPr>
          <p:cNvPr id="6" name="Oval 5">
            <a:extLst>
              <a:ext uri="{FF2B5EF4-FFF2-40B4-BE49-F238E27FC236}">
                <a16:creationId xmlns:a16="http://schemas.microsoft.com/office/drawing/2014/main" id="{A36B97A0-449D-44A9-8E76-D2B2821546B0}"/>
              </a:ext>
            </a:extLst>
          </p:cNvPr>
          <p:cNvSpPr/>
          <p:nvPr/>
        </p:nvSpPr>
        <p:spPr>
          <a:xfrm>
            <a:off x="4368800" y="2222500"/>
            <a:ext cx="660400" cy="660400"/>
          </a:xfrm>
          <a:prstGeom prst="ellipse">
            <a:avLst/>
          </a:prstGeom>
          <a:solidFill>
            <a:srgbClr val="00B0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CA" sz="2200" b="1">
                <a:solidFill>
                  <a:srgbClr val="0D1117"/>
                </a:solidFill>
              </a:rPr>
              <a:t>⚙</a:t>
            </a:r>
          </a:p>
        </p:txBody>
      </p:sp>
      <p:sp>
        <p:nvSpPr>
          <p:cNvPr id="7" name="TextBox 6">
            <a:extLst>
              <a:ext uri="{FF2B5EF4-FFF2-40B4-BE49-F238E27FC236}">
                <a16:creationId xmlns:a16="http://schemas.microsoft.com/office/drawing/2014/main" id="{7B082DEF-08EA-4172-8BD4-95C50348A47A}"/>
              </a:ext>
            </a:extLst>
          </p:cNvPr>
          <p:cNvSpPr txBox="1"/>
          <p:nvPr/>
        </p:nvSpPr>
        <p:spPr>
          <a:xfrm>
            <a:off x="3429000" y="3086100"/>
            <a:ext cx="2540000" cy="444500"/>
          </a:xfrm>
          <a:prstGeom prst="rect">
            <a:avLst/>
          </a:prstGeom>
          <a:noFill/>
        </p:spPr>
        <p:txBody>
          <a:bodyPr vertOverflow="overflow" vert="horz" wrap="square" rtlCol="0" anchor="t">
            <a:noAutofit/>
          </a:bodyPr>
          <a:lstStyle/>
          <a:p>
            <a:pPr algn="l"/>
            <a:r>
              <a:rPr lang="en-CA" b="1">
                <a:solidFill>
                  <a:srgbClr val="F0F0F0"/>
                </a:solidFill>
              </a:rPr>
              <a:t>BMS Redesign</a:t>
            </a:r>
          </a:p>
        </p:txBody>
      </p:sp>
      <p:sp>
        <p:nvSpPr>
          <p:cNvPr id="8" name="TextBox 7">
            <a:extLst>
              <a:ext uri="{FF2B5EF4-FFF2-40B4-BE49-F238E27FC236}">
                <a16:creationId xmlns:a16="http://schemas.microsoft.com/office/drawing/2014/main" id="{0C0B38EC-1E4C-4CD4-856C-9802B2AB5BAB}"/>
              </a:ext>
            </a:extLst>
          </p:cNvPr>
          <p:cNvSpPr txBox="1"/>
          <p:nvPr/>
        </p:nvSpPr>
        <p:spPr>
          <a:xfrm>
            <a:off x="3429000" y="3619500"/>
            <a:ext cx="2540000" cy="1270000"/>
          </a:xfrm>
          <a:prstGeom prst="rect">
            <a:avLst/>
          </a:prstGeom>
          <a:noFill/>
        </p:spPr>
        <p:txBody>
          <a:bodyPr vertOverflow="overflow" vert="horz" wrap="square" rtlCol="0" anchor="t">
            <a:noAutofit/>
          </a:bodyPr>
          <a:lstStyle/>
          <a:p>
            <a:pPr algn="l"/>
            <a:r>
              <a:rPr lang="en-US" sz="1400">
                <a:solidFill>
                  <a:srgbClr val="A0A0A0"/>
                </a:solidFill>
              </a:rPr>
              <a:t>Second life packs need custom battery management systems for new duty cycles</a:t>
            </a:r>
            <a:endParaRPr lang="en-CA" sz="1400">
              <a:solidFill>
                <a:srgbClr val="A0A0A0"/>
              </a:solidFill>
            </a:endParaRPr>
          </a:p>
        </p:txBody>
      </p:sp>
      <p:sp>
        <p:nvSpPr>
          <p:cNvPr id="9" name="Oval 8">
            <a:extLst>
              <a:ext uri="{FF2B5EF4-FFF2-40B4-BE49-F238E27FC236}">
                <a16:creationId xmlns:a16="http://schemas.microsoft.com/office/drawing/2014/main" id="{CE4A7492-AA37-45EB-AE73-C5F67C2C5553}"/>
              </a:ext>
            </a:extLst>
          </p:cNvPr>
          <p:cNvSpPr/>
          <p:nvPr/>
        </p:nvSpPr>
        <p:spPr>
          <a:xfrm>
            <a:off x="7162800" y="2222500"/>
            <a:ext cx="660400" cy="660400"/>
          </a:xfrm>
          <a:prstGeom prst="ellipse">
            <a:avLst/>
          </a:prstGeom>
          <a:solidFill>
            <a:srgbClr val="7C4D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CA" sz="2200" b="1">
                <a:solidFill>
                  <a:srgbClr val="0D1117"/>
                </a:solidFill>
              </a:rPr>
              <a:t>⚡</a:t>
            </a:r>
          </a:p>
        </p:txBody>
      </p:sp>
      <p:sp>
        <p:nvSpPr>
          <p:cNvPr id="10" name="TextBox 9">
            <a:extLst>
              <a:ext uri="{FF2B5EF4-FFF2-40B4-BE49-F238E27FC236}">
                <a16:creationId xmlns:a16="http://schemas.microsoft.com/office/drawing/2014/main" id="{5DB9626E-5763-4C6F-87AE-468E74AD546E}"/>
              </a:ext>
            </a:extLst>
          </p:cNvPr>
          <p:cNvSpPr txBox="1"/>
          <p:nvPr/>
        </p:nvSpPr>
        <p:spPr>
          <a:xfrm>
            <a:off x="6223000" y="3086100"/>
            <a:ext cx="2540000" cy="444500"/>
          </a:xfrm>
          <a:prstGeom prst="rect">
            <a:avLst/>
          </a:prstGeom>
          <a:noFill/>
        </p:spPr>
        <p:txBody>
          <a:bodyPr vertOverflow="overflow" vert="horz" wrap="square" rtlCol="0" anchor="t">
            <a:noAutofit/>
          </a:bodyPr>
          <a:lstStyle/>
          <a:p>
            <a:pPr algn="l"/>
            <a:r>
              <a:rPr lang="en-CA" b="1">
                <a:solidFill>
                  <a:srgbClr val="F0F0F0"/>
                </a:solidFill>
              </a:rPr>
              <a:t>Safety Standards</a:t>
            </a:r>
          </a:p>
        </p:txBody>
      </p:sp>
      <p:sp>
        <p:nvSpPr>
          <p:cNvPr id="11" name="TextBox 10">
            <a:extLst>
              <a:ext uri="{FF2B5EF4-FFF2-40B4-BE49-F238E27FC236}">
                <a16:creationId xmlns:a16="http://schemas.microsoft.com/office/drawing/2014/main" id="{0D300F62-775E-438F-8000-92D583AC58AE}"/>
              </a:ext>
            </a:extLst>
          </p:cNvPr>
          <p:cNvSpPr txBox="1"/>
          <p:nvPr/>
        </p:nvSpPr>
        <p:spPr>
          <a:xfrm>
            <a:off x="6223000" y="3619500"/>
            <a:ext cx="2540000" cy="1270000"/>
          </a:xfrm>
          <a:prstGeom prst="rect">
            <a:avLst/>
          </a:prstGeom>
          <a:noFill/>
        </p:spPr>
        <p:txBody>
          <a:bodyPr vertOverflow="overflow" vert="horz" wrap="square" rtlCol="0" anchor="t">
            <a:noAutofit/>
          </a:bodyPr>
          <a:lstStyle/>
          <a:p>
            <a:pPr algn="l"/>
            <a:r>
              <a:rPr lang="en-US" sz="1400">
                <a:solidFill>
                  <a:srgbClr val="A0A0A0"/>
                </a:solidFill>
              </a:rPr>
              <a:t>No unified standards for second life certification — UL 1974 is emerging but not universal</a:t>
            </a:r>
            <a:endParaRPr lang="en-CA" sz="1400">
              <a:solidFill>
                <a:srgbClr val="A0A0A0"/>
              </a:solidFill>
            </a:endParaRPr>
          </a:p>
        </p:txBody>
      </p:sp>
      <p:sp>
        <p:nvSpPr>
          <p:cNvPr id="12" name="Oval 11">
            <a:extLst>
              <a:ext uri="{FF2B5EF4-FFF2-40B4-BE49-F238E27FC236}">
                <a16:creationId xmlns:a16="http://schemas.microsoft.com/office/drawing/2014/main" id="{FD2573C9-B091-476E-BAE8-959D7D583710}"/>
              </a:ext>
            </a:extLst>
          </p:cNvPr>
          <p:cNvSpPr/>
          <p:nvPr/>
        </p:nvSpPr>
        <p:spPr>
          <a:xfrm>
            <a:off x="9956800" y="2222500"/>
            <a:ext cx="660400" cy="660400"/>
          </a:xfrm>
          <a:prstGeom prst="ellipse">
            <a:avLst/>
          </a:prstGeom>
          <a:solidFill>
            <a:srgbClr val="00E67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CA" sz="2200" b="1">
                <a:solidFill>
                  <a:srgbClr val="0D1117"/>
                </a:solidFill>
              </a:rPr>
              <a:t>◎</a:t>
            </a:r>
          </a:p>
        </p:txBody>
      </p:sp>
      <p:sp>
        <p:nvSpPr>
          <p:cNvPr id="13" name="TextBox 12">
            <a:extLst>
              <a:ext uri="{FF2B5EF4-FFF2-40B4-BE49-F238E27FC236}">
                <a16:creationId xmlns:a16="http://schemas.microsoft.com/office/drawing/2014/main" id="{81ABCB59-3546-4EA9-BB4B-67DC27280504}"/>
              </a:ext>
            </a:extLst>
          </p:cNvPr>
          <p:cNvSpPr txBox="1"/>
          <p:nvPr/>
        </p:nvSpPr>
        <p:spPr>
          <a:xfrm>
            <a:off x="9017000" y="3086100"/>
            <a:ext cx="2540000" cy="444500"/>
          </a:xfrm>
          <a:prstGeom prst="rect">
            <a:avLst/>
          </a:prstGeom>
          <a:noFill/>
        </p:spPr>
        <p:txBody>
          <a:bodyPr vertOverflow="overflow" vert="horz" wrap="square" rtlCol="0" anchor="t">
            <a:noAutofit/>
          </a:bodyPr>
          <a:lstStyle/>
          <a:p>
            <a:pPr algn="l"/>
            <a:r>
              <a:rPr lang="en-CA" b="1">
                <a:solidFill>
                  <a:srgbClr val="F0F0F0"/>
                </a:solidFill>
              </a:rPr>
              <a:t>RUL Prediction</a:t>
            </a:r>
          </a:p>
        </p:txBody>
      </p:sp>
      <p:sp>
        <p:nvSpPr>
          <p:cNvPr id="14" name="TextBox 13">
            <a:extLst>
              <a:ext uri="{FF2B5EF4-FFF2-40B4-BE49-F238E27FC236}">
                <a16:creationId xmlns:a16="http://schemas.microsoft.com/office/drawing/2014/main" id="{E4B751A0-00BA-40CE-8CB6-719D27526350}"/>
              </a:ext>
            </a:extLst>
          </p:cNvPr>
          <p:cNvSpPr txBox="1"/>
          <p:nvPr/>
        </p:nvSpPr>
        <p:spPr>
          <a:xfrm>
            <a:off x="9017000" y="3619500"/>
            <a:ext cx="2540000" cy="1270000"/>
          </a:xfrm>
          <a:prstGeom prst="rect">
            <a:avLst/>
          </a:prstGeom>
          <a:noFill/>
        </p:spPr>
        <p:txBody>
          <a:bodyPr vertOverflow="overflow" vert="horz" wrap="square" rtlCol="0" anchor="t">
            <a:noAutofit/>
          </a:bodyPr>
          <a:lstStyle/>
          <a:p>
            <a:pPr algn="l"/>
            <a:r>
              <a:rPr lang="en-US" sz="1400">
                <a:solidFill>
                  <a:srgbClr val="A0A0A0"/>
                </a:solidFill>
              </a:rPr>
              <a:t>Remaining useful life estimation requires ML models trained on diverse degradation data</a:t>
            </a:r>
            <a:endParaRPr lang="en-CA" sz="1400">
              <a:solidFill>
                <a:srgbClr val="A0A0A0"/>
              </a:solidFill>
            </a:endParaRPr>
          </a:p>
        </p:txBody>
      </p:sp>
    </p:spTree>
    <p:extLst>
      <p:ext uri="{BB962C8B-B14F-4D97-AF65-F5344CB8AC3E}">
        <p14:creationId xmlns:p14="http://schemas.microsoft.com/office/powerpoint/2010/main" val="2062787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DB1F0-B6CB-F428-B0EE-020DA0DBE7D8}"/>
              </a:ext>
            </a:extLst>
          </p:cNvPr>
          <p:cNvSpPr>
            <a:spLocks noGrp="1"/>
          </p:cNvSpPr>
          <p:nvPr>
            <p:ph type="title"/>
          </p:nvPr>
        </p:nvSpPr>
        <p:spPr>
          <a:xfrm>
            <a:off x="838200" y="254000"/>
            <a:ext cx="10515600" cy="698500"/>
          </a:xfrm>
        </p:spPr>
        <p:txBody>
          <a:bodyPr>
            <a:normAutofit/>
          </a:bodyPr>
          <a:lstStyle/>
          <a:p>
            <a:r>
              <a:rPr lang="en-CA" sz="3200"/>
              <a:t>Outlook &amp; Key Metrics</a:t>
            </a:r>
          </a:p>
        </p:txBody>
      </p:sp>
      <p:sp>
        <p:nvSpPr>
          <p:cNvPr id="3" name="Rectangle: Rounded Corners 2">
            <a:extLst>
              <a:ext uri="{FF2B5EF4-FFF2-40B4-BE49-F238E27FC236}">
                <a16:creationId xmlns:a16="http://schemas.microsoft.com/office/drawing/2014/main" id="{66910989-33F1-4D9D-B40A-6371BA3A6293}"/>
              </a:ext>
            </a:extLst>
          </p:cNvPr>
          <p:cNvSpPr/>
          <p:nvPr/>
        </p:nvSpPr>
        <p:spPr>
          <a:xfrm>
            <a:off x="762000" y="1714500"/>
            <a:ext cx="3302000" cy="1651000"/>
          </a:xfrm>
          <a:prstGeom prst="roundRect">
            <a:avLst/>
          </a:prstGeom>
          <a:solidFill>
            <a:srgbClr val="1E243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4" name="TextBox 3">
            <a:extLst>
              <a:ext uri="{FF2B5EF4-FFF2-40B4-BE49-F238E27FC236}">
                <a16:creationId xmlns:a16="http://schemas.microsoft.com/office/drawing/2014/main" id="{F2901D19-A93F-44D0-956B-0811AF66C3E2}"/>
              </a:ext>
            </a:extLst>
          </p:cNvPr>
          <p:cNvSpPr txBox="1"/>
          <p:nvPr/>
        </p:nvSpPr>
        <p:spPr>
          <a:xfrm>
            <a:off x="762000" y="1866900"/>
            <a:ext cx="3302000" cy="635000"/>
          </a:xfrm>
          <a:prstGeom prst="rect">
            <a:avLst/>
          </a:prstGeom>
          <a:noFill/>
        </p:spPr>
        <p:txBody>
          <a:bodyPr vertOverflow="overflow" vert="horz" wrap="square" rtlCol="0" anchor="t">
            <a:noAutofit/>
          </a:bodyPr>
          <a:lstStyle/>
          <a:p>
            <a:pPr algn="l"/>
            <a:r>
              <a:rPr lang="en-CA" sz="3600" b="1">
                <a:solidFill>
                  <a:srgbClr val="00E676"/>
                </a:solidFill>
              </a:rPr>
              <a:t>$4.2B</a:t>
            </a:r>
          </a:p>
        </p:txBody>
      </p:sp>
      <p:sp>
        <p:nvSpPr>
          <p:cNvPr id="5" name="TextBox 4">
            <a:extLst>
              <a:ext uri="{FF2B5EF4-FFF2-40B4-BE49-F238E27FC236}">
                <a16:creationId xmlns:a16="http://schemas.microsoft.com/office/drawing/2014/main" id="{E8473EBC-453E-4D55-8E94-659F8E51183C}"/>
              </a:ext>
            </a:extLst>
          </p:cNvPr>
          <p:cNvSpPr txBox="1"/>
          <p:nvPr/>
        </p:nvSpPr>
        <p:spPr>
          <a:xfrm>
            <a:off x="762000" y="2578100"/>
            <a:ext cx="3302000" cy="660400"/>
          </a:xfrm>
          <a:prstGeom prst="rect">
            <a:avLst/>
          </a:prstGeom>
          <a:noFill/>
        </p:spPr>
        <p:txBody>
          <a:bodyPr vertOverflow="overflow" vert="horz" wrap="square" rtlCol="0" anchor="t">
            <a:noAutofit/>
          </a:bodyPr>
          <a:lstStyle/>
          <a:p>
            <a:pPr algn="l"/>
            <a:r>
              <a:rPr lang="en-US" sz="1500">
                <a:solidFill>
                  <a:srgbClr val="A0A0A0"/>
                </a:solidFill>
              </a:rPr>
              <a:t>Projected market size
by 2030</a:t>
            </a:r>
            <a:endParaRPr lang="en-CA" sz="1500">
              <a:solidFill>
                <a:srgbClr val="A0A0A0"/>
              </a:solidFill>
            </a:endParaRPr>
          </a:p>
        </p:txBody>
      </p:sp>
      <p:sp>
        <p:nvSpPr>
          <p:cNvPr id="6" name="Rectangle: Rounded Corners 5">
            <a:extLst>
              <a:ext uri="{FF2B5EF4-FFF2-40B4-BE49-F238E27FC236}">
                <a16:creationId xmlns:a16="http://schemas.microsoft.com/office/drawing/2014/main" id="{49C665E8-27B8-45C6-B77A-1D32BCB46F9A}"/>
              </a:ext>
            </a:extLst>
          </p:cNvPr>
          <p:cNvSpPr/>
          <p:nvPr/>
        </p:nvSpPr>
        <p:spPr>
          <a:xfrm>
            <a:off x="4445000" y="1714500"/>
            <a:ext cx="3302000" cy="1651000"/>
          </a:xfrm>
          <a:prstGeom prst="roundRect">
            <a:avLst/>
          </a:prstGeom>
          <a:solidFill>
            <a:srgbClr val="1E243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7" name="TextBox 6">
            <a:extLst>
              <a:ext uri="{FF2B5EF4-FFF2-40B4-BE49-F238E27FC236}">
                <a16:creationId xmlns:a16="http://schemas.microsoft.com/office/drawing/2014/main" id="{9CA03551-BBE4-4533-B741-6E10C265E06A}"/>
              </a:ext>
            </a:extLst>
          </p:cNvPr>
          <p:cNvSpPr txBox="1"/>
          <p:nvPr/>
        </p:nvSpPr>
        <p:spPr>
          <a:xfrm>
            <a:off x="4445000" y="1866900"/>
            <a:ext cx="3302000" cy="635000"/>
          </a:xfrm>
          <a:prstGeom prst="rect">
            <a:avLst/>
          </a:prstGeom>
          <a:noFill/>
        </p:spPr>
        <p:txBody>
          <a:bodyPr vertOverflow="overflow" vert="horz" wrap="square" rtlCol="0" anchor="t">
            <a:noAutofit/>
          </a:bodyPr>
          <a:lstStyle/>
          <a:p>
            <a:pPr algn="l"/>
            <a:r>
              <a:rPr lang="en-CA" sz="3600" b="1">
                <a:solidFill>
                  <a:srgbClr val="00B0FF"/>
                </a:solidFill>
              </a:rPr>
              <a:t>30–70%</a:t>
            </a:r>
          </a:p>
        </p:txBody>
      </p:sp>
      <p:sp>
        <p:nvSpPr>
          <p:cNvPr id="8" name="TextBox 7">
            <a:extLst>
              <a:ext uri="{FF2B5EF4-FFF2-40B4-BE49-F238E27FC236}">
                <a16:creationId xmlns:a16="http://schemas.microsoft.com/office/drawing/2014/main" id="{F34E7EFE-F503-4765-AEAF-AE274C063FD2}"/>
              </a:ext>
            </a:extLst>
          </p:cNvPr>
          <p:cNvSpPr txBox="1"/>
          <p:nvPr/>
        </p:nvSpPr>
        <p:spPr>
          <a:xfrm>
            <a:off x="4445000" y="2578100"/>
            <a:ext cx="3302000" cy="660400"/>
          </a:xfrm>
          <a:prstGeom prst="rect">
            <a:avLst/>
          </a:prstGeom>
          <a:noFill/>
        </p:spPr>
        <p:txBody>
          <a:bodyPr vertOverflow="overflow" vert="horz" wrap="square" rtlCol="0" anchor="t">
            <a:noAutofit/>
          </a:bodyPr>
          <a:lstStyle/>
          <a:p>
            <a:pPr algn="l"/>
            <a:r>
              <a:rPr lang="en-US" sz="1500">
                <a:solidFill>
                  <a:srgbClr val="A0A0A0"/>
                </a:solidFill>
              </a:rPr>
              <a:t>Cost savings vs.
new battery storage</a:t>
            </a:r>
            <a:endParaRPr lang="en-CA" sz="1500">
              <a:solidFill>
                <a:srgbClr val="A0A0A0"/>
              </a:solidFill>
            </a:endParaRPr>
          </a:p>
        </p:txBody>
      </p:sp>
      <p:sp>
        <p:nvSpPr>
          <p:cNvPr id="9" name="Rectangle: Rounded Corners 8">
            <a:extLst>
              <a:ext uri="{FF2B5EF4-FFF2-40B4-BE49-F238E27FC236}">
                <a16:creationId xmlns:a16="http://schemas.microsoft.com/office/drawing/2014/main" id="{911EA125-B923-4332-B403-C36178281C31}"/>
              </a:ext>
            </a:extLst>
          </p:cNvPr>
          <p:cNvSpPr/>
          <p:nvPr/>
        </p:nvSpPr>
        <p:spPr>
          <a:xfrm>
            <a:off x="8128000" y="1714500"/>
            <a:ext cx="3302000" cy="1651000"/>
          </a:xfrm>
          <a:prstGeom prst="roundRect">
            <a:avLst/>
          </a:prstGeom>
          <a:solidFill>
            <a:srgbClr val="1E243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0" name="TextBox 9">
            <a:extLst>
              <a:ext uri="{FF2B5EF4-FFF2-40B4-BE49-F238E27FC236}">
                <a16:creationId xmlns:a16="http://schemas.microsoft.com/office/drawing/2014/main" id="{FBDB53A9-D6A3-49F7-ADFA-7C881D3022D1}"/>
              </a:ext>
            </a:extLst>
          </p:cNvPr>
          <p:cNvSpPr txBox="1"/>
          <p:nvPr/>
        </p:nvSpPr>
        <p:spPr>
          <a:xfrm>
            <a:off x="8128000" y="1866900"/>
            <a:ext cx="3302000" cy="635000"/>
          </a:xfrm>
          <a:prstGeom prst="rect">
            <a:avLst/>
          </a:prstGeom>
          <a:noFill/>
        </p:spPr>
        <p:txBody>
          <a:bodyPr vertOverflow="overflow" vert="horz" wrap="square" rtlCol="0" anchor="t">
            <a:noAutofit/>
          </a:bodyPr>
          <a:lstStyle/>
          <a:p>
            <a:pPr algn="l"/>
            <a:r>
              <a:rPr lang="en-CA" sz="3600" b="1">
                <a:solidFill>
                  <a:srgbClr val="7C4DFF"/>
                </a:solidFill>
              </a:rPr>
              <a:t>5–10 yr</a:t>
            </a:r>
          </a:p>
        </p:txBody>
      </p:sp>
      <p:sp>
        <p:nvSpPr>
          <p:cNvPr id="11" name="TextBox 10">
            <a:extLst>
              <a:ext uri="{FF2B5EF4-FFF2-40B4-BE49-F238E27FC236}">
                <a16:creationId xmlns:a16="http://schemas.microsoft.com/office/drawing/2014/main" id="{D47FC5A9-9196-4748-A52D-52DCD84B5249}"/>
              </a:ext>
            </a:extLst>
          </p:cNvPr>
          <p:cNvSpPr txBox="1"/>
          <p:nvPr/>
        </p:nvSpPr>
        <p:spPr>
          <a:xfrm>
            <a:off x="8128000" y="2578100"/>
            <a:ext cx="3302000" cy="660400"/>
          </a:xfrm>
          <a:prstGeom prst="rect">
            <a:avLst/>
          </a:prstGeom>
          <a:noFill/>
        </p:spPr>
        <p:txBody>
          <a:bodyPr vertOverflow="overflow" vert="horz" wrap="square" rtlCol="0" anchor="t">
            <a:noAutofit/>
          </a:bodyPr>
          <a:lstStyle/>
          <a:p>
            <a:pPr algn="l"/>
            <a:r>
              <a:rPr lang="en-US" sz="1500">
                <a:solidFill>
                  <a:srgbClr val="A0A0A0"/>
                </a:solidFill>
              </a:rPr>
              <a:t>Additional service life
in second use</a:t>
            </a:r>
            <a:endParaRPr lang="en-CA" sz="1500">
              <a:solidFill>
                <a:srgbClr val="A0A0A0"/>
              </a:solidFill>
            </a:endParaRPr>
          </a:p>
        </p:txBody>
      </p:sp>
      <p:sp>
        <p:nvSpPr>
          <p:cNvPr id="12" name="TextBox 11">
            <a:extLst>
              <a:ext uri="{FF2B5EF4-FFF2-40B4-BE49-F238E27FC236}">
                <a16:creationId xmlns:a16="http://schemas.microsoft.com/office/drawing/2014/main" id="{478257C5-A7F1-45BE-B869-6B4418031905}"/>
              </a:ext>
            </a:extLst>
          </p:cNvPr>
          <p:cNvSpPr txBox="1"/>
          <p:nvPr/>
        </p:nvSpPr>
        <p:spPr>
          <a:xfrm>
            <a:off x="698500" y="3810000"/>
            <a:ext cx="3810000" cy="406400"/>
          </a:xfrm>
          <a:prstGeom prst="rect">
            <a:avLst/>
          </a:prstGeom>
          <a:noFill/>
        </p:spPr>
        <p:txBody>
          <a:bodyPr vertOverflow="overflow" vert="horz" wrap="square" rtlCol="0" anchor="t">
            <a:noAutofit/>
          </a:bodyPr>
          <a:lstStyle/>
          <a:p>
            <a:pPr algn="l"/>
            <a:r>
              <a:rPr lang="en-CA" sz="2000" b="1">
                <a:solidFill>
                  <a:srgbClr val="00E676"/>
                </a:solidFill>
              </a:rPr>
              <a:t>Key Takeaways</a:t>
            </a:r>
          </a:p>
        </p:txBody>
      </p:sp>
      <p:sp>
        <p:nvSpPr>
          <p:cNvPr id="13" name="Oval 12">
            <a:extLst>
              <a:ext uri="{FF2B5EF4-FFF2-40B4-BE49-F238E27FC236}">
                <a16:creationId xmlns:a16="http://schemas.microsoft.com/office/drawing/2014/main" id="{070FEEAD-9DE9-480F-AAEC-A55EF7CB5C6C}"/>
              </a:ext>
            </a:extLst>
          </p:cNvPr>
          <p:cNvSpPr/>
          <p:nvPr/>
        </p:nvSpPr>
        <p:spPr>
          <a:xfrm>
            <a:off x="762000" y="4381500"/>
            <a:ext cx="101600" cy="101600"/>
          </a:xfrm>
          <a:prstGeom prst="ellipse">
            <a:avLst/>
          </a:prstGeom>
          <a:solidFill>
            <a:srgbClr val="00E67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4" name="TextBox 13">
            <a:extLst>
              <a:ext uri="{FF2B5EF4-FFF2-40B4-BE49-F238E27FC236}">
                <a16:creationId xmlns:a16="http://schemas.microsoft.com/office/drawing/2014/main" id="{27ACB07C-C0CD-41AD-B657-21C6207360DD}"/>
              </a:ext>
            </a:extLst>
          </p:cNvPr>
          <p:cNvSpPr txBox="1"/>
          <p:nvPr/>
        </p:nvSpPr>
        <p:spPr>
          <a:xfrm>
            <a:off x="1016000" y="4318000"/>
            <a:ext cx="10541000" cy="381000"/>
          </a:xfrm>
          <a:prstGeom prst="rect">
            <a:avLst/>
          </a:prstGeom>
          <a:noFill/>
        </p:spPr>
        <p:txBody>
          <a:bodyPr vertOverflow="overflow" vert="horz" wrap="square" rtlCol="0" anchor="t">
            <a:noAutofit/>
          </a:bodyPr>
          <a:lstStyle/>
          <a:p>
            <a:pPr algn="l"/>
            <a:r>
              <a:rPr lang="en-US" sz="1600">
                <a:solidFill>
                  <a:srgbClr val="D0D0D0"/>
                </a:solidFill>
              </a:rPr>
              <a:t>Second life batteries enable circular economy for EV battery packs</a:t>
            </a:r>
            <a:endParaRPr lang="en-CA" sz="1600">
              <a:solidFill>
                <a:srgbClr val="D0D0D0"/>
              </a:solidFill>
            </a:endParaRPr>
          </a:p>
        </p:txBody>
      </p:sp>
      <p:sp>
        <p:nvSpPr>
          <p:cNvPr id="15" name="Oval 14">
            <a:extLst>
              <a:ext uri="{FF2B5EF4-FFF2-40B4-BE49-F238E27FC236}">
                <a16:creationId xmlns:a16="http://schemas.microsoft.com/office/drawing/2014/main" id="{054750E0-D27F-4A5E-8C32-B8125C1AA8E2}"/>
              </a:ext>
            </a:extLst>
          </p:cNvPr>
          <p:cNvSpPr/>
          <p:nvPr/>
        </p:nvSpPr>
        <p:spPr>
          <a:xfrm>
            <a:off x="762000" y="4914900"/>
            <a:ext cx="101600" cy="101600"/>
          </a:xfrm>
          <a:prstGeom prst="ellipse">
            <a:avLst/>
          </a:prstGeom>
          <a:solidFill>
            <a:srgbClr val="00E67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6" name="TextBox 15">
            <a:extLst>
              <a:ext uri="{FF2B5EF4-FFF2-40B4-BE49-F238E27FC236}">
                <a16:creationId xmlns:a16="http://schemas.microsoft.com/office/drawing/2014/main" id="{35E84EE7-A183-4E8A-92DA-320DC867073F}"/>
              </a:ext>
            </a:extLst>
          </p:cNvPr>
          <p:cNvSpPr txBox="1"/>
          <p:nvPr/>
        </p:nvSpPr>
        <p:spPr>
          <a:xfrm>
            <a:off x="1016000" y="4851400"/>
            <a:ext cx="10541000" cy="381000"/>
          </a:xfrm>
          <a:prstGeom prst="rect">
            <a:avLst/>
          </a:prstGeom>
          <a:noFill/>
        </p:spPr>
        <p:txBody>
          <a:bodyPr vertOverflow="overflow" vert="horz" wrap="square" rtlCol="0" anchor="t">
            <a:noAutofit/>
          </a:bodyPr>
          <a:lstStyle/>
          <a:p>
            <a:pPr algn="l"/>
            <a:r>
              <a:rPr lang="en-US" sz="1600">
                <a:solidFill>
                  <a:srgbClr val="D0D0D0"/>
                </a:solidFill>
              </a:rPr>
              <a:t>UL 1974 and IEC 63330 are defining safety and performance standards</a:t>
            </a:r>
            <a:endParaRPr lang="en-CA" sz="1600">
              <a:solidFill>
                <a:srgbClr val="D0D0D0"/>
              </a:solidFill>
            </a:endParaRPr>
          </a:p>
        </p:txBody>
      </p:sp>
      <p:sp>
        <p:nvSpPr>
          <p:cNvPr id="17" name="Oval 16">
            <a:extLst>
              <a:ext uri="{FF2B5EF4-FFF2-40B4-BE49-F238E27FC236}">
                <a16:creationId xmlns:a16="http://schemas.microsoft.com/office/drawing/2014/main" id="{6CE10A83-EDE1-4E14-A330-A3DD99BF88B3}"/>
              </a:ext>
            </a:extLst>
          </p:cNvPr>
          <p:cNvSpPr/>
          <p:nvPr/>
        </p:nvSpPr>
        <p:spPr>
          <a:xfrm>
            <a:off x="762000" y="5448300"/>
            <a:ext cx="101600" cy="101600"/>
          </a:xfrm>
          <a:prstGeom prst="ellipse">
            <a:avLst/>
          </a:prstGeom>
          <a:solidFill>
            <a:srgbClr val="00E67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8" name="TextBox 17">
            <a:extLst>
              <a:ext uri="{FF2B5EF4-FFF2-40B4-BE49-F238E27FC236}">
                <a16:creationId xmlns:a16="http://schemas.microsoft.com/office/drawing/2014/main" id="{9D71EFE0-BC4E-4883-B8EF-70FA440AC383}"/>
              </a:ext>
            </a:extLst>
          </p:cNvPr>
          <p:cNvSpPr txBox="1"/>
          <p:nvPr/>
        </p:nvSpPr>
        <p:spPr>
          <a:xfrm>
            <a:off x="1016000" y="5384800"/>
            <a:ext cx="10541000" cy="381000"/>
          </a:xfrm>
          <a:prstGeom prst="rect">
            <a:avLst/>
          </a:prstGeom>
          <a:noFill/>
        </p:spPr>
        <p:txBody>
          <a:bodyPr vertOverflow="overflow" vert="horz" wrap="square" rtlCol="0" anchor="t">
            <a:noAutofit/>
          </a:bodyPr>
          <a:lstStyle/>
          <a:p>
            <a:pPr algn="l"/>
            <a:r>
              <a:rPr lang="en-US" sz="1600">
                <a:solidFill>
                  <a:srgbClr val="D0D0D0"/>
                </a:solidFill>
              </a:rPr>
              <a:t>OEMs (BMW, Nissan, Renault) are building vertically integrated repurposing pipelines</a:t>
            </a:r>
            <a:endParaRPr lang="en-CA" sz="1600">
              <a:solidFill>
                <a:srgbClr val="D0D0D0"/>
              </a:solidFill>
            </a:endParaRPr>
          </a:p>
        </p:txBody>
      </p:sp>
      <p:sp>
        <p:nvSpPr>
          <p:cNvPr id="19" name="Oval 18">
            <a:extLst>
              <a:ext uri="{FF2B5EF4-FFF2-40B4-BE49-F238E27FC236}">
                <a16:creationId xmlns:a16="http://schemas.microsoft.com/office/drawing/2014/main" id="{038A6E5B-8367-49F4-9350-A03977F3A280}"/>
              </a:ext>
            </a:extLst>
          </p:cNvPr>
          <p:cNvSpPr/>
          <p:nvPr/>
        </p:nvSpPr>
        <p:spPr>
          <a:xfrm>
            <a:off x="762000" y="5981700"/>
            <a:ext cx="101600" cy="101600"/>
          </a:xfrm>
          <a:prstGeom prst="ellipse">
            <a:avLst/>
          </a:prstGeom>
          <a:solidFill>
            <a:srgbClr val="00E67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20" name="TextBox 19">
            <a:extLst>
              <a:ext uri="{FF2B5EF4-FFF2-40B4-BE49-F238E27FC236}">
                <a16:creationId xmlns:a16="http://schemas.microsoft.com/office/drawing/2014/main" id="{653C36C5-1225-42B8-AFD6-B9977D6A2EA7}"/>
              </a:ext>
            </a:extLst>
          </p:cNvPr>
          <p:cNvSpPr txBox="1"/>
          <p:nvPr/>
        </p:nvSpPr>
        <p:spPr>
          <a:xfrm>
            <a:off x="1016000" y="5918200"/>
            <a:ext cx="10541000" cy="381000"/>
          </a:xfrm>
          <a:prstGeom prst="rect">
            <a:avLst/>
          </a:prstGeom>
          <a:noFill/>
        </p:spPr>
        <p:txBody>
          <a:bodyPr vertOverflow="overflow" vert="horz" wrap="square" rtlCol="0" anchor="t">
            <a:noAutofit/>
          </a:bodyPr>
          <a:lstStyle/>
          <a:p>
            <a:pPr algn="l"/>
            <a:r>
              <a:rPr lang="en-US" sz="1600">
                <a:solidFill>
                  <a:srgbClr val="D0D0D0"/>
                </a:solidFill>
              </a:rPr>
              <a:t>AI-driven SOH diagnostics are reducing grading costs by up to 40%</a:t>
            </a:r>
            <a:endParaRPr lang="en-CA" sz="1600">
              <a:solidFill>
                <a:srgbClr val="D0D0D0"/>
              </a:solidFill>
            </a:endParaRPr>
          </a:p>
        </p:txBody>
      </p:sp>
    </p:spTree>
    <p:extLst>
      <p:ext uri="{BB962C8B-B14F-4D97-AF65-F5344CB8AC3E}">
        <p14:creationId xmlns:p14="http://schemas.microsoft.com/office/powerpoint/2010/main" val="4130077026"/>
      </p:ext>
    </p:extLst>
  </p:cSld>
  <p:clrMapOvr>
    <a:masterClrMapping/>
  </p:clrMapOvr>
</p:sld>
</file>

<file path=ppt/theme/theme1.xml><?xml version="1.0" encoding="utf-8"?>
<a:theme xmlns:a="http://schemas.openxmlformats.org/drawingml/2006/main" name="Office Theme">
  <a:themeElements>
    <a:clrScheme name="Second Life Dark">
      <a:dk1>
        <a:srgbClr val="F0F0F0"/>
      </a:dk1>
      <a:lt1>
        <a:srgbClr val="0D1117"/>
      </a:lt1>
      <a:dk2>
        <a:srgbClr val="A0A0A0"/>
      </a:dk2>
      <a:lt2>
        <a:srgbClr val="161B22"/>
      </a:lt2>
      <a:accent1>
        <a:srgbClr val="00E676"/>
      </a:accent1>
      <a:accent2>
        <a:srgbClr val="00B0FF"/>
      </a:accent2>
      <a:accent3>
        <a:srgbClr val="FF6D00"/>
      </a:accent3>
      <a:accent4>
        <a:srgbClr val="7C4DFF"/>
      </a:accent4>
      <a:accent5>
        <a:srgbClr val="FFD600"/>
      </a:accent5>
      <a:accent6>
        <a:srgbClr val="00BFA5"/>
      </a:accent6>
      <a:hlink>
        <a:srgbClr val="467886"/>
      </a:hlink>
      <a:folHlink>
        <a:srgbClr val="96607D"/>
      </a:folHlink>
    </a:clrScheme>
    <a:fontScheme name="Second Life Fonts">
      <a:majorFont>
        <a:latin typeface="Montserra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Sans Pro"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AAA94C1-42DF-489B-ADBE-60B85D5DB962}">
  <we:reference id="WA200010001" version="1.0.0.0" store="Omex" storeType="OMEX"/>
  <we:alternateReferences>
    <we:reference id="WA200010001" version="1.0.0.0" store="WA200010001"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58</TotalTime>
  <Words>2343</Words>
  <Application>Microsoft Office PowerPoint</Application>
  <PresentationFormat>Widescreen</PresentationFormat>
  <Paragraphs>135</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Montserrat</vt:lpstr>
      <vt:lpstr>Source Sans Pro</vt:lpstr>
      <vt:lpstr>Office Theme</vt:lpstr>
      <vt:lpstr>PowerPoint Presentation</vt:lpstr>
      <vt:lpstr>PowerPoint Presentation</vt:lpstr>
      <vt:lpstr>Repurposing Process</vt:lpstr>
      <vt:lpstr>Second Life Applications</vt:lpstr>
      <vt:lpstr>Case Study: Powering AI Data Centers</vt:lpstr>
      <vt:lpstr>Technical Challenges</vt:lpstr>
      <vt:lpstr>Outlook &amp; Key Metrics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Ryan Ahmed</dc:creator>
  <cp:lastModifiedBy>Ryan Ahmed</cp:lastModifiedBy>
  <cp:revision>3</cp:revision>
  <dcterms:created xsi:type="dcterms:W3CDTF">2026-03-09T00:48:23Z</dcterms:created>
  <dcterms:modified xsi:type="dcterms:W3CDTF">2026-03-09T02:46:05Z</dcterms:modified>
</cp:coreProperties>
</file>