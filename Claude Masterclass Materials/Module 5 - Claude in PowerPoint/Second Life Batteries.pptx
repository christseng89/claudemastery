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2" r:id="rId4"/>
    <p:sldId id="265" r:id="rId5"/>
    <p:sldId id="269" r:id="rId6"/>
    <p:sldId id="272" r:id="rId7"/>
    <p:sldId id="275" r:id="rId8"/>
    <p:sldId id="276" r:id="rId9"/>
    <p:sldId id="2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82347" autoAdjust="0"/>
  </p:normalViewPr>
  <p:slideViewPr>
    <p:cSldViewPr snapToGrid="0">
      <p:cViewPr varScale="1">
        <p:scale>
          <a:sx n="68" d="100"/>
          <a:sy n="68" d="100"/>
        </p:scale>
        <p:origin x="90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rPr lang="en-US" sz="1400" b="1" dirty="0">
                <a:solidFill>
                  <a:srgbClr val="1A1A2E"/>
                </a:solidFill>
              </a:rPr>
              <a:t>Cost per kWh ($/kWh)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New Battery</c:v>
          </c:tx>
          <c:spPr>
            <a:solidFill>
              <a:srgbClr val="0077B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Grid Storage</c:v>
              </c:pt>
              <c:pt idx="1">
                <c:v>Commercial</c:v>
              </c:pt>
              <c:pt idx="2">
                <c:v>Residential</c:v>
              </c:pt>
            </c:strLit>
          </c:cat>
          <c:val>
            <c:numLit>
              <c:formatCode>General</c:formatCode>
              <c:ptCount val="3"/>
              <c:pt idx="0">
                <c:v>280</c:v>
              </c:pt>
              <c:pt idx="1">
                <c:v>320</c:v>
              </c:pt>
              <c:pt idx="2">
                <c:v>350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96C-4499-8288-E122C5307AE2}"/>
            </c:ext>
          </c:extLst>
        </c:ser>
        <c:ser>
          <c:idx val="1"/>
          <c:order val="1"/>
          <c:tx>
            <c:v>Second Life</c:v>
          </c:tx>
          <c:spPr>
            <a:solidFill>
              <a:srgbClr val="2DC65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Grid Storage</c:v>
              </c:pt>
              <c:pt idx="1">
                <c:v>Commercial</c:v>
              </c:pt>
              <c:pt idx="2">
                <c:v>Residential</c:v>
              </c:pt>
            </c:strLit>
          </c:cat>
          <c:val>
            <c:numLit>
              <c:formatCode>General</c:formatCode>
              <c:ptCount val="3"/>
              <c:pt idx="0">
                <c:v>120</c:v>
              </c:pt>
              <c:pt idx="1">
                <c:v>150</c:v>
              </c:pt>
              <c:pt idx="2">
                <c:v>180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96C-4499-8288-E122C5307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5594-BF8B-98E4-43DE-9C8EBEA52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A3496-BB05-DAB8-2EF3-9FB99F027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8CFE6-9DC7-B01C-1678-91CD07408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B6CB-8AC0-97C5-844C-6A06D2DB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3F885-4909-D338-7982-48D1AFA70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877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70F9-31D3-EBAA-3347-EA2E40CC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9FB48-D8A3-5A30-2F35-90914FC5C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85447-0CF2-8239-BB30-9B2168258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6A90-2692-7493-29B7-2DAA559B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38F40-C359-605A-434F-7B29815B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80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7841-5CB1-28C3-21E4-355565162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82739-ABF2-FD96-4B20-A45B69B09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AB27-04A4-D95E-EDDF-547F3A0A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39D6B-9ECD-71DA-D672-709412B3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85686-3EC8-B1E4-3F1E-3823B7A3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766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344E-59D9-70C1-02D4-09E68026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71AB-9D1B-8D49-5BBA-846765462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189F3-AFF4-746D-69B2-7486C4877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D3D57-91FE-BC52-BA41-E30DA180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80481-B01B-F86C-F3FB-779A6D71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09EB0-7A03-6E8B-111B-95D1133A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06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4026-6A5F-821D-BD08-3BB9D5FB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4EBEF-A8CB-2363-FFB8-FE47656FB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FCED-CC33-2D7B-D068-2A1046CEF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7E032-A0BF-195A-BCC0-60D064432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BB3A1-5C1C-22A7-746C-D5C97DA02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613E6-E3AA-441A-CFB2-1B11CA5A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01E074-8B84-45B7-EC44-58E4D319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D3CE9-6D33-8C92-E517-4E43B470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530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698F-8102-1ABF-DE89-7999F6E3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E5A99-779C-ECD9-D32E-B9F64D3E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CDED4-B60D-E582-DFC3-684F8313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4B34B-11BC-DF3D-9C6A-B53FD846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620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F3997F-C27B-EF60-FECB-E3C6E7EF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7D431-1CC7-59B9-20DA-9166565F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FF919-04E1-14D7-6033-E84B62AB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099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DFF8-07BE-E6E6-068B-261B93073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C476A-5CC2-9D1D-5057-7AE607A22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99D15-C2CC-1547-EE37-6410D0F3C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913DF-91F4-76DE-E0E1-2913961D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4740-9233-4BC8-2440-E0102999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3008C-B700-22FE-1C56-1D8E43D9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623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FB15-87CC-DD8E-B58A-75BF6EE1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95B0F-BDB2-A7FE-B60C-992D1B73F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515D2-8B2D-F89D-737C-3F5199339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FEB72-AB91-1EF4-4400-C81CAB8E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83ABD-C8BA-CE1E-EAB6-15BFF8FA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02DBF-5FD6-985C-F759-D1E797F4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331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FD74B-1FFA-78FA-D22F-C94A5567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EDFFF-1866-8AEE-6B40-73E1F5411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7B433-57DA-872E-29AB-CEB7503E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6B4A6-C650-0174-06C7-CEC39A2B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E13C9-A81C-0CAB-94FF-32BD67F8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874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D0E44-5268-4929-E338-1C0CACD73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B93D3-01EB-E0BB-258E-70978CDB5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038A9-969A-B344-AC6D-FB40C7B5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7CD88-5FE6-395E-9D02-E95A15B1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67C84-4AF6-2EEF-BC67-AD062F2B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55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A1399-71AC-7474-EB96-7F3C2B82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E6914-8F11-B0AE-DDBC-939C3D0D6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3E8ED-A6BB-D3C5-1ACF-C691F50E7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A2C49-2496-46C8-AF72-1ED6F8E431F5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D502E-41DD-20C9-5C10-F5B4EA074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88DB5-4776-BB32-32EB-F590612C7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45847-B5B2-40F7-9856-8DD0616608FA}" type="slidenum">
              <a:rPr lang="en-CA" smtClean="0"/>
              <a:t>‹#›</a:t>
            </a:fld>
            <a:endParaRPr lang="en-CA"/>
          </a:p>
        </p:txBody>
      </p:sp>
      <p:sp>
        <p:nvSpPr>
          <p:cNvPr id="100" name="Top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>
            <a:gsLst>
              <a:gs pos="0">
                <a:srgbClr val="0077B6"/>
              </a:gs>
              <a:gs pos="50000">
                <a:srgbClr val="00B4D8"/>
              </a:gs>
              <a:gs pos="100000">
                <a:srgbClr val="2DC65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ttomLine"/>
          <p:cNvSpPr/>
          <p:nvPr/>
        </p:nvSpPr>
        <p:spPr>
          <a:xfrm>
            <a:off x="457200" y="6583680"/>
            <a:ext cx="11277600" cy="0"/>
          </a:xfrm>
          <a:prstGeom prst="line">
            <a:avLst/>
          </a:prstGeom>
          <a:ln w="9525">
            <a:solidFill>
              <a:srgbClr val="D0D8E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2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E4B2-995F-211C-F534-5CC3062CD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49500"/>
            <a:ext cx="9144000" cy="1089529"/>
          </a:xfrm>
        </p:spPr>
        <p:txBody>
          <a:bodyPr>
            <a:spAutoFit/>
          </a:bodyPr>
          <a:lstStyle/>
          <a:p>
            <a:r>
              <a:rPr lang="en-US" sz="3600"/>
              <a:t>Second Life Batteries
in Electric Vehicles</a:t>
            </a:r>
            <a:endParaRPr lang="en-CA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5CAE9-9E51-4AF8-E764-FAB99C27A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000"/>
            <a:ext cx="9144000" cy="719171"/>
          </a:xfrm>
        </p:spPr>
        <p:txBody>
          <a:bodyPr>
            <a:spAutoFit/>
          </a:bodyPr>
          <a:lstStyle/>
          <a:p>
            <a:r>
              <a:rPr lang="en-US" sz="1800"/>
              <a:t>Repurposing EV Batteries for Stationary Energy Storage:
A Technical and Economic Review</a:t>
            </a:r>
            <a:endParaRPr lang="en-CA" sz="1800"/>
          </a:p>
        </p:txBody>
      </p:sp>
    </p:spTree>
    <p:extLst>
      <p:ext uri="{BB962C8B-B14F-4D97-AF65-F5344CB8AC3E}">
        <p14:creationId xmlns:p14="http://schemas.microsoft.com/office/powerpoint/2010/main" val="583363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DFBDC-3575-4CB7-82B5-AFE56DAFD1ED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>
                <a:solidFill>
                  <a:srgbClr val="1A1A2E"/>
                </a:solidFill>
              </a:rPr>
              <a:t>Introduction &amp; 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2C764-7815-43FD-849B-14807E9AC5E8}"/>
              </a:ext>
            </a:extLst>
          </p:cNvPr>
          <p:cNvSpPr txBox="1"/>
          <p:nvPr/>
        </p:nvSpPr>
        <p:spPr>
          <a:xfrm>
            <a:off x="635000" y="1270000"/>
            <a:ext cx="10922000" cy="21236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7B6"/>
                </a:solidFill>
              </a:rPr>
              <a:t>The EV Battery Challenge</a:t>
            </a: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2D3A4A"/>
                </a:solidFill>
              </a:rPr>
              <a:t>Global EV sales surpassed 14 million units in 2023, driving exponential growth in lithium-ion battery deployment</a:t>
            </a: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2D3A4A"/>
                </a:solidFill>
              </a:rPr>
              <a:t>EV batteries reach end-of-vehicle-life at </a:t>
            </a:r>
            <a:r>
              <a:rPr lang="en-US" sz="1600" b="1" dirty="0">
                <a:solidFill>
                  <a:srgbClr val="0077B6"/>
                </a:solidFill>
              </a:rPr>
              <a:t>70–80% State of Health (SOH)</a:t>
            </a:r>
            <a:r>
              <a:rPr lang="en-US" sz="1600" dirty="0">
                <a:solidFill>
                  <a:srgbClr val="2D3A4A"/>
                </a:solidFill>
              </a:rPr>
              <a:t>, retaining significant usable capacity</a:t>
            </a: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2D3A4A"/>
                </a:solidFill>
              </a:rPr>
              <a:t>By 2030, an estimated </a:t>
            </a:r>
            <a:r>
              <a:rPr lang="en-US" sz="1600" b="1" dirty="0">
                <a:solidFill>
                  <a:srgbClr val="0077B6"/>
                </a:solidFill>
              </a:rPr>
              <a:t>12 million metric tons</a:t>
            </a:r>
            <a:r>
              <a:rPr lang="en-US" sz="1600" dirty="0">
                <a:solidFill>
                  <a:srgbClr val="2D3A4A"/>
                </a:solidFill>
              </a:rPr>
              <a:t> of EV batteries will require end-of-life management</a:t>
            </a:r>
          </a:p>
          <a:p>
            <a:pPr>
              <a:buNone/>
            </a:pPr>
            <a:r>
              <a:rPr lang="en-US" sz="1800" b="1" dirty="0">
                <a:solidFill>
                  <a:srgbClr val="0077B6"/>
                </a:solidFill>
              </a:rPr>
              <a:t>Why Second Life?</a:t>
            </a: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2D3A4A"/>
                </a:solidFill>
              </a:rPr>
              <a:t>Direct recycling recovers materials but wastes remaining energy capacity</a:t>
            </a: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2D3A4A"/>
                </a:solidFill>
              </a:rPr>
              <a:t>Second life applications extend useful life by 5–10 years before recycling</a:t>
            </a: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2D3A4A"/>
                </a:solidFill>
              </a:rPr>
              <a:t>Aligns with circular economy principles and EU Battery Regulation (2023/1542)</a:t>
            </a:r>
          </a:p>
        </p:txBody>
      </p:sp>
    </p:spTree>
    <p:extLst>
      <p:ext uri="{BB962C8B-B14F-4D97-AF65-F5344CB8AC3E}">
        <p14:creationId xmlns:p14="http://schemas.microsoft.com/office/powerpoint/2010/main" val="250663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25C2D-607D-482F-9F78-CD338FF6A230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1A2E"/>
                </a:solidFill>
              </a:rPr>
              <a:t>What Are Second Life Batteries?</a:t>
            </a:r>
            <a:endParaRPr lang="en-CA" sz="3200" b="1">
              <a:solidFill>
                <a:srgbClr val="1A1A2E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08B671-06A2-4782-BD0D-E90915C65903}"/>
              </a:ext>
            </a:extLst>
          </p:cNvPr>
          <p:cNvSpPr/>
          <p:nvPr/>
        </p:nvSpPr>
        <p:spPr>
          <a:xfrm>
            <a:off x="635000" y="1397000"/>
            <a:ext cx="10922000" cy="1016000"/>
          </a:xfrm>
          <a:prstGeom prst="roundRect">
            <a:avLst/>
          </a:prstGeom>
          <a:solidFill>
            <a:srgbClr val="F0F4F8"/>
          </a:solidFill>
          <a:ln w="19050" cap="flat" cmpd="sng" algn="ctr">
            <a:solidFill>
              <a:srgbClr val="0077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474BE-DF31-45A3-80F5-171E1747F2C8}"/>
              </a:ext>
            </a:extLst>
          </p:cNvPr>
          <p:cNvSpPr txBox="1"/>
          <p:nvPr/>
        </p:nvSpPr>
        <p:spPr>
          <a:xfrm>
            <a:off x="889000" y="1524000"/>
            <a:ext cx="10414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1A1A2E"/>
                </a:solidFill>
              </a:rPr>
              <a:t>Second life batteries are lithium-ion battery packs retired from electric vehicles that retain 70–80% of original capacity, repurposed for less demanding stationary energy storage applications.</a:t>
            </a:r>
            <a:endParaRPr lang="en-CA" sz="1600">
              <a:solidFill>
                <a:srgbClr val="1A1A2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D733E-B4C6-4734-9AE4-08BCFA80E319}"/>
              </a:ext>
            </a:extLst>
          </p:cNvPr>
          <p:cNvSpPr txBox="1"/>
          <p:nvPr/>
        </p:nvSpPr>
        <p:spPr>
          <a:xfrm>
            <a:off x="635000" y="2921000"/>
            <a:ext cx="5207000" cy="152349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7B6"/>
                </a:solidFill>
              </a:rPr>
              <a:t>Repurposing Process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Collection and dismantling from retired EVs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State of Health (SOH) testing and grading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Module-level or pack-level reconfiguration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Integration with new BMS for second application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Deployment in stationary storage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ABFEC-FBD5-4495-9CD3-3C1CF6C58452}"/>
              </a:ext>
            </a:extLst>
          </p:cNvPr>
          <p:cNvSpPr txBox="1"/>
          <p:nvPr/>
        </p:nvSpPr>
        <p:spPr>
          <a:xfrm>
            <a:off x="6350000" y="2921000"/>
            <a:ext cx="5207000" cy="180049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7B6"/>
                </a:solidFill>
              </a:rPr>
              <a:t>Key Thresholds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rgbClr val="0077B6"/>
                </a:solidFill>
              </a:rPr>
              <a:t>100–80% SOH:</a:t>
            </a:r>
            <a:r>
              <a:rPr lang="en-US" sz="1500" dirty="0">
                <a:solidFill>
                  <a:srgbClr val="2D3A4A"/>
                </a:solidFill>
              </a:rPr>
              <a:t> First life (in-vehicle use)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rgbClr val="0077B6"/>
                </a:solidFill>
              </a:rPr>
              <a:t>80–40% SOH:</a:t>
            </a:r>
            <a:r>
              <a:rPr lang="en-US" sz="1500" dirty="0">
                <a:solidFill>
                  <a:srgbClr val="2D3A4A"/>
                </a:solidFill>
              </a:rPr>
              <a:t> Second life applications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rgbClr val="0077B6"/>
                </a:solidFill>
              </a:rPr>
              <a:t>&lt;40% SOH:</a:t>
            </a:r>
            <a:r>
              <a:rPr lang="en-US" sz="1500" dirty="0">
                <a:solidFill>
                  <a:srgbClr val="2D3A4A"/>
                </a:solidFill>
              </a:rPr>
              <a:t> Material recycling stage</a:t>
            </a:r>
          </a:p>
          <a:p>
            <a:pPr>
              <a:buNone/>
            </a:pPr>
            <a:r>
              <a:rPr lang="en-US" sz="1800" b="1" dirty="0">
                <a:solidFill>
                  <a:srgbClr val="0077B6"/>
                </a:solidFill>
              </a:rPr>
              <a:t>Repurposing vs. Recycling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Repurposing maximizes value before material recovery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Cascade model: Use → Reuse → Recycle</a:t>
            </a:r>
          </a:p>
        </p:txBody>
      </p:sp>
    </p:spTree>
    <p:extLst>
      <p:ext uri="{BB962C8B-B14F-4D97-AF65-F5344CB8AC3E}">
        <p14:creationId xmlns:p14="http://schemas.microsoft.com/office/powerpoint/2010/main" val="33099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BE8D61-16B0-4254-8E1E-2A87ED2B1709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>
                <a:solidFill>
                  <a:srgbClr val="1A1A2E"/>
                </a:solidFill>
              </a:rPr>
              <a:t>Key Applications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097505-3BC0-4386-8AB3-26BD73C010F9}"/>
              </a:ext>
            </a:extLst>
          </p:cNvPr>
          <p:cNvSpPr/>
          <p:nvPr/>
        </p:nvSpPr>
        <p:spPr>
          <a:xfrm>
            <a:off x="635000" y="1333500"/>
            <a:ext cx="5207000" cy="241300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0077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771CA-9C2C-4822-8760-3667F63EF2B1}"/>
              </a:ext>
            </a:extLst>
          </p:cNvPr>
          <p:cNvSpPr/>
          <p:nvPr/>
        </p:nvSpPr>
        <p:spPr>
          <a:xfrm>
            <a:off x="762000" y="1435100"/>
            <a:ext cx="63500" cy="2209800"/>
          </a:xfrm>
          <a:prstGeom prst="rect">
            <a:avLst/>
          </a:prstGeom>
          <a:solidFill>
            <a:srgbClr val="0077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14FC7-62B2-4687-AAA1-2254583EE48C}"/>
              </a:ext>
            </a:extLst>
          </p:cNvPr>
          <p:cNvSpPr txBox="1"/>
          <p:nvPr/>
        </p:nvSpPr>
        <p:spPr>
          <a:xfrm>
            <a:off x="952500" y="1485900"/>
            <a:ext cx="4699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b="1">
                <a:solidFill>
                  <a:srgbClr val="0077B6"/>
                </a:solidFill>
              </a:rPr>
              <a:t>Grid-Scale Energy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E023A-69CA-4496-9257-4F5BA89CEFB9}"/>
              </a:ext>
            </a:extLst>
          </p:cNvPr>
          <p:cNvSpPr txBox="1"/>
          <p:nvPr/>
        </p:nvSpPr>
        <p:spPr>
          <a:xfrm>
            <a:off x="952500" y="1968500"/>
            <a:ext cx="4699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2D3A4A"/>
                </a:solidFill>
              </a:rPr>
              <a:t>Peak shaving and load leveling
Frequency regulation services
Capacity: 1–100 MWh systems</a:t>
            </a:r>
            <a:endParaRPr lang="en-CA" sz="1500" dirty="0">
              <a:solidFill>
                <a:srgbClr val="2D3A4A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8967D3-56FD-4895-931E-09C4447D724C}"/>
              </a:ext>
            </a:extLst>
          </p:cNvPr>
          <p:cNvSpPr/>
          <p:nvPr/>
        </p:nvSpPr>
        <p:spPr>
          <a:xfrm>
            <a:off x="6096000" y="1333500"/>
            <a:ext cx="5207000" cy="241300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2DC65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2F2C8-5E7B-426E-8F8D-8BCFF52DF0BD}"/>
              </a:ext>
            </a:extLst>
          </p:cNvPr>
          <p:cNvSpPr/>
          <p:nvPr/>
        </p:nvSpPr>
        <p:spPr>
          <a:xfrm>
            <a:off x="6223000" y="1435100"/>
            <a:ext cx="63500" cy="2209800"/>
          </a:xfrm>
          <a:prstGeom prst="rect">
            <a:avLst/>
          </a:prstGeom>
          <a:solidFill>
            <a:srgbClr val="2DC6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0667B-D8CA-4BD1-8A1F-3FF521CC2C4E}"/>
              </a:ext>
            </a:extLst>
          </p:cNvPr>
          <p:cNvSpPr txBox="1"/>
          <p:nvPr/>
        </p:nvSpPr>
        <p:spPr>
          <a:xfrm>
            <a:off x="6413500" y="1485900"/>
            <a:ext cx="4699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b="1">
                <a:solidFill>
                  <a:srgbClr val="2DC653"/>
                </a:solidFill>
              </a:rPr>
              <a:t>Renewable Energy Integration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2039A-960A-44D6-9037-1D5A9FB9CD03}"/>
              </a:ext>
            </a:extLst>
          </p:cNvPr>
          <p:cNvSpPr txBox="1"/>
          <p:nvPr/>
        </p:nvSpPr>
        <p:spPr>
          <a:xfrm>
            <a:off x="6413500" y="1968500"/>
            <a:ext cx="4699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D3A4A"/>
                </a:solidFill>
              </a:rPr>
              <a:t>Solar and wind power buffering
Smoothing intermittent generation
Microgrid stabilization</a:t>
            </a:r>
            <a:endParaRPr lang="en-CA" sz="1500">
              <a:solidFill>
                <a:srgbClr val="2D3A4A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3F5303-88D7-4B1A-A8DC-14776DC5E5E8}"/>
              </a:ext>
            </a:extLst>
          </p:cNvPr>
          <p:cNvSpPr/>
          <p:nvPr/>
        </p:nvSpPr>
        <p:spPr>
          <a:xfrm>
            <a:off x="635000" y="4000500"/>
            <a:ext cx="5207000" cy="241300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00B4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EBCEE-4E53-4CDA-A8CC-9B43BE3526B8}"/>
              </a:ext>
            </a:extLst>
          </p:cNvPr>
          <p:cNvSpPr/>
          <p:nvPr/>
        </p:nvSpPr>
        <p:spPr>
          <a:xfrm>
            <a:off x="762000" y="4102100"/>
            <a:ext cx="63500" cy="2209800"/>
          </a:xfrm>
          <a:prstGeom prst="rect">
            <a:avLst/>
          </a:prstGeom>
          <a:solidFill>
            <a:srgbClr val="00B4D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2019B-92FC-44A3-8DB1-8BEA293A514E}"/>
              </a:ext>
            </a:extLst>
          </p:cNvPr>
          <p:cNvSpPr txBox="1"/>
          <p:nvPr/>
        </p:nvSpPr>
        <p:spPr>
          <a:xfrm>
            <a:off x="952500" y="4152900"/>
            <a:ext cx="4699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b="1">
                <a:solidFill>
                  <a:srgbClr val="00B4D8"/>
                </a:solidFill>
              </a:rPr>
              <a:t>Commercial &amp; Industrial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AB8C7B-202D-4102-9C30-E01B6DECEE92}"/>
              </a:ext>
            </a:extLst>
          </p:cNvPr>
          <p:cNvSpPr txBox="1"/>
          <p:nvPr/>
        </p:nvSpPr>
        <p:spPr>
          <a:xfrm>
            <a:off x="952500" y="4635500"/>
            <a:ext cx="4699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D3A4A"/>
                </a:solidFill>
              </a:rPr>
              <a:t>Behind-the-meter storage
Demand charge reduction
UPS and backup power systems</a:t>
            </a:r>
            <a:endParaRPr lang="en-CA" sz="1500">
              <a:solidFill>
                <a:srgbClr val="2D3A4A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2DE1D1-35D6-4F79-BEEA-F6B6068F97AF}"/>
              </a:ext>
            </a:extLst>
          </p:cNvPr>
          <p:cNvSpPr/>
          <p:nvPr/>
        </p:nvSpPr>
        <p:spPr>
          <a:xfrm>
            <a:off x="6096000" y="4000500"/>
            <a:ext cx="5207000" cy="241300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654AA2-5117-4C5D-B06B-7A14F757582D}"/>
              </a:ext>
            </a:extLst>
          </p:cNvPr>
          <p:cNvSpPr/>
          <p:nvPr/>
        </p:nvSpPr>
        <p:spPr>
          <a:xfrm>
            <a:off x="6223000" y="4102100"/>
            <a:ext cx="63500" cy="2209800"/>
          </a:xfrm>
          <a:prstGeom prst="rect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3DEEF1-2FEA-4A1D-B3DD-3A1FDDBB011D}"/>
              </a:ext>
            </a:extLst>
          </p:cNvPr>
          <p:cNvSpPr txBox="1"/>
          <p:nvPr/>
        </p:nvSpPr>
        <p:spPr>
          <a:xfrm>
            <a:off x="6413500" y="4152900"/>
            <a:ext cx="4699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b="1">
                <a:solidFill>
                  <a:srgbClr val="FF6B35"/>
                </a:solidFill>
              </a:rPr>
              <a:t>Residential &amp; Community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9B5361-1537-404D-A932-0D64249E89E6}"/>
              </a:ext>
            </a:extLst>
          </p:cNvPr>
          <p:cNvSpPr txBox="1"/>
          <p:nvPr/>
        </p:nvSpPr>
        <p:spPr>
          <a:xfrm>
            <a:off x="6413500" y="4635500"/>
            <a:ext cx="4699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D3A4A"/>
                </a:solidFill>
              </a:rPr>
              <a:t>Home energy storage (5–15 kWh)
EV charging station buffering
Off-grid and rural electrification</a:t>
            </a:r>
            <a:endParaRPr lang="en-CA" sz="1500">
              <a:solidFill>
                <a:srgbClr val="2D3A4A"/>
              </a:solidFill>
            </a:endParaRPr>
          </a:p>
        </p:txBody>
      </p:sp>
      <p:pic>
        <p:nvPicPr>
          <p:cNvPr id="19" name="Graphic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0500" y="1524000"/>
            <a:ext cx="381000" cy="381000"/>
          </a:xfrm>
          <a:prstGeom prst="rect">
            <a:avLst/>
          </a:prstGeom>
        </p:spPr>
      </p:pic>
      <p:pic>
        <p:nvPicPr>
          <p:cNvPr id="20" name="Graphic 2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31500" y="41910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7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ED16BB-0268-40BE-BA9F-3E00C2A3FAD0}"/>
              </a:ext>
            </a:extLst>
          </p:cNvPr>
          <p:cNvSpPr/>
          <p:nvPr/>
        </p:nvSpPr>
        <p:spPr>
          <a:xfrm>
            <a:off x="8128000" y="1968500"/>
            <a:ext cx="3429000" cy="3556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D0D8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B3B312-632B-4ED4-BA2A-994667A17778}"/>
              </a:ext>
            </a:extLst>
          </p:cNvPr>
          <p:cNvSpPr/>
          <p:nvPr/>
        </p:nvSpPr>
        <p:spPr>
          <a:xfrm>
            <a:off x="4381500" y="1968500"/>
            <a:ext cx="3429000" cy="3556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D0D8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DB6CBF-E3C7-4364-A7CF-8D7EDD25FCB0}"/>
              </a:ext>
            </a:extLst>
          </p:cNvPr>
          <p:cNvSpPr/>
          <p:nvPr/>
        </p:nvSpPr>
        <p:spPr>
          <a:xfrm>
            <a:off x="635000" y="1968500"/>
            <a:ext cx="3429000" cy="3556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D0D8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601A7A-0FF4-4C8F-818A-D6DA26CF71B8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>
                <a:solidFill>
                  <a:srgbClr val="1A1A2E"/>
                </a:solidFill>
              </a:rPr>
              <a:t>Technical Considerations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B22980-680E-4683-9C79-C82A7455D95E}"/>
              </a:ext>
            </a:extLst>
          </p:cNvPr>
          <p:cNvSpPr/>
          <p:nvPr/>
        </p:nvSpPr>
        <p:spPr>
          <a:xfrm>
            <a:off x="635000" y="1431964"/>
            <a:ext cx="3429000" cy="374571"/>
          </a:xfrm>
          <a:prstGeom prst="roundRect">
            <a:avLst/>
          </a:prstGeom>
          <a:solidFill>
            <a:srgbClr val="0077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spAutoFit/>
          </a:bodyPr>
          <a:lstStyle/>
          <a:p>
            <a:pPr algn="l"/>
            <a:r>
              <a:rPr lang="en-CA" sz="1600" b="1">
                <a:solidFill>
                  <a:srgbClr val="FFFFFF"/>
                </a:solidFill>
              </a:rPr>
              <a:t>SOH Assessment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7D5FE-4858-4C43-A822-9A4E1081A27F}"/>
              </a:ext>
            </a:extLst>
          </p:cNvPr>
          <p:cNvSpPr txBox="1"/>
          <p:nvPr/>
        </p:nvSpPr>
        <p:spPr>
          <a:xfrm>
            <a:off x="635000" y="2032000"/>
            <a:ext cx="3429000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Electrochemical impedance spectroscopy (EIS)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Capacity fade and resistance growth analysis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Data-driven SOH estimation using ML models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Standardized testing protocols (IEC 62660)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5D98CC-FC05-40D1-9E71-3D8A779EF76B}"/>
              </a:ext>
            </a:extLst>
          </p:cNvPr>
          <p:cNvSpPr/>
          <p:nvPr/>
        </p:nvSpPr>
        <p:spPr>
          <a:xfrm>
            <a:off x="4381500" y="1431964"/>
            <a:ext cx="3429000" cy="374571"/>
          </a:xfrm>
          <a:prstGeom prst="roundRect">
            <a:avLst/>
          </a:prstGeom>
          <a:solidFill>
            <a:srgbClr val="00B4D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spAutoFit/>
          </a:bodyPr>
          <a:lstStyle/>
          <a:p>
            <a:pPr algn="l"/>
            <a:r>
              <a:rPr lang="en-CA" sz="1600" b="1">
                <a:solidFill>
                  <a:srgbClr val="FFFFFF"/>
                </a:solidFill>
              </a:rPr>
              <a:t>Degradation Modeling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375E9-9FAA-4151-8E5F-3DF8B12F3A7A}"/>
              </a:ext>
            </a:extLst>
          </p:cNvPr>
          <p:cNvSpPr txBox="1"/>
          <p:nvPr/>
        </p:nvSpPr>
        <p:spPr>
          <a:xfrm>
            <a:off x="4381500" y="2032000"/>
            <a:ext cx="34290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Calendar and cycle aging mechanisms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Semi-empirical and physics-based models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Remaining useful life (RUL) prediction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Temperature and C-rate dependency mapping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2C93AB-E6B3-4BA7-A615-74117C989F1D}"/>
              </a:ext>
            </a:extLst>
          </p:cNvPr>
          <p:cNvSpPr/>
          <p:nvPr/>
        </p:nvSpPr>
        <p:spPr>
          <a:xfrm>
            <a:off x="8128000" y="1431964"/>
            <a:ext cx="3429000" cy="374571"/>
          </a:xfrm>
          <a:prstGeom prst="roundRect">
            <a:avLst/>
          </a:prstGeom>
          <a:solidFill>
            <a:srgbClr val="2DC6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spAutoFit/>
          </a:bodyPr>
          <a:lstStyle/>
          <a:p>
            <a:pPr algn="l"/>
            <a:r>
              <a:rPr lang="en-CA" sz="1600" b="1">
                <a:solidFill>
                  <a:srgbClr val="FFFFFF"/>
                </a:solidFill>
              </a:rPr>
              <a:t>Safety &amp; Standards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943F3-F5C5-4DCE-B1F7-927A0D795B5B}"/>
              </a:ext>
            </a:extLst>
          </p:cNvPr>
          <p:cNvSpPr txBox="1"/>
          <p:nvPr/>
        </p:nvSpPr>
        <p:spPr>
          <a:xfrm>
            <a:off x="8128000" y="2032000"/>
            <a:ext cx="3429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UL 1974 standard for battery repurposing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Thermal runaway risk mitigation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BMS recalibration requirements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Transportation and handling regulations</a:t>
            </a:r>
          </a:p>
        </p:txBody>
      </p:sp>
    </p:spTree>
    <p:extLst>
      <p:ext uri="{BB962C8B-B14F-4D97-AF65-F5344CB8AC3E}">
        <p14:creationId xmlns:p14="http://schemas.microsoft.com/office/powerpoint/2010/main" val="6707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E0F503-CE98-4359-892A-5394B7EC8D9E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>
                <a:solidFill>
                  <a:srgbClr val="1A1A2E"/>
                </a:solidFill>
              </a:rPr>
              <a:t>Environmental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0B5E4-8196-4256-8978-D8D436C3F2BC}"/>
              </a:ext>
            </a:extLst>
          </p:cNvPr>
          <p:cNvSpPr txBox="1"/>
          <p:nvPr/>
        </p:nvSpPr>
        <p:spPr>
          <a:xfrm>
            <a:off x="635000" y="1270000"/>
            <a:ext cx="5334000" cy="29546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2DC653"/>
                </a:solidFill>
              </a:rPr>
              <a:t>Life Cycle Assessment (LCA)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Second life use reduces total lifecycle CO₂ emissions by </a:t>
            </a:r>
            <a:r>
              <a:rPr lang="en-US" sz="1500" b="1" dirty="0">
                <a:solidFill>
                  <a:srgbClr val="2DC653"/>
                </a:solidFill>
              </a:rPr>
              <a:t>25–42%</a:t>
            </a:r>
            <a:r>
              <a:rPr lang="en-US" sz="1500" dirty="0">
                <a:solidFill>
                  <a:srgbClr val="2D3A4A"/>
                </a:solidFill>
              </a:rPr>
              <a:t> compared to direct recycling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Displaces new battery manufacturing for stationary storage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Reduces demand for critical raw materials: lithium, cobalt, nickel, manganese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Delays hazardous waste generation by 5–10 years per battery pack</a:t>
            </a:r>
          </a:p>
          <a:p>
            <a:pPr>
              <a:buNone/>
            </a:pPr>
            <a:r>
              <a:rPr lang="en-US" sz="1800" b="1" dirty="0">
                <a:solidFill>
                  <a:srgbClr val="2DC653"/>
                </a:solidFill>
              </a:rPr>
              <a:t>Key Metrics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~42 kg CO₂eq/kWh avoided per second life cycle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Up to 70% reduction in cumulative energy demand vs. new storage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06FA6-99F3-4C09-AD86-C3498CEA7E54}"/>
              </a:ext>
            </a:extLst>
          </p:cNvPr>
          <p:cNvSpPr txBox="1"/>
          <p:nvPr/>
        </p:nvSpPr>
        <p:spPr>
          <a:xfrm>
            <a:off x="6350000" y="1270000"/>
            <a:ext cx="5207000" cy="22621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2DC653"/>
                </a:solidFill>
              </a:rPr>
              <a:t>Circular Economy Benefits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Extends total battery utilization from ~10 to 15–20 years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Supports </a:t>
            </a:r>
            <a:r>
              <a:rPr lang="en-US" sz="1500" b="1" dirty="0">
                <a:solidFill>
                  <a:srgbClr val="2DC653"/>
                </a:solidFill>
              </a:rPr>
              <a:t>EU Battery Regulation</a:t>
            </a:r>
            <a:r>
              <a:rPr lang="en-US" sz="1500" dirty="0">
                <a:solidFill>
                  <a:srgbClr val="2D3A4A"/>
                </a:solidFill>
              </a:rPr>
              <a:t> Article 59 requirements for repurposing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Creates value retention across multiple product life stages</a:t>
            </a:r>
          </a:p>
          <a:p>
            <a:pPr>
              <a:buNone/>
            </a:pPr>
            <a:r>
              <a:rPr lang="en-US" sz="1800" b="1" dirty="0">
                <a:solidFill>
                  <a:srgbClr val="2DC653"/>
                </a:solidFill>
              </a:rPr>
              <a:t>Resource Conservation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Reduces pressure on mining of lithium and cobalt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Minimizes environmental degradation from extraction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Aligns with UN Sustainable Development Goals (SDG 7, 12, 13)</a:t>
            </a:r>
          </a:p>
        </p:txBody>
      </p:sp>
    </p:spTree>
    <p:extLst>
      <p:ext uri="{BB962C8B-B14F-4D97-AF65-F5344CB8AC3E}">
        <p14:creationId xmlns:p14="http://schemas.microsoft.com/office/powerpoint/2010/main" val="79634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28BFF7-788E-47DE-A3CC-F22B943E3BC1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>
                <a:solidFill>
                  <a:srgbClr val="1A1A2E"/>
                </a:solidFill>
              </a:rPr>
              <a:t>Economic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2D20B-5E49-4783-8AD3-8019E347FF83}"/>
              </a:ext>
            </a:extLst>
          </p:cNvPr>
          <p:cNvSpPr txBox="1"/>
          <p:nvPr/>
        </p:nvSpPr>
        <p:spPr>
          <a:xfrm>
            <a:off x="6731000" y="1270000"/>
            <a:ext cx="4953000" cy="233910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77B6"/>
                </a:solidFill>
              </a:rPr>
              <a:t>Market Projections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Global SLB market projected to reach </a:t>
            </a:r>
            <a:r>
              <a:rPr lang="en-US" sz="1400" b="1" dirty="0">
                <a:solidFill>
                  <a:srgbClr val="0077B6"/>
                </a:solidFill>
              </a:rPr>
              <a:t>$4.2B by 2030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CAGR of ~25% from 2024–2030</a:t>
            </a:r>
          </a:p>
          <a:p>
            <a:pPr>
              <a:buNone/>
            </a:pPr>
            <a:r>
              <a:rPr lang="en-US" sz="1600" b="1" dirty="0">
                <a:solidFill>
                  <a:srgbClr val="0077B6"/>
                </a:solidFill>
              </a:rPr>
              <a:t>Cost Advantage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SLBs cost 30–60% less than new batteries per kWh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LCOS competitive at $100–150/MWh</a:t>
            </a:r>
          </a:p>
          <a:p>
            <a:pPr>
              <a:buNone/>
            </a:pPr>
            <a:r>
              <a:rPr lang="en-US" sz="1600" b="1" dirty="0">
                <a:solidFill>
                  <a:srgbClr val="0077B6"/>
                </a:solidFill>
              </a:rPr>
              <a:t>Business Models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Battery-as-a-Service (BaaS) leasing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OEM vertical integration (Nissan, BMW, Renault)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Third-party refurbishment startups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457200" y="1371600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0844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AC9BC4-F01A-4460-96C3-944B2EAB8623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>
                <a:solidFill>
                  <a:srgbClr val="1A1A2E"/>
                </a:solidFill>
              </a:rPr>
              <a:t>Challenges &amp; Research Gaps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DA73A5-5F14-4320-AF8D-D7D1D23FF269}"/>
              </a:ext>
            </a:extLst>
          </p:cNvPr>
          <p:cNvSpPr/>
          <p:nvPr/>
        </p:nvSpPr>
        <p:spPr>
          <a:xfrm>
            <a:off x="762000" y="1708824"/>
            <a:ext cx="430989" cy="519351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spAutoFit/>
          </a:bodyPr>
          <a:lstStyle/>
          <a:p>
            <a:pPr algn="l"/>
            <a:r>
              <a:rPr lang="en-CA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D5E60-C59F-46E3-ACFF-F2F57B225EEB}"/>
              </a:ext>
            </a:extLst>
          </p:cNvPr>
          <p:cNvSpPr txBox="1"/>
          <p:nvPr/>
        </p:nvSpPr>
        <p:spPr>
          <a:xfrm>
            <a:off x="1333500" y="1768445"/>
            <a:ext cx="4318000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A" sz="2000" b="1">
                <a:solidFill>
                  <a:srgbClr val="FF6B35"/>
                </a:solidFill>
              </a:rPr>
              <a:t>Standardization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33473-FC56-44D9-92B4-34616A4A4A58}"/>
              </a:ext>
            </a:extLst>
          </p:cNvPr>
          <p:cNvSpPr txBox="1"/>
          <p:nvPr/>
        </p:nvSpPr>
        <p:spPr>
          <a:xfrm>
            <a:off x="762000" y="2286000"/>
            <a:ext cx="4953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D3A4A"/>
                </a:solidFill>
              </a:rPr>
              <a:t>Lack of universal grading standards for retired batteries; heterogeneous pack designs across OEMs complicate module-level reuse</a:t>
            </a:r>
            <a:endParaRPr lang="en-CA" sz="1400">
              <a:solidFill>
                <a:srgbClr val="2D3A4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57C94-785E-4335-A51C-2789D99A2CEF}"/>
              </a:ext>
            </a:extLst>
          </p:cNvPr>
          <p:cNvSpPr/>
          <p:nvPr/>
        </p:nvSpPr>
        <p:spPr>
          <a:xfrm>
            <a:off x="762000" y="3746500"/>
            <a:ext cx="4953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5FEA30-CF18-42A5-8F4D-F99128AEAF81}"/>
              </a:ext>
            </a:extLst>
          </p:cNvPr>
          <p:cNvSpPr/>
          <p:nvPr/>
        </p:nvSpPr>
        <p:spPr>
          <a:xfrm>
            <a:off x="6223000" y="1708824"/>
            <a:ext cx="430989" cy="519351"/>
          </a:xfrm>
          <a:prstGeom prst="ellipse">
            <a:avLst/>
          </a:prstGeom>
          <a:solidFill>
            <a:srgbClr val="0077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spAutoFit/>
          </a:bodyPr>
          <a:lstStyle/>
          <a:p>
            <a:pPr algn="l"/>
            <a:r>
              <a:rPr lang="en-CA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8D518-03D8-4781-8F21-E26F51ABE020}"/>
              </a:ext>
            </a:extLst>
          </p:cNvPr>
          <p:cNvSpPr txBox="1"/>
          <p:nvPr/>
        </p:nvSpPr>
        <p:spPr>
          <a:xfrm>
            <a:off x="6794500" y="1768445"/>
            <a:ext cx="4318000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A" sz="2000" b="1">
                <a:solidFill>
                  <a:srgbClr val="0077B6"/>
                </a:solidFill>
              </a:rPr>
              <a:t>Degradation Uncertainty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0389D-A465-4FCF-8638-99D87F9381BC}"/>
              </a:ext>
            </a:extLst>
          </p:cNvPr>
          <p:cNvSpPr txBox="1"/>
          <p:nvPr/>
        </p:nvSpPr>
        <p:spPr>
          <a:xfrm>
            <a:off x="6223000" y="2286000"/>
            <a:ext cx="4953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D3A4A"/>
                </a:solidFill>
              </a:rPr>
              <a:t>Limited long-term data on second life degradation trajectories; calendar aging during storage periods remains poorly characterized</a:t>
            </a:r>
            <a:endParaRPr lang="en-CA" sz="1400">
              <a:solidFill>
                <a:srgbClr val="2D3A4A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A108C-843D-4D3F-96D9-E69F9D8C12D3}"/>
              </a:ext>
            </a:extLst>
          </p:cNvPr>
          <p:cNvSpPr/>
          <p:nvPr/>
        </p:nvSpPr>
        <p:spPr>
          <a:xfrm>
            <a:off x="6223000" y="3746500"/>
            <a:ext cx="4953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4FAA6D-3C1A-4D9E-98AA-740F0A681A42}"/>
              </a:ext>
            </a:extLst>
          </p:cNvPr>
          <p:cNvSpPr/>
          <p:nvPr/>
        </p:nvSpPr>
        <p:spPr>
          <a:xfrm>
            <a:off x="762000" y="4185324"/>
            <a:ext cx="430989" cy="519351"/>
          </a:xfrm>
          <a:prstGeom prst="ellipse">
            <a:avLst/>
          </a:prstGeom>
          <a:solidFill>
            <a:srgbClr val="7209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spAutoFit/>
          </a:bodyPr>
          <a:lstStyle/>
          <a:p>
            <a:pPr algn="l"/>
            <a:r>
              <a:rPr lang="en-CA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40412A-0903-47F4-8D90-4142A7D4C758}"/>
              </a:ext>
            </a:extLst>
          </p:cNvPr>
          <p:cNvSpPr txBox="1"/>
          <p:nvPr/>
        </p:nvSpPr>
        <p:spPr>
          <a:xfrm>
            <a:off x="1333500" y="4244945"/>
            <a:ext cx="4318000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A" sz="2000" b="1">
                <a:solidFill>
                  <a:srgbClr val="7209B7"/>
                </a:solidFill>
              </a:rPr>
              <a:t>Liability &amp; Regulation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9BCBC-487F-4A2F-9609-07F335729268}"/>
              </a:ext>
            </a:extLst>
          </p:cNvPr>
          <p:cNvSpPr txBox="1"/>
          <p:nvPr/>
        </p:nvSpPr>
        <p:spPr>
          <a:xfrm>
            <a:off x="762000" y="4762500"/>
            <a:ext cx="4953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D3A4A"/>
                </a:solidFill>
              </a:rPr>
              <a:t>Unclear product liability frameworks for repurposed batteries; evolving regulatory landscape across jurisdictions</a:t>
            </a:r>
            <a:endParaRPr lang="en-CA" sz="1400">
              <a:solidFill>
                <a:srgbClr val="2D3A4A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2C5442-41F2-44D9-89E8-9FC6CDA39332}"/>
              </a:ext>
            </a:extLst>
          </p:cNvPr>
          <p:cNvSpPr/>
          <p:nvPr/>
        </p:nvSpPr>
        <p:spPr>
          <a:xfrm>
            <a:off x="762000" y="6223000"/>
            <a:ext cx="4953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A9D5D6-B4BB-4C7D-8927-B21F70D430AC}"/>
              </a:ext>
            </a:extLst>
          </p:cNvPr>
          <p:cNvSpPr/>
          <p:nvPr/>
        </p:nvSpPr>
        <p:spPr>
          <a:xfrm>
            <a:off x="6223000" y="4185324"/>
            <a:ext cx="430989" cy="519351"/>
          </a:xfrm>
          <a:prstGeom prst="ellipse">
            <a:avLst/>
          </a:prstGeom>
          <a:solidFill>
            <a:srgbClr val="023E8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spAutoFit/>
          </a:bodyPr>
          <a:lstStyle/>
          <a:p>
            <a:pPr algn="l"/>
            <a:r>
              <a:rPr lang="en-CA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838277-8959-4976-8E6C-6B27FFDABC29}"/>
              </a:ext>
            </a:extLst>
          </p:cNvPr>
          <p:cNvSpPr txBox="1"/>
          <p:nvPr/>
        </p:nvSpPr>
        <p:spPr>
          <a:xfrm>
            <a:off x="6794500" y="4244945"/>
            <a:ext cx="4318000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A" sz="2000" b="1">
                <a:solidFill>
                  <a:srgbClr val="023E8A"/>
                </a:solidFill>
              </a:rPr>
              <a:t>Technical Barriers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0083BA-E42E-4CA6-96AB-4C4AA447C66A}"/>
              </a:ext>
            </a:extLst>
          </p:cNvPr>
          <p:cNvSpPr txBox="1"/>
          <p:nvPr/>
        </p:nvSpPr>
        <p:spPr>
          <a:xfrm>
            <a:off x="6223000" y="4762500"/>
            <a:ext cx="4953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D3A4A"/>
                </a:solidFill>
              </a:rPr>
              <a:t>BMS compatibility and data access challenges; cell-to-cell variability increases with age, complicating system integration</a:t>
            </a:r>
            <a:endParaRPr lang="en-CA" sz="1400">
              <a:solidFill>
                <a:srgbClr val="2D3A4A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9BACC-D41D-421C-B2E1-0EE83BBF969D}"/>
              </a:ext>
            </a:extLst>
          </p:cNvPr>
          <p:cNvSpPr/>
          <p:nvPr/>
        </p:nvSpPr>
        <p:spPr>
          <a:xfrm>
            <a:off x="6223000" y="6223000"/>
            <a:ext cx="4953000" cy="254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5830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A2B3C1-9E7E-4B31-942A-8DD66E2E342D}"/>
              </a:ext>
            </a:extLst>
          </p:cNvPr>
          <p:cNvSpPr txBox="1"/>
          <p:nvPr/>
        </p:nvSpPr>
        <p:spPr>
          <a:xfrm>
            <a:off x="635000" y="381000"/>
            <a:ext cx="1092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A" sz="3200" b="1">
                <a:solidFill>
                  <a:srgbClr val="1A1A2E"/>
                </a:solidFill>
              </a:rPr>
              <a:t>Conclusion &amp; Future Outlook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03AC53-71DA-42DB-9B67-0812594B8FF2}"/>
              </a:ext>
            </a:extLst>
          </p:cNvPr>
          <p:cNvSpPr/>
          <p:nvPr/>
        </p:nvSpPr>
        <p:spPr>
          <a:xfrm>
            <a:off x="635000" y="1270000"/>
            <a:ext cx="10922000" cy="2032000"/>
          </a:xfrm>
          <a:prstGeom prst="roundRect">
            <a:avLst/>
          </a:prstGeom>
          <a:solidFill>
            <a:srgbClr val="F0F4F8"/>
          </a:solidFill>
          <a:ln w="19050" cap="flat" cmpd="sng" algn="ctr">
            <a:solidFill>
              <a:srgbClr val="0077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9E976-C7BF-4100-AC30-B9A7649936BE}"/>
              </a:ext>
            </a:extLst>
          </p:cNvPr>
          <p:cNvSpPr txBox="1"/>
          <p:nvPr/>
        </p:nvSpPr>
        <p:spPr>
          <a:xfrm>
            <a:off x="889000" y="1371600"/>
            <a:ext cx="10414000" cy="129266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7B6"/>
                </a:solidFill>
              </a:rPr>
              <a:t>Key Takeaways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Second life batteries offer a viable pathway to maximize value from EV battery investments while reducing environmental impact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Cost advantages of 30–60% over new batteries make SLBs economically compelling for stationary storage</a:t>
            </a:r>
          </a:p>
          <a:p>
            <a:pPr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Standardization, liability frameworks, and degradation modeling remain critical research priorities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CADA4-F47D-4B6E-BD11-22C47E49A127}"/>
              </a:ext>
            </a:extLst>
          </p:cNvPr>
          <p:cNvSpPr txBox="1"/>
          <p:nvPr/>
        </p:nvSpPr>
        <p:spPr>
          <a:xfrm>
            <a:off x="635000" y="3429000"/>
            <a:ext cx="10922000" cy="152349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7B6"/>
                </a:solidFill>
              </a:rPr>
              <a:t>Emerging Research Directions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rgbClr val="0077B6"/>
                </a:solidFill>
              </a:rPr>
              <a:t>AI-driven diagnostics: </a:t>
            </a:r>
            <a:r>
              <a:rPr lang="en-US" sz="1500" dirty="0">
                <a:solidFill>
                  <a:srgbClr val="2D3A4A"/>
                </a:solidFill>
              </a:rPr>
              <a:t>Machine learning for rapid SOH assessment and RUL prediction at scale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rgbClr val="0077B6"/>
                </a:solidFill>
              </a:rPr>
              <a:t>Digital battery passports: </a:t>
            </a:r>
            <a:r>
              <a:rPr lang="en-US" sz="1500" dirty="0">
                <a:solidFill>
                  <a:srgbClr val="2D3A4A"/>
                </a:solidFill>
              </a:rPr>
              <a:t>Blockchain-based lifecycle tracking mandated under EU regulations by 2027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rgbClr val="0077B6"/>
                </a:solidFill>
              </a:rPr>
              <a:t>V2G integration: </a:t>
            </a:r>
            <a:r>
              <a:rPr lang="en-US" sz="1500" dirty="0">
                <a:solidFill>
                  <a:srgbClr val="2D3A4A"/>
                </a:solidFill>
              </a:rPr>
              <a:t>Vehicle-to-grid technology bridging first and second life applications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rgbClr val="0077B6"/>
                </a:solidFill>
              </a:rPr>
              <a:t>Design for second life: </a:t>
            </a:r>
            <a:r>
              <a:rPr lang="en-US" sz="1500" dirty="0">
                <a:solidFill>
                  <a:srgbClr val="2D3A4A"/>
                </a:solidFill>
              </a:rPr>
              <a:t>OEMs incorporating modular, standardized pack architectures for easier repurposing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rgbClr val="0077B6"/>
                </a:solidFill>
              </a:rPr>
              <a:t>LFP chemistry shift: </a:t>
            </a:r>
            <a:r>
              <a:rPr lang="en-US" sz="1500" dirty="0">
                <a:solidFill>
                  <a:srgbClr val="2D3A4A"/>
                </a:solidFill>
              </a:rPr>
              <a:t>Longer cycle life of LiFePO₄ batteries improving second life economics</a:t>
            </a:r>
          </a:p>
        </p:txBody>
      </p:sp>
    </p:spTree>
    <p:extLst>
      <p:ext uri="{BB962C8B-B14F-4D97-AF65-F5344CB8AC3E}">
        <p14:creationId xmlns:p14="http://schemas.microsoft.com/office/powerpoint/2010/main" val="3041877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condLife">
      <a:dk1>
        <a:srgbClr val="1A1A2E"/>
      </a:dk1>
      <a:lt1>
        <a:srgbClr val="FFFFFF"/>
      </a:lt1>
      <a:dk2>
        <a:srgbClr val="2D3A4A"/>
      </a:dk2>
      <a:lt2>
        <a:srgbClr val="F0F4F8"/>
      </a:lt2>
      <a:accent1>
        <a:srgbClr val="0077B6"/>
      </a:accent1>
      <a:accent2>
        <a:srgbClr val="00B4D8"/>
      </a:accent2>
      <a:accent3>
        <a:srgbClr val="2DC653"/>
      </a:accent3>
      <a:accent4>
        <a:srgbClr val="FF6B35"/>
      </a:accent4>
      <a:accent5>
        <a:srgbClr val="7209B7"/>
      </a:accent5>
      <a:accent6>
        <a:srgbClr val="023E8A"/>
      </a:accent6>
      <a:hlink>
        <a:srgbClr val="467886"/>
      </a:hlink>
      <a:folHlink>
        <a:srgbClr val="96607D"/>
      </a:folHlink>
    </a:clrScheme>
    <a:fontScheme name="SecondLife">
      <a:majorFont>
        <a:latin typeface="Ralew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4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DC9E13-C7B2-4DF2-AAAA-8F4B2846BECD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777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Raleway</vt:lpstr>
      <vt:lpstr>Source Sans Pro</vt:lpstr>
      <vt:lpstr>Office Theme</vt:lpstr>
      <vt:lpstr>Second Life Batteries
in Electric Vehicles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Ahmed</dc:creator>
  <cp:lastModifiedBy>Ryan Ahmed</cp:lastModifiedBy>
  <cp:revision>1</cp:revision>
  <dcterms:created xsi:type="dcterms:W3CDTF">2026-03-08T15:32:21Z</dcterms:created>
  <dcterms:modified xsi:type="dcterms:W3CDTF">2026-03-08T15:51:44Z</dcterms:modified>
</cp:coreProperties>
</file>