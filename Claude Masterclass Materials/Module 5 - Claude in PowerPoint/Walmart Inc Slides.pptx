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2" r:id="rId5"/>
    <p:sldId id="264" r:id="rId6"/>
    <p:sldId id="266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2B4A"/>
                </a:solidFill>
                <a:latin typeface="Montserrat"/>
              </a:defRPr>
            </a:pPr>
            <a:r>
              <a:rPr lang="en-US" sz="1600" b="1" dirty="0">
                <a:solidFill>
                  <a:srgbClr val="1A2B4A"/>
                </a:solidFill>
                <a:latin typeface="Montserrat"/>
              </a:rPr>
              <a:t>Net Sales by Segment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FY2024</c:v>
          </c:tx>
          <c:spPr>
            <a:solidFill>
              <a:srgbClr val="0071C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  <a:latin typeface="Open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Walmart U.S.</c:v>
              </c:pt>
              <c:pt idx="1">
                <c:v>Walmart Intl</c:v>
              </c:pt>
              <c:pt idx="2">
                <c:v>Sam's Club</c:v>
              </c:pt>
            </c:strLit>
          </c:cat>
          <c:val>
            <c:numLit>
              <c:formatCode>General</c:formatCode>
              <c:ptCount val="3"/>
              <c:pt idx="0">
                <c:v>441.8</c:v>
              </c:pt>
              <c:pt idx="1">
                <c:v>114.6</c:v>
              </c:pt>
              <c:pt idx="2">
                <c:v>86.2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91-452C-87B4-99A1F1DF3C70}"/>
            </c:ext>
          </c:extLst>
        </c:ser>
        <c:ser>
          <c:idx val="1"/>
          <c:order val="1"/>
          <c:tx>
            <c:v>FY2023</c:v>
          </c:tx>
          <c:spPr>
            <a:solidFill>
              <a:srgbClr val="FFC22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1A2B4A"/>
                    </a:solidFill>
                    <a:latin typeface="Open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Walmart U.S.</c:v>
              </c:pt>
              <c:pt idx="1">
                <c:v>Walmart Intl</c:v>
              </c:pt>
              <c:pt idx="2">
                <c:v>Sam's Club</c:v>
              </c:pt>
            </c:strLit>
          </c:cat>
          <c:val>
            <c:numLit>
              <c:formatCode>General</c:formatCode>
              <c:ptCount val="3"/>
              <c:pt idx="0">
                <c:v>420.6</c:v>
              </c:pt>
              <c:pt idx="1">
                <c:v>101</c:v>
              </c:pt>
              <c:pt idx="2">
                <c:v>84.3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591-452C-87B4-99A1F1DF3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A4A5C"/>
                </a:solidFill>
                <a:latin typeface="Open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A4A5C"/>
                </a:solidFill>
                <a:latin typeface="Open Sans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3A4A5C"/>
              </a:solidFill>
              <a:latin typeface="Open San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4C41D-7021-2A99-1016-5FC83BFE5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CB457-151C-AB91-ADAE-27D7CB2ED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4A9AC-C7EE-80D0-F88F-0EBA6CE6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009B-8F72-8E0E-E2B3-61D48E82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8AAF-73EC-35C1-7160-41CC02D3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107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CD25-C264-F101-EF0E-783447E5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4444-7EAA-CE1C-2B1F-F28769057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500D-5D3A-81D2-F0F0-CD1A161D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DE593-2F06-0692-712F-4C7071BC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568D-5267-DA9B-88FA-09B93CC4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558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CCFE-3011-9389-9BBC-B2A84A4B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13CED-5877-0832-7928-846D6D5F1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2E5F5-38E5-015D-1959-9C1210761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38573-EBB5-25B2-9109-AEE68027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BA2C2-DEC9-9DCD-7C99-B8D8BD4B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06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ED67-2653-9C5B-4B6D-87E708FD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E222-A1E1-23C8-1EBD-0F8F12B4F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CF41E-D957-DF8E-DF6C-428708B2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E96FC-35EA-B0A8-9413-74296D0B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513FD-1F8E-D7B9-D49D-9FD7448C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B4C2F-2E3F-EED0-BA22-404D4C85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431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6E74-4DAC-3482-7268-2D58C66D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4F15C-AA96-FDE8-9523-7B5496EC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1B0C2-32BB-9CB6-02EE-4966F3971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373FE-DD7F-AA47-B648-E507806BA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1E40B-7B62-EC22-5B6E-571EF29EF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26D5C-DDFE-48A0-6E78-35DA0DA7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C7BDC-1CA3-A868-0E5D-3E0D41A1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6865B-6DBB-3A1C-4D1C-4188492C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6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9554-8E45-3E78-D313-A8E596D6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695E4-5FAA-FFD1-DF69-8FF63FAF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D046F-418F-C4C9-A3EE-A128A46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93CF6-64CC-07B8-5A1A-CF502F4C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632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A611B-F2F5-17DB-23A9-7045B44B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D45E5-D464-7953-4304-EB1D5F5D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7B600-3E60-E630-BCEE-A46B63C9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670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BCA2-03C6-88DB-E2C0-4B61E197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4F47C-3904-AEBD-30D0-F4082EB5F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07825-34F8-6686-A94F-65BA541EA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D7250-9EBA-F27B-0BCC-1BA11015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6CB1E-498D-9E36-B502-8DB8EA0D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98C40-A472-8C28-F06B-00E9B6F6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91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063F-F43D-798C-43E4-FBAFD659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15620-BA52-6F2E-911A-68DC00AE0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E507-C757-F50C-1A4A-E9A6CE14C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05846-663B-9909-13C7-484B6E35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ECA08-0F6C-D88F-440E-8C224CA4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2D799-36BD-3004-4E11-CA2A9470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16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2D55-8FC5-40CE-C536-5F5AAE47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2AA03-7597-CD8D-CF30-BBD34E04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4217-DA94-0032-6DD7-FB3B93E6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B4081-0035-23D8-94C0-9B3CB318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D8CC1-E6BF-8AED-3F37-8C0F7F9A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14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613CF-5880-C37F-DED4-5F6240E5D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D4B3B-AF02-5DA8-131C-AB0B00B8A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A806-2628-E70E-6499-A6EDE13E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6CEF-6058-D9E4-3F7A-23824631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9E9F4-B2BB-B9BA-DAA0-1F05A124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36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57972-DDC0-5ED5-AB45-A926F385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695A7-C74A-96C6-DDB2-A60CBCF46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529C-98B8-3EF5-2C9B-719D3FAFA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8B00B-5606-4937-80DB-4687DEDD7543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06977-6598-F305-90E7-4D3D92C34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CA93E-8271-159A-76E5-1C7FBA1E2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3B881-BCF3-4072-8CF6-57F47474567E}" type="slidenum">
              <a:rPr lang="en-CA" smtClean="0"/>
              <a:t>‹#›</a:t>
            </a:fld>
            <a:endParaRPr lang="en-CA"/>
          </a:p>
        </p:txBody>
      </p:sp>
      <p:sp>
        <p:nvSpPr>
          <p:cNvPr id="100" name="Top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ttomLine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B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A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4A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A4A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A4A5C"/>
          </a:solidFill>
        </a:defRPr>
      </a:defPPr>
      <a:lvl1pPr marL="0" algn="l" defTabSz="914400" rtl="0" eaLnBrk="1" latinLnBrk="0" hangingPunct="1">
        <a:defRPr sz="1800" kern="1200">
          <a:solidFill>
            <a:srgbClr val="3A4A5C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3A4A5C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3A4A5C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9E0D-A811-C1C3-1DF7-33FB3F6EA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000" b="1"/>
              <a:t>Walmart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A7025-65FD-7FEB-9CE3-65BA3C44D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Annual Report (10-K) Summary
Fiscal Year 2024 | Ended January 31, 2024</a:t>
            </a:r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196124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CEE2-1D37-788D-0980-181DBB45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Company Overview</a:t>
            </a:r>
          </a:p>
        </p:txBody>
      </p:sp>
      <p:sp>
        <p:nvSpPr>
          <p:cNvPr id="10" name="Card10"/>
          <p:cNvSpPr/>
          <p:nvPr/>
        </p:nvSpPr>
        <p:spPr>
          <a:xfrm>
            <a:off x="609600" y="2159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071CE"/>
                </a:solidFill>
                <a:latin typeface="Montserrat"/>
              </a:rPr>
              <a:t>$648.1B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Total Revenue (FY2024)</a:t>
            </a:r>
          </a:p>
        </p:txBody>
      </p:sp>
      <p:sp>
        <p:nvSpPr>
          <p:cNvPr id="11" name="Card11"/>
          <p:cNvSpPr/>
          <p:nvPr/>
        </p:nvSpPr>
        <p:spPr>
          <a:xfrm>
            <a:off x="4343400" y="2159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E8872A"/>
                </a:solidFill>
                <a:latin typeface="Montserrat"/>
              </a:rPr>
              <a:t>$642.6B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Net Sales</a:t>
            </a:r>
          </a:p>
        </p:txBody>
      </p:sp>
      <p:sp>
        <p:nvSpPr>
          <p:cNvPr id="12" name="Card12"/>
          <p:cNvSpPr/>
          <p:nvPr/>
        </p:nvSpPr>
        <p:spPr>
          <a:xfrm>
            <a:off x="8077200" y="2159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2D8C5A"/>
                </a:solidFill>
                <a:latin typeface="Montserrat"/>
              </a:rPr>
              <a:t>$16.3B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Net Income</a:t>
            </a:r>
          </a:p>
        </p:txBody>
      </p:sp>
      <p:sp>
        <p:nvSpPr>
          <p:cNvPr id="13" name="Card13"/>
          <p:cNvSpPr/>
          <p:nvPr/>
        </p:nvSpPr>
        <p:spPr>
          <a:xfrm>
            <a:off x="609600" y="4191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04C91"/>
                </a:solidFill>
                <a:latin typeface="Montserrat"/>
              </a:rPr>
              <a:t>10,600+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Stores Worldwide</a:t>
            </a:r>
          </a:p>
        </p:txBody>
      </p:sp>
      <p:sp>
        <p:nvSpPr>
          <p:cNvPr id="14" name="Card14"/>
          <p:cNvSpPr/>
          <p:nvPr/>
        </p:nvSpPr>
        <p:spPr>
          <a:xfrm>
            <a:off x="4343400" y="4191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04C91"/>
                </a:solidFill>
                <a:latin typeface="Montserrat"/>
              </a:rPr>
              <a:t>~2.1 Million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Associates</a:t>
            </a:r>
          </a:p>
        </p:txBody>
      </p:sp>
      <p:sp>
        <p:nvSpPr>
          <p:cNvPr id="15" name="Card15"/>
          <p:cNvSpPr/>
          <p:nvPr/>
        </p:nvSpPr>
        <p:spPr>
          <a:xfrm>
            <a:off x="8077200" y="4191000"/>
            <a:ext cx="3505200" cy="1778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04C91"/>
                </a:solidFill>
                <a:latin typeface="Montserrat"/>
              </a:rPr>
              <a:t>19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Countries</a:t>
            </a:r>
          </a:p>
        </p:txBody>
      </p:sp>
    </p:spTree>
    <p:extLst>
      <p:ext uri="{BB962C8B-B14F-4D97-AF65-F5344CB8AC3E}">
        <p14:creationId xmlns:p14="http://schemas.microsoft.com/office/powerpoint/2010/main" val="391342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D0B4-391C-89B1-719A-B884221A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Financial Highlights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6AD79C-4B36-4FBA-A292-6ACBE4817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191976"/>
              </p:ext>
            </p:extLst>
          </p:nvPr>
        </p:nvGraphicFramePr>
        <p:xfrm>
          <a:off x="609600" y="1968500"/>
          <a:ext cx="109728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1619772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7357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6175517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3873433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pPr algn="l"/>
                      <a:r>
                        <a:rPr lang="en-CA" sz="1500" b="1">
                          <a:solidFill>
                            <a:srgbClr val="FFFFFF"/>
                          </a:solidFill>
                          <a:latin typeface="Montserrat"/>
                        </a:rPr>
                        <a:t>Metric</a:t>
                      </a:r>
                    </a:p>
                  </a:txBody>
                  <a:tcPr anchor="ctr"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FFFFFF"/>
                          </a:solidFill>
                          <a:latin typeface="Montserrat"/>
                        </a:rPr>
                        <a:t>FY2024</a:t>
                      </a:r>
                    </a:p>
                  </a:txBody>
                  <a:tcPr anchor="ctr"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FFFFFF"/>
                          </a:solidFill>
                          <a:latin typeface="Montserrat"/>
                        </a:rPr>
                        <a:t>FY2023</a:t>
                      </a:r>
                    </a:p>
                  </a:txBody>
                  <a:tcPr anchor="ctr"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FFFFFF"/>
                          </a:solidFill>
                          <a:latin typeface="Montserrat"/>
                        </a:rPr>
                        <a:t>Change</a:t>
                      </a:r>
                    </a:p>
                  </a:txBody>
                  <a:tcPr anchor="ctr"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8518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pPr algn="l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Total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$648.1B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$611.3B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2D8C5A"/>
                          </a:solidFill>
                          <a:latin typeface="Open Sans"/>
                          <a:ea typeface="Open Sans"/>
                          <a:cs typeface="Open Sans"/>
                        </a:rPr>
                        <a:t>+6.0%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92748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pPr algn="l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Net Sales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$642.6B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$605.9B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2D8C5A"/>
                          </a:solidFill>
                          <a:latin typeface="Open Sans"/>
                          <a:ea typeface="Open Sans"/>
                          <a:cs typeface="Open Sans"/>
                        </a:rPr>
                        <a:t>+6.1%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79860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pPr algn="l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Operating Income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$27.0B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$20.4B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2D8C5A"/>
                          </a:solidFill>
                          <a:latin typeface="Open Sans"/>
                          <a:ea typeface="Open Sans"/>
                          <a:cs typeface="Open Sans"/>
                        </a:rPr>
                        <a:t>+32.2%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36932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pPr algn="l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Net Income (Walmart)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$15.5B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$11.7B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2D8C5A"/>
                          </a:solidFill>
                          <a:latin typeface="Open Sans"/>
                          <a:ea typeface="Open Sans"/>
                          <a:cs typeface="Open Sans"/>
                        </a:rPr>
                        <a:t>+32.8%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646829"/>
                  </a:ext>
                </a:extLst>
              </a:tr>
              <a:tr h="740835">
                <a:tc>
                  <a:txBody>
                    <a:bodyPr/>
                    <a:lstStyle/>
                    <a:p>
                      <a:pPr algn="l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Diluted 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$1.91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>
                          <a:solidFill>
                            <a:srgbClr val="1A2B4A"/>
                          </a:solidFill>
                          <a:latin typeface="Open Sans"/>
                          <a:ea typeface="Open Sans"/>
                          <a:cs typeface="Open Sans"/>
                        </a:rPr>
                        <a:t>$1.42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500" b="1">
                          <a:solidFill>
                            <a:srgbClr val="2D8C5A"/>
                          </a:solidFill>
                          <a:latin typeface="Open Sans"/>
                          <a:ea typeface="Open Sans"/>
                          <a:cs typeface="Open Sans"/>
                        </a:rPr>
                        <a:t>+34.5%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05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89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BECA-945B-C87F-8BD0-0B2DC50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Revenue by Segment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1981529492"/>
              </p:ext>
            </p:extLst>
          </p:nvPr>
        </p:nvGraphicFramePr>
        <p:xfrm>
          <a:off x="457200" y="1778000"/>
          <a:ext cx="112776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39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842F-E8A8-836F-829B-849BFF0C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Operating Performance</a:t>
            </a:r>
          </a:p>
        </p:txBody>
      </p:sp>
      <p:sp>
        <p:nvSpPr>
          <p:cNvPr id="10" name="Metric10"/>
          <p:cNvSpPr/>
          <p:nvPr/>
        </p:nvSpPr>
        <p:spPr>
          <a:xfrm>
            <a:off x="609600" y="1841500"/>
            <a:ext cx="5334000" cy="18288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0E7EF"/>
            </a:solidFill>
          </a:ln>
        </p:spPr>
        <p:txBody>
          <a:bodyPr wrap="square" lIns="182880" tIns="137160" rIns="182880" b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Operating Cash Flow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0071CE"/>
                </a:solidFill>
                <a:latin typeface="Montserrat"/>
              </a:rPr>
              <a:t>$35.7B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Up from $28.8B in FY2023 (+24%)</a:t>
            </a:r>
          </a:p>
        </p:txBody>
      </p:sp>
      <p:sp>
        <p:nvSpPr>
          <p:cNvPr id="11" name="Metric11"/>
          <p:cNvSpPr/>
          <p:nvPr/>
        </p:nvSpPr>
        <p:spPr>
          <a:xfrm>
            <a:off x="6172200" y="1841500"/>
            <a:ext cx="5334000" cy="18288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0E7EF"/>
            </a:solidFill>
          </a:ln>
        </p:spPr>
        <p:txBody>
          <a:bodyPr wrap="square" lIns="182880" tIns="137160" rIns="182880" b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Free Cash Flow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2D8C5A"/>
                </a:solidFill>
                <a:latin typeface="Montserrat"/>
              </a:rPr>
              <a:t>$15.1B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Up from $12.0B in FY2023 (+26%)</a:t>
            </a:r>
          </a:p>
        </p:txBody>
      </p:sp>
      <p:sp>
        <p:nvSpPr>
          <p:cNvPr id="12" name="Metric12"/>
          <p:cNvSpPr/>
          <p:nvPr/>
        </p:nvSpPr>
        <p:spPr>
          <a:xfrm>
            <a:off x="609600" y="3937000"/>
            <a:ext cx="5334000" cy="18288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0E7EF"/>
            </a:solidFill>
          </a:ln>
        </p:spPr>
        <p:txBody>
          <a:bodyPr wrap="square" lIns="182880" tIns="137160" rIns="182880" b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Gross Profit Rate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8872A"/>
                </a:solidFill>
                <a:latin typeface="Montserrat"/>
              </a:rPr>
              <a:t>23.7%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Improved from 23.5% in FY2023</a:t>
            </a:r>
          </a:p>
        </p:txBody>
      </p:sp>
      <p:sp>
        <p:nvSpPr>
          <p:cNvPr id="13" name="Metric13"/>
          <p:cNvSpPr/>
          <p:nvPr/>
        </p:nvSpPr>
        <p:spPr>
          <a:xfrm>
            <a:off x="6172200" y="3937000"/>
            <a:ext cx="5334000" cy="18288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E0E7EF"/>
            </a:solidFill>
          </a:ln>
        </p:spPr>
        <p:txBody>
          <a:bodyPr wrap="square" lIns="182880" tIns="137160" rIns="182880" bIns="137160" anchor="ctr"/>
          <a:lstStyle/>
          <a:p>
            <a:pPr algn="l"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Return on Assets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004C91"/>
                </a:solidFill>
                <a:latin typeface="Montserrat"/>
              </a:rPr>
              <a:t>6.6%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5A6A7C"/>
                </a:solidFill>
                <a:latin typeface="Open Sans"/>
              </a:rPr>
              <a:t>Up from 4.6% in FY2023</a:t>
            </a:r>
          </a:p>
        </p:txBody>
      </p:sp>
    </p:spTree>
    <p:extLst>
      <p:ext uri="{BB962C8B-B14F-4D97-AF65-F5344CB8AC3E}">
        <p14:creationId xmlns:p14="http://schemas.microsoft.com/office/powerpoint/2010/main" val="415436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0F82-C78E-C854-432D-BC6D8410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Strategic Priorities</a:t>
            </a:r>
          </a:p>
        </p:txBody>
      </p:sp>
      <p:sp>
        <p:nvSpPr>
          <p:cNvPr id="10" name="Pillar10"/>
          <p:cNvSpPr/>
          <p:nvPr/>
        </p:nvSpPr>
        <p:spPr>
          <a:xfrm>
            <a:off x="609600" y="1841500"/>
            <a:ext cx="3505200" cy="469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1CE"/>
            </a:solidFill>
          </a:ln>
        </p:spPr>
        <p:txBody>
          <a:bodyPr wrap="square" lIns="182880" tIns="137160" rIns="182880" bIns="137160" anchor="t"/>
          <a:lstStyle/>
          <a:p>
            <a:pPr algn="l">
              <a:buNone/>
            </a:pPr>
            <a:r>
              <a:rPr lang="en-US" sz="1600" b="1" dirty="0">
                <a:solidFill>
                  <a:srgbClr val="0071CE"/>
                </a:solidFill>
                <a:latin typeface="Montserrat"/>
              </a:rPr>
              <a:t>1. Growth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Omni-channel customer experience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eCommerce contributed +2.6% to US comp sales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Comparable sales +4.9% in the US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Expanding pickup &amp; delivery</a:t>
            </a:r>
          </a:p>
        </p:txBody>
      </p:sp>
      <p:sp>
        <p:nvSpPr>
          <p:cNvPr id="11" name="Pillar11"/>
          <p:cNvSpPr/>
          <p:nvPr/>
        </p:nvSpPr>
        <p:spPr>
          <a:xfrm>
            <a:off x="4343400" y="1841500"/>
            <a:ext cx="3505200" cy="469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C220"/>
            </a:solidFill>
          </a:ln>
        </p:spPr>
        <p:txBody>
          <a:bodyPr wrap="square" lIns="182880" tIns="137160" rIns="182880" bIns="137160" anchor="t"/>
          <a:lstStyle/>
          <a:p>
            <a:pPr algn="l">
              <a:buNone/>
            </a:pPr>
            <a:r>
              <a:rPr lang="en-US" sz="1600" b="1" dirty="0">
                <a:solidFill>
                  <a:srgbClr val="FFC220"/>
                </a:solidFill>
                <a:latin typeface="Montserrat"/>
              </a:rPr>
              <a:t>2. Margin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Operating income margin improved to 4.2%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Advertising revenue grew +28%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Category &amp; business mix optimization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Productivity improvements</a:t>
            </a:r>
          </a:p>
        </p:txBody>
      </p:sp>
      <p:sp>
        <p:nvSpPr>
          <p:cNvPr id="12" name="Pillar12"/>
          <p:cNvSpPr/>
          <p:nvPr/>
        </p:nvSpPr>
        <p:spPr>
          <a:xfrm>
            <a:off x="8077200" y="1841500"/>
            <a:ext cx="3505200" cy="469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D8C5A"/>
            </a:solidFill>
          </a:ln>
        </p:spPr>
        <p:txBody>
          <a:bodyPr wrap="square" lIns="182880" tIns="137160" rIns="182880" bIns="137160" anchor="t"/>
          <a:lstStyle/>
          <a:p>
            <a:pPr algn="l">
              <a:buNone/>
            </a:pPr>
            <a:r>
              <a:rPr lang="en-US" sz="1600" b="1" dirty="0">
                <a:solidFill>
                  <a:srgbClr val="2D8C5A"/>
                </a:solidFill>
                <a:latin typeface="Montserrat"/>
              </a:rPr>
              <a:t>3. Returns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ROA improved to 6.6% from 4.6%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Free cash flow of $15.1B (+26%)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$0.83 annual dividend (+9.2%)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3A4A5C"/>
                </a:solidFill>
                <a:latin typeface="Open Sans"/>
              </a:rPr>
              <a:t>3-for-1 stock split Feb 2024</a:t>
            </a:r>
          </a:p>
        </p:txBody>
      </p:sp>
    </p:spTree>
    <p:extLst>
      <p:ext uri="{BB962C8B-B14F-4D97-AF65-F5344CB8AC3E}">
        <p14:creationId xmlns:p14="http://schemas.microsoft.com/office/powerpoint/2010/main" val="237430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A650-22C2-8794-3A2C-BFC9A133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b="1"/>
              <a:t>Capital Allocation &amp; Outlook</a:t>
            </a:r>
          </a:p>
        </p:txBody>
      </p:sp>
      <p:sp>
        <p:nvSpPr>
          <p:cNvPr id="20" name="CapEx2"/>
          <p:cNvSpPr/>
          <p:nvPr/>
        </p:nvSpPr>
        <p:spPr>
          <a:xfrm>
            <a:off x="457200" y="1828800"/>
            <a:ext cx="5334000" cy="43434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>
            <a:noFill/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2000" b="1" dirty="0">
                <a:solidFill>
                  <a:srgbClr val="0071CE"/>
                </a:solidFill>
                <a:latin typeface="Montserrat"/>
              </a:rPr>
              <a:t>Capital Expenditures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FY2024: $20.6B (up from $16.9B)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Focus: Technology, supply chain, customer initiatives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FY2025 target: ~$20B to $24B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2D8C5A"/>
                </a:solidFill>
                <a:latin typeface="Montserrat"/>
              </a:rPr>
              <a:t>Shareholder Returns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Total dividends paid: $6.1B in FY2024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FY2025 dividend raised to $0.83/share (+9.2%)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3-for-1 stock split effective Feb 23, 2024</a:t>
            </a:r>
          </a:p>
        </p:txBody>
      </p:sp>
      <p:sp>
        <p:nvSpPr>
          <p:cNvPr id="21" name="Risks2"/>
          <p:cNvSpPr/>
          <p:nvPr/>
        </p:nvSpPr>
        <p:spPr>
          <a:xfrm>
            <a:off x="6096000" y="1828800"/>
            <a:ext cx="5638800" cy="43434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>
            <a:noFill/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2000" b="1" dirty="0">
                <a:solidFill>
                  <a:srgbClr val="E8872A"/>
                </a:solidFill>
                <a:latin typeface="Montserrat"/>
              </a:rPr>
              <a:t>Key Risk Factors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Macroeconomic headwinds impacting consumer spending patterns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Currency exchange rate volatility on international segment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Cybersecurity and data protection challenges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Competitive pressure from digital-first retailers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Trade policy and tariff impacts on cost of goods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Regulatory compliance across 19 countries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3A4A5C"/>
                </a:solidFill>
                <a:latin typeface="Open Sans"/>
              </a:rPr>
              <a:t>Supply chain disruptions and labor market pressures</a:t>
            </a:r>
          </a:p>
        </p:txBody>
      </p:sp>
    </p:spTree>
    <p:extLst>
      <p:ext uri="{BB962C8B-B14F-4D97-AF65-F5344CB8AC3E}">
        <p14:creationId xmlns:p14="http://schemas.microsoft.com/office/powerpoint/2010/main" val="140380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almart">
      <a:dk1>
        <a:srgbClr val="1A2B4A"/>
      </a:dk1>
      <a:lt1>
        <a:srgbClr val="FFFFFF"/>
      </a:lt1>
      <a:dk2>
        <a:srgbClr val="0071CE"/>
      </a:dk2>
      <a:lt2>
        <a:srgbClr val="F0F4F8"/>
      </a:lt2>
      <a:accent1>
        <a:srgbClr val="0071CE"/>
      </a:accent1>
      <a:accent2>
        <a:srgbClr val="FFC220"/>
      </a:accent2>
      <a:accent3>
        <a:srgbClr val="004C91"/>
      </a:accent3>
      <a:accent4>
        <a:srgbClr val="76C043"/>
      </a:accent4>
      <a:accent5>
        <a:srgbClr val="E8872A"/>
      </a:accent5>
      <a:accent6>
        <a:srgbClr val="2D8C5A"/>
      </a:accent6>
      <a:hlink>
        <a:srgbClr val="467886"/>
      </a:hlink>
      <a:folHlink>
        <a:srgbClr val="96607D"/>
      </a:folHlink>
    </a:clrScheme>
    <a:fontScheme name="Walmart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31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00BB0A-C04F-49FF-9389-AC8F020E2F8C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355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Montserrat</vt:lpstr>
      <vt:lpstr>Open Sans</vt:lpstr>
      <vt:lpstr>Office Theme</vt:lpstr>
      <vt:lpstr>Walmart Inc.</vt:lpstr>
      <vt:lpstr>Company Overview</vt:lpstr>
      <vt:lpstr>Financial Highlights</vt:lpstr>
      <vt:lpstr>Revenue by Segment</vt:lpstr>
      <vt:lpstr>Operating Performance</vt:lpstr>
      <vt:lpstr>Strategic Priorities</vt:lpstr>
      <vt:lpstr>Capital Allocation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Ahmed</dc:creator>
  <cp:lastModifiedBy>Ryan Ahmed</cp:lastModifiedBy>
  <cp:revision>1</cp:revision>
  <dcterms:created xsi:type="dcterms:W3CDTF">2026-03-09T01:51:44Z</dcterms:created>
  <dcterms:modified xsi:type="dcterms:W3CDTF">2026-03-09T02:05:56Z</dcterms:modified>
</cp:coreProperties>
</file>